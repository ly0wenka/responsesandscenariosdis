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rts/chart1.xml" ContentType="application/vnd.openxmlformats-officedocument.drawingml.chart+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5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6" r:id="rId2"/>
    <p:sldId id="257" r:id="rId3"/>
    <p:sldId id="258" r:id="rId4"/>
    <p:sldId id="299" r:id="rId5"/>
    <p:sldId id="296" r:id="rId6"/>
    <p:sldId id="330" r:id="rId7"/>
    <p:sldId id="331" r:id="rId8"/>
    <p:sldId id="332" r:id="rId9"/>
    <p:sldId id="264" r:id="rId10"/>
    <p:sldId id="265" r:id="rId11"/>
    <p:sldId id="343" r:id="rId12"/>
    <p:sldId id="269" r:id="rId13"/>
    <p:sldId id="271" r:id="rId14"/>
    <p:sldId id="274" r:id="rId15"/>
    <p:sldId id="275" r:id="rId16"/>
    <p:sldId id="276" r:id="rId17"/>
    <p:sldId id="281" r:id="rId18"/>
    <p:sldId id="318" r:id="rId19"/>
    <p:sldId id="314" r:id="rId20"/>
    <p:sldId id="285" r:id="rId21"/>
    <p:sldId id="286" r:id="rId22"/>
    <p:sldId id="287" r:id="rId23"/>
    <p:sldId id="288" r:id="rId24"/>
    <p:sldId id="289" r:id="rId25"/>
    <p:sldId id="290" r:id="rId26"/>
    <p:sldId id="259" r:id="rId27"/>
    <p:sldId id="293" r:id="rId28"/>
    <p:sldId id="337" r:id="rId29"/>
    <p:sldId id="338" r:id="rId30"/>
    <p:sldId id="339" r:id="rId31"/>
    <p:sldId id="340" r:id="rId32"/>
    <p:sldId id="341" r:id="rId33"/>
    <p:sldId id="262" r:id="rId34"/>
    <p:sldId id="263" r:id="rId35"/>
    <p:sldId id="297" r:id="rId36"/>
    <p:sldId id="333" r:id="rId37"/>
    <p:sldId id="336" r:id="rId38"/>
    <p:sldId id="335" r:id="rId39"/>
    <p:sldId id="298" r:id="rId40"/>
    <p:sldId id="334" r:id="rId41"/>
    <p:sldId id="266" r:id="rId42"/>
    <p:sldId id="267" r:id="rId43"/>
    <p:sldId id="268" r:id="rId44"/>
    <p:sldId id="270" r:id="rId45"/>
    <p:sldId id="272" r:id="rId46"/>
    <p:sldId id="273" r:id="rId47"/>
    <p:sldId id="277" r:id="rId48"/>
    <p:sldId id="278" r:id="rId49"/>
    <p:sldId id="279" r:id="rId50"/>
    <p:sldId id="305" r:id="rId51"/>
    <p:sldId id="284" r:id="rId52"/>
    <p:sldId id="261" r:id="rId53"/>
    <p:sldId id="325" r:id="rId54"/>
    <p:sldId id="322" r:id="rId55"/>
    <p:sldId id="323" r:id="rId56"/>
    <p:sldId id="324" r:id="rId57"/>
    <p:sldId id="260" r:id="rId58"/>
    <p:sldId id="342" r:id="rId59"/>
    <p:sldId id="329" r:id="rId60"/>
    <p:sldId id="326" r:id="rId61"/>
    <p:sldId id="327"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A78004F-6F41-40F8-B641-EA5DF906138C}">
          <p14:sldIdLst>
            <p14:sldId id="256"/>
            <p14:sldId id="257"/>
            <p14:sldId id="258"/>
            <p14:sldId id="299"/>
            <p14:sldId id="296"/>
            <p14:sldId id="330"/>
            <p14:sldId id="331"/>
            <p14:sldId id="332"/>
          </p14:sldIdLst>
        </p14:section>
        <p14:section name="First Section" id="{0B1DB102-67BE-4FFE-9C2A-157D820BB857}">
          <p14:sldIdLst>
            <p14:sldId id="264"/>
            <p14:sldId id="265"/>
            <p14:sldId id="343"/>
          </p14:sldIdLst>
        </p14:section>
        <p14:section name="Second Section" id="{4D5916D5-4923-4523-B5A2-9536338517CE}">
          <p14:sldIdLst>
            <p14:sldId id="269"/>
            <p14:sldId id="271"/>
            <p14:sldId id="274"/>
          </p14:sldIdLst>
        </p14:section>
        <p14:section name="Third Section" id="{264566DB-47A1-44FF-99E3-39AD25B75DBF}">
          <p14:sldIdLst>
            <p14:sldId id="275"/>
          </p14:sldIdLst>
        </p14:section>
        <p14:section name="Рисунок 3.1 – Аналітична модель" id="{5C1B3BA7-19D7-4023-87EC-E80A902918F4}">
          <p14:sldIdLst>
            <p14:sldId id="276"/>
          </p14:sldIdLst>
        </p14:section>
        <p14:section name="Рисунок 3.6 – Узагальнена схема об’єднання моделей і методів ідентифікації" id="{745DF4DC-B14D-4560-BF64-0549EBEF981C}">
          <p14:sldIdLst>
            <p14:sldId id="281"/>
          </p14:sldIdLst>
        </p14:section>
        <p14:section name="Fourth Section" id="{C85C5636-78A6-4C1C-9371-36D51EDD66E4}">
          <p14:sldIdLst/>
        </p14:section>
        <p14:section name="Рисунок 4.3 – Обробка сигналів та ідентифікація об’єктів" id="{31BABA16-4C11-4191-97A7-CF9EE6F8E8F0}">
          <p14:sldIdLst>
            <p14:sldId id="318"/>
          </p14:sldIdLst>
        </p14:section>
        <p14:section name="Рисунок 4.5 – Розширений опис реалізованої моделі" id="{37155032-7A16-48EF-B5E2-E34511D6CB3A}">
          <p14:sldIdLst>
            <p14:sldId id="314"/>
          </p14:sldIdLst>
        </p14:section>
        <p14:section name="Рисунок 4.6 – Структура ансамблевих модулів у системі" id="{152A4C44-7D57-4540-B2F5-CB5360C4760B}">
          <p14:sldIdLst>
            <p14:sldId id="285"/>
            <p14:sldId id="286"/>
            <p14:sldId id="287"/>
            <p14:sldId id="288"/>
            <p14:sldId id="289"/>
            <p14:sldId id="290"/>
            <p14:sldId id="259"/>
          </p14:sldIdLst>
        </p14:section>
        <p14:section name="Science Section" id="{802570FE-95A4-4376-AF09-C9A0FEF328FA}">
          <p14:sldIdLst>
            <p14:sldId id="293"/>
            <p14:sldId id="337"/>
            <p14:sldId id="338"/>
            <p14:sldId id="339"/>
            <p14:sldId id="340"/>
            <p14:sldId id="341"/>
            <p14:sldId id="262"/>
            <p14:sldId id="263"/>
          </p14:sldIdLst>
        </p14:section>
        <p14:section name="Conclusions Section" id="{23F04688-D039-45F7-BB2B-C201D579B3ED}">
          <p14:sldIdLst>
            <p14:sldId id="297"/>
            <p14:sldId id="333"/>
            <p14:sldId id="336"/>
            <p14:sldId id="335"/>
            <p14:sldId id="298"/>
          </p14:sldIdLst>
        </p14:section>
        <p14:section name="Additional Section" id="{5996A047-2263-49AA-9146-11860B2FFF97}">
          <p14:sldIdLst>
            <p14:sldId id="334"/>
          </p14:sldIdLst>
        </p14:section>
        <p14:section name="First Section" id="{4F18E070-C70E-49C2-87D1-B445198CAB4F}">
          <p14:sldIdLst>
            <p14:sldId id="266"/>
            <p14:sldId id="267"/>
            <p14:sldId id="268"/>
          </p14:sldIdLst>
        </p14:section>
        <p14:section name="Second Section" id="{410A47D1-79E6-44A5-8C61-A77D63E70B08}">
          <p14:sldIdLst>
            <p14:sldId id="270"/>
            <p14:sldId id="272"/>
            <p14:sldId id="273"/>
          </p14:sldIdLst>
        </p14:section>
        <p14:section name="Third Section" id="{B6CCA81E-F674-4006-9771-DB6A965A5E75}">
          <p14:sldIdLst>
            <p14:sldId id="277"/>
            <p14:sldId id="278"/>
            <p14:sldId id="279"/>
          </p14:sldIdLst>
        </p14:section>
        <p14:section name="Fourth Section" id="{DC93843B-B343-47D5-AEEC-CF2C725AF56B}">
          <p14:sldIdLst>
            <p14:sldId id="305"/>
            <p14:sldId id="284"/>
            <p14:sldId id="261"/>
            <p14:sldId id="325"/>
            <p14:sldId id="322"/>
            <p14:sldId id="323"/>
            <p14:sldId id="324"/>
            <p14:sldId id="260"/>
          </p14:sldIdLst>
        </p14:section>
        <p14:section name="Science Section" id="{A369FBA6-41B4-4130-9A18-138A0F1B5445}">
          <p14:sldIdLst>
            <p14:sldId id="342"/>
            <p14:sldId id="329"/>
            <p14:sldId id="326"/>
            <p14:sldId id="32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Світли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Помірний стиль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87650" autoAdjust="0"/>
  </p:normalViewPr>
  <p:slideViewPr>
    <p:cSldViewPr snapToGrid="0" snapToObjects="1">
      <p:cViewPr varScale="1">
        <p:scale>
          <a:sx n="95" d="100"/>
          <a:sy n="95" d="100"/>
        </p:scale>
        <p:origin x="486" y="96"/>
      </p:cViewPr>
      <p:guideLst>
        <p:guide orient="horz" pos="2160"/>
        <p:guide pos="2880"/>
      </p:guideLst>
    </p:cSldViewPr>
  </p:slideViewPr>
  <p:outlineViewPr>
    <p:cViewPr>
      <p:scale>
        <a:sx n="33" d="100"/>
        <a:sy n="33" d="100"/>
      </p:scale>
      <p:origin x="0" y="-547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bar"/>
        <c:grouping val="clustered"/>
        <c:varyColors val="1"/>
        <c:ser>
          <c:idx val="0"/>
          <c:order val="0"/>
          <c:tx>
            <c:strRef>
              <c:f>Sheet1!$B$1</c:f>
              <c:strCache>
                <c:ptCount val="1"/>
                <c:pt idx="0">
                  <c:v>Сума балів</c:v>
                </c:pt>
              </c:strCache>
            </c:strRef>
          </c:tx>
          <c:spPr>
            <a:solidFill>
              <a:srgbClr val="138496"/>
            </a:solidFill>
          </c:spPr>
          <c:invertIfNegative val="1"/>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OpenCV</c:v>
                </c:pt>
                <c:pt idx="1">
                  <c:v>YOLO+Tracker</c:v>
                </c:pt>
                <c:pt idx="2">
                  <c:v>RAFT/FlowNet</c:v>
                </c:pt>
                <c:pt idx="3">
                  <c:v>MiDaS/DPT</c:v>
                </c:pt>
                <c:pt idx="4">
                  <c:v>ІТ ДІПДО</c:v>
                </c:pt>
              </c:strCache>
            </c:strRef>
          </c:cat>
          <c:val>
            <c:numRef>
              <c:f>Sheet1!$B$2:$B$6</c:f>
              <c:numCache>
                <c:formatCode>General</c:formatCode>
                <c:ptCount val="5"/>
                <c:pt idx="0">
                  <c:v>5</c:v>
                </c:pt>
                <c:pt idx="1">
                  <c:v>6</c:v>
                </c:pt>
                <c:pt idx="2">
                  <c:v>3</c:v>
                </c:pt>
                <c:pt idx="3">
                  <c:v>3</c:v>
                </c:pt>
                <c:pt idx="4">
                  <c:v>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4BF-4710-9F2D-512BF4A417B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max val="12"/>
          <c:min val="0"/>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majorUnit val="2"/>
      </c:valAx>
    </c:plotArea>
    <c:plotVisOnly val="1"/>
    <c:dispBlanksAs val="gap"/>
    <c:showDLblsOverMax val="1"/>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6CCD04-853B-46CB-B792-B02318C098C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2889217-C5F4-44C1-8321-3C6554AE4073}">
      <dgm:prSet custT="1"/>
      <dgm:spPr/>
      <dgm:t>
        <a:bodyPr/>
        <a:lstStyle/>
        <a:p>
          <a:r>
            <a:rPr lang="en-US" sz="3700" dirty="0"/>
            <a:t>Підвищення </a:t>
          </a:r>
          <a:r>
            <a:rPr lang="en-US" sz="3700" dirty="0" err="1"/>
            <a:t>точності</a:t>
          </a:r>
          <a:r>
            <a:rPr lang="en-US" sz="3700" dirty="0"/>
            <a:t>, </a:t>
          </a:r>
          <a:r>
            <a:rPr lang="en-US" sz="3700" dirty="0" err="1"/>
            <a:t>надійності</a:t>
          </a:r>
          <a:r>
            <a:rPr lang="en-US" sz="3700" dirty="0"/>
            <a:t> </a:t>
          </a:r>
          <a:r>
            <a:rPr lang="en-US" sz="3700" dirty="0" err="1"/>
            <a:t>та</a:t>
          </a:r>
          <a:r>
            <a:rPr lang="en-US" sz="3700" dirty="0"/>
            <a:t> </a:t>
          </a:r>
          <a:r>
            <a:rPr lang="en-US" sz="3700" dirty="0" err="1"/>
            <a:t>адаптивності</a:t>
          </a:r>
          <a:r>
            <a:rPr lang="en-US" sz="3700" dirty="0"/>
            <a:t> </a:t>
          </a:r>
          <a:r>
            <a:rPr lang="en-US" sz="3700" dirty="0" err="1"/>
            <a:t>дистанційної</a:t>
          </a:r>
          <a:r>
            <a:rPr lang="en-US" sz="3700" dirty="0"/>
            <a:t> </a:t>
          </a:r>
          <a:r>
            <a:rPr lang="en-US" sz="3700" dirty="0" err="1"/>
            <a:t>ідентифікації</a:t>
          </a:r>
          <a:r>
            <a:rPr lang="en-US" sz="3700" dirty="0"/>
            <a:t> </a:t>
          </a:r>
          <a:r>
            <a:rPr lang="en-US" sz="3700" dirty="0" err="1"/>
            <a:t>параметрів</a:t>
          </a:r>
          <a:r>
            <a:rPr lang="en-US" sz="3700" dirty="0"/>
            <a:t> </a:t>
          </a:r>
          <a:r>
            <a:rPr lang="en-US" sz="3700" dirty="0" err="1"/>
            <a:t>динамічних</a:t>
          </a:r>
          <a:r>
            <a:rPr lang="en-US" sz="3700" dirty="0"/>
            <a:t> </a:t>
          </a:r>
          <a:r>
            <a:rPr lang="en-US" sz="3700" dirty="0" err="1"/>
            <a:t>об'єктів</a:t>
          </a:r>
          <a:r>
            <a:rPr lang="en-US" sz="3700" dirty="0"/>
            <a:t> (ДІПДО)</a:t>
          </a:r>
        </a:p>
      </dgm:t>
    </dgm:pt>
    <dgm:pt modelId="{8A3BDF2D-00A7-43A0-B1F5-538944A51A5F}" type="parTrans" cxnId="{24550F9B-BFDD-4095-A8BF-A933EF6D7633}">
      <dgm:prSet/>
      <dgm:spPr/>
      <dgm:t>
        <a:bodyPr/>
        <a:lstStyle/>
        <a:p>
          <a:endParaRPr lang="en-US"/>
        </a:p>
      </dgm:t>
    </dgm:pt>
    <dgm:pt modelId="{9C72CE90-BC12-4D62-9F7C-06EE13585D4E}" type="sibTrans" cxnId="{24550F9B-BFDD-4095-A8BF-A933EF6D7633}">
      <dgm:prSet/>
      <dgm:spPr/>
      <dgm:t>
        <a:bodyPr/>
        <a:lstStyle/>
        <a:p>
          <a:endParaRPr lang="en-US"/>
        </a:p>
      </dgm:t>
    </dgm:pt>
    <dgm:pt modelId="{947EEA1B-09DB-49A9-8BBA-3AEF71B595B2}">
      <dgm:prSet custT="1"/>
      <dgm:spPr/>
      <dgm:t>
        <a:bodyPr/>
        <a:lstStyle/>
        <a:p>
          <a:r>
            <a:rPr lang="en-US" sz="3400" dirty="0" err="1"/>
            <a:t>Інтеграція</a:t>
          </a:r>
          <a:r>
            <a:rPr lang="en-US" sz="3400" dirty="0"/>
            <a:t> </a:t>
          </a:r>
          <a:r>
            <a:rPr lang="en-US" sz="3400" dirty="0" err="1"/>
            <a:t>трансформерних</a:t>
          </a:r>
          <a:r>
            <a:rPr lang="en-US" sz="3400" dirty="0"/>
            <a:t> </a:t>
          </a:r>
          <a:r>
            <a:rPr lang="en-US" sz="3400" dirty="0" err="1"/>
            <a:t>детекторів</a:t>
          </a:r>
          <a:r>
            <a:rPr lang="en-US" sz="3400" dirty="0"/>
            <a:t> (DETR), </a:t>
          </a:r>
          <a:r>
            <a:rPr lang="en-US" sz="3400" dirty="0" err="1"/>
            <a:t>методів</a:t>
          </a:r>
          <a:r>
            <a:rPr lang="en-US" sz="3400" dirty="0"/>
            <a:t> </a:t>
          </a:r>
          <a:r>
            <a:rPr lang="en-US" sz="3400" dirty="0" err="1"/>
            <a:t>оптичного</a:t>
          </a:r>
          <a:r>
            <a:rPr lang="en-US" sz="3400" dirty="0"/>
            <a:t> </a:t>
          </a:r>
          <a:r>
            <a:rPr lang="en-US" sz="3400" dirty="0" err="1"/>
            <a:t>потоку</a:t>
          </a:r>
          <a:r>
            <a:rPr lang="en-US" sz="3400" dirty="0"/>
            <a:t> (</a:t>
          </a:r>
          <a:r>
            <a:rPr lang="en-US" sz="3400" dirty="0" err="1"/>
            <a:t>Farneback</a:t>
          </a:r>
          <a:r>
            <a:rPr lang="en-US" sz="3400" dirty="0"/>
            <a:t>, Lucas-Kanade, Horn-Schunck, </a:t>
          </a:r>
          <a:r>
            <a:rPr lang="en-US" sz="3400" dirty="0" err="1"/>
            <a:t>FlowNet</a:t>
          </a:r>
          <a:r>
            <a:rPr lang="en-US" sz="3400" dirty="0"/>
            <a:t>, </a:t>
          </a:r>
          <a:r>
            <a:rPr lang="en-US" sz="3400" dirty="0" err="1"/>
            <a:t>GeoNet</a:t>
          </a:r>
          <a:r>
            <a:rPr lang="en-US" sz="3400" dirty="0"/>
            <a:t>), </a:t>
          </a:r>
          <a:r>
            <a:rPr lang="en-US" sz="3400" dirty="0" err="1"/>
            <a:t>оцінки</a:t>
          </a:r>
          <a:r>
            <a:rPr lang="en-US" sz="3400" dirty="0"/>
            <a:t> </a:t>
          </a:r>
          <a:r>
            <a:rPr lang="en-US" sz="3400" dirty="0" err="1"/>
            <a:t>глибини</a:t>
          </a:r>
          <a:r>
            <a:rPr lang="en-US" sz="3400" dirty="0"/>
            <a:t> (</a:t>
          </a:r>
          <a:r>
            <a:rPr lang="en-US" sz="3400" dirty="0" err="1"/>
            <a:t>MiDaS</a:t>
          </a:r>
          <a:r>
            <a:rPr lang="en-US" sz="3400" dirty="0"/>
            <a:t>, DPT, </a:t>
          </a:r>
          <a:r>
            <a:rPr lang="en-US" sz="3400" dirty="0" err="1"/>
            <a:t>GeoNet</a:t>
          </a:r>
          <a:r>
            <a:rPr lang="en-US" sz="3400" dirty="0"/>
            <a:t>) </a:t>
          </a:r>
          <a:r>
            <a:rPr lang="en-US" sz="3400" dirty="0" err="1"/>
            <a:t>та</a:t>
          </a:r>
          <a:r>
            <a:rPr lang="en-US" sz="3400" dirty="0"/>
            <a:t> </a:t>
          </a:r>
          <a:r>
            <a:rPr lang="en-US" sz="3400" dirty="0" err="1"/>
            <a:t>ансамблів</a:t>
          </a:r>
          <a:r>
            <a:rPr lang="en-US" sz="3400" dirty="0"/>
            <a:t> (Bagging, Boosting)</a:t>
          </a:r>
        </a:p>
      </dgm:t>
    </dgm:pt>
    <dgm:pt modelId="{E7034946-4DAF-4641-A5EB-D89311D43124}" type="parTrans" cxnId="{CF52F26F-E29D-434B-8573-EB396BEB12FC}">
      <dgm:prSet/>
      <dgm:spPr/>
      <dgm:t>
        <a:bodyPr/>
        <a:lstStyle/>
        <a:p>
          <a:endParaRPr lang="en-US"/>
        </a:p>
      </dgm:t>
    </dgm:pt>
    <dgm:pt modelId="{37D08B57-6812-4726-8DD0-DA0B3267D4CF}" type="sibTrans" cxnId="{CF52F26F-E29D-434B-8573-EB396BEB12FC}">
      <dgm:prSet/>
      <dgm:spPr/>
      <dgm:t>
        <a:bodyPr/>
        <a:lstStyle/>
        <a:p>
          <a:endParaRPr lang="en-US"/>
        </a:p>
      </dgm:t>
    </dgm:pt>
    <dgm:pt modelId="{BED706D0-92FC-4F67-87BC-04E7C58B9D7A}">
      <dgm:prSet/>
      <dgm:spPr/>
      <dgm:t>
        <a:bodyPr/>
        <a:lstStyle/>
        <a:p>
          <a:r>
            <a:rPr lang="en-US" dirty="0" err="1"/>
            <a:t>Існуючі</a:t>
          </a:r>
          <a:r>
            <a:rPr lang="en-US" dirty="0"/>
            <a:t> </a:t>
          </a:r>
          <a:r>
            <a:rPr lang="en-US" dirty="0" err="1"/>
            <a:t>системи</a:t>
          </a:r>
          <a:r>
            <a:rPr lang="en-US" dirty="0"/>
            <a:t> </a:t>
          </a:r>
          <a:r>
            <a:rPr lang="en-US" dirty="0" err="1"/>
            <a:t>працюють</a:t>
          </a:r>
          <a:r>
            <a:rPr lang="en-US" dirty="0"/>
            <a:t> в </a:t>
          </a:r>
          <a:r>
            <a:rPr lang="en-US" dirty="0" err="1"/>
            <a:t>обмежених</a:t>
          </a:r>
          <a:r>
            <a:rPr lang="en-US" dirty="0"/>
            <a:t> </a:t>
          </a:r>
          <a:r>
            <a:rPr lang="en-US" dirty="0" err="1"/>
            <a:t>умовах</a:t>
          </a:r>
          <a:r>
            <a:rPr lang="en-US" dirty="0"/>
            <a:t> (</a:t>
          </a:r>
          <a:r>
            <a:rPr lang="en-US" dirty="0" err="1"/>
            <a:t>статична</a:t>
          </a:r>
          <a:r>
            <a:rPr lang="en-US" dirty="0"/>
            <a:t> </a:t>
          </a:r>
          <a:r>
            <a:rPr lang="en-US" dirty="0" err="1"/>
            <a:t>камера</a:t>
          </a:r>
          <a:r>
            <a:rPr lang="en-US" dirty="0"/>
            <a:t>, </a:t>
          </a:r>
          <a:r>
            <a:rPr lang="en-US" dirty="0" err="1"/>
            <a:t>фіксоване</a:t>
          </a:r>
          <a:r>
            <a:rPr lang="en-US" dirty="0"/>
            <a:t> </a:t>
          </a:r>
          <a:r>
            <a:rPr lang="en-US" dirty="0" err="1"/>
            <a:t>освітлення</a:t>
          </a:r>
          <a:r>
            <a:rPr lang="en-US" dirty="0"/>
            <a:t>) </a:t>
          </a:r>
          <a:r>
            <a:rPr lang="en-US" dirty="0" err="1"/>
            <a:t>або</a:t>
          </a:r>
          <a:r>
            <a:rPr lang="en-US" dirty="0"/>
            <a:t> </a:t>
          </a:r>
          <a:r>
            <a:rPr lang="en-US" dirty="0" err="1"/>
            <a:t>потребують</a:t>
          </a:r>
          <a:r>
            <a:rPr lang="en-US" dirty="0"/>
            <a:t> </a:t>
          </a:r>
          <a:r>
            <a:rPr lang="en-US" dirty="0" err="1"/>
            <a:t>значних</a:t>
          </a:r>
          <a:r>
            <a:rPr lang="en-US" dirty="0"/>
            <a:t> </a:t>
          </a:r>
          <a:r>
            <a:rPr lang="en-US" dirty="0" err="1"/>
            <a:t>обчислювальних</a:t>
          </a:r>
          <a:r>
            <a:rPr lang="en-US" dirty="0"/>
            <a:t> </a:t>
          </a:r>
          <a:r>
            <a:rPr lang="en-US" dirty="0" err="1"/>
            <a:t>ресурсів</a:t>
          </a:r>
          <a:endParaRPr lang="en-US" dirty="0"/>
        </a:p>
      </dgm:t>
    </dgm:pt>
    <dgm:pt modelId="{B7C706C1-D12E-405D-A987-5C35E6DE5BE8}" type="parTrans" cxnId="{C2F090F1-8E6F-44E4-9553-3DDB7EFF0E3F}">
      <dgm:prSet/>
      <dgm:spPr/>
      <dgm:t>
        <a:bodyPr/>
        <a:lstStyle/>
        <a:p>
          <a:endParaRPr lang="en-US"/>
        </a:p>
      </dgm:t>
    </dgm:pt>
    <dgm:pt modelId="{9DC17C5C-2F98-4632-A84F-B1AB7E350C6A}" type="sibTrans" cxnId="{C2F090F1-8E6F-44E4-9553-3DDB7EFF0E3F}">
      <dgm:prSet/>
      <dgm:spPr/>
      <dgm:t>
        <a:bodyPr/>
        <a:lstStyle/>
        <a:p>
          <a:endParaRPr lang="en-US"/>
        </a:p>
      </dgm:t>
    </dgm:pt>
    <dgm:pt modelId="{AF45289B-8869-4155-B43E-0B9482D6B25D}" type="pres">
      <dgm:prSet presAssocID="{0E6CCD04-853B-46CB-B792-B02318C098CA}" presName="vert0" presStyleCnt="0">
        <dgm:presLayoutVars>
          <dgm:dir/>
          <dgm:animOne val="branch"/>
          <dgm:animLvl val="lvl"/>
        </dgm:presLayoutVars>
      </dgm:prSet>
      <dgm:spPr/>
    </dgm:pt>
    <dgm:pt modelId="{F701EC39-82B4-4374-AEC3-FB4CC2082F7F}" type="pres">
      <dgm:prSet presAssocID="{02889217-C5F4-44C1-8321-3C6554AE4073}" presName="thickLine" presStyleLbl="alignNode1" presStyleIdx="0" presStyleCnt="3"/>
      <dgm:spPr/>
    </dgm:pt>
    <dgm:pt modelId="{2C2E33E2-A1EE-4C3A-921B-B419EF81BA0B}" type="pres">
      <dgm:prSet presAssocID="{02889217-C5F4-44C1-8321-3C6554AE4073}" presName="horz1" presStyleCnt="0"/>
      <dgm:spPr/>
    </dgm:pt>
    <dgm:pt modelId="{24B2A9F7-7780-4ECD-BA53-571FBE5C1C60}" type="pres">
      <dgm:prSet presAssocID="{02889217-C5F4-44C1-8321-3C6554AE4073}" presName="tx1" presStyleLbl="revTx" presStyleIdx="0" presStyleCnt="3"/>
      <dgm:spPr/>
    </dgm:pt>
    <dgm:pt modelId="{5B6F92CE-F54E-4080-94A0-9C004AD6A48B}" type="pres">
      <dgm:prSet presAssocID="{02889217-C5F4-44C1-8321-3C6554AE4073}" presName="vert1" presStyleCnt="0"/>
      <dgm:spPr/>
    </dgm:pt>
    <dgm:pt modelId="{273DB9DA-5210-495A-9114-01FD573BA43E}" type="pres">
      <dgm:prSet presAssocID="{947EEA1B-09DB-49A9-8BBA-3AEF71B595B2}" presName="thickLine" presStyleLbl="alignNode1" presStyleIdx="1" presStyleCnt="3"/>
      <dgm:spPr/>
    </dgm:pt>
    <dgm:pt modelId="{7EFB9ABB-198B-43B2-9411-6945CEB6FC37}" type="pres">
      <dgm:prSet presAssocID="{947EEA1B-09DB-49A9-8BBA-3AEF71B595B2}" presName="horz1" presStyleCnt="0"/>
      <dgm:spPr/>
    </dgm:pt>
    <dgm:pt modelId="{1C2891B6-7A59-4981-A918-48994BD8F287}" type="pres">
      <dgm:prSet presAssocID="{947EEA1B-09DB-49A9-8BBA-3AEF71B595B2}" presName="tx1" presStyleLbl="revTx" presStyleIdx="1" presStyleCnt="3"/>
      <dgm:spPr/>
    </dgm:pt>
    <dgm:pt modelId="{648CA99C-7297-41DB-A5E8-C3852972331F}" type="pres">
      <dgm:prSet presAssocID="{947EEA1B-09DB-49A9-8BBA-3AEF71B595B2}" presName="vert1" presStyleCnt="0"/>
      <dgm:spPr/>
    </dgm:pt>
    <dgm:pt modelId="{486F17D4-C955-4D52-96EA-217EED70D353}" type="pres">
      <dgm:prSet presAssocID="{BED706D0-92FC-4F67-87BC-04E7C58B9D7A}" presName="thickLine" presStyleLbl="alignNode1" presStyleIdx="2" presStyleCnt="3"/>
      <dgm:spPr/>
    </dgm:pt>
    <dgm:pt modelId="{65DCAC7B-6D82-47AA-A2C0-A8F47BC1EE00}" type="pres">
      <dgm:prSet presAssocID="{BED706D0-92FC-4F67-87BC-04E7C58B9D7A}" presName="horz1" presStyleCnt="0"/>
      <dgm:spPr/>
    </dgm:pt>
    <dgm:pt modelId="{A30D799D-F3B4-470F-9C57-15F5B15F05A4}" type="pres">
      <dgm:prSet presAssocID="{BED706D0-92FC-4F67-87BC-04E7C58B9D7A}" presName="tx1" presStyleLbl="revTx" presStyleIdx="2" presStyleCnt="3"/>
      <dgm:spPr/>
    </dgm:pt>
    <dgm:pt modelId="{38D52B43-E9DF-49A7-B7A9-08199F5D8F67}" type="pres">
      <dgm:prSet presAssocID="{BED706D0-92FC-4F67-87BC-04E7C58B9D7A}" presName="vert1" presStyleCnt="0"/>
      <dgm:spPr/>
    </dgm:pt>
  </dgm:ptLst>
  <dgm:cxnLst>
    <dgm:cxn modelId="{4BD5751F-4FCC-4F24-A52A-A9FEC8E0C6FD}" type="presOf" srcId="{947EEA1B-09DB-49A9-8BBA-3AEF71B595B2}" destId="{1C2891B6-7A59-4981-A918-48994BD8F287}" srcOrd="0" destOrd="0" presId="urn:microsoft.com/office/officeart/2008/layout/LinedList"/>
    <dgm:cxn modelId="{21C65B35-03DA-4A32-B1D8-2DDC15611311}" type="presOf" srcId="{02889217-C5F4-44C1-8321-3C6554AE4073}" destId="{24B2A9F7-7780-4ECD-BA53-571FBE5C1C60}" srcOrd="0" destOrd="0" presId="urn:microsoft.com/office/officeart/2008/layout/LinedList"/>
    <dgm:cxn modelId="{518BAB62-E28C-449B-A680-D0FBC8F2498D}" type="presOf" srcId="{0E6CCD04-853B-46CB-B792-B02318C098CA}" destId="{AF45289B-8869-4155-B43E-0B9482D6B25D}" srcOrd="0" destOrd="0" presId="urn:microsoft.com/office/officeart/2008/layout/LinedList"/>
    <dgm:cxn modelId="{CF52F26F-E29D-434B-8573-EB396BEB12FC}" srcId="{0E6CCD04-853B-46CB-B792-B02318C098CA}" destId="{947EEA1B-09DB-49A9-8BBA-3AEF71B595B2}" srcOrd="1" destOrd="0" parTransId="{E7034946-4DAF-4641-A5EB-D89311D43124}" sibTransId="{37D08B57-6812-4726-8DD0-DA0B3267D4CF}"/>
    <dgm:cxn modelId="{24550F9B-BFDD-4095-A8BF-A933EF6D7633}" srcId="{0E6CCD04-853B-46CB-B792-B02318C098CA}" destId="{02889217-C5F4-44C1-8321-3C6554AE4073}" srcOrd="0" destOrd="0" parTransId="{8A3BDF2D-00A7-43A0-B1F5-538944A51A5F}" sibTransId="{9C72CE90-BC12-4D62-9F7C-06EE13585D4E}"/>
    <dgm:cxn modelId="{C2F090F1-8E6F-44E4-9553-3DDB7EFF0E3F}" srcId="{0E6CCD04-853B-46CB-B792-B02318C098CA}" destId="{BED706D0-92FC-4F67-87BC-04E7C58B9D7A}" srcOrd="2" destOrd="0" parTransId="{B7C706C1-D12E-405D-A987-5C35E6DE5BE8}" sibTransId="{9DC17C5C-2F98-4632-A84F-B1AB7E350C6A}"/>
    <dgm:cxn modelId="{05268FF4-F951-4AA5-8C18-AA44849B303F}" type="presOf" srcId="{BED706D0-92FC-4F67-87BC-04E7C58B9D7A}" destId="{A30D799D-F3B4-470F-9C57-15F5B15F05A4}" srcOrd="0" destOrd="0" presId="urn:microsoft.com/office/officeart/2008/layout/LinedList"/>
    <dgm:cxn modelId="{0BEC0E13-BBE5-48B4-8301-34272DE415AA}" type="presParOf" srcId="{AF45289B-8869-4155-B43E-0B9482D6B25D}" destId="{F701EC39-82B4-4374-AEC3-FB4CC2082F7F}" srcOrd="0" destOrd="0" presId="urn:microsoft.com/office/officeart/2008/layout/LinedList"/>
    <dgm:cxn modelId="{AC5BAFCB-091B-42EE-9F05-FE8A4C08F0B7}" type="presParOf" srcId="{AF45289B-8869-4155-B43E-0B9482D6B25D}" destId="{2C2E33E2-A1EE-4C3A-921B-B419EF81BA0B}" srcOrd="1" destOrd="0" presId="urn:microsoft.com/office/officeart/2008/layout/LinedList"/>
    <dgm:cxn modelId="{D71183C7-43B4-472A-B37C-B24F41191572}" type="presParOf" srcId="{2C2E33E2-A1EE-4C3A-921B-B419EF81BA0B}" destId="{24B2A9F7-7780-4ECD-BA53-571FBE5C1C60}" srcOrd="0" destOrd="0" presId="urn:microsoft.com/office/officeart/2008/layout/LinedList"/>
    <dgm:cxn modelId="{35329A4B-DC5F-4456-A298-EDD73184EE09}" type="presParOf" srcId="{2C2E33E2-A1EE-4C3A-921B-B419EF81BA0B}" destId="{5B6F92CE-F54E-4080-94A0-9C004AD6A48B}" srcOrd="1" destOrd="0" presId="urn:microsoft.com/office/officeart/2008/layout/LinedList"/>
    <dgm:cxn modelId="{1D6CAD86-7281-4949-A33F-568673DC5F62}" type="presParOf" srcId="{AF45289B-8869-4155-B43E-0B9482D6B25D}" destId="{273DB9DA-5210-495A-9114-01FD573BA43E}" srcOrd="2" destOrd="0" presId="urn:microsoft.com/office/officeart/2008/layout/LinedList"/>
    <dgm:cxn modelId="{7E3BDED3-8746-4B1A-A67D-DD50D8A4A0CE}" type="presParOf" srcId="{AF45289B-8869-4155-B43E-0B9482D6B25D}" destId="{7EFB9ABB-198B-43B2-9411-6945CEB6FC37}" srcOrd="3" destOrd="0" presId="urn:microsoft.com/office/officeart/2008/layout/LinedList"/>
    <dgm:cxn modelId="{FC4AEC21-2E6A-4BF9-9F85-5B436EEF2A5B}" type="presParOf" srcId="{7EFB9ABB-198B-43B2-9411-6945CEB6FC37}" destId="{1C2891B6-7A59-4981-A918-48994BD8F287}" srcOrd="0" destOrd="0" presId="urn:microsoft.com/office/officeart/2008/layout/LinedList"/>
    <dgm:cxn modelId="{0F4C6A98-1582-402E-A87C-974E0DDEB130}" type="presParOf" srcId="{7EFB9ABB-198B-43B2-9411-6945CEB6FC37}" destId="{648CA99C-7297-41DB-A5E8-C3852972331F}" srcOrd="1" destOrd="0" presId="urn:microsoft.com/office/officeart/2008/layout/LinedList"/>
    <dgm:cxn modelId="{9AA61B1A-AD5F-4223-B6A6-10C866E422E5}" type="presParOf" srcId="{AF45289B-8869-4155-B43E-0B9482D6B25D}" destId="{486F17D4-C955-4D52-96EA-217EED70D353}" srcOrd="4" destOrd="0" presId="urn:microsoft.com/office/officeart/2008/layout/LinedList"/>
    <dgm:cxn modelId="{4CCC5E5B-22F0-4CCB-B63D-3284F9650EB5}" type="presParOf" srcId="{AF45289B-8869-4155-B43E-0B9482D6B25D}" destId="{65DCAC7B-6D82-47AA-A2C0-A8F47BC1EE00}" srcOrd="5" destOrd="0" presId="urn:microsoft.com/office/officeart/2008/layout/LinedList"/>
    <dgm:cxn modelId="{86FF83CF-3351-400B-A943-7A2A193F9625}" type="presParOf" srcId="{65DCAC7B-6D82-47AA-A2C0-A8F47BC1EE00}" destId="{A30D799D-F3B4-470F-9C57-15F5B15F05A4}" srcOrd="0" destOrd="0" presId="urn:microsoft.com/office/officeart/2008/layout/LinedList"/>
    <dgm:cxn modelId="{04868CE6-7277-485C-A216-C7049DD1801E}" type="presParOf" srcId="{65DCAC7B-6D82-47AA-A2C0-A8F47BC1EE00}" destId="{38D52B43-E9DF-49A7-B7A9-08199F5D8F6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16F5C8-381D-4F51-BF19-DA236A673B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B057AB2-6CE3-419C-BC55-A88998045CF2}">
      <dgm:prSet custT="1"/>
      <dgm:spPr/>
      <dgm:t>
        <a:bodyPr/>
        <a:lstStyle/>
        <a:p>
          <a:r>
            <a:rPr lang="uk-UA" sz="4400" dirty="0"/>
            <a:t>Виконати аналіз методів дистанційної ідентифікації параметрів динамічних об'єктів, визначити їх обмеження та сформулювати наукову задачу інтеграції </a:t>
          </a:r>
          <a:r>
            <a:rPr lang="uk-UA" sz="4400" dirty="0" err="1"/>
            <a:t>трансформерних</a:t>
          </a:r>
          <a:r>
            <a:rPr lang="uk-UA" sz="4400" dirty="0"/>
            <a:t> моделей виявлення, алгоритмів оптичного потоку та </a:t>
          </a:r>
          <a:r>
            <a:rPr lang="uk-UA" sz="4400" dirty="0" err="1"/>
            <a:t>нейромережевого</a:t>
          </a:r>
          <a:r>
            <a:rPr lang="uk-UA" sz="4400" dirty="0"/>
            <a:t> оцінювання глибини.</a:t>
          </a:r>
          <a:endParaRPr lang="en-US" sz="4400" dirty="0"/>
        </a:p>
      </dgm:t>
    </dgm:pt>
    <dgm:pt modelId="{D43838E2-2822-447D-8773-BF5BE12C8E3B}" type="parTrans" cxnId="{7F85A7DE-F0C6-46C3-BCC1-981C029EA768}">
      <dgm:prSet/>
      <dgm:spPr/>
      <dgm:t>
        <a:bodyPr/>
        <a:lstStyle/>
        <a:p>
          <a:endParaRPr lang="en-US"/>
        </a:p>
      </dgm:t>
    </dgm:pt>
    <dgm:pt modelId="{654B9D1C-B0C7-419C-9ABF-198A7621D9A8}" type="sibTrans" cxnId="{7F85A7DE-F0C6-46C3-BCC1-981C029EA768}">
      <dgm:prSet/>
      <dgm:spPr/>
      <dgm:t>
        <a:bodyPr/>
        <a:lstStyle/>
        <a:p>
          <a:endParaRPr lang="en-US"/>
        </a:p>
      </dgm:t>
    </dgm:pt>
    <dgm:pt modelId="{563909FB-3C88-45DA-A3B6-1FDFE4078232}" type="pres">
      <dgm:prSet presAssocID="{9A16F5C8-381D-4F51-BF19-DA236A673BA5}" presName="linear" presStyleCnt="0">
        <dgm:presLayoutVars>
          <dgm:animLvl val="lvl"/>
          <dgm:resizeHandles val="exact"/>
        </dgm:presLayoutVars>
      </dgm:prSet>
      <dgm:spPr/>
    </dgm:pt>
    <dgm:pt modelId="{692E2D70-9B97-4307-9102-5C98A07DD5B7}" type="pres">
      <dgm:prSet presAssocID="{DB057AB2-6CE3-419C-BC55-A88998045CF2}" presName="parentText" presStyleLbl="node1" presStyleIdx="0" presStyleCnt="1">
        <dgm:presLayoutVars>
          <dgm:chMax val="0"/>
          <dgm:bulletEnabled val="1"/>
        </dgm:presLayoutVars>
      </dgm:prSet>
      <dgm:spPr/>
    </dgm:pt>
  </dgm:ptLst>
  <dgm:cxnLst>
    <dgm:cxn modelId="{015D342D-E7C5-47F0-85B1-D6DE84E0DD27}" type="presOf" srcId="{9A16F5C8-381D-4F51-BF19-DA236A673BA5}" destId="{563909FB-3C88-45DA-A3B6-1FDFE4078232}" srcOrd="0" destOrd="0" presId="urn:microsoft.com/office/officeart/2005/8/layout/vList2"/>
    <dgm:cxn modelId="{2D28D9BF-A789-4423-B305-755547C2400E}" type="presOf" srcId="{DB057AB2-6CE3-419C-BC55-A88998045CF2}" destId="{692E2D70-9B97-4307-9102-5C98A07DD5B7}" srcOrd="0" destOrd="0" presId="urn:microsoft.com/office/officeart/2005/8/layout/vList2"/>
    <dgm:cxn modelId="{7F85A7DE-F0C6-46C3-BCC1-981C029EA768}" srcId="{9A16F5C8-381D-4F51-BF19-DA236A673BA5}" destId="{DB057AB2-6CE3-419C-BC55-A88998045CF2}" srcOrd="0" destOrd="0" parTransId="{D43838E2-2822-447D-8773-BF5BE12C8E3B}" sibTransId="{654B9D1C-B0C7-419C-9ABF-198A7621D9A8}"/>
    <dgm:cxn modelId="{EB48E570-9897-496F-9FFA-5552E0D2D1E7}" type="presParOf" srcId="{563909FB-3C88-45DA-A3B6-1FDFE4078232}" destId="{692E2D70-9B97-4307-9102-5C98A07DD5B7}"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16F5C8-381D-4F51-BF19-DA236A673B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B057AB2-6CE3-419C-BC55-A88998045CF2}">
      <dgm:prSet custT="1"/>
      <dgm:spPr/>
      <dgm:t>
        <a:bodyPr/>
        <a:lstStyle/>
        <a:p>
          <a:r>
            <a:rPr lang="uk-UA" sz="4400" dirty="0"/>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endParaRPr lang="en-US" sz="4400" dirty="0"/>
        </a:p>
        <a:p>
          <a:endParaRPr lang="en-US" sz="4400" dirty="0"/>
        </a:p>
      </dgm:t>
    </dgm:pt>
    <dgm:pt modelId="{D43838E2-2822-447D-8773-BF5BE12C8E3B}" type="parTrans" cxnId="{7F85A7DE-F0C6-46C3-BCC1-981C029EA768}">
      <dgm:prSet/>
      <dgm:spPr/>
      <dgm:t>
        <a:bodyPr/>
        <a:lstStyle/>
        <a:p>
          <a:endParaRPr lang="en-US"/>
        </a:p>
      </dgm:t>
    </dgm:pt>
    <dgm:pt modelId="{654B9D1C-B0C7-419C-9ABF-198A7621D9A8}" type="sibTrans" cxnId="{7F85A7DE-F0C6-46C3-BCC1-981C029EA768}">
      <dgm:prSet/>
      <dgm:spPr/>
      <dgm:t>
        <a:bodyPr/>
        <a:lstStyle/>
        <a:p>
          <a:endParaRPr lang="en-US"/>
        </a:p>
      </dgm:t>
    </dgm:pt>
    <dgm:pt modelId="{563909FB-3C88-45DA-A3B6-1FDFE4078232}" type="pres">
      <dgm:prSet presAssocID="{9A16F5C8-381D-4F51-BF19-DA236A673BA5}" presName="linear" presStyleCnt="0">
        <dgm:presLayoutVars>
          <dgm:animLvl val="lvl"/>
          <dgm:resizeHandles val="exact"/>
        </dgm:presLayoutVars>
      </dgm:prSet>
      <dgm:spPr/>
    </dgm:pt>
    <dgm:pt modelId="{692E2D70-9B97-4307-9102-5C98A07DD5B7}" type="pres">
      <dgm:prSet presAssocID="{DB057AB2-6CE3-419C-BC55-A88998045CF2}" presName="parentText" presStyleLbl="node1" presStyleIdx="0" presStyleCnt="1">
        <dgm:presLayoutVars>
          <dgm:chMax val="0"/>
          <dgm:bulletEnabled val="1"/>
        </dgm:presLayoutVars>
      </dgm:prSet>
      <dgm:spPr/>
    </dgm:pt>
  </dgm:ptLst>
  <dgm:cxnLst>
    <dgm:cxn modelId="{015D342D-E7C5-47F0-85B1-D6DE84E0DD27}" type="presOf" srcId="{9A16F5C8-381D-4F51-BF19-DA236A673BA5}" destId="{563909FB-3C88-45DA-A3B6-1FDFE4078232}" srcOrd="0" destOrd="0" presId="urn:microsoft.com/office/officeart/2005/8/layout/vList2"/>
    <dgm:cxn modelId="{2D28D9BF-A789-4423-B305-755547C2400E}" type="presOf" srcId="{DB057AB2-6CE3-419C-BC55-A88998045CF2}" destId="{692E2D70-9B97-4307-9102-5C98A07DD5B7}" srcOrd="0" destOrd="0" presId="urn:microsoft.com/office/officeart/2005/8/layout/vList2"/>
    <dgm:cxn modelId="{7F85A7DE-F0C6-46C3-BCC1-981C029EA768}" srcId="{9A16F5C8-381D-4F51-BF19-DA236A673BA5}" destId="{DB057AB2-6CE3-419C-BC55-A88998045CF2}" srcOrd="0" destOrd="0" parTransId="{D43838E2-2822-447D-8773-BF5BE12C8E3B}" sibTransId="{654B9D1C-B0C7-419C-9ABF-198A7621D9A8}"/>
    <dgm:cxn modelId="{EB48E570-9897-496F-9FFA-5552E0D2D1E7}" type="presParOf" srcId="{563909FB-3C88-45DA-A3B6-1FDFE4078232}" destId="{692E2D70-9B97-4307-9102-5C98A07DD5B7}"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16F5C8-381D-4F51-BF19-DA236A673B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B057AB2-6CE3-419C-BC55-A88998045CF2}">
      <dgm:prSet custT="1"/>
      <dgm:spPr/>
      <dgm:t>
        <a:bodyPr/>
        <a:lstStyle/>
        <a:p>
          <a:r>
            <a:rPr lang="uk-UA" sz="4000" dirty="0"/>
            <a:t>Розробити моделі та методи інтеграції </a:t>
          </a:r>
          <a:r>
            <a:rPr lang="uk-UA" sz="4000" dirty="0" err="1"/>
            <a:t>трансформерного</a:t>
          </a:r>
          <a:r>
            <a:rPr lang="uk-UA" sz="4000" dirty="0"/>
            <a:t> детектора об'єктів </a:t>
          </a:r>
          <a:r>
            <a:rPr lang="en-US" sz="4000" dirty="0"/>
            <a:t>DETR, </a:t>
          </a:r>
          <a:r>
            <a:rPr lang="uk-UA" sz="4000" dirty="0"/>
            <a:t>алгоритмів оптичного потоку (</a:t>
          </a:r>
          <a:r>
            <a:rPr lang="en-US" sz="4000" dirty="0" err="1"/>
            <a:t>Farneback</a:t>
          </a:r>
          <a:r>
            <a:rPr lang="en-US" sz="4000" dirty="0"/>
            <a:t>, Lucas–Kanade, Horn–Schunck, </a:t>
          </a:r>
          <a:r>
            <a:rPr lang="en-US" sz="4000" dirty="0" err="1"/>
            <a:t>FlowNet</a:t>
          </a:r>
          <a:r>
            <a:rPr lang="en-US" sz="4000" dirty="0"/>
            <a:t>, </a:t>
          </a:r>
          <a:r>
            <a:rPr lang="en-US" sz="4000" dirty="0" err="1"/>
            <a:t>GeoNet</a:t>
          </a:r>
          <a:r>
            <a:rPr lang="en-US" sz="4000" dirty="0"/>
            <a:t>) </a:t>
          </a:r>
          <a:r>
            <a:rPr lang="uk-UA" sz="4000" dirty="0"/>
            <a:t>та </a:t>
          </a:r>
          <a:r>
            <a:rPr lang="uk-UA" sz="4000" dirty="0" err="1"/>
            <a:t>нейромережевого</a:t>
          </a:r>
          <a:r>
            <a:rPr lang="uk-UA" sz="4000" dirty="0"/>
            <a:t> оцінювання глибини (</a:t>
          </a:r>
          <a:r>
            <a:rPr lang="en-US" sz="4000" dirty="0" err="1"/>
            <a:t>MiDaS</a:t>
          </a:r>
          <a:r>
            <a:rPr lang="en-US" sz="4000" dirty="0"/>
            <a:t>, </a:t>
          </a:r>
          <a:r>
            <a:rPr lang="en-US" sz="4000" dirty="0" err="1"/>
            <a:t>DPT_Large</a:t>
          </a:r>
          <a:r>
            <a:rPr lang="en-US" sz="4000" dirty="0"/>
            <a:t>, </a:t>
          </a:r>
          <a:r>
            <a:rPr lang="en-US" sz="4000" dirty="0" err="1"/>
            <a:t>GeoNet</a:t>
          </a:r>
          <a:r>
            <a:rPr lang="en-US" sz="4000" dirty="0"/>
            <a:t>), </a:t>
          </a:r>
          <a:r>
            <a:rPr lang="uk-UA" sz="4000" dirty="0"/>
            <a:t>включаючи метод адаптивного комбінування результатів з використанням ансамблевих підходів </a:t>
          </a:r>
          <a:r>
            <a:rPr lang="en-US" sz="4000" dirty="0"/>
            <a:t>Bagging </a:t>
          </a:r>
          <a:r>
            <a:rPr lang="uk-UA" sz="4000" dirty="0"/>
            <a:t>та </a:t>
          </a:r>
          <a:r>
            <a:rPr lang="en-US" sz="4000" dirty="0"/>
            <a:t>Boosting</a:t>
          </a:r>
          <a:r>
            <a:rPr lang="uk-UA" sz="4000" dirty="0"/>
            <a:t>.</a:t>
          </a:r>
          <a:endParaRPr lang="en-US" sz="4000" dirty="0"/>
        </a:p>
        <a:p>
          <a:endParaRPr lang="en-US" sz="4400" dirty="0"/>
        </a:p>
      </dgm:t>
    </dgm:pt>
    <dgm:pt modelId="{D43838E2-2822-447D-8773-BF5BE12C8E3B}" type="parTrans" cxnId="{7F85A7DE-F0C6-46C3-BCC1-981C029EA768}">
      <dgm:prSet/>
      <dgm:spPr/>
      <dgm:t>
        <a:bodyPr/>
        <a:lstStyle/>
        <a:p>
          <a:endParaRPr lang="en-US"/>
        </a:p>
      </dgm:t>
    </dgm:pt>
    <dgm:pt modelId="{654B9D1C-B0C7-419C-9ABF-198A7621D9A8}" type="sibTrans" cxnId="{7F85A7DE-F0C6-46C3-BCC1-981C029EA768}">
      <dgm:prSet/>
      <dgm:spPr/>
      <dgm:t>
        <a:bodyPr/>
        <a:lstStyle/>
        <a:p>
          <a:endParaRPr lang="en-US"/>
        </a:p>
      </dgm:t>
    </dgm:pt>
    <dgm:pt modelId="{563909FB-3C88-45DA-A3B6-1FDFE4078232}" type="pres">
      <dgm:prSet presAssocID="{9A16F5C8-381D-4F51-BF19-DA236A673BA5}" presName="linear" presStyleCnt="0">
        <dgm:presLayoutVars>
          <dgm:animLvl val="lvl"/>
          <dgm:resizeHandles val="exact"/>
        </dgm:presLayoutVars>
      </dgm:prSet>
      <dgm:spPr/>
    </dgm:pt>
    <dgm:pt modelId="{692E2D70-9B97-4307-9102-5C98A07DD5B7}" type="pres">
      <dgm:prSet presAssocID="{DB057AB2-6CE3-419C-BC55-A88998045CF2}" presName="parentText" presStyleLbl="node1" presStyleIdx="0" presStyleCnt="1">
        <dgm:presLayoutVars>
          <dgm:chMax val="0"/>
          <dgm:bulletEnabled val="1"/>
        </dgm:presLayoutVars>
      </dgm:prSet>
      <dgm:spPr/>
    </dgm:pt>
  </dgm:ptLst>
  <dgm:cxnLst>
    <dgm:cxn modelId="{015D342D-E7C5-47F0-85B1-D6DE84E0DD27}" type="presOf" srcId="{9A16F5C8-381D-4F51-BF19-DA236A673BA5}" destId="{563909FB-3C88-45DA-A3B6-1FDFE4078232}" srcOrd="0" destOrd="0" presId="urn:microsoft.com/office/officeart/2005/8/layout/vList2"/>
    <dgm:cxn modelId="{2D28D9BF-A789-4423-B305-755547C2400E}" type="presOf" srcId="{DB057AB2-6CE3-419C-BC55-A88998045CF2}" destId="{692E2D70-9B97-4307-9102-5C98A07DD5B7}" srcOrd="0" destOrd="0" presId="urn:microsoft.com/office/officeart/2005/8/layout/vList2"/>
    <dgm:cxn modelId="{7F85A7DE-F0C6-46C3-BCC1-981C029EA768}" srcId="{9A16F5C8-381D-4F51-BF19-DA236A673BA5}" destId="{DB057AB2-6CE3-419C-BC55-A88998045CF2}" srcOrd="0" destOrd="0" parTransId="{D43838E2-2822-447D-8773-BF5BE12C8E3B}" sibTransId="{654B9D1C-B0C7-419C-9ABF-198A7621D9A8}"/>
    <dgm:cxn modelId="{EB48E570-9897-496F-9FFA-5552E0D2D1E7}" type="presParOf" srcId="{563909FB-3C88-45DA-A3B6-1FDFE4078232}" destId="{692E2D70-9B97-4307-9102-5C98A07DD5B7}"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16F5C8-381D-4F51-BF19-DA236A673B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B057AB2-6CE3-419C-BC55-A88998045CF2}">
      <dgm:prSet custT="1"/>
      <dgm:spPr/>
      <dgm:t>
        <a:bodyPr/>
        <a:lstStyle/>
        <a:p>
          <a:r>
            <a:rPr lang="uk-UA" sz="4400"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sz="4400" dirty="0"/>
        </a:p>
        <a:p>
          <a:endParaRPr lang="en-US" sz="4400" dirty="0"/>
        </a:p>
      </dgm:t>
    </dgm:pt>
    <dgm:pt modelId="{D43838E2-2822-447D-8773-BF5BE12C8E3B}" type="parTrans" cxnId="{7F85A7DE-F0C6-46C3-BCC1-981C029EA768}">
      <dgm:prSet/>
      <dgm:spPr/>
      <dgm:t>
        <a:bodyPr/>
        <a:lstStyle/>
        <a:p>
          <a:endParaRPr lang="en-US"/>
        </a:p>
      </dgm:t>
    </dgm:pt>
    <dgm:pt modelId="{654B9D1C-B0C7-419C-9ABF-198A7621D9A8}" type="sibTrans" cxnId="{7F85A7DE-F0C6-46C3-BCC1-981C029EA768}">
      <dgm:prSet/>
      <dgm:spPr/>
      <dgm:t>
        <a:bodyPr/>
        <a:lstStyle/>
        <a:p>
          <a:endParaRPr lang="en-US"/>
        </a:p>
      </dgm:t>
    </dgm:pt>
    <dgm:pt modelId="{563909FB-3C88-45DA-A3B6-1FDFE4078232}" type="pres">
      <dgm:prSet presAssocID="{9A16F5C8-381D-4F51-BF19-DA236A673BA5}" presName="linear" presStyleCnt="0">
        <dgm:presLayoutVars>
          <dgm:animLvl val="lvl"/>
          <dgm:resizeHandles val="exact"/>
        </dgm:presLayoutVars>
      </dgm:prSet>
      <dgm:spPr/>
    </dgm:pt>
    <dgm:pt modelId="{692E2D70-9B97-4307-9102-5C98A07DD5B7}" type="pres">
      <dgm:prSet presAssocID="{DB057AB2-6CE3-419C-BC55-A88998045CF2}" presName="parentText" presStyleLbl="node1" presStyleIdx="0" presStyleCnt="1">
        <dgm:presLayoutVars>
          <dgm:chMax val="0"/>
          <dgm:bulletEnabled val="1"/>
        </dgm:presLayoutVars>
      </dgm:prSet>
      <dgm:spPr/>
    </dgm:pt>
  </dgm:ptLst>
  <dgm:cxnLst>
    <dgm:cxn modelId="{015D342D-E7C5-47F0-85B1-D6DE84E0DD27}" type="presOf" srcId="{9A16F5C8-381D-4F51-BF19-DA236A673BA5}" destId="{563909FB-3C88-45DA-A3B6-1FDFE4078232}" srcOrd="0" destOrd="0" presId="urn:microsoft.com/office/officeart/2005/8/layout/vList2"/>
    <dgm:cxn modelId="{2D28D9BF-A789-4423-B305-755547C2400E}" type="presOf" srcId="{DB057AB2-6CE3-419C-BC55-A88998045CF2}" destId="{692E2D70-9B97-4307-9102-5C98A07DD5B7}" srcOrd="0" destOrd="0" presId="urn:microsoft.com/office/officeart/2005/8/layout/vList2"/>
    <dgm:cxn modelId="{7F85A7DE-F0C6-46C3-BCC1-981C029EA768}" srcId="{9A16F5C8-381D-4F51-BF19-DA236A673BA5}" destId="{DB057AB2-6CE3-419C-BC55-A88998045CF2}" srcOrd="0" destOrd="0" parTransId="{D43838E2-2822-447D-8773-BF5BE12C8E3B}" sibTransId="{654B9D1C-B0C7-419C-9ABF-198A7621D9A8}"/>
    <dgm:cxn modelId="{EB48E570-9897-496F-9FFA-5552E0D2D1E7}" type="presParOf" srcId="{563909FB-3C88-45DA-A3B6-1FDFE4078232}" destId="{692E2D70-9B97-4307-9102-5C98A07DD5B7}"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E00C60E-1920-451A-8777-83E9BF06579C}"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1E3233E8-9C3E-42A6-BDD5-B4A7D6AA13C0}">
      <dgm:prSet/>
      <dgm:spPr/>
      <dgm:t>
        <a:bodyPr/>
        <a:lstStyle/>
        <a:p>
          <a:r>
            <a:rPr lang="en-US" dirty="0"/>
            <a:t>Найкраща </a:t>
          </a:r>
          <a:r>
            <a:rPr lang="en-US" dirty="0" err="1"/>
            <a:t>точність</a:t>
          </a:r>
          <a:r>
            <a:rPr lang="en-US" dirty="0"/>
            <a:t> </a:t>
          </a:r>
          <a:r>
            <a:rPr lang="en-US" dirty="0" err="1"/>
            <a:t>глибини</a:t>
          </a:r>
          <a:r>
            <a:rPr lang="en-US" dirty="0"/>
            <a:t>: Bagging (RMSE=0,713, PSNR=51,065 </a:t>
          </a:r>
          <a:r>
            <a:rPr lang="en-US" dirty="0" err="1"/>
            <a:t>дБ</a:t>
          </a:r>
          <a:r>
            <a:rPr lang="en-US" dirty="0"/>
            <a:t>, </a:t>
          </a:r>
          <a:r>
            <a:rPr lang="en-US" dirty="0" err="1"/>
            <a:t>IoU</a:t>
          </a:r>
          <a:r>
            <a:rPr lang="en-US" dirty="0"/>
            <a:t>=0,996)</a:t>
          </a:r>
        </a:p>
      </dgm:t>
    </dgm:pt>
    <dgm:pt modelId="{F87DC907-59C8-4C33-81D0-1FCD185413E2}" type="parTrans" cxnId="{F63FB2F1-6053-4D3F-B74D-62C06065367B}">
      <dgm:prSet/>
      <dgm:spPr/>
      <dgm:t>
        <a:bodyPr/>
        <a:lstStyle/>
        <a:p>
          <a:endParaRPr lang="en-US"/>
        </a:p>
      </dgm:t>
    </dgm:pt>
    <dgm:pt modelId="{09801499-F28E-4BCC-9870-A90125E54A69}" type="sibTrans" cxnId="{F63FB2F1-6053-4D3F-B74D-62C06065367B}">
      <dgm:prSet/>
      <dgm:spPr/>
      <dgm:t>
        <a:bodyPr/>
        <a:lstStyle/>
        <a:p>
          <a:endParaRPr lang="en-US"/>
        </a:p>
      </dgm:t>
    </dgm:pt>
    <dgm:pt modelId="{44DB6DCC-7809-4228-899B-90E59946DF4D}">
      <dgm:prSet/>
      <dgm:spPr/>
      <dgm:t>
        <a:bodyPr/>
        <a:lstStyle/>
        <a:p>
          <a:r>
            <a:rPr lang="en-US"/>
            <a:t>GeoNet та DPT_Large також високі, але Bagging перевершує за рахунок усереднення</a:t>
          </a:r>
        </a:p>
      </dgm:t>
    </dgm:pt>
    <dgm:pt modelId="{C11C4870-E6E6-418F-B5BA-250FF33AAFAB}" type="parTrans" cxnId="{6600FC64-2EE4-46C3-BDBD-82502F6A8619}">
      <dgm:prSet/>
      <dgm:spPr/>
      <dgm:t>
        <a:bodyPr/>
        <a:lstStyle/>
        <a:p>
          <a:endParaRPr lang="en-US"/>
        </a:p>
      </dgm:t>
    </dgm:pt>
    <dgm:pt modelId="{088083FC-114E-4A1B-962B-B3A35AF63DFF}" type="sibTrans" cxnId="{6600FC64-2EE4-46C3-BDBD-82502F6A8619}">
      <dgm:prSet/>
      <dgm:spPr/>
      <dgm:t>
        <a:bodyPr/>
        <a:lstStyle/>
        <a:p>
          <a:endParaRPr lang="en-US"/>
        </a:p>
      </dgm:t>
    </dgm:pt>
    <dgm:pt modelId="{0A1B1602-0C38-41D7-A242-8EA66C0EC300}">
      <dgm:prSet/>
      <dgm:spPr/>
      <dgm:t>
        <a:bodyPr/>
        <a:lstStyle/>
        <a:p>
          <a:r>
            <a:rPr lang="en-US"/>
            <a:t>Щільні методи оптичного потоку (Farneback, FlowNet) дають узгоджені оцінки швидкості</a:t>
          </a:r>
        </a:p>
      </dgm:t>
    </dgm:pt>
    <dgm:pt modelId="{38AB2637-8618-45A7-93F5-9BB6B39D3AF0}" type="parTrans" cxnId="{A6BB7DAA-AD78-47A1-8CAE-EBA5D5C73D2C}">
      <dgm:prSet/>
      <dgm:spPr/>
      <dgm:t>
        <a:bodyPr/>
        <a:lstStyle/>
        <a:p>
          <a:endParaRPr lang="en-US"/>
        </a:p>
      </dgm:t>
    </dgm:pt>
    <dgm:pt modelId="{E538D0C1-12FD-49D3-842D-E1835FA4254E}" type="sibTrans" cxnId="{A6BB7DAA-AD78-47A1-8CAE-EBA5D5C73D2C}">
      <dgm:prSet/>
      <dgm:spPr/>
      <dgm:t>
        <a:bodyPr/>
        <a:lstStyle/>
        <a:p>
          <a:endParaRPr lang="en-US"/>
        </a:p>
      </dgm:t>
    </dgm:pt>
    <dgm:pt modelId="{B5D1997D-2247-4732-AD4E-6F608A284EE2}">
      <dgm:prSet/>
      <dgm:spPr/>
      <dgm:t>
        <a:bodyPr/>
        <a:lstStyle/>
        <a:p>
          <a:r>
            <a:rPr lang="en-US" dirty="0"/>
            <a:t>Lucas-Kanade </a:t>
          </a:r>
          <a:r>
            <a:rPr lang="en-US" dirty="0" err="1"/>
            <a:t>придатний</a:t>
          </a:r>
          <a:r>
            <a:rPr lang="en-US" dirty="0"/>
            <a:t> </a:t>
          </a:r>
          <a:r>
            <a:rPr lang="en-US" dirty="0" err="1"/>
            <a:t>лише</a:t>
          </a:r>
          <a:r>
            <a:rPr lang="en-US" dirty="0"/>
            <a:t> </a:t>
          </a:r>
          <a:r>
            <a:rPr lang="en-US" dirty="0" err="1"/>
            <a:t>для</a:t>
          </a:r>
          <a:r>
            <a:rPr lang="en-US" dirty="0"/>
            <a:t> </a:t>
          </a:r>
          <a:r>
            <a:rPr lang="en-US" dirty="0" err="1"/>
            <a:t>локального</a:t>
          </a:r>
          <a:r>
            <a:rPr lang="en-US" dirty="0"/>
            <a:t> </a:t>
          </a:r>
          <a:r>
            <a:rPr lang="en-US" dirty="0" err="1"/>
            <a:t>супроводу</a:t>
          </a:r>
          <a:r>
            <a:rPr lang="en-US" dirty="0"/>
            <a:t> </a:t>
          </a:r>
          <a:r>
            <a:rPr lang="en-US" dirty="0" err="1"/>
            <a:t>характерних</a:t>
          </a:r>
          <a:r>
            <a:rPr lang="en-US" dirty="0"/>
            <a:t> </a:t>
          </a:r>
          <a:r>
            <a:rPr lang="en-US" dirty="0" err="1"/>
            <a:t>точок</a:t>
          </a:r>
          <a:endParaRPr lang="en-US" dirty="0"/>
        </a:p>
      </dgm:t>
    </dgm:pt>
    <dgm:pt modelId="{23960800-FD33-4E2D-8D8A-42949895E4C8}" type="parTrans" cxnId="{DBCD7D2E-186D-4BF5-86A9-8CCBE6FF81CE}">
      <dgm:prSet/>
      <dgm:spPr/>
      <dgm:t>
        <a:bodyPr/>
        <a:lstStyle/>
        <a:p>
          <a:endParaRPr lang="en-US"/>
        </a:p>
      </dgm:t>
    </dgm:pt>
    <dgm:pt modelId="{FEB48466-7230-4947-BC57-A1996BE6A725}" type="sibTrans" cxnId="{DBCD7D2E-186D-4BF5-86A9-8CCBE6FF81CE}">
      <dgm:prSet/>
      <dgm:spPr/>
      <dgm:t>
        <a:bodyPr/>
        <a:lstStyle/>
        <a:p>
          <a:endParaRPr lang="en-US"/>
        </a:p>
      </dgm:t>
    </dgm:pt>
    <dgm:pt modelId="{9CC005F6-E738-4810-A167-D5194D4AB515}">
      <dgm:prSet/>
      <dgm:spPr/>
      <dgm:t>
        <a:bodyPr/>
        <a:lstStyle/>
        <a:p>
          <a:r>
            <a:rPr lang="en-US" dirty="0" err="1"/>
            <a:t>Комбінація</a:t>
          </a:r>
          <a:r>
            <a:rPr lang="en-US" dirty="0"/>
            <a:t> DETR + </a:t>
          </a:r>
          <a:r>
            <a:rPr lang="en-US" dirty="0" err="1"/>
            <a:t>Farneback</a:t>
          </a:r>
          <a:r>
            <a:rPr lang="en-US" dirty="0"/>
            <a:t> + Bagging </a:t>
          </a:r>
          <a:r>
            <a:rPr lang="en-US" dirty="0" err="1"/>
            <a:t>рекомендується</a:t>
          </a:r>
          <a:r>
            <a:rPr lang="en-US" dirty="0"/>
            <a:t> </a:t>
          </a:r>
          <a:r>
            <a:rPr lang="en-US" dirty="0" err="1"/>
            <a:t>для</a:t>
          </a:r>
          <a:r>
            <a:rPr lang="en-US" dirty="0"/>
            <a:t> </a:t>
          </a:r>
          <a:r>
            <a:rPr lang="en-US" dirty="0" err="1"/>
            <a:t>реального</a:t>
          </a:r>
          <a:r>
            <a:rPr lang="en-US" dirty="0"/>
            <a:t> </a:t>
          </a:r>
          <a:r>
            <a:rPr lang="en-US" dirty="0" err="1"/>
            <a:t>часу</a:t>
          </a:r>
          <a:endParaRPr lang="en-US" dirty="0"/>
        </a:p>
      </dgm:t>
    </dgm:pt>
    <dgm:pt modelId="{51D47646-340D-4E17-B692-B89CD869A227}" type="parTrans" cxnId="{0D0C4300-D23B-470C-BEAD-FE61E30E77C6}">
      <dgm:prSet/>
      <dgm:spPr/>
      <dgm:t>
        <a:bodyPr/>
        <a:lstStyle/>
        <a:p>
          <a:endParaRPr lang="en-US"/>
        </a:p>
      </dgm:t>
    </dgm:pt>
    <dgm:pt modelId="{2522CC82-2555-49B7-AA60-46673EC3E67A}" type="sibTrans" cxnId="{0D0C4300-D23B-470C-BEAD-FE61E30E77C6}">
      <dgm:prSet/>
      <dgm:spPr/>
      <dgm:t>
        <a:bodyPr/>
        <a:lstStyle/>
        <a:p>
          <a:endParaRPr lang="en-US"/>
        </a:p>
      </dgm:t>
    </dgm:pt>
    <dgm:pt modelId="{629A4084-3776-4E8E-8909-5DF0FF30B9C2}" type="pres">
      <dgm:prSet presAssocID="{FE00C60E-1920-451A-8777-83E9BF06579C}" presName="diagram" presStyleCnt="0">
        <dgm:presLayoutVars>
          <dgm:dir/>
          <dgm:resizeHandles val="exact"/>
        </dgm:presLayoutVars>
      </dgm:prSet>
      <dgm:spPr/>
    </dgm:pt>
    <dgm:pt modelId="{A560D8E8-8FC3-42F8-AE36-5F878DDB0296}" type="pres">
      <dgm:prSet presAssocID="{1E3233E8-9C3E-42A6-BDD5-B4A7D6AA13C0}" presName="node" presStyleLbl="node1" presStyleIdx="0" presStyleCnt="5">
        <dgm:presLayoutVars>
          <dgm:bulletEnabled val="1"/>
        </dgm:presLayoutVars>
      </dgm:prSet>
      <dgm:spPr/>
    </dgm:pt>
    <dgm:pt modelId="{4B4B6189-C651-4CC9-833E-862F7959BEF5}" type="pres">
      <dgm:prSet presAssocID="{09801499-F28E-4BCC-9870-A90125E54A69}" presName="sibTrans" presStyleCnt="0"/>
      <dgm:spPr/>
    </dgm:pt>
    <dgm:pt modelId="{3CA71303-082A-40B2-8271-1A800373D62A}" type="pres">
      <dgm:prSet presAssocID="{44DB6DCC-7809-4228-899B-90E59946DF4D}" presName="node" presStyleLbl="node1" presStyleIdx="1" presStyleCnt="5">
        <dgm:presLayoutVars>
          <dgm:bulletEnabled val="1"/>
        </dgm:presLayoutVars>
      </dgm:prSet>
      <dgm:spPr/>
    </dgm:pt>
    <dgm:pt modelId="{04E6488A-71D8-47C9-B60A-B29125F35908}" type="pres">
      <dgm:prSet presAssocID="{088083FC-114E-4A1B-962B-B3A35AF63DFF}" presName="sibTrans" presStyleCnt="0"/>
      <dgm:spPr/>
    </dgm:pt>
    <dgm:pt modelId="{0DFE65B8-B841-497E-8AAC-A5EC30C98C8D}" type="pres">
      <dgm:prSet presAssocID="{0A1B1602-0C38-41D7-A242-8EA66C0EC300}" presName="node" presStyleLbl="node1" presStyleIdx="2" presStyleCnt="5">
        <dgm:presLayoutVars>
          <dgm:bulletEnabled val="1"/>
        </dgm:presLayoutVars>
      </dgm:prSet>
      <dgm:spPr/>
    </dgm:pt>
    <dgm:pt modelId="{F87C7066-8F83-4A54-8DEF-86955952A96C}" type="pres">
      <dgm:prSet presAssocID="{E538D0C1-12FD-49D3-842D-E1835FA4254E}" presName="sibTrans" presStyleCnt="0"/>
      <dgm:spPr/>
    </dgm:pt>
    <dgm:pt modelId="{E6D38B83-0CF5-4F6E-BA29-268EA67F203B}" type="pres">
      <dgm:prSet presAssocID="{B5D1997D-2247-4732-AD4E-6F608A284EE2}" presName="node" presStyleLbl="node1" presStyleIdx="3" presStyleCnt="5">
        <dgm:presLayoutVars>
          <dgm:bulletEnabled val="1"/>
        </dgm:presLayoutVars>
      </dgm:prSet>
      <dgm:spPr/>
    </dgm:pt>
    <dgm:pt modelId="{0D497F72-42AB-4458-83FE-EBCCF010950C}" type="pres">
      <dgm:prSet presAssocID="{FEB48466-7230-4947-BC57-A1996BE6A725}" presName="sibTrans" presStyleCnt="0"/>
      <dgm:spPr/>
    </dgm:pt>
    <dgm:pt modelId="{1D92E2AB-53B1-4799-8512-D04B6B4A8474}" type="pres">
      <dgm:prSet presAssocID="{9CC005F6-E738-4810-A167-D5194D4AB515}" presName="node" presStyleLbl="node1" presStyleIdx="4" presStyleCnt="5">
        <dgm:presLayoutVars>
          <dgm:bulletEnabled val="1"/>
        </dgm:presLayoutVars>
      </dgm:prSet>
      <dgm:spPr/>
    </dgm:pt>
  </dgm:ptLst>
  <dgm:cxnLst>
    <dgm:cxn modelId="{0D0C4300-D23B-470C-BEAD-FE61E30E77C6}" srcId="{FE00C60E-1920-451A-8777-83E9BF06579C}" destId="{9CC005F6-E738-4810-A167-D5194D4AB515}" srcOrd="4" destOrd="0" parTransId="{51D47646-340D-4E17-B692-B89CD869A227}" sibTransId="{2522CC82-2555-49B7-AA60-46673EC3E67A}"/>
    <dgm:cxn modelId="{70FB7713-F47B-4F58-9F45-237C2D160AB3}" type="presOf" srcId="{B5D1997D-2247-4732-AD4E-6F608A284EE2}" destId="{E6D38B83-0CF5-4F6E-BA29-268EA67F203B}" srcOrd="0" destOrd="0" presId="urn:microsoft.com/office/officeart/2005/8/layout/default"/>
    <dgm:cxn modelId="{55576B2C-6352-49AF-B61D-A63F4AD467E4}" type="presOf" srcId="{9CC005F6-E738-4810-A167-D5194D4AB515}" destId="{1D92E2AB-53B1-4799-8512-D04B6B4A8474}" srcOrd="0" destOrd="0" presId="urn:microsoft.com/office/officeart/2005/8/layout/default"/>
    <dgm:cxn modelId="{DBCD7D2E-186D-4BF5-86A9-8CCBE6FF81CE}" srcId="{FE00C60E-1920-451A-8777-83E9BF06579C}" destId="{B5D1997D-2247-4732-AD4E-6F608A284EE2}" srcOrd="3" destOrd="0" parTransId="{23960800-FD33-4E2D-8D8A-42949895E4C8}" sibTransId="{FEB48466-7230-4947-BC57-A1996BE6A725}"/>
    <dgm:cxn modelId="{219C7433-83A9-4332-8660-8D8F2DFC2C23}" type="presOf" srcId="{FE00C60E-1920-451A-8777-83E9BF06579C}" destId="{629A4084-3776-4E8E-8909-5DF0FF30B9C2}" srcOrd="0" destOrd="0" presId="urn:microsoft.com/office/officeart/2005/8/layout/default"/>
    <dgm:cxn modelId="{FB67AB62-3065-408C-AA2A-5AA2C28A7038}" type="presOf" srcId="{0A1B1602-0C38-41D7-A242-8EA66C0EC300}" destId="{0DFE65B8-B841-497E-8AAC-A5EC30C98C8D}" srcOrd="0" destOrd="0" presId="urn:microsoft.com/office/officeart/2005/8/layout/default"/>
    <dgm:cxn modelId="{6600FC64-2EE4-46C3-BDBD-82502F6A8619}" srcId="{FE00C60E-1920-451A-8777-83E9BF06579C}" destId="{44DB6DCC-7809-4228-899B-90E59946DF4D}" srcOrd="1" destOrd="0" parTransId="{C11C4870-E6E6-418F-B5BA-250FF33AAFAB}" sibTransId="{088083FC-114E-4A1B-962B-B3A35AF63DFF}"/>
    <dgm:cxn modelId="{328DF554-0B75-49EB-9B38-1CDBF31A15BD}" type="presOf" srcId="{1E3233E8-9C3E-42A6-BDD5-B4A7D6AA13C0}" destId="{A560D8E8-8FC3-42F8-AE36-5F878DDB0296}" srcOrd="0" destOrd="0" presId="urn:microsoft.com/office/officeart/2005/8/layout/default"/>
    <dgm:cxn modelId="{A6BB7DAA-AD78-47A1-8CAE-EBA5D5C73D2C}" srcId="{FE00C60E-1920-451A-8777-83E9BF06579C}" destId="{0A1B1602-0C38-41D7-A242-8EA66C0EC300}" srcOrd="2" destOrd="0" parTransId="{38AB2637-8618-45A7-93F5-9BB6B39D3AF0}" sibTransId="{E538D0C1-12FD-49D3-842D-E1835FA4254E}"/>
    <dgm:cxn modelId="{831142B1-6B82-4701-8EC4-B4D3A23834EA}" type="presOf" srcId="{44DB6DCC-7809-4228-899B-90E59946DF4D}" destId="{3CA71303-082A-40B2-8271-1A800373D62A}" srcOrd="0" destOrd="0" presId="urn:microsoft.com/office/officeart/2005/8/layout/default"/>
    <dgm:cxn modelId="{F63FB2F1-6053-4D3F-B74D-62C06065367B}" srcId="{FE00C60E-1920-451A-8777-83E9BF06579C}" destId="{1E3233E8-9C3E-42A6-BDD5-B4A7D6AA13C0}" srcOrd="0" destOrd="0" parTransId="{F87DC907-59C8-4C33-81D0-1FCD185413E2}" sibTransId="{09801499-F28E-4BCC-9870-A90125E54A69}"/>
    <dgm:cxn modelId="{07C602F5-F33E-46AD-BD13-241B8DDBC0A7}" type="presParOf" srcId="{629A4084-3776-4E8E-8909-5DF0FF30B9C2}" destId="{A560D8E8-8FC3-42F8-AE36-5F878DDB0296}" srcOrd="0" destOrd="0" presId="urn:microsoft.com/office/officeart/2005/8/layout/default"/>
    <dgm:cxn modelId="{17B3ADC0-E6D8-47FF-9778-3D964ADA3322}" type="presParOf" srcId="{629A4084-3776-4E8E-8909-5DF0FF30B9C2}" destId="{4B4B6189-C651-4CC9-833E-862F7959BEF5}" srcOrd="1" destOrd="0" presId="urn:microsoft.com/office/officeart/2005/8/layout/default"/>
    <dgm:cxn modelId="{B8D64623-C257-41AD-9218-0F7838633DCC}" type="presParOf" srcId="{629A4084-3776-4E8E-8909-5DF0FF30B9C2}" destId="{3CA71303-082A-40B2-8271-1A800373D62A}" srcOrd="2" destOrd="0" presId="urn:microsoft.com/office/officeart/2005/8/layout/default"/>
    <dgm:cxn modelId="{E7F13604-62E2-49E4-BF3E-DB4B3D950D1A}" type="presParOf" srcId="{629A4084-3776-4E8E-8909-5DF0FF30B9C2}" destId="{04E6488A-71D8-47C9-B60A-B29125F35908}" srcOrd="3" destOrd="0" presId="urn:microsoft.com/office/officeart/2005/8/layout/default"/>
    <dgm:cxn modelId="{2382D4FE-F717-4743-97D6-6A222E0B76D3}" type="presParOf" srcId="{629A4084-3776-4E8E-8909-5DF0FF30B9C2}" destId="{0DFE65B8-B841-497E-8AAC-A5EC30C98C8D}" srcOrd="4" destOrd="0" presId="urn:microsoft.com/office/officeart/2005/8/layout/default"/>
    <dgm:cxn modelId="{9E2CCAEE-9908-4538-A5BF-E58F35A71353}" type="presParOf" srcId="{629A4084-3776-4E8E-8909-5DF0FF30B9C2}" destId="{F87C7066-8F83-4A54-8DEF-86955952A96C}" srcOrd="5" destOrd="0" presId="urn:microsoft.com/office/officeart/2005/8/layout/default"/>
    <dgm:cxn modelId="{96513324-53FE-42E6-8F16-7B9AB49C92B8}" type="presParOf" srcId="{629A4084-3776-4E8E-8909-5DF0FF30B9C2}" destId="{E6D38B83-0CF5-4F6E-BA29-268EA67F203B}" srcOrd="6" destOrd="0" presId="urn:microsoft.com/office/officeart/2005/8/layout/default"/>
    <dgm:cxn modelId="{BC73D488-C681-4B65-B155-83E07E543AE3}" type="presParOf" srcId="{629A4084-3776-4E8E-8909-5DF0FF30B9C2}" destId="{0D497F72-42AB-4458-83FE-EBCCF010950C}" srcOrd="7" destOrd="0" presId="urn:microsoft.com/office/officeart/2005/8/layout/default"/>
    <dgm:cxn modelId="{F9F75A8B-D88D-49F4-9DE1-84E92A2BD4B0}" type="presParOf" srcId="{629A4084-3776-4E8E-8909-5DF0FF30B9C2}" destId="{1D92E2AB-53B1-4799-8512-D04B6B4A8474}"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E6FCD0EA-133A-43A6-855B-B72EC1ECBCE4}">
      <dgm:prSet custT="1"/>
      <dgm:spPr/>
      <dgm:t>
        <a:bodyPr/>
        <a:lstStyle/>
        <a:p>
          <a:pPr algn="just"/>
          <a:r>
            <a:rPr lang="en-US" sz="3600" dirty="0"/>
            <a:t>1) </a:t>
          </a:r>
          <a:r>
            <a:rPr lang="uk-UA" sz="3600" dirty="0"/>
            <a:t>вперше запропоновано метод дистанційної ідентифікації параметрів динамічних об'єктів, що ґрунтується на поєднанні </a:t>
          </a:r>
          <a:r>
            <a:rPr lang="uk-UA" sz="3600" dirty="0" err="1"/>
            <a:t>трансформерної</a:t>
          </a:r>
          <a:r>
            <a:rPr lang="uk-UA" sz="3600" dirty="0"/>
            <a:t> моделі виявлення об'єктів </a:t>
          </a:r>
          <a:r>
            <a:rPr lang="en-US" sz="3600" dirty="0" err="1"/>
            <a:t>DEtection</a:t>
          </a:r>
          <a:r>
            <a:rPr lang="en-US" sz="3600" dirty="0"/>
            <a:t> </a:t>
          </a:r>
          <a:r>
            <a:rPr lang="en-US" sz="3600" dirty="0" err="1"/>
            <a:t>TRansformer</a:t>
          </a:r>
          <a:r>
            <a:rPr lang="en-US" sz="3600" dirty="0"/>
            <a:t> (DETR) </a:t>
          </a:r>
          <a:r>
            <a:rPr lang="uk-UA" sz="36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3600" dirty="0" err="1"/>
            <a:t>постобробки</a:t>
          </a:r>
          <a:r>
            <a:rPr lang="uk-UA" sz="3600" dirty="0"/>
            <a:t>;</a:t>
          </a:r>
        </a:p>
      </dgm:t>
    </dgm:pt>
    <dgm:pt modelId="{5A161AA6-5ECD-417A-82B7-34389E753A94}" type="parTrans" cxnId="{7121362B-7C5F-4A9D-995F-8DBF6903AD14}">
      <dgm:prSet/>
      <dgm:spPr/>
      <dgm:t>
        <a:bodyPr/>
        <a:lstStyle/>
        <a:p>
          <a:endParaRPr lang="en-US" sz="1200"/>
        </a:p>
      </dgm:t>
    </dgm:pt>
    <dgm:pt modelId="{972FDB72-F1CC-4112-A9B0-6949E2474C96}" type="sibTrans" cxnId="{7121362B-7C5F-4A9D-995F-8DBF6903AD14}">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7223C56A-2E1C-4F7B-A0AF-0176B3906F53}" type="pres">
      <dgm:prSet presAssocID="{E6FCD0EA-133A-43A6-855B-B72EC1ECBCE4}" presName="thickLine" presStyleLbl="alignNode1" presStyleIdx="0" presStyleCnt="1"/>
      <dgm:spPr/>
    </dgm:pt>
    <dgm:pt modelId="{12C9E290-E62D-4508-B3EF-4C54CF009633}" type="pres">
      <dgm:prSet presAssocID="{E6FCD0EA-133A-43A6-855B-B72EC1ECBCE4}" presName="horz1" presStyleCnt="0"/>
      <dgm:spPr/>
    </dgm:pt>
    <dgm:pt modelId="{37AA9705-6D81-4081-87B9-89540CA7EE4A}" type="pres">
      <dgm:prSet presAssocID="{E6FCD0EA-133A-43A6-855B-B72EC1ECBCE4}" presName="tx1" presStyleLbl="revTx" presStyleIdx="0" presStyleCnt="1"/>
      <dgm:spPr/>
    </dgm:pt>
    <dgm:pt modelId="{E94091FD-ECEA-444B-AF9B-03D2FE204D06}" type="pres">
      <dgm:prSet presAssocID="{E6FCD0EA-133A-43A6-855B-B72EC1ECBCE4}" presName="vert1" presStyleCnt="0"/>
      <dgm:spPr/>
    </dgm:pt>
  </dgm:ptLst>
  <dgm:cxnLst>
    <dgm:cxn modelId="{7121362B-7C5F-4A9D-995F-8DBF6903AD14}" srcId="{994F24FC-3144-40B3-B81F-00B6182408F6}" destId="{E6FCD0EA-133A-43A6-855B-B72EC1ECBCE4}" srcOrd="0" destOrd="0" parTransId="{5A161AA6-5ECD-417A-82B7-34389E753A94}" sibTransId="{972FDB72-F1CC-4112-A9B0-6949E2474C96}"/>
    <dgm:cxn modelId="{0C50F361-A41B-444A-ACB1-EC05CEA0C445}" type="presOf" srcId="{E6FCD0EA-133A-43A6-855B-B72EC1ECBCE4}" destId="{37AA9705-6D81-4081-87B9-89540CA7EE4A}" srcOrd="0" destOrd="0" presId="urn:microsoft.com/office/officeart/2008/layout/LinedList"/>
    <dgm:cxn modelId="{364B1049-6A91-4009-95C6-00D16AFA56AE}" type="presOf" srcId="{994F24FC-3144-40B3-B81F-00B6182408F6}" destId="{E1AB8F50-B906-41AB-9570-E250DA87A26D}" srcOrd="0" destOrd="0" presId="urn:microsoft.com/office/officeart/2008/layout/LinedList"/>
    <dgm:cxn modelId="{34B16E3B-EC1C-4B8A-A1B6-E50EB05431C8}" type="presParOf" srcId="{E1AB8F50-B906-41AB-9570-E250DA87A26D}" destId="{7223C56A-2E1C-4F7B-A0AF-0176B3906F53}" srcOrd="0" destOrd="0" presId="urn:microsoft.com/office/officeart/2008/layout/LinedList"/>
    <dgm:cxn modelId="{EF5906AE-14A4-4BEC-8A7A-86449083EFA6}" type="presParOf" srcId="{E1AB8F50-B906-41AB-9570-E250DA87A26D}" destId="{12C9E290-E62D-4508-B3EF-4C54CF009633}" srcOrd="1" destOrd="0" presId="urn:microsoft.com/office/officeart/2008/layout/LinedList"/>
    <dgm:cxn modelId="{A6E59D3D-DD1C-4015-BA9F-D50AD3BE833B}" type="presParOf" srcId="{12C9E290-E62D-4508-B3EF-4C54CF009633}" destId="{37AA9705-6D81-4081-87B9-89540CA7EE4A}" srcOrd="0" destOrd="0" presId="urn:microsoft.com/office/officeart/2008/layout/LinedList"/>
    <dgm:cxn modelId="{9D182EC0-E26F-4566-8F3C-5E280D870323}" type="presParOf" srcId="{12C9E290-E62D-4508-B3EF-4C54CF009633}" destId="{E94091FD-ECEA-444B-AF9B-03D2FE204D06}"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2CEC5821-0269-42A2-B3AC-7924A42E3646}">
      <dgm:prSet custT="1"/>
      <dgm:spPr/>
      <dgm:t>
        <a:bodyPr/>
        <a:lstStyle/>
        <a:p>
          <a:pPr algn="just"/>
          <a:r>
            <a:rPr lang="en-US" sz="3600" dirty="0"/>
            <a:t>2) </a:t>
          </a:r>
          <a:r>
            <a:rPr lang="uk-UA" sz="3600" dirty="0"/>
            <a:t>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3600" dirty="0" err="1"/>
            <a:t>нейромережевих</a:t>
          </a:r>
          <a:r>
            <a:rPr lang="uk-UA" sz="3600" dirty="0"/>
            <a:t> </a:t>
          </a:r>
          <a:r>
            <a:rPr lang="uk-UA" sz="3600" dirty="0" err="1"/>
            <a:t>архітектур</a:t>
          </a:r>
          <a:r>
            <a:rPr lang="uk-UA" sz="3600" dirty="0"/>
            <a:t> </a:t>
          </a:r>
          <a:r>
            <a:rPr lang="en-US" sz="3600" dirty="0" err="1"/>
            <a:t>FlowNet</a:t>
          </a:r>
          <a:r>
            <a:rPr lang="en-US" sz="3600" dirty="0"/>
            <a:t> </a:t>
          </a:r>
          <a:r>
            <a:rPr lang="uk-UA" sz="3600" dirty="0"/>
            <a:t>та </a:t>
          </a:r>
          <a:r>
            <a:rPr lang="en-US" sz="3600" dirty="0" err="1"/>
            <a:t>GeoNet</a:t>
          </a:r>
          <a:r>
            <a:rPr lang="en-US" sz="3600" dirty="0"/>
            <a:t>, </a:t>
          </a:r>
          <a:r>
            <a:rPr lang="uk-UA" sz="36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gm:t>
    </dgm:pt>
    <dgm:pt modelId="{E1FE5AD9-F2F0-4F64-A40D-D9242EFB0F05}" type="parTrans" cxnId="{66667883-C045-4708-B9B5-69D61C463643}">
      <dgm:prSet/>
      <dgm:spPr/>
      <dgm:t>
        <a:bodyPr/>
        <a:lstStyle/>
        <a:p>
          <a:endParaRPr lang="en-US" sz="1200"/>
        </a:p>
      </dgm:t>
    </dgm:pt>
    <dgm:pt modelId="{59ED4E3F-19BE-4D3E-9D16-5AF2E9740DAB}" type="sibTrans" cxnId="{66667883-C045-4708-B9B5-69D61C463643}">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2BB0E26A-EB03-4B8F-8CCF-920E6E9E5833}" type="pres">
      <dgm:prSet presAssocID="{2CEC5821-0269-42A2-B3AC-7924A42E3646}" presName="thickLine" presStyleLbl="alignNode1" presStyleIdx="0" presStyleCnt="1"/>
      <dgm:spPr/>
    </dgm:pt>
    <dgm:pt modelId="{10078C9C-AD81-466B-89E9-DE99458446FB}" type="pres">
      <dgm:prSet presAssocID="{2CEC5821-0269-42A2-B3AC-7924A42E3646}" presName="horz1" presStyleCnt="0"/>
      <dgm:spPr/>
    </dgm:pt>
    <dgm:pt modelId="{3B5361DD-962A-46CC-B452-F6E1BD44DD37}" type="pres">
      <dgm:prSet presAssocID="{2CEC5821-0269-42A2-B3AC-7924A42E3646}" presName="tx1" presStyleLbl="revTx" presStyleIdx="0" presStyleCnt="1"/>
      <dgm:spPr/>
    </dgm:pt>
    <dgm:pt modelId="{77FCDE3B-84AA-4993-AD20-3F7650922E27}" type="pres">
      <dgm:prSet presAssocID="{2CEC5821-0269-42A2-B3AC-7924A42E3646}" presName="vert1" presStyleCnt="0"/>
      <dgm:spPr/>
    </dgm:pt>
  </dgm:ptLst>
  <dgm:cxnLst>
    <dgm:cxn modelId="{364B1049-6A91-4009-95C6-00D16AFA56AE}" type="presOf" srcId="{994F24FC-3144-40B3-B81F-00B6182408F6}" destId="{E1AB8F50-B906-41AB-9570-E250DA87A26D}" srcOrd="0" destOrd="0" presId="urn:microsoft.com/office/officeart/2008/layout/LinedList"/>
    <dgm:cxn modelId="{66667883-C045-4708-B9B5-69D61C463643}" srcId="{994F24FC-3144-40B3-B81F-00B6182408F6}" destId="{2CEC5821-0269-42A2-B3AC-7924A42E3646}" srcOrd="0" destOrd="0" parTransId="{E1FE5AD9-F2F0-4F64-A40D-D9242EFB0F05}" sibTransId="{59ED4E3F-19BE-4D3E-9D16-5AF2E9740DAB}"/>
    <dgm:cxn modelId="{E617DBF0-115E-4FEC-B64E-FE25A1448353}" type="presOf" srcId="{2CEC5821-0269-42A2-B3AC-7924A42E3646}" destId="{3B5361DD-962A-46CC-B452-F6E1BD44DD37}" srcOrd="0" destOrd="0" presId="urn:microsoft.com/office/officeart/2008/layout/LinedList"/>
    <dgm:cxn modelId="{5722D9EB-12DD-4531-92D5-8D816C1DAA1F}" type="presParOf" srcId="{E1AB8F50-B906-41AB-9570-E250DA87A26D}" destId="{2BB0E26A-EB03-4B8F-8CCF-920E6E9E5833}" srcOrd="0" destOrd="0" presId="urn:microsoft.com/office/officeart/2008/layout/LinedList"/>
    <dgm:cxn modelId="{500D893D-9399-4694-867F-4078CE4CA90F}" type="presParOf" srcId="{E1AB8F50-B906-41AB-9570-E250DA87A26D}" destId="{10078C9C-AD81-466B-89E9-DE99458446FB}" srcOrd="1" destOrd="0" presId="urn:microsoft.com/office/officeart/2008/layout/LinedList"/>
    <dgm:cxn modelId="{F3508DE7-FCFC-4FA7-B3B6-9E1E38782F99}" type="presParOf" srcId="{10078C9C-AD81-466B-89E9-DE99458446FB}" destId="{3B5361DD-962A-46CC-B452-F6E1BD44DD37}" srcOrd="0" destOrd="0" presId="urn:microsoft.com/office/officeart/2008/layout/LinedList"/>
    <dgm:cxn modelId="{BCF10527-3A29-4EF4-8579-FA1F49F0840C}" type="presParOf" srcId="{10078C9C-AD81-466B-89E9-DE99458446FB}" destId="{77FCDE3B-84AA-4993-AD20-3F7650922E27}"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60F0C4EF-B88B-41BA-A8E8-3B8F05382BF5}">
      <dgm:prSet custT="1"/>
      <dgm:spPr/>
      <dgm:t>
        <a:bodyPr/>
        <a:lstStyle/>
        <a:p>
          <a:pPr algn="just"/>
          <a:r>
            <a:rPr lang="en-US" sz="3600" dirty="0"/>
            <a:t>3) </a:t>
          </a:r>
          <a:r>
            <a:rPr lang="uk-UA" sz="3600" dirty="0"/>
            <a:t>удосконалено метод оцінювання глибини сцени шляхом адаптивного комбінування </a:t>
          </a:r>
          <a:r>
            <a:rPr lang="uk-UA" sz="3600" dirty="0" err="1"/>
            <a:t>нейромережевих</a:t>
          </a:r>
          <a:r>
            <a:rPr lang="uk-UA" sz="3600" dirty="0"/>
            <a:t> моделей </a:t>
          </a:r>
          <a:r>
            <a:rPr lang="en-US" sz="3600" dirty="0" err="1"/>
            <a:t>MiDaS</a:t>
          </a:r>
          <a:r>
            <a:rPr lang="en-US" sz="3600" dirty="0"/>
            <a:t>, </a:t>
          </a:r>
          <a:r>
            <a:rPr lang="en-US" sz="3600" dirty="0" err="1"/>
            <a:t>DPT_Large</a:t>
          </a:r>
          <a:r>
            <a:rPr lang="en-US" sz="3600" dirty="0"/>
            <a:t> </a:t>
          </a:r>
          <a:r>
            <a:rPr lang="uk-UA" sz="3600" dirty="0"/>
            <a:t>та </a:t>
          </a:r>
          <a:r>
            <a:rPr lang="en-US" sz="3600" dirty="0" err="1"/>
            <a:t>GeoNet</a:t>
          </a:r>
          <a:r>
            <a:rPr lang="en-US" sz="3600" dirty="0"/>
            <a:t> </a:t>
          </a:r>
          <a:r>
            <a:rPr lang="uk-UA" sz="3600" dirty="0"/>
            <a:t>з ансамблевими підходами </a:t>
          </a:r>
          <a:r>
            <a:rPr lang="en-US" sz="3600" dirty="0"/>
            <a:t>Bagging </a:t>
          </a:r>
          <a:r>
            <a:rPr lang="uk-UA" sz="3600" dirty="0"/>
            <a:t>і </a:t>
          </a:r>
          <a:r>
            <a:rPr lang="en-US" sz="3600" dirty="0"/>
            <a:t>Boosting, </a:t>
          </a:r>
          <a:r>
            <a:rPr lang="uk-UA" sz="3600" dirty="0"/>
            <a:t>який, на відміну від використання окремих моделей, забезпечує підвищення точності та стійкості просторової локалізації динамічних об</a:t>
          </a:r>
          <a:r>
            <a:rPr lang="en-US" sz="3600" dirty="0"/>
            <a:t>`</a:t>
          </a:r>
          <a:r>
            <a:rPr lang="uk-UA" sz="3600" dirty="0" err="1"/>
            <a:t>єктів</a:t>
          </a:r>
          <a:r>
            <a:rPr lang="uk-UA" sz="3600" dirty="0"/>
            <a:t> на основі монокулярних зображень за рахунок зменшення дисперсії оцінок (</a:t>
          </a:r>
          <a:r>
            <a:rPr lang="en-US" sz="3600" dirty="0"/>
            <a:t>Bagging) </a:t>
          </a:r>
          <a:r>
            <a:rPr lang="uk-UA" sz="3600" dirty="0"/>
            <a:t>та уточнення параметрів на межах об'єктів і в зонах оклюзій (</a:t>
          </a:r>
          <a:r>
            <a:rPr lang="en-US" sz="3600" dirty="0"/>
            <a:t>Boosting), </a:t>
          </a:r>
          <a:r>
            <a:rPr lang="uk-UA" sz="3600" dirty="0"/>
            <a:t>що дозволяє визначати координату </a:t>
          </a:r>
          <a:r>
            <a:rPr lang="en-US" sz="3600" dirty="0"/>
            <a:t>Z (</a:t>
          </a:r>
          <a:r>
            <a:rPr lang="uk-UA" sz="3600" dirty="0"/>
            <a:t>глибину) об'єкта з меншою похибкою навіть при відсутності стереопари або даних </a:t>
          </a:r>
          <a:r>
            <a:rPr lang="en-US" sz="3600" dirty="0"/>
            <a:t>LiDAR;</a:t>
          </a:r>
        </a:p>
      </dgm:t>
    </dgm:pt>
    <dgm:pt modelId="{83D465DE-BCD0-46C4-BCCD-BF3333ED5601}" type="parTrans" cxnId="{4A9C806F-AF7C-44C1-9578-45B19FC57889}">
      <dgm:prSet/>
      <dgm:spPr/>
      <dgm:t>
        <a:bodyPr/>
        <a:lstStyle/>
        <a:p>
          <a:endParaRPr lang="en-US" sz="1200"/>
        </a:p>
      </dgm:t>
    </dgm:pt>
    <dgm:pt modelId="{B33E6490-C12B-4BE4-A10C-2C8BA7A3ADF1}" type="sibTrans" cxnId="{4A9C806F-AF7C-44C1-9578-45B19FC57889}">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8A19F7F3-D825-47A9-A329-97D681A62B58}" type="pres">
      <dgm:prSet presAssocID="{60F0C4EF-B88B-41BA-A8E8-3B8F05382BF5}" presName="thickLine" presStyleLbl="alignNode1" presStyleIdx="0" presStyleCnt="1"/>
      <dgm:spPr/>
    </dgm:pt>
    <dgm:pt modelId="{52A7FB3B-8A9F-4101-8715-5287B119E24F}" type="pres">
      <dgm:prSet presAssocID="{60F0C4EF-B88B-41BA-A8E8-3B8F05382BF5}" presName="horz1" presStyleCnt="0"/>
      <dgm:spPr/>
    </dgm:pt>
    <dgm:pt modelId="{40FFB531-F345-4DE4-A1E8-0F3D1DEE8D1E}" type="pres">
      <dgm:prSet presAssocID="{60F0C4EF-B88B-41BA-A8E8-3B8F05382BF5}" presName="tx1" presStyleLbl="revTx" presStyleIdx="0" presStyleCnt="1"/>
      <dgm:spPr/>
    </dgm:pt>
    <dgm:pt modelId="{B7CD1BF8-B7E8-4904-956D-C14CAE091A73}" type="pres">
      <dgm:prSet presAssocID="{60F0C4EF-B88B-41BA-A8E8-3B8F05382BF5}" presName="vert1" presStyleCnt="0"/>
      <dgm:spPr/>
    </dgm:pt>
  </dgm:ptLst>
  <dgm:cxnLst>
    <dgm:cxn modelId="{364B1049-6A91-4009-95C6-00D16AFA56AE}" type="presOf" srcId="{994F24FC-3144-40B3-B81F-00B6182408F6}" destId="{E1AB8F50-B906-41AB-9570-E250DA87A26D}" srcOrd="0" destOrd="0" presId="urn:microsoft.com/office/officeart/2008/layout/LinedList"/>
    <dgm:cxn modelId="{4A9C806F-AF7C-44C1-9578-45B19FC57889}" srcId="{994F24FC-3144-40B3-B81F-00B6182408F6}" destId="{60F0C4EF-B88B-41BA-A8E8-3B8F05382BF5}" srcOrd="0" destOrd="0" parTransId="{83D465DE-BCD0-46C4-BCCD-BF3333ED5601}" sibTransId="{B33E6490-C12B-4BE4-A10C-2C8BA7A3ADF1}"/>
    <dgm:cxn modelId="{6FF777E6-D139-4B50-9BCB-3297113BC275}" type="presOf" srcId="{60F0C4EF-B88B-41BA-A8E8-3B8F05382BF5}" destId="{40FFB531-F345-4DE4-A1E8-0F3D1DEE8D1E}" srcOrd="0" destOrd="0" presId="urn:microsoft.com/office/officeart/2008/layout/LinedList"/>
    <dgm:cxn modelId="{071F1510-3FD8-4B8C-B0C2-43EC4CBC4ACD}" type="presParOf" srcId="{E1AB8F50-B906-41AB-9570-E250DA87A26D}" destId="{8A19F7F3-D825-47A9-A329-97D681A62B58}" srcOrd="0" destOrd="0" presId="urn:microsoft.com/office/officeart/2008/layout/LinedList"/>
    <dgm:cxn modelId="{F7600807-8826-41C1-9159-91935C4E6B56}" type="presParOf" srcId="{E1AB8F50-B906-41AB-9570-E250DA87A26D}" destId="{52A7FB3B-8A9F-4101-8715-5287B119E24F}" srcOrd="1" destOrd="0" presId="urn:microsoft.com/office/officeart/2008/layout/LinedList"/>
    <dgm:cxn modelId="{EBBA4B60-DA7E-4B62-A158-E79C65FE3E95}" type="presParOf" srcId="{52A7FB3B-8A9F-4101-8715-5287B119E24F}" destId="{40FFB531-F345-4DE4-A1E8-0F3D1DEE8D1E}" srcOrd="0" destOrd="0" presId="urn:microsoft.com/office/officeart/2008/layout/LinedList"/>
    <dgm:cxn modelId="{F515780A-DA37-42D6-9CCE-EABAE3C82B09}" type="presParOf" srcId="{52A7FB3B-8A9F-4101-8715-5287B119E24F}" destId="{B7CD1BF8-B7E8-4904-956D-C14CAE091A73}"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599DCDC1-FEA0-482B-A82D-D934AF1C2E10}">
      <dgm:prSet custT="1"/>
      <dgm:spPr/>
      <dgm:t>
        <a:bodyPr/>
        <a:lstStyle/>
        <a:p>
          <a:pPr algn="just"/>
          <a:r>
            <a:rPr lang="en-US" sz="3200" dirty="0"/>
            <a:t>4) </a:t>
          </a:r>
          <a:r>
            <a:rPr lang="uk-UA" sz="3200" dirty="0"/>
            <a:t>удосконалено метод ансамблевої агрегації результатів ідентифікації, а саме застосування </a:t>
          </a:r>
          <a:r>
            <a:rPr lang="uk-UA" sz="3200" dirty="0" err="1"/>
            <a:t>бегінгу</a:t>
          </a:r>
          <a:r>
            <a:rPr lang="uk-UA" sz="3200" dirty="0"/>
            <a:t> (</a:t>
          </a:r>
          <a:r>
            <a:rPr lang="en-US" sz="3200" dirty="0"/>
            <a:t>Bagging) </a:t>
          </a:r>
          <a:r>
            <a:rPr lang="uk-UA" sz="3200" dirty="0"/>
            <a:t>для зменшення дисперсії оцінок глибини шляхом усереднення результатів на різних підвибірках кадрів та </a:t>
          </a:r>
          <a:r>
            <a:rPr lang="uk-UA" sz="3200" dirty="0" err="1"/>
            <a:t>бустінгу</a:t>
          </a:r>
          <a:r>
            <a:rPr lang="uk-UA" sz="3200" dirty="0"/>
            <a:t> (</a:t>
          </a:r>
          <a:r>
            <a:rPr lang="en-US" sz="3200" dirty="0"/>
            <a:t>Boosting) </a:t>
          </a:r>
          <a:r>
            <a:rPr lang="uk-UA" sz="32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3200" dirty="0" err="1"/>
            <a:t>ансамблювання</a:t>
          </a:r>
          <a:r>
            <a:rPr lang="uk-UA" sz="32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gm:t>
    </dgm:pt>
    <dgm:pt modelId="{70DC9026-D3A7-408F-9DF4-1D74F47A9F42}" type="parTrans" cxnId="{50C15459-CED9-49A2-B116-153DCC332EFE}">
      <dgm:prSet/>
      <dgm:spPr/>
      <dgm:t>
        <a:bodyPr/>
        <a:lstStyle/>
        <a:p>
          <a:endParaRPr lang="en-US" sz="1200"/>
        </a:p>
      </dgm:t>
    </dgm:pt>
    <dgm:pt modelId="{391A6456-D5EF-444B-86B7-58D96D6FF93B}" type="sibTrans" cxnId="{50C15459-CED9-49A2-B116-153DCC332EFE}">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6BF8E760-8A1E-4C31-9F11-BF7D76AA7274}" type="pres">
      <dgm:prSet presAssocID="{599DCDC1-FEA0-482B-A82D-D934AF1C2E10}" presName="thickLine" presStyleLbl="alignNode1" presStyleIdx="0" presStyleCnt="1"/>
      <dgm:spPr/>
    </dgm:pt>
    <dgm:pt modelId="{5369C554-4B07-4AA0-A357-FA04F4D55819}" type="pres">
      <dgm:prSet presAssocID="{599DCDC1-FEA0-482B-A82D-D934AF1C2E10}" presName="horz1" presStyleCnt="0"/>
      <dgm:spPr/>
    </dgm:pt>
    <dgm:pt modelId="{A9F58B3D-2D2B-42F6-97F5-E4207E36C68D}" type="pres">
      <dgm:prSet presAssocID="{599DCDC1-FEA0-482B-A82D-D934AF1C2E10}" presName="tx1" presStyleLbl="revTx" presStyleIdx="0" presStyleCnt="1"/>
      <dgm:spPr/>
    </dgm:pt>
    <dgm:pt modelId="{19715F3E-37F8-42B3-BEF8-35ED65C4E741}" type="pres">
      <dgm:prSet presAssocID="{599DCDC1-FEA0-482B-A82D-D934AF1C2E10}" presName="vert1" presStyleCnt="0"/>
      <dgm:spPr/>
    </dgm:pt>
  </dgm:ptLst>
  <dgm:cxnLst>
    <dgm:cxn modelId="{364B1049-6A91-4009-95C6-00D16AFA56AE}" type="presOf" srcId="{994F24FC-3144-40B3-B81F-00B6182408F6}" destId="{E1AB8F50-B906-41AB-9570-E250DA87A26D}" srcOrd="0" destOrd="0" presId="urn:microsoft.com/office/officeart/2008/layout/LinedList"/>
    <dgm:cxn modelId="{50C15459-CED9-49A2-B116-153DCC332EFE}" srcId="{994F24FC-3144-40B3-B81F-00B6182408F6}" destId="{599DCDC1-FEA0-482B-A82D-D934AF1C2E10}" srcOrd="0" destOrd="0" parTransId="{70DC9026-D3A7-408F-9DF4-1D74F47A9F42}" sibTransId="{391A6456-D5EF-444B-86B7-58D96D6FF93B}"/>
    <dgm:cxn modelId="{8EC0299E-1CA0-4933-85C5-C5F2201C1646}" type="presOf" srcId="{599DCDC1-FEA0-482B-A82D-D934AF1C2E10}" destId="{A9F58B3D-2D2B-42F6-97F5-E4207E36C68D}" srcOrd="0" destOrd="0" presId="urn:microsoft.com/office/officeart/2008/layout/LinedList"/>
    <dgm:cxn modelId="{26DDCEA9-4846-40DF-BF61-0A55D944F80D}" type="presParOf" srcId="{E1AB8F50-B906-41AB-9570-E250DA87A26D}" destId="{6BF8E760-8A1E-4C31-9F11-BF7D76AA7274}" srcOrd="0" destOrd="0" presId="urn:microsoft.com/office/officeart/2008/layout/LinedList"/>
    <dgm:cxn modelId="{116DBF6B-9AD9-4260-8C0C-3D885ADDD417}" type="presParOf" srcId="{E1AB8F50-B906-41AB-9570-E250DA87A26D}" destId="{5369C554-4B07-4AA0-A357-FA04F4D55819}" srcOrd="1" destOrd="0" presId="urn:microsoft.com/office/officeart/2008/layout/LinedList"/>
    <dgm:cxn modelId="{2491B29F-4A2A-4415-B529-36B2C9C8D95F}" type="presParOf" srcId="{5369C554-4B07-4AA0-A357-FA04F4D55819}" destId="{A9F58B3D-2D2B-42F6-97F5-E4207E36C68D}" srcOrd="0" destOrd="0" presId="urn:microsoft.com/office/officeart/2008/layout/LinedList"/>
    <dgm:cxn modelId="{4B852EE7-D765-4675-8C26-1DE1B58B0C07}" type="presParOf" srcId="{5369C554-4B07-4AA0-A357-FA04F4D55819}" destId="{19715F3E-37F8-42B3-BEF8-35ED65C4E741}"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2E0033E5-42D0-44FF-86B0-1E558A300C68}">
      <dgm:prSet custT="1"/>
      <dgm:spPr/>
      <dgm:t>
        <a:bodyPr/>
        <a:lstStyle/>
        <a:p>
          <a:pPr algn="just"/>
          <a:r>
            <a:rPr lang="en-US" sz="3100" dirty="0"/>
            <a:t>5) </a:t>
          </a:r>
          <a:r>
            <a:rPr lang="uk-UA" sz="3100" dirty="0"/>
            <a:t>удосконалено метод кількісного оцінювання якості ідентифікації шляхом впровадження комплексної системи метрик, що включає </a:t>
          </a:r>
          <a:r>
            <a:rPr lang="en-US" sz="3100" dirty="0"/>
            <a:t>EPE </a:t>
          </a:r>
          <a:r>
            <a:rPr lang="uk-UA" sz="3100" dirty="0"/>
            <a:t>та </a:t>
          </a:r>
          <a:r>
            <a:rPr lang="en-US" sz="3100" dirty="0"/>
            <a:t>AAE </a:t>
          </a:r>
          <a:r>
            <a:rPr lang="uk-UA" sz="3100" dirty="0"/>
            <a:t>для оцінки точності оптичного потоку, </a:t>
          </a:r>
          <a:r>
            <a:rPr lang="en-US" sz="3100" dirty="0"/>
            <a:t>RMSE, MAE </a:t>
          </a:r>
          <a:r>
            <a:rPr lang="uk-UA" sz="3100" dirty="0"/>
            <a:t>та </a:t>
          </a:r>
          <a:r>
            <a:rPr lang="en-US" sz="3100" dirty="0"/>
            <a:t>PSNR </a:t>
          </a:r>
          <a:r>
            <a:rPr lang="uk-UA" sz="3100" dirty="0"/>
            <a:t>для оцінки точності відновлення глибини, а також </a:t>
          </a:r>
          <a:r>
            <a:rPr lang="en-US" sz="3100" dirty="0" err="1"/>
            <a:t>IoU</a:t>
          </a:r>
          <a:r>
            <a:rPr lang="en-US" sz="3100" dirty="0"/>
            <a:t> </a:t>
          </a:r>
          <a:r>
            <a:rPr lang="uk-UA" sz="3100" dirty="0"/>
            <a:t>та </a:t>
          </a:r>
          <a:r>
            <a:rPr lang="en-US" sz="3100" dirty="0"/>
            <a:t>Dice </a:t>
          </a:r>
          <a:r>
            <a:rPr lang="uk-UA" sz="3100"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sz="3100" dirty="0" err="1"/>
            <a:t>Farneback</a:t>
          </a:r>
          <a:r>
            <a:rPr lang="en-US" sz="3100" dirty="0"/>
            <a:t>, Lucas‑Kanade, Horn‑Schunck, </a:t>
          </a:r>
          <a:r>
            <a:rPr lang="en-US" sz="3100" dirty="0" err="1"/>
            <a:t>FlowNet</a:t>
          </a:r>
          <a:r>
            <a:rPr lang="en-US" sz="3100" dirty="0"/>
            <a:t>, </a:t>
          </a:r>
          <a:r>
            <a:rPr lang="en-US" sz="3100" dirty="0" err="1"/>
            <a:t>GeoNet</a:t>
          </a:r>
          <a:r>
            <a:rPr lang="en-US" sz="3100" dirty="0"/>
            <a:t>) </a:t>
          </a:r>
          <a:r>
            <a:rPr lang="uk-UA" sz="3100" dirty="0"/>
            <a:t>та методів глибини (</a:t>
          </a:r>
          <a:r>
            <a:rPr lang="en-US" sz="3100" dirty="0"/>
            <a:t>Blur, Gradient, </a:t>
          </a:r>
          <a:r>
            <a:rPr lang="en-US" sz="3100" dirty="0" err="1"/>
            <a:t>MiDaS</a:t>
          </a:r>
          <a:r>
            <a:rPr lang="en-US" sz="3100" dirty="0"/>
            <a:t>, </a:t>
          </a:r>
          <a:r>
            <a:rPr lang="en-US" sz="3100" dirty="0" err="1"/>
            <a:t>DPT_Large</a:t>
          </a:r>
          <a:r>
            <a:rPr lang="en-US" sz="3100" dirty="0"/>
            <a:t>, </a:t>
          </a:r>
          <a:r>
            <a:rPr lang="en-US" sz="3100" dirty="0" err="1"/>
            <a:t>GeoNet</a:t>
          </a:r>
          <a:r>
            <a:rPr lang="en-US" sz="3100" dirty="0"/>
            <a:t>, Bagging, Boosting), </a:t>
          </a:r>
          <a:r>
            <a:rPr lang="uk-UA" sz="3100"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gm:t>
    </dgm:pt>
    <dgm:pt modelId="{4C4C992E-EA0A-4D1B-B9E0-6B8477DF11A0}" type="parTrans" cxnId="{383F7287-28CA-4133-95D1-46FCFA4331F1}">
      <dgm:prSet/>
      <dgm:spPr/>
      <dgm:t>
        <a:bodyPr/>
        <a:lstStyle/>
        <a:p>
          <a:endParaRPr lang="en-US" sz="1200"/>
        </a:p>
      </dgm:t>
    </dgm:pt>
    <dgm:pt modelId="{E61602C7-068C-4AE9-8144-783115DB8204}" type="sibTrans" cxnId="{383F7287-28CA-4133-95D1-46FCFA4331F1}">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A3A295DB-008E-4C4F-9D8A-BD87B020E5E3}" type="pres">
      <dgm:prSet presAssocID="{2E0033E5-42D0-44FF-86B0-1E558A300C68}" presName="thickLine" presStyleLbl="alignNode1" presStyleIdx="0" presStyleCnt="1"/>
      <dgm:spPr/>
    </dgm:pt>
    <dgm:pt modelId="{B3970405-39C8-4035-964E-9F9B9AE93AC4}" type="pres">
      <dgm:prSet presAssocID="{2E0033E5-42D0-44FF-86B0-1E558A300C68}" presName="horz1" presStyleCnt="0"/>
      <dgm:spPr/>
    </dgm:pt>
    <dgm:pt modelId="{7801031A-9084-4B9D-8D55-0BC0C991E50E}" type="pres">
      <dgm:prSet presAssocID="{2E0033E5-42D0-44FF-86B0-1E558A300C68}" presName="tx1" presStyleLbl="revTx" presStyleIdx="0" presStyleCnt="1"/>
      <dgm:spPr/>
    </dgm:pt>
    <dgm:pt modelId="{09B31966-2A92-4029-A848-BB425AB7A674}" type="pres">
      <dgm:prSet presAssocID="{2E0033E5-42D0-44FF-86B0-1E558A300C68}" presName="vert1" presStyleCnt="0"/>
      <dgm:spPr/>
    </dgm:pt>
  </dgm:ptLst>
  <dgm:cxnLst>
    <dgm:cxn modelId="{364B1049-6A91-4009-95C6-00D16AFA56AE}" type="presOf" srcId="{994F24FC-3144-40B3-B81F-00B6182408F6}" destId="{E1AB8F50-B906-41AB-9570-E250DA87A26D}" srcOrd="0" destOrd="0" presId="urn:microsoft.com/office/officeart/2008/layout/LinedList"/>
    <dgm:cxn modelId="{383F7287-28CA-4133-95D1-46FCFA4331F1}" srcId="{994F24FC-3144-40B3-B81F-00B6182408F6}" destId="{2E0033E5-42D0-44FF-86B0-1E558A300C68}" srcOrd="0" destOrd="0" parTransId="{4C4C992E-EA0A-4D1B-B9E0-6B8477DF11A0}" sibTransId="{E61602C7-068C-4AE9-8144-783115DB8204}"/>
    <dgm:cxn modelId="{EFA8A98B-1053-47DE-9659-48717A08C7D2}" type="presOf" srcId="{2E0033E5-42D0-44FF-86B0-1E558A300C68}" destId="{7801031A-9084-4B9D-8D55-0BC0C991E50E}" srcOrd="0" destOrd="0" presId="urn:microsoft.com/office/officeart/2008/layout/LinedList"/>
    <dgm:cxn modelId="{841ECD3C-1482-45C3-8CEB-282DAD6EBCEF}" type="presParOf" srcId="{E1AB8F50-B906-41AB-9570-E250DA87A26D}" destId="{A3A295DB-008E-4C4F-9D8A-BD87B020E5E3}" srcOrd="0" destOrd="0" presId="urn:microsoft.com/office/officeart/2008/layout/LinedList"/>
    <dgm:cxn modelId="{FB65EBB7-C148-4F0C-9770-B0D4C4FD94F5}" type="presParOf" srcId="{E1AB8F50-B906-41AB-9570-E250DA87A26D}" destId="{B3970405-39C8-4035-964E-9F9B9AE93AC4}" srcOrd="1" destOrd="0" presId="urn:microsoft.com/office/officeart/2008/layout/LinedList"/>
    <dgm:cxn modelId="{D85740DB-5B1A-4436-9502-C213EF725393}" type="presParOf" srcId="{B3970405-39C8-4035-964E-9F9B9AE93AC4}" destId="{7801031A-9084-4B9D-8D55-0BC0C991E50E}" srcOrd="0" destOrd="0" presId="urn:microsoft.com/office/officeart/2008/layout/LinedList"/>
    <dgm:cxn modelId="{A4029123-D661-43A5-BD4D-11605EEDBA0E}" type="presParOf" srcId="{B3970405-39C8-4035-964E-9F9B9AE93AC4}" destId="{09B31966-2A92-4029-A848-BB425AB7A67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67B53D1A-9755-4A47-918A-139FC6A7D1E0}">
      <dgm:prSet custT="1"/>
      <dgm:spPr/>
      <dgm:t>
        <a:bodyPr/>
        <a:lstStyle/>
        <a:p>
          <a:pPr algn="just"/>
          <a:r>
            <a:rPr lang="en-US" sz="3400" dirty="0"/>
            <a:t>6) </a:t>
          </a:r>
          <a:r>
            <a:rPr lang="uk-UA" sz="3400" dirty="0"/>
            <a:t>отримав подальший розвиток метод синтезу просторово-часових ознак динамічних об'єктів шляхом інтеграції </a:t>
          </a:r>
          <a:r>
            <a:rPr lang="uk-UA" sz="3400" dirty="0" err="1"/>
            <a:t>трансформерних</a:t>
          </a:r>
          <a:r>
            <a:rPr lang="uk-UA" sz="3400" dirty="0"/>
            <a:t> механізмів уваги з векторними полями оптичного потоку, в якому, на відміну від класичних методів, вектори руху подаються на вхід </a:t>
          </a:r>
          <a:r>
            <a:rPr lang="uk-UA" sz="3400" dirty="0" err="1"/>
            <a:t>трансформерної</a:t>
          </a:r>
          <a:r>
            <a:rPr lang="uk-UA" sz="3400" dirty="0"/>
            <a:t> мережі для моделювання довготривалих просторово-часових </a:t>
          </a:r>
          <a:r>
            <a:rPr lang="uk-UA" sz="3400" dirty="0" err="1"/>
            <a:t>залежностей</a:t>
          </a:r>
          <a:r>
            <a:rPr lang="uk-UA" sz="3400" dirty="0"/>
            <a:t>, що дозволяє виявляти складні </a:t>
          </a:r>
          <a:r>
            <a:rPr lang="uk-UA" sz="3400" dirty="0" err="1"/>
            <a:t>патерни</a:t>
          </a:r>
          <a:r>
            <a:rPr lang="uk-UA" sz="34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3400" dirty="0"/>
        </a:p>
      </dgm:t>
    </dgm:pt>
    <dgm:pt modelId="{AF3D7582-EE27-4331-A5EE-E84B5E65388F}" type="parTrans" cxnId="{63430A6C-D725-4BF6-8149-66D7C6F1D0A8}">
      <dgm:prSet/>
      <dgm:spPr/>
      <dgm:t>
        <a:bodyPr/>
        <a:lstStyle/>
        <a:p>
          <a:endParaRPr lang="en-US" sz="1200"/>
        </a:p>
      </dgm:t>
    </dgm:pt>
    <dgm:pt modelId="{529B0DA9-12F8-4A50-A677-E0A39E9B39F6}" type="sibTrans" cxnId="{63430A6C-D725-4BF6-8149-66D7C6F1D0A8}">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841E298E-CFFF-4EE1-97F8-AE53B1F07A0C}" type="pres">
      <dgm:prSet presAssocID="{67B53D1A-9755-4A47-918A-139FC6A7D1E0}" presName="thickLine" presStyleLbl="alignNode1" presStyleIdx="0" presStyleCnt="1"/>
      <dgm:spPr/>
    </dgm:pt>
    <dgm:pt modelId="{607B19F8-763C-40D6-8D22-57642CBF6E89}" type="pres">
      <dgm:prSet presAssocID="{67B53D1A-9755-4A47-918A-139FC6A7D1E0}" presName="horz1" presStyleCnt="0"/>
      <dgm:spPr/>
    </dgm:pt>
    <dgm:pt modelId="{4BA085C8-BEFA-48D1-A140-D2F47316876D}" type="pres">
      <dgm:prSet presAssocID="{67B53D1A-9755-4A47-918A-139FC6A7D1E0}" presName="tx1" presStyleLbl="revTx" presStyleIdx="0" presStyleCnt="1"/>
      <dgm:spPr/>
    </dgm:pt>
    <dgm:pt modelId="{F3BFE6DD-69A1-4ED8-8C10-ADC88E345D70}" type="pres">
      <dgm:prSet presAssocID="{67B53D1A-9755-4A47-918A-139FC6A7D1E0}" presName="vert1" presStyleCnt="0"/>
      <dgm:spPr/>
    </dgm:pt>
  </dgm:ptLst>
  <dgm:cxnLst>
    <dgm:cxn modelId="{364B1049-6A91-4009-95C6-00D16AFA56AE}" type="presOf" srcId="{994F24FC-3144-40B3-B81F-00B6182408F6}" destId="{E1AB8F50-B906-41AB-9570-E250DA87A26D}" srcOrd="0" destOrd="0" presId="urn:microsoft.com/office/officeart/2008/layout/LinedList"/>
    <dgm:cxn modelId="{E72E8A6A-4118-4650-9B50-0DEFC0B10C82}" type="presOf" srcId="{67B53D1A-9755-4A47-918A-139FC6A7D1E0}" destId="{4BA085C8-BEFA-48D1-A140-D2F47316876D}" srcOrd="0" destOrd="0" presId="urn:microsoft.com/office/officeart/2008/layout/LinedList"/>
    <dgm:cxn modelId="{63430A6C-D725-4BF6-8149-66D7C6F1D0A8}" srcId="{994F24FC-3144-40B3-B81F-00B6182408F6}" destId="{67B53D1A-9755-4A47-918A-139FC6A7D1E0}" srcOrd="0" destOrd="0" parTransId="{AF3D7582-EE27-4331-A5EE-E84B5E65388F}" sibTransId="{529B0DA9-12F8-4A50-A677-E0A39E9B39F6}"/>
    <dgm:cxn modelId="{1FB17C68-5D5D-487B-AE63-CCD801216260}" type="presParOf" srcId="{E1AB8F50-B906-41AB-9570-E250DA87A26D}" destId="{841E298E-CFFF-4EE1-97F8-AE53B1F07A0C}" srcOrd="0" destOrd="0" presId="urn:microsoft.com/office/officeart/2008/layout/LinedList"/>
    <dgm:cxn modelId="{9709A16B-0E98-4535-9134-F25C557643FB}" type="presParOf" srcId="{E1AB8F50-B906-41AB-9570-E250DA87A26D}" destId="{607B19F8-763C-40D6-8D22-57642CBF6E89}" srcOrd="1" destOrd="0" presId="urn:microsoft.com/office/officeart/2008/layout/LinedList"/>
    <dgm:cxn modelId="{1E038C3E-31C5-416F-BA7E-8E94D7718B61}" type="presParOf" srcId="{607B19F8-763C-40D6-8D22-57642CBF6E89}" destId="{4BA085C8-BEFA-48D1-A140-D2F47316876D}" srcOrd="0" destOrd="0" presId="urn:microsoft.com/office/officeart/2008/layout/LinedList"/>
    <dgm:cxn modelId="{0DFE7589-57FB-4C98-BCB7-FAF682CEE893}" type="presParOf" srcId="{607B19F8-763C-40D6-8D22-57642CBF6E89}" destId="{F3BFE6DD-69A1-4ED8-8C10-ADC88E345D70}"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71E435F-683E-4708-86DC-C7AFCC742646}"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747E101B-AF86-403A-B581-9BBE690A7899}">
      <dgm:prSet custT="1"/>
      <dgm:spPr/>
      <dgm:t>
        <a:bodyPr/>
        <a:lstStyle/>
        <a:p>
          <a:r>
            <a:rPr lang="en-US" sz="3600" dirty="0" err="1"/>
            <a:t>Безпека</a:t>
          </a:r>
          <a:r>
            <a:rPr lang="en-US" sz="3600" dirty="0"/>
            <a:t> </a:t>
          </a:r>
          <a:r>
            <a:rPr lang="en-US" sz="3600" dirty="0" err="1"/>
            <a:t>та</a:t>
          </a:r>
          <a:r>
            <a:rPr lang="en-US" sz="3600" dirty="0"/>
            <a:t> </a:t>
          </a:r>
          <a:r>
            <a:rPr lang="en-US" sz="3600" dirty="0" err="1"/>
            <a:t>оборона</a:t>
          </a:r>
          <a:r>
            <a:rPr lang="en-US" sz="3600" dirty="0"/>
            <a:t>: </a:t>
          </a:r>
          <a:r>
            <a:rPr lang="en-US" sz="3600" dirty="0" err="1"/>
            <a:t>висока</a:t>
          </a:r>
          <a:r>
            <a:rPr lang="en-US" sz="3600" dirty="0"/>
            <a:t> </a:t>
          </a:r>
          <a:r>
            <a:rPr lang="en-US" sz="3600" dirty="0" err="1"/>
            <a:t>точність</a:t>
          </a:r>
          <a:r>
            <a:rPr lang="en-US" sz="3600" dirty="0"/>
            <a:t> </a:t>
          </a:r>
          <a:r>
            <a:rPr lang="en-US" sz="3600" dirty="0" err="1"/>
            <a:t>відстеження</a:t>
          </a:r>
          <a:r>
            <a:rPr lang="en-US" sz="3600" dirty="0"/>
            <a:t> </a:t>
          </a:r>
          <a:r>
            <a:rPr lang="en-US" sz="3600" dirty="0" err="1"/>
            <a:t>об'єктів</a:t>
          </a:r>
          <a:r>
            <a:rPr lang="en-US" sz="3600" dirty="0"/>
            <a:t> у </a:t>
          </a:r>
          <a:r>
            <a:rPr lang="en-US" sz="3600" dirty="0" err="1"/>
            <a:t>реальному</a:t>
          </a:r>
          <a:r>
            <a:rPr lang="en-US" sz="3600" dirty="0"/>
            <a:t> </a:t>
          </a:r>
          <a:r>
            <a:rPr lang="en-US" sz="3600" dirty="0" err="1"/>
            <a:t>часі</a:t>
          </a:r>
          <a:r>
            <a:rPr lang="en-US" sz="3600" dirty="0"/>
            <a:t> </a:t>
          </a:r>
          <a:r>
            <a:rPr lang="en-US" sz="3600" dirty="0" err="1"/>
            <a:t>для</a:t>
          </a:r>
          <a:r>
            <a:rPr lang="en-US" sz="3600" dirty="0"/>
            <a:t> </a:t>
          </a:r>
          <a:r>
            <a:rPr lang="en-US" sz="3600" dirty="0" err="1"/>
            <a:t>відеоспостереження</a:t>
          </a:r>
          <a:r>
            <a:rPr lang="en-US" sz="3600" dirty="0"/>
            <a:t>, БПЛА</a:t>
          </a:r>
        </a:p>
      </dgm:t>
    </dgm:pt>
    <dgm:pt modelId="{A81BDB4D-A032-4998-B221-3D547F9DF8BA}" type="parTrans" cxnId="{EEBC3B8F-CE0D-47DB-A34B-85E54E88DF36}">
      <dgm:prSet/>
      <dgm:spPr/>
      <dgm:t>
        <a:bodyPr/>
        <a:lstStyle/>
        <a:p>
          <a:endParaRPr lang="en-US"/>
        </a:p>
      </dgm:t>
    </dgm:pt>
    <dgm:pt modelId="{44CA2489-88D9-454B-A5FE-257C7FD87787}" type="sibTrans" cxnId="{EEBC3B8F-CE0D-47DB-A34B-85E54E88DF36}">
      <dgm:prSet/>
      <dgm:spPr/>
      <dgm:t>
        <a:bodyPr/>
        <a:lstStyle/>
        <a:p>
          <a:endParaRPr lang="en-US"/>
        </a:p>
      </dgm:t>
    </dgm:pt>
    <dgm:pt modelId="{062F356F-5C6E-4F8D-971D-ECC966C783BE}">
      <dgm:prSet custT="1"/>
      <dgm:spPr/>
      <dgm:t>
        <a:bodyPr/>
        <a:lstStyle/>
        <a:p>
          <a:r>
            <a:rPr lang="en-US" sz="3600" dirty="0" err="1"/>
            <a:t>Автономний</a:t>
          </a:r>
          <a:r>
            <a:rPr lang="en-US" sz="3600" dirty="0"/>
            <a:t> </a:t>
          </a:r>
          <a:r>
            <a:rPr lang="en-US" sz="3600" dirty="0" err="1"/>
            <a:t>транспорт</a:t>
          </a:r>
          <a:r>
            <a:rPr lang="en-US" sz="3600" dirty="0"/>
            <a:t> </a:t>
          </a:r>
          <a:r>
            <a:rPr lang="en-US" sz="3600" dirty="0" err="1"/>
            <a:t>та</a:t>
          </a:r>
          <a:r>
            <a:rPr lang="en-US" sz="3600" dirty="0"/>
            <a:t> </a:t>
          </a:r>
          <a:r>
            <a:rPr lang="en-US" sz="3600" dirty="0" err="1"/>
            <a:t>логістика</a:t>
          </a:r>
          <a:r>
            <a:rPr lang="en-US" sz="3600" dirty="0"/>
            <a:t>: </a:t>
          </a:r>
          <a:r>
            <a:rPr lang="en-US" sz="3600" dirty="0" err="1"/>
            <a:t>уникнення</a:t>
          </a:r>
          <a:r>
            <a:rPr lang="en-US" sz="3600" dirty="0"/>
            <a:t> </a:t>
          </a:r>
          <a:r>
            <a:rPr lang="en-US" sz="3600" dirty="0" err="1"/>
            <a:t>зіткнень</a:t>
          </a:r>
          <a:r>
            <a:rPr lang="en-US" sz="3600" dirty="0"/>
            <a:t> </a:t>
          </a:r>
          <a:r>
            <a:rPr lang="en-US" sz="3600" dirty="0" err="1"/>
            <a:t>на</a:t>
          </a:r>
          <a:r>
            <a:rPr lang="en-US" sz="3600" dirty="0"/>
            <a:t> </a:t>
          </a:r>
          <a:r>
            <a:rPr lang="en-US" sz="3600" dirty="0" err="1"/>
            <a:t>основі</a:t>
          </a:r>
          <a:r>
            <a:rPr lang="en-US" sz="3600" dirty="0"/>
            <a:t> </a:t>
          </a:r>
          <a:r>
            <a:rPr lang="en-US" sz="3600" dirty="0" err="1"/>
            <a:t>швидкості</a:t>
          </a:r>
          <a:r>
            <a:rPr lang="en-US" sz="3600" dirty="0"/>
            <a:t>, </a:t>
          </a:r>
          <a:r>
            <a:rPr lang="en-US" sz="3600" dirty="0" err="1"/>
            <a:t>траєкторії</a:t>
          </a:r>
          <a:r>
            <a:rPr lang="en-US" sz="3600" dirty="0"/>
            <a:t> </a:t>
          </a:r>
          <a:r>
            <a:rPr lang="en-US" sz="3600" dirty="0" err="1"/>
            <a:t>та</a:t>
          </a:r>
          <a:r>
            <a:rPr lang="en-US" sz="3600" dirty="0"/>
            <a:t> </a:t>
          </a:r>
          <a:r>
            <a:rPr lang="en-US" sz="3600" dirty="0" err="1"/>
            <a:t>глибини</a:t>
          </a:r>
          <a:endParaRPr lang="en-US" sz="3600" dirty="0"/>
        </a:p>
      </dgm:t>
    </dgm:pt>
    <dgm:pt modelId="{4FCCFC8C-DF35-43A2-BC2F-3AF479E43BFE}" type="parTrans" cxnId="{02D57314-1C2C-428A-9497-434CE8F95364}">
      <dgm:prSet/>
      <dgm:spPr/>
      <dgm:t>
        <a:bodyPr/>
        <a:lstStyle/>
        <a:p>
          <a:endParaRPr lang="en-US"/>
        </a:p>
      </dgm:t>
    </dgm:pt>
    <dgm:pt modelId="{5431631A-4BED-4EF4-A793-BCB5458914C8}" type="sibTrans" cxnId="{02D57314-1C2C-428A-9497-434CE8F95364}">
      <dgm:prSet/>
      <dgm:spPr/>
      <dgm:t>
        <a:bodyPr/>
        <a:lstStyle/>
        <a:p>
          <a:endParaRPr lang="en-US"/>
        </a:p>
      </dgm:t>
    </dgm:pt>
    <dgm:pt modelId="{8B0E8F9C-BA93-4522-B490-2CA2967F174B}">
      <dgm:prSet custT="1"/>
      <dgm:spPr/>
      <dgm:t>
        <a:bodyPr/>
        <a:lstStyle/>
        <a:p>
          <a:r>
            <a:rPr lang="en-US" sz="3600" dirty="0" err="1"/>
            <a:t>Цифровізація</a:t>
          </a:r>
          <a:r>
            <a:rPr lang="en-US" sz="3600" dirty="0"/>
            <a:t> </a:t>
          </a:r>
          <a:r>
            <a:rPr lang="en-US" sz="3600" dirty="0" err="1"/>
            <a:t>та</a:t>
          </a:r>
          <a:r>
            <a:rPr lang="en-US" sz="3600" dirty="0"/>
            <a:t> </a:t>
          </a:r>
          <a:r>
            <a:rPr lang="en-US" sz="3600" dirty="0" err="1"/>
            <a:t>економіка</a:t>
          </a:r>
          <a:r>
            <a:rPr lang="en-US" sz="3600" dirty="0"/>
            <a:t>: </a:t>
          </a:r>
          <a:r>
            <a:rPr lang="en-US" sz="3600" dirty="0" err="1"/>
            <a:t>розгортання</a:t>
          </a:r>
          <a:r>
            <a:rPr lang="en-US" sz="3600" dirty="0"/>
            <a:t> </a:t>
          </a:r>
          <a:r>
            <a:rPr lang="en-US" sz="3600" dirty="0" err="1"/>
            <a:t>інтелектуальних</a:t>
          </a:r>
          <a:r>
            <a:rPr lang="en-US" sz="3600" dirty="0"/>
            <a:t> </a:t>
          </a:r>
          <a:r>
            <a:rPr lang="en-US" sz="3600" dirty="0" err="1"/>
            <a:t>систем</a:t>
          </a:r>
          <a:r>
            <a:rPr lang="en-US" sz="3600" dirty="0"/>
            <a:t> </a:t>
          </a:r>
          <a:r>
            <a:rPr lang="en-US" sz="3600" dirty="0" err="1"/>
            <a:t>на</a:t>
          </a:r>
          <a:r>
            <a:rPr lang="en-US" sz="3600" dirty="0"/>
            <a:t> </a:t>
          </a:r>
          <a:r>
            <a:rPr lang="en-US" sz="3600" dirty="0" err="1"/>
            <a:t>мобільних</a:t>
          </a:r>
          <a:r>
            <a:rPr lang="en-US" sz="3600" dirty="0"/>
            <a:t> </a:t>
          </a:r>
          <a:r>
            <a:rPr lang="en-US" sz="3600" dirty="0" err="1"/>
            <a:t>пристроях</a:t>
          </a:r>
          <a:r>
            <a:rPr lang="en-US" sz="3600" dirty="0"/>
            <a:t> </a:t>
          </a:r>
          <a:r>
            <a:rPr lang="en-US" sz="3600" dirty="0" err="1"/>
            <a:t>та</a:t>
          </a:r>
          <a:r>
            <a:rPr lang="en-US" sz="3600" dirty="0"/>
            <a:t> </a:t>
          </a:r>
          <a:r>
            <a:rPr lang="en-US" sz="3600" dirty="0" err="1"/>
            <a:t>вбудованих</a:t>
          </a:r>
          <a:r>
            <a:rPr lang="en-US" sz="3600" dirty="0"/>
            <a:t> </a:t>
          </a:r>
          <a:r>
            <a:rPr lang="en-US" sz="3600" dirty="0" err="1"/>
            <a:t>платформах</a:t>
          </a:r>
          <a:endParaRPr lang="en-US" sz="3600" dirty="0"/>
        </a:p>
      </dgm:t>
    </dgm:pt>
    <dgm:pt modelId="{00F87E48-E210-4934-A97C-F460E731D276}" type="parTrans" cxnId="{64A23026-9B3C-495D-A08C-281E6AAB9DAA}">
      <dgm:prSet/>
      <dgm:spPr/>
      <dgm:t>
        <a:bodyPr/>
        <a:lstStyle/>
        <a:p>
          <a:endParaRPr lang="en-US"/>
        </a:p>
      </dgm:t>
    </dgm:pt>
    <dgm:pt modelId="{109F93C8-376E-4EE8-9F2A-05FB9B43B188}" type="sibTrans" cxnId="{64A23026-9B3C-495D-A08C-281E6AAB9DAA}">
      <dgm:prSet/>
      <dgm:spPr/>
      <dgm:t>
        <a:bodyPr/>
        <a:lstStyle/>
        <a:p>
          <a:endParaRPr lang="en-US"/>
        </a:p>
      </dgm:t>
    </dgm:pt>
    <dgm:pt modelId="{D6A1F5F6-9D5C-42AB-96C1-7EF05522E439}">
      <dgm:prSet custT="1"/>
      <dgm:spPr/>
      <dgm:t>
        <a:bodyPr/>
        <a:lstStyle/>
        <a:p>
          <a:r>
            <a:rPr lang="en-US" sz="3600" dirty="0" err="1"/>
            <a:t>Медицина</a:t>
          </a:r>
          <a:r>
            <a:rPr lang="en-US" sz="3600" dirty="0"/>
            <a:t>: </a:t>
          </a:r>
          <a:r>
            <a:rPr lang="en-US" sz="3600" dirty="0" err="1"/>
            <a:t>неінвазивна</a:t>
          </a:r>
          <a:r>
            <a:rPr lang="en-US" sz="3600" dirty="0"/>
            <a:t> </a:t>
          </a:r>
          <a:r>
            <a:rPr lang="en-US" sz="3600" dirty="0" err="1"/>
            <a:t>діагностика</a:t>
          </a:r>
          <a:r>
            <a:rPr lang="en-US" sz="3600" dirty="0"/>
            <a:t> (</a:t>
          </a:r>
          <a:r>
            <a:rPr lang="en-US" sz="3600" dirty="0" err="1"/>
            <a:t>швидкість</a:t>
          </a:r>
          <a:r>
            <a:rPr lang="en-US" sz="3600" dirty="0"/>
            <a:t> </a:t>
          </a:r>
          <a:r>
            <a:rPr lang="en-US" sz="3600" dirty="0" err="1"/>
            <a:t>кровотоку</a:t>
          </a:r>
          <a:r>
            <a:rPr lang="en-US" sz="3600" dirty="0"/>
            <a:t>, </a:t>
          </a:r>
          <a:r>
            <a:rPr lang="en-US" sz="3600" dirty="0" err="1"/>
            <a:t>рух</a:t>
          </a:r>
          <a:r>
            <a:rPr lang="en-US" sz="3600" dirty="0"/>
            <a:t> </a:t>
          </a:r>
          <a:r>
            <a:rPr lang="en-US" sz="3600" dirty="0" err="1"/>
            <a:t>серця</a:t>
          </a:r>
          <a:r>
            <a:rPr lang="en-US" sz="3600" dirty="0"/>
            <a:t>)</a:t>
          </a:r>
        </a:p>
      </dgm:t>
    </dgm:pt>
    <dgm:pt modelId="{EC4EDA18-459C-485C-9422-6A548854B4E5}" type="parTrans" cxnId="{03A90CA3-F0A2-450B-87B6-C11E721829C3}">
      <dgm:prSet/>
      <dgm:spPr/>
      <dgm:t>
        <a:bodyPr/>
        <a:lstStyle/>
        <a:p>
          <a:endParaRPr lang="en-US"/>
        </a:p>
      </dgm:t>
    </dgm:pt>
    <dgm:pt modelId="{049C339A-5BE1-4503-94E2-5E7DA5AF0B49}" type="sibTrans" cxnId="{03A90CA3-F0A2-450B-87B6-C11E721829C3}">
      <dgm:prSet/>
      <dgm:spPr/>
      <dgm:t>
        <a:bodyPr/>
        <a:lstStyle/>
        <a:p>
          <a:endParaRPr lang="en-US"/>
        </a:p>
      </dgm:t>
    </dgm:pt>
    <dgm:pt modelId="{71867ACE-200E-47C2-A452-931E6BCCC039}" type="pres">
      <dgm:prSet presAssocID="{E71E435F-683E-4708-86DC-C7AFCC742646}" presName="Name0" presStyleCnt="0">
        <dgm:presLayoutVars>
          <dgm:dir/>
          <dgm:animLvl val="lvl"/>
          <dgm:resizeHandles val="exact"/>
        </dgm:presLayoutVars>
      </dgm:prSet>
      <dgm:spPr/>
    </dgm:pt>
    <dgm:pt modelId="{4CD40522-F488-4F46-BC38-E2E4CE6D758A}" type="pres">
      <dgm:prSet presAssocID="{D6A1F5F6-9D5C-42AB-96C1-7EF05522E439}" presName="boxAndChildren" presStyleCnt="0"/>
      <dgm:spPr/>
    </dgm:pt>
    <dgm:pt modelId="{0E0DEA1D-C260-4218-8F97-C0B1649C8AB9}" type="pres">
      <dgm:prSet presAssocID="{D6A1F5F6-9D5C-42AB-96C1-7EF05522E439}" presName="parentTextBox" presStyleLbl="node1" presStyleIdx="0" presStyleCnt="4"/>
      <dgm:spPr/>
    </dgm:pt>
    <dgm:pt modelId="{CD6BBC62-9927-405B-8061-2829DE83282F}" type="pres">
      <dgm:prSet presAssocID="{109F93C8-376E-4EE8-9F2A-05FB9B43B188}" presName="sp" presStyleCnt="0"/>
      <dgm:spPr/>
    </dgm:pt>
    <dgm:pt modelId="{35BD546F-2428-43D1-8E75-1D6B0AEFF579}" type="pres">
      <dgm:prSet presAssocID="{8B0E8F9C-BA93-4522-B490-2CA2967F174B}" presName="arrowAndChildren" presStyleCnt="0"/>
      <dgm:spPr/>
    </dgm:pt>
    <dgm:pt modelId="{1268D6C6-F68D-4EEB-AFB7-DB2AEC72108C}" type="pres">
      <dgm:prSet presAssocID="{8B0E8F9C-BA93-4522-B490-2CA2967F174B}" presName="parentTextArrow" presStyleLbl="node1" presStyleIdx="1" presStyleCnt="4"/>
      <dgm:spPr/>
    </dgm:pt>
    <dgm:pt modelId="{24BA10C7-9661-4B39-9791-A2C38DA470F7}" type="pres">
      <dgm:prSet presAssocID="{5431631A-4BED-4EF4-A793-BCB5458914C8}" presName="sp" presStyleCnt="0"/>
      <dgm:spPr/>
    </dgm:pt>
    <dgm:pt modelId="{59D93DEC-60D3-40D2-9A48-F011FC36900A}" type="pres">
      <dgm:prSet presAssocID="{062F356F-5C6E-4F8D-971D-ECC966C783BE}" presName="arrowAndChildren" presStyleCnt="0"/>
      <dgm:spPr/>
    </dgm:pt>
    <dgm:pt modelId="{6138ACC6-B097-4C71-A2C6-969FFAE76616}" type="pres">
      <dgm:prSet presAssocID="{062F356F-5C6E-4F8D-971D-ECC966C783BE}" presName="parentTextArrow" presStyleLbl="node1" presStyleIdx="2" presStyleCnt="4"/>
      <dgm:spPr/>
    </dgm:pt>
    <dgm:pt modelId="{23E7C5D2-50F5-4A3F-AA89-4DB4854595C8}" type="pres">
      <dgm:prSet presAssocID="{44CA2489-88D9-454B-A5FE-257C7FD87787}" presName="sp" presStyleCnt="0"/>
      <dgm:spPr/>
    </dgm:pt>
    <dgm:pt modelId="{EDCC0372-C30C-4BB8-9667-4D974D26C1AB}" type="pres">
      <dgm:prSet presAssocID="{747E101B-AF86-403A-B581-9BBE690A7899}" presName="arrowAndChildren" presStyleCnt="0"/>
      <dgm:spPr/>
    </dgm:pt>
    <dgm:pt modelId="{33623962-81AA-4C61-8C8E-5D0CA73FE0BF}" type="pres">
      <dgm:prSet presAssocID="{747E101B-AF86-403A-B581-9BBE690A7899}" presName="parentTextArrow" presStyleLbl="node1" presStyleIdx="3" presStyleCnt="4"/>
      <dgm:spPr/>
    </dgm:pt>
  </dgm:ptLst>
  <dgm:cxnLst>
    <dgm:cxn modelId="{02D57314-1C2C-428A-9497-434CE8F95364}" srcId="{E71E435F-683E-4708-86DC-C7AFCC742646}" destId="{062F356F-5C6E-4F8D-971D-ECC966C783BE}" srcOrd="1" destOrd="0" parTransId="{4FCCFC8C-DF35-43A2-BC2F-3AF479E43BFE}" sibTransId="{5431631A-4BED-4EF4-A793-BCB5458914C8}"/>
    <dgm:cxn modelId="{64A23026-9B3C-495D-A08C-281E6AAB9DAA}" srcId="{E71E435F-683E-4708-86DC-C7AFCC742646}" destId="{8B0E8F9C-BA93-4522-B490-2CA2967F174B}" srcOrd="2" destOrd="0" parTransId="{00F87E48-E210-4934-A97C-F460E731D276}" sibTransId="{109F93C8-376E-4EE8-9F2A-05FB9B43B188}"/>
    <dgm:cxn modelId="{F1EAB227-3729-42F3-A797-3C4501D2C8FB}" type="presOf" srcId="{062F356F-5C6E-4F8D-971D-ECC966C783BE}" destId="{6138ACC6-B097-4C71-A2C6-969FFAE76616}" srcOrd="0" destOrd="0" presId="urn:microsoft.com/office/officeart/2005/8/layout/process4"/>
    <dgm:cxn modelId="{C179635F-9AC8-4B3B-9224-CF9B3C0072EE}" type="presOf" srcId="{8B0E8F9C-BA93-4522-B490-2CA2967F174B}" destId="{1268D6C6-F68D-4EEB-AFB7-DB2AEC72108C}" srcOrd="0" destOrd="0" presId="urn:microsoft.com/office/officeart/2005/8/layout/process4"/>
    <dgm:cxn modelId="{EEBC3B8F-CE0D-47DB-A34B-85E54E88DF36}" srcId="{E71E435F-683E-4708-86DC-C7AFCC742646}" destId="{747E101B-AF86-403A-B581-9BBE690A7899}" srcOrd="0" destOrd="0" parTransId="{A81BDB4D-A032-4998-B221-3D547F9DF8BA}" sibTransId="{44CA2489-88D9-454B-A5FE-257C7FD87787}"/>
    <dgm:cxn modelId="{65976D93-2373-4FE1-A766-0FB8C319A31D}" type="presOf" srcId="{D6A1F5F6-9D5C-42AB-96C1-7EF05522E439}" destId="{0E0DEA1D-C260-4218-8F97-C0B1649C8AB9}" srcOrd="0" destOrd="0" presId="urn:microsoft.com/office/officeart/2005/8/layout/process4"/>
    <dgm:cxn modelId="{03A90CA3-F0A2-450B-87B6-C11E721829C3}" srcId="{E71E435F-683E-4708-86DC-C7AFCC742646}" destId="{D6A1F5F6-9D5C-42AB-96C1-7EF05522E439}" srcOrd="3" destOrd="0" parTransId="{EC4EDA18-459C-485C-9422-6A548854B4E5}" sibTransId="{049C339A-5BE1-4503-94E2-5E7DA5AF0B49}"/>
    <dgm:cxn modelId="{F98CF3C7-6045-46F5-9806-BD3F6FC9E02E}" type="presOf" srcId="{E71E435F-683E-4708-86DC-C7AFCC742646}" destId="{71867ACE-200E-47C2-A452-931E6BCCC039}" srcOrd="0" destOrd="0" presId="urn:microsoft.com/office/officeart/2005/8/layout/process4"/>
    <dgm:cxn modelId="{F039BDF7-EE97-450E-B494-1DB0396BDE64}" type="presOf" srcId="{747E101B-AF86-403A-B581-9BBE690A7899}" destId="{33623962-81AA-4C61-8C8E-5D0CA73FE0BF}" srcOrd="0" destOrd="0" presId="urn:microsoft.com/office/officeart/2005/8/layout/process4"/>
    <dgm:cxn modelId="{83AD6820-61EA-414C-8B55-4B59C4BCD137}" type="presParOf" srcId="{71867ACE-200E-47C2-A452-931E6BCCC039}" destId="{4CD40522-F488-4F46-BC38-E2E4CE6D758A}" srcOrd="0" destOrd="0" presId="urn:microsoft.com/office/officeart/2005/8/layout/process4"/>
    <dgm:cxn modelId="{D0ADA116-87A1-47EB-94AF-2B76779407AE}" type="presParOf" srcId="{4CD40522-F488-4F46-BC38-E2E4CE6D758A}" destId="{0E0DEA1D-C260-4218-8F97-C0B1649C8AB9}" srcOrd="0" destOrd="0" presId="urn:microsoft.com/office/officeart/2005/8/layout/process4"/>
    <dgm:cxn modelId="{EB6A3001-CDEE-4D2A-A251-5CE3AAE83124}" type="presParOf" srcId="{71867ACE-200E-47C2-A452-931E6BCCC039}" destId="{CD6BBC62-9927-405B-8061-2829DE83282F}" srcOrd="1" destOrd="0" presId="urn:microsoft.com/office/officeart/2005/8/layout/process4"/>
    <dgm:cxn modelId="{2A14513B-D4DF-4140-BF07-37034A43E9A4}" type="presParOf" srcId="{71867ACE-200E-47C2-A452-931E6BCCC039}" destId="{35BD546F-2428-43D1-8E75-1D6B0AEFF579}" srcOrd="2" destOrd="0" presId="urn:microsoft.com/office/officeart/2005/8/layout/process4"/>
    <dgm:cxn modelId="{BD724498-77C6-4D1B-8268-7C97E81FE9DC}" type="presParOf" srcId="{35BD546F-2428-43D1-8E75-1D6B0AEFF579}" destId="{1268D6C6-F68D-4EEB-AFB7-DB2AEC72108C}" srcOrd="0" destOrd="0" presId="urn:microsoft.com/office/officeart/2005/8/layout/process4"/>
    <dgm:cxn modelId="{628E1951-DA03-4E25-A00E-699517955AED}" type="presParOf" srcId="{71867ACE-200E-47C2-A452-931E6BCCC039}" destId="{24BA10C7-9661-4B39-9791-A2C38DA470F7}" srcOrd="3" destOrd="0" presId="urn:microsoft.com/office/officeart/2005/8/layout/process4"/>
    <dgm:cxn modelId="{8FCDA275-A4A2-41CA-91D2-4652BD96BD29}" type="presParOf" srcId="{71867ACE-200E-47C2-A452-931E6BCCC039}" destId="{59D93DEC-60D3-40D2-9A48-F011FC36900A}" srcOrd="4" destOrd="0" presId="urn:microsoft.com/office/officeart/2005/8/layout/process4"/>
    <dgm:cxn modelId="{85BBDBA1-7A8C-4B69-98F8-70A5648FE14F}" type="presParOf" srcId="{59D93DEC-60D3-40D2-9A48-F011FC36900A}" destId="{6138ACC6-B097-4C71-A2C6-969FFAE76616}" srcOrd="0" destOrd="0" presId="urn:microsoft.com/office/officeart/2005/8/layout/process4"/>
    <dgm:cxn modelId="{08DB8894-447A-4A3A-B0B2-AAED0802631B}" type="presParOf" srcId="{71867ACE-200E-47C2-A452-931E6BCCC039}" destId="{23E7C5D2-50F5-4A3F-AA89-4DB4854595C8}" srcOrd="5" destOrd="0" presId="urn:microsoft.com/office/officeart/2005/8/layout/process4"/>
    <dgm:cxn modelId="{7DD23F8C-D32B-448B-935C-37F6F2F63F48}" type="presParOf" srcId="{71867ACE-200E-47C2-A452-931E6BCCC039}" destId="{EDCC0372-C30C-4BB8-9667-4D974D26C1AB}" srcOrd="6" destOrd="0" presId="urn:microsoft.com/office/officeart/2005/8/layout/process4"/>
    <dgm:cxn modelId="{F6EF2396-2672-4DD4-9130-78531BAD3C44}" type="presParOf" srcId="{EDCC0372-C30C-4BB8-9667-4D974D26C1AB}" destId="{33623962-81AA-4C61-8C8E-5D0CA73FE0BF}"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E6FCD0EA-133A-43A6-855B-B72EC1ECBCE4}">
      <dgm:prSet custT="1"/>
      <dgm:spPr/>
      <dgm:t>
        <a:bodyPr/>
        <a:lstStyle/>
        <a:p>
          <a:r>
            <a:rPr lang="uk-UA" sz="1200" dirty="0"/>
            <a:t>вперше запропоновано метод дистанційної ідентифікації параметрів динамічних об'єктів, що ґрунтується на поєднанні </a:t>
          </a:r>
          <a:r>
            <a:rPr lang="uk-UA" sz="1200" dirty="0" err="1"/>
            <a:t>трансформерної</a:t>
          </a:r>
          <a:r>
            <a:rPr lang="uk-UA" sz="1200" dirty="0"/>
            <a:t> моделі виявлення об'єктів </a:t>
          </a:r>
          <a:r>
            <a:rPr lang="en-US" sz="1200" dirty="0" err="1"/>
            <a:t>DEtection</a:t>
          </a:r>
          <a:r>
            <a:rPr lang="en-US" sz="1200" dirty="0"/>
            <a:t> </a:t>
          </a:r>
          <a:r>
            <a:rPr lang="en-US" sz="1200" dirty="0" err="1"/>
            <a:t>TRansformer</a:t>
          </a:r>
          <a:r>
            <a:rPr lang="en-US" sz="1200" dirty="0"/>
            <a:t> (DETR) </a:t>
          </a:r>
          <a:r>
            <a:rPr lang="uk-UA" sz="12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1200" dirty="0" err="1"/>
            <a:t>постобробки</a:t>
          </a:r>
          <a:r>
            <a:rPr lang="uk-UA" sz="1200" dirty="0"/>
            <a:t>;</a:t>
          </a:r>
        </a:p>
      </dgm:t>
    </dgm:pt>
    <dgm:pt modelId="{5A161AA6-5ECD-417A-82B7-34389E753A94}" type="parTrans" cxnId="{7121362B-7C5F-4A9D-995F-8DBF6903AD14}">
      <dgm:prSet/>
      <dgm:spPr/>
      <dgm:t>
        <a:bodyPr/>
        <a:lstStyle/>
        <a:p>
          <a:endParaRPr lang="en-US" sz="1200"/>
        </a:p>
      </dgm:t>
    </dgm:pt>
    <dgm:pt modelId="{972FDB72-F1CC-4112-A9B0-6949E2474C96}" type="sibTrans" cxnId="{7121362B-7C5F-4A9D-995F-8DBF6903AD14}">
      <dgm:prSet/>
      <dgm:spPr/>
      <dgm:t>
        <a:bodyPr/>
        <a:lstStyle/>
        <a:p>
          <a:endParaRPr lang="en-US" sz="1200"/>
        </a:p>
      </dgm:t>
    </dgm:pt>
    <dgm:pt modelId="{2CEC5821-0269-42A2-B3AC-7924A42E3646}">
      <dgm:prSet custT="1"/>
      <dgm:spPr/>
      <dgm:t>
        <a:bodyPr/>
        <a:lstStyle/>
        <a:p>
          <a:r>
            <a:rPr lang="uk-UA" sz="1200" dirty="0"/>
            <a:t>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1200" dirty="0" err="1"/>
            <a:t>нейромережевих</a:t>
          </a:r>
          <a:r>
            <a:rPr lang="uk-UA" sz="1200" dirty="0"/>
            <a:t> </a:t>
          </a:r>
          <a:r>
            <a:rPr lang="uk-UA" sz="1200" dirty="0" err="1"/>
            <a:t>архітектур</a:t>
          </a:r>
          <a:r>
            <a:rPr lang="uk-UA" sz="1200" dirty="0"/>
            <a:t> </a:t>
          </a:r>
          <a:r>
            <a:rPr lang="en-US" sz="1200" dirty="0" err="1"/>
            <a:t>FlowNet</a:t>
          </a:r>
          <a:r>
            <a:rPr lang="en-US" sz="1200" dirty="0"/>
            <a:t> </a:t>
          </a:r>
          <a:r>
            <a:rPr lang="uk-UA" sz="1200" dirty="0"/>
            <a:t>та </a:t>
          </a:r>
          <a:r>
            <a:rPr lang="en-US" sz="1200" dirty="0" err="1"/>
            <a:t>GeoNet</a:t>
          </a:r>
          <a:r>
            <a:rPr lang="en-US" sz="1200" dirty="0"/>
            <a:t>, </a:t>
          </a:r>
          <a:r>
            <a:rPr lang="uk-UA" sz="12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gm:t>
    </dgm:pt>
    <dgm:pt modelId="{E1FE5AD9-F2F0-4F64-A40D-D9242EFB0F05}" type="parTrans" cxnId="{66667883-C045-4708-B9B5-69D61C463643}">
      <dgm:prSet/>
      <dgm:spPr/>
      <dgm:t>
        <a:bodyPr/>
        <a:lstStyle/>
        <a:p>
          <a:endParaRPr lang="en-US" sz="1200"/>
        </a:p>
      </dgm:t>
    </dgm:pt>
    <dgm:pt modelId="{59ED4E3F-19BE-4D3E-9D16-5AF2E9740DAB}" type="sibTrans" cxnId="{66667883-C045-4708-B9B5-69D61C463643}">
      <dgm:prSet/>
      <dgm:spPr/>
      <dgm:t>
        <a:bodyPr/>
        <a:lstStyle/>
        <a:p>
          <a:endParaRPr lang="en-US" sz="1200"/>
        </a:p>
      </dgm:t>
    </dgm:pt>
    <dgm:pt modelId="{60F0C4EF-B88B-41BA-A8E8-3B8F05382BF5}">
      <dgm:prSet custT="1"/>
      <dgm:spPr/>
      <dgm:t>
        <a:bodyPr/>
        <a:lstStyle/>
        <a:p>
          <a:r>
            <a:rPr lang="uk-UA" sz="1200" dirty="0"/>
            <a:t>удосконалено метод оцінювання глибини сцени шляхом адаптивного комбінування </a:t>
          </a:r>
          <a:r>
            <a:rPr lang="uk-UA" sz="1200" dirty="0" err="1"/>
            <a:t>нейромережевих</a:t>
          </a:r>
          <a:r>
            <a:rPr lang="uk-UA" sz="1200" dirty="0"/>
            <a:t> моделей </a:t>
          </a:r>
          <a:r>
            <a:rPr lang="en-US" sz="1200" dirty="0" err="1"/>
            <a:t>MiDaS</a:t>
          </a:r>
          <a:r>
            <a:rPr lang="en-US" sz="1200" dirty="0"/>
            <a:t>, </a:t>
          </a:r>
          <a:r>
            <a:rPr lang="en-US" sz="1200" dirty="0" err="1"/>
            <a:t>DPT_Large</a:t>
          </a:r>
          <a:r>
            <a:rPr lang="en-US" sz="1200" dirty="0"/>
            <a:t> </a:t>
          </a:r>
          <a:r>
            <a:rPr lang="uk-UA" sz="1200" dirty="0"/>
            <a:t>та </a:t>
          </a:r>
          <a:r>
            <a:rPr lang="en-US" sz="1200" dirty="0" err="1"/>
            <a:t>GeoNet</a:t>
          </a:r>
          <a:r>
            <a:rPr lang="en-US" sz="1200" dirty="0"/>
            <a:t> </a:t>
          </a:r>
          <a:r>
            <a:rPr lang="uk-UA" sz="1200" dirty="0"/>
            <a:t>з ансамблевими підходами </a:t>
          </a:r>
          <a:r>
            <a:rPr lang="en-US" sz="1200" dirty="0"/>
            <a:t>Bagging </a:t>
          </a:r>
          <a:r>
            <a:rPr lang="uk-UA" sz="1200" dirty="0"/>
            <a:t>і </a:t>
          </a:r>
          <a:r>
            <a:rPr lang="en-US" sz="1200" dirty="0"/>
            <a:t>Boosting, </a:t>
          </a:r>
          <a:r>
            <a:rPr lang="uk-UA" sz="1200"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sz="1200" dirty="0"/>
            <a:t>Bagging) </a:t>
          </a:r>
          <a:r>
            <a:rPr lang="uk-UA" sz="1200" dirty="0"/>
            <a:t>та уточнення параметрів на межах об'єктів і в зонах оклюзій (</a:t>
          </a:r>
          <a:r>
            <a:rPr lang="en-US" sz="1200" dirty="0"/>
            <a:t>Boosting), </a:t>
          </a:r>
          <a:r>
            <a:rPr lang="uk-UA" sz="1200" dirty="0"/>
            <a:t>що дозволяє визначати координату </a:t>
          </a:r>
          <a:r>
            <a:rPr lang="en-US" sz="1200" dirty="0"/>
            <a:t>Z (</a:t>
          </a:r>
          <a:r>
            <a:rPr lang="uk-UA" sz="1200" dirty="0"/>
            <a:t>глибину) об'єкта з меншою похибкою навіть при відсутності стереопари або даних </a:t>
          </a:r>
          <a:r>
            <a:rPr lang="en-US" sz="1200" dirty="0"/>
            <a:t>LiDAR;</a:t>
          </a:r>
        </a:p>
      </dgm:t>
    </dgm:pt>
    <dgm:pt modelId="{83D465DE-BCD0-46C4-BCCD-BF3333ED5601}" type="parTrans" cxnId="{4A9C806F-AF7C-44C1-9578-45B19FC57889}">
      <dgm:prSet/>
      <dgm:spPr/>
      <dgm:t>
        <a:bodyPr/>
        <a:lstStyle/>
        <a:p>
          <a:endParaRPr lang="en-US" sz="1200"/>
        </a:p>
      </dgm:t>
    </dgm:pt>
    <dgm:pt modelId="{B33E6490-C12B-4BE4-A10C-2C8BA7A3ADF1}" type="sibTrans" cxnId="{4A9C806F-AF7C-44C1-9578-45B19FC57889}">
      <dgm:prSet/>
      <dgm:spPr/>
      <dgm:t>
        <a:bodyPr/>
        <a:lstStyle/>
        <a:p>
          <a:endParaRPr lang="en-US" sz="1200"/>
        </a:p>
      </dgm:t>
    </dgm:pt>
    <dgm:pt modelId="{599DCDC1-FEA0-482B-A82D-D934AF1C2E10}">
      <dgm:prSet custT="1"/>
      <dgm:spPr/>
      <dgm:t>
        <a:bodyPr/>
        <a:lstStyle/>
        <a:p>
          <a:r>
            <a:rPr lang="uk-UA" sz="1200" dirty="0"/>
            <a:t>удосконалено метод ансамблевої агрегації результатів ідентифікації, а саме застосування </a:t>
          </a:r>
          <a:r>
            <a:rPr lang="uk-UA" sz="1200" dirty="0" err="1"/>
            <a:t>бегінгу</a:t>
          </a:r>
          <a:r>
            <a:rPr lang="uk-UA" sz="1200" dirty="0"/>
            <a:t> (</a:t>
          </a:r>
          <a:r>
            <a:rPr lang="en-US" sz="1200" dirty="0"/>
            <a:t>Bagging) </a:t>
          </a:r>
          <a:r>
            <a:rPr lang="uk-UA" sz="1200" dirty="0"/>
            <a:t>для зменшення дисперсії оцінок глибини шляхом усереднення результатів на різних підвибірках кадрів та </a:t>
          </a:r>
          <a:r>
            <a:rPr lang="uk-UA" sz="1200" dirty="0" err="1"/>
            <a:t>бустінгу</a:t>
          </a:r>
          <a:r>
            <a:rPr lang="uk-UA" sz="1200" dirty="0"/>
            <a:t> (</a:t>
          </a:r>
          <a:r>
            <a:rPr lang="en-US" sz="1200" dirty="0"/>
            <a:t>Boosting) </a:t>
          </a:r>
          <a:r>
            <a:rPr lang="uk-UA" sz="12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1200" dirty="0" err="1"/>
            <a:t>ансамблювання</a:t>
          </a:r>
          <a:r>
            <a:rPr lang="uk-UA" sz="12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gm:t>
    </dgm:pt>
    <dgm:pt modelId="{70DC9026-D3A7-408F-9DF4-1D74F47A9F42}" type="parTrans" cxnId="{50C15459-CED9-49A2-B116-153DCC332EFE}">
      <dgm:prSet/>
      <dgm:spPr/>
      <dgm:t>
        <a:bodyPr/>
        <a:lstStyle/>
        <a:p>
          <a:endParaRPr lang="en-US" sz="1200"/>
        </a:p>
      </dgm:t>
    </dgm:pt>
    <dgm:pt modelId="{391A6456-D5EF-444B-86B7-58D96D6FF93B}" type="sibTrans" cxnId="{50C15459-CED9-49A2-B116-153DCC332EFE}">
      <dgm:prSet/>
      <dgm:spPr/>
      <dgm:t>
        <a:bodyPr/>
        <a:lstStyle/>
        <a:p>
          <a:endParaRPr lang="en-US" sz="1200"/>
        </a:p>
      </dgm:t>
    </dgm:pt>
    <dgm:pt modelId="{2E0033E5-42D0-44FF-86B0-1E558A300C68}">
      <dgm:prSet custT="1"/>
      <dgm:spPr/>
      <dgm:t>
        <a:bodyPr/>
        <a:lstStyle/>
        <a:p>
          <a:r>
            <a:rPr lang="uk-UA" sz="1200" dirty="0"/>
            <a:t>удосконалено метод кількісного оцінювання якості ідентифікації шляхом впровадження комплексної системи метрик, що включає </a:t>
          </a:r>
          <a:r>
            <a:rPr lang="en-US" sz="1200" dirty="0"/>
            <a:t>EPE </a:t>
          </a:r>
          <a:r>
            <a:rPr lang="uk-UA" sz="1200" dirty="0"/>
            <a:t>та </a:t>
          </a:r>
          <a:r>
            <a:rPr lang="en-US" sz="1200" dirty="0"/>
            <a:t>AAE </a:t>
          </a:r>
          <a:r>
            <a:rPr lang="uk-UA" sz="1200" dirty="0"/>
            <a:t>для оцінки точності оптичного потоку, </a:t>
          </a:r>
          <a:r>
            <a:rPr lang="en-US" sz="1200" dirty="0"/>
            <a:t>RMSE, MAE </a:t>
          </a:r>
          <a:r>
            <a:rPr lang="uk-UA" sz="1200" dirty="0"/>
            <a:t>та </a:t>
          </a:r>
          <a:r>
            <a:rPr lang="en-US" sz="1200" dirty="0"/>
            <a:t>PSNR </a:t>
          </a:r>
          <a:r>
            <a:rPr lang="uk-UA" sz="1200" dirty="0"/>
            <a:t>для оцінки точності відновлення глибини, а також </a:t>
          </a:r>
          <a:r>
            <a:rPr lang="en-US" sz="1200" dirty="0" err="1"/>
            <a:t>IoU</a:t>
          </a:r>
          <a:r>
            <a:rPr lang="en-US" sz="1200" dirty="0"/>
            <a:t> </a:t>
          </a:r>
          <a:r>
            <a:rPr lang="uk-UA" sz="1200" dirty="0"/>
            <a:t>та </a:t>
          </a:r>
          <a:r>
            <a:rPr lang="en-US" sz="1200" dirty="0"/>
            <a:t>Dice </a:t>
          </a:r>
          <a:r>
            <a:rPr lang="uk-UA" sz="1200"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sz="1200" dirty="0" err="1"/>
            <a:t>Farneback</a:t>
          </a:r>
          <a:r>
            <a:rPr lang="en-US" sz="1200" dirty="0"/>
            <a:t>, Lucas‑Kanade, Horn‑Schunck, </a:t>
          </a:r>
          <a:r>
            <a:rPr lang="en-US" sz="1200" dirty="0" err="1"/>
            <a:t>FlowNet</a:t>
          </a:r>
          <a:r>
            <a:rPr lang="en-US" sz="1200" dirty="0"/>
            <a:t>, </a:t>
          </a:r>
          <a:r>
            <a:rPr lang="en-US" sz="1200" dirty="0" err="1"/>
            <a:t>GeoNet</a:t>
          </a:r>
          <a:r>
            <a:rPr lang="en-US" sz="1200" dirty="0"/>
            <a:t>) </a:t>
          </a:r>
          <a:r>
            <a:rPr lang="uk-UA" sz="1200" dirty="0"/>
            <a:t>та методів глибини (</a:t>
          </a:r>
          <a:r>
            <a:rPr lang="en-US" sz="1200" dirty="0"/>
            <a:t>Blur, Gradient, </a:t>
          </a:r>
          <a:r>
            <a:rPr lang="en-US" sz="1200" dirty="0" err="1"/>
            <a:t>MiDaS</a:t>
          </a:r>
          <a:r>
            <a:rPr lang="en-US" sz="1200" dirty="0"/>
            <a:t>, </a:t>
          </a:r>
          <a:r>
            <a:rPr lang="en-US" sz="1200" dirty="0" err="1"/>
            <a:t>DPT_Large</a:t>
          </a:r>
          <a:r>
            <a:rPr lang="en-US" sz="1200" dirty="0"/>
            <a:t>, </a:t>
          </a:r>
          <a:r>
            <a:rPr lang="en-US" sz="1200" dirty="0" err="1"/>
            <a:t>GeoNet</a:t>
          </a:r>
          <a:r>
            <a:rPr lang="en-US" sz="1200" dirty="0"/>
            <a:t>, Bagging, Boosting), </a:t>
          </a:r>
          <a:r>
            <a:rPr lang="uk-UA" sz="1200"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gm:t>
    </dgm:pt>
    <dgm:pt modelId="{4C4C992E-EA0A-4D1B-B9E0-6B8477DF11A0}" type="parTrans" cxnId="{383F7287-28CA-4133-95D1-46FCFA4331F1}">
      <dgm:prSet/>
      <dgm:spPr/>
      <dgm:t>
        <a:bodyPr/>
        <a:lstStyle/>
        <a:p>
          <a:endParaRPr lang="en-US" sz="1200"/>
        </a:p>
      </dgm:t>
    </dgm:pt>
    <dgm:pt modelId="{E61602C7-068C-4AE9-8144-783115DB8204}" type="sibTrans" cxnId="{383F7287-28CA-4133-95D1-46FCFA4331F1}">
      <dgm:prSet/>
      <dgm:spPr/>
      <dgm:t>
        <a:bodyPr/>
        <a:lstStyle/>
        <a:p>
          <a:endParaRPr lang="en-US" sz="1200"/>
        </a:p>
      </dgm:t>
    </dgm:pt>
    <dgm:pt modelId="{67B53D1A-9755-4A47-918A-139FC6A7D1E0}">
      <dgm:prSet custT="1"/>
      <dgm:spPr/>
      <dgm:t>
        <a:bodyPr/>
        <a:lstStyle/>
        <a:p>
          <a:r>
            <a:rPr lang="uk-UA" sz="1200" dirty="0"/>
            <a:t>отримав подальший розвиток метод синтезу просторово-часових ознак динамічних об'єктів шляхом інтеграції </a:t>
          </a:r>
          <a:r>
            <a:rPr lang="uk-UA" sz="1200" dirty="0" err="1"/>
            <a:t>трансформерних</a:t>
          </a:r>
          <a:r>
            <a:rPr lang="uk-UA" sz="1200" dirty="0"/>
            <a:t> механізмів уваги з векторними полями оптичного потоку, в якому, на відміну від класичних методів, вектори руху подаються на вхід </a:t>
          </a:r>
          <a:r>
            <a:rPr lang="uk-UA" sz="1200" dirty="0" err="1"/>
            <a:t>трансформерної</a:t>
          </a:r>
          <a:r>
            <a:rPr lang="uk-UA" sz="1200" dirty="0"/>
            <a:t> мережі для моделювання довготривалих просторово-часових </a:t>
          </a:r>
          <a:r>
            <a:rPr lang="uk-UA" sz="1200" dirty="0" err="1"/>
            <a:t>залежностей</a:t>
          </a:r>
          <a:r>
            <a:rPr lang="uk-UA" sz="1200" dirty="0"/>
            <a:t>, що дозволяє виявляти складні </a:t>
          </a:r>
          <a:r>
            <a:rPr lang="uk-UA" sz="1200" dirty="0" err="1"/>
            <a:t>патерни</a:t>
          </a:r>
          <a:r>
            <a:rPr lang="uk-UA" sz="12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1200" dirty="0"/>
        </a:p>
      </dgm:t>
    </dgm:pt>
    <dgm:pt modelId="{AF3D7582-EE27-4331-A5EE-E84B5E65388F}" type="parTrans" cxnId="{63430A6C-D725-4BF6-8149-66D7C6F1D0A8}">
      <dgm:prSet/>
      <dgm:spPr/>
      <dgm:t>
        <a:bodyPr/>
        <a:lstStyle/>
        <a:p>
          <a:endParaRPr lang="en-US" sz="1200"/>
        </a:p>
      </dgm:t>
    </dgm:pt>
    <dgm:pt modelId="{529B0DA9-12F8-4A50-A677-E0A39E9B39F6}" type="sibTrans" cxnId="{63430A6C-D725-4BF6-8149-66D7C6F1D0A8}">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7223C56A-2E1C-4F7B-A0AF-0176B3906F53}" type="pres">
      <dgm:prSet presAssocID="{E6FCD0EA-133A-43A6-855B-B72EC1ECBCE4}" presName="thickLine" presStyleLbl="alignNode1" presStyleIdx="0" presStyleCnt="6"/>
      <dgm:spPr/>
    </dgm:pt>
    <dgm:pt modelId="{12C9E290-E62D-4508-B3EF-4C54CF009633}" type="pres">
      <dgm:prSet presAssocID="{E6FCD0EA-133A-43A6-855B-B72EC1ECBCE4}" presName="horz1" presStyleCnt="0"/>
      <dgm:spPr/>
    </dgm:pt>
    <dgm:pt modelId="{37AA9705-6D81-4081-87B9-89540CA7EE4A}" type="pres">
      <dgm:prSet presAssocID="{E6FCD0EA-133A-43A6-855B-B72EC1ECBCE4}" presName="tx1" presStyleLbl="revTx" presStyleIdx="0" presStyleCnt="6"/>
      <dgm:spPr/>
    </dgm:pt>
    <dgm:pt modelId="{E94091FD-ECEA-444B-AF9B-03D2FE204D06}" type="pres">
      <dgm:prSet presAssocID="{E6FCD0EA-133A-43A6-855B-B72EC1ECBCE4}" presName="vert1" presStyleCnt="0"/>
      <dgm:spPr/>
    </dgm:pt>
    <dgm:pt modelId="{2BB0E26A-EB03-4B8F-8CCF-920E6E9E5833}" type="pres">
      <dgm:prSet presAssocID="{2CEC5821-0269-42A2-B3AC-7924A42E3646}" presName="thickLine" presStyleLbl="alignNode1" presStyleIdx="1" presStyleCnt="6"/>
      <dgm:spPr/>
    </dgm:pt>
    <dgm:pt modelId="{10078C9C-AD81-466B-89E9-DE99458446FB}" type="pres">
      <dgm:prSet presAssocID="{2CEC5821-0269-42A2-B3AC-7924A42E3646}" presName="horz1" presStyleCnt="0"/>
      <dgm:spPr/>
    </dgm:pt>
    <dgm:pt modelId="{3B5361DD-962A-46CC-B452-F6E1BD44DD37}" type="pres">
      <dgm:prSet presAssocID="{2CEC5821-0269-42A2-B3AC-7924A42E3646}" presName="tx1" presStyleLbl="revTx" presStyleIdx="1" presStyleCnt="6"/>
      <dgm:spPr/>
    </dgm:pt>
    <dgm:pt modelId="{77FCDE3B-84AA-4993-AD20-3F7650922E27}" type="pres">
      <dgm:prSet presAssocID="{2CEC5821-0269-42A2-B3AC-7924A42E3646}" presName="vert1" presStyleCnt="0"/>
      <dgm:spPr/>
    </dgm:pt>
    <dgm:pt modelId="{8A19F7F3-D825-47A9-A329-97D681A62B58}" type="pres">
      <dgm:prSet presAssocID="{60F0C4EF-B88B-41BA-A8E8-3B8F05382BF5}" presName="thickLine" presStyleLbl="alignNode1" presStyleIdx="2" presStyleCnt="6"/>
      <dgm:spPr/>
    </dgm:pt>
    <dgm:pt modelId="{52A7FB3B-8A9F-4101-8715-5287B119E24F}" type="pres">
      <dgm:prSet presAssocID="{60F0C4EF-B88B-41BA-A8E8-3B8F05382BF5}" presName="horz1" presStyleCnt="0"/>
      <dgm:spPr/>
    </dgm:pt>
    <dgm:pt modelId="{40FFB531-F345-4DE4-A1E8-0F3D1DEE8D1E}" type="pres">
      <dgm:prSet presAssocID="{60F0C4EF-B88B-41BA-A8E8-3B8F05382BF5}" presName="tx1" presStyleLbl="revTx" presStyleIdx="2" presStyleCnt="6"/>
      <dgm:spPr/>
    </dgm:pt>
    <dgm:pt modelId="{B7CD1BF8-B7E8-4904-956D-C14CAE091A73}" type="pres">
      <dgm:prSet presAssocID="{60F0C4EF-B88B-41BA-A8E8-3B8F05382BF5}" presName="vert1" presStyleCnt="0"/>
      <dgm:spPr/>
    </dgm:pt>
    <dgm:pt modelId="{6BF8E760-8A1E-4C31-9F11-BF7D76AA7274}" type="pres">
      <dgm:prSet presAssocID="{599DCDC1-FEA0-482B-A82D-D934AF1C2E10}" presName="thickLine" presStyleLbl="alignNode1" presStyleIdx="3" presStyleCnt="6"/>
      <dgm:spPr/>
    </dgm:pt>
    <dgm:pt modelId="{5369C554-4B07-4AA0-A357-FA04F4D55819}" type="pres">
      <dgm:prSet presAssocID="{599DCDC1-FEA0-482B-A82D-D934AF1C2E10}" presName="horz1" presStyleCnt="0"/>
      <dgm:spPr/>
    </dgm:pt>
    <dgm:pt modelId="{A9F58B3D-2D2B-42F6-97F5-E4207E36C68D}" type="pres">
      <dgm:prSet presAssocID="{599DCDC1-FEA0-482B-A82D-D934AF1C2E10}" presName="tx1" presStyleLbl="revTx" presStyleIdx="3" presStyleCnt="6"/>
      <dgm:spPr/>
    </dgm:pt>
    <dgm:pt modelId="{19715F3E-37F8-42B3-BEF8-35ED65C4E741}" type="pres">
      <dgm:prSet presAssocID="{599DCDC1-FEA0-482B-A82D-D934AF1C2E10}" presName="vert1" presStyleCnt="0"/>
      <dgm:spPr/>
    </dgm:pt>
    <dgm:pt modelId="{A3A295DB-008E-4C4F-9D8A-BD87B020E5E3}" type="pres">
      <dgm:prSet presAssocID="{2E0033E5-42D0-44FF-86B0-1E558A300C68}" presName="thickLine" presStyleLbl="alignNode1" presStyleIdx="4" presStyleCnt="6"/>
      <dgm:spPr/>
    </dgm:pt>
    <dgm:pt modelId="{B3970405-39C8-4035-964E-9F9B9AE93AC4}" type="pres">
      <dgm:prSet presAssocID="{2E0033E5-42D0-44FF-86B0-1E558A300C68}" presName="horz1" presStyleCnt="0"/>
      <dgm:spPr/>
    </dgm:pt>
    <dgm:pt modelId="{7801031A-9084-4B9D-8D55-0BC0C991E50E}" type="pres">
      <dgm:prSet presAssocID="{2E0033E5-42D0-44FF-86B0-1E558A300C68}" presName="tx1" presStyleLbl="revTx" presStyleIdx="4" presStyleCnt="6"/>
      <dgm:spPr/>
    </dgm:pt>
    <dgm:pt modelId="{09B31966-2A92-4029-A848-BB425AB7A674}" type="pres">
      <dgm:prSet presAssocID="{2E0033E5-42D0-44FF-86B0-1E558A300C68}" presName="vert1" presStyleCnt="0"/>
      <dgm:spPr/>
    </dgm:pt>
    <dgm:pt modelId="{841E298E-CFFF-4EE1-97F8-AE53B1F07A0C}" type="pres">
      <dgm:prSet presAssocID="{67B53D1A-9755-4A47-918A-139FC6A7D1E0}" presName="thickLine" presStyleLbl="alignNode1" presStyleIdx="5" presStyleCnt="6"/>
      <dgm:spPr/>
    </dgm:pt>
    <dgm:pt modelId="{607B19F8-763C-40D6-8D22-57642CBF6E89}" type="pres">
      <dgm:prSet presAssocID="{67B53D1A-9755-4A47-918A-139FC6A7D1E0}" presName="horz1" presStyleCnt="0"/>
      <dgm:spPr/>
    </dgm:pt>
    <dgm:pt modelId="{4BA085C8-BEFA-48D1-A140-D2F47316876D}" type="pres">
      <dgm:prSet presAssocID="{67B53D1A-9755-4A47-918A-139FC6A7D1E0}" presName="tx1" presStyleLbl="revTx" presStyleIdx="5" presStyleCnt="6"/>
      <dgm:spPr/>
    </dgm:pt>
    <dgm:pt modelId="{F3BFE6DD-69A1-4ED8-8C10-ADC88E345D70}" type="pres">
      <dgm:prSet presAssocID="{67B53D1A-9755-4A47-918A-139FC6A7D1E0}" presName="vert1" presStyleCnt="0"/>
      <dgm:spPr/>
    </dgm:pt>
  </dgm:ptLst>
  <dgm:cxnLst>
    <dgm:cxn modelId="{7121362B-7C5F-4A9D-995F-8DBF6903AD14}" srcId="{994F24FC-3144-40B3-B81F-00B6182408F6}" destId="{E6FCD0EA-133A-43A6-855B-B72EC1ECBCE4}" srcOrd="0" destOrd="0" parTransId="{5A161AA6-5ECD-417A-82B7-34389E753A94}" sibTransId="{972FDB72-F1CC-4112-A9B0-6949E2474C96}"/>
    <dgm:cxn modelId="{0C50F361-A41B-444A-ACB1-EC05CEA0C445}" type="presOf" srcId="{E6FCD0EA-133A-43A6-855B-B72EC1ECBCE4}" destId="{37AA9705-6D81-4081-87B9-89540CA7EE4A}" srcOrd="0" destOrd="0" presId="urn:microsoft.com/office/officeart/2008/layout/LinedList"/>
    <dgm:cxn modelId="{364B1049-6A91-4009-95C6-00D16AFA56AE}" type="presOf" srcId="{994F24FC-3144-40B3-B81F-00B6182408F6}" destId="{E1AB8F50-B906-41AB-9570-E250DA87A26D}" srcOrd="0" destOrd="0" presId="urn:microsoft.com/office/officeart/2008/layout/LinedList"/>
    <dgm:cxn modelId="{E72E8A6A-4118-4650-9B50-0DEFC0B10C82}" type="presOf" srcId="{67B53D1A-9755-4A47-918A-139FC6A7D1E0}" destId="{4BA085C8-BEFA-48D1-A140-D2F47316876D}" srcOrd="0" destOrd="0" presId="urn:microsoft.com/office/officeart/2008/layout/LinedList"/>
    <dgm:cxn modelId="{63430A6C-D725-4BF6-8149-66D7C6F1D0A8}" srcId="{994F24FC-3144-40B3-B81F-00B6182408F6}" destId="{67B53D1A-9755-4A47-918A-139FC6A7D1E0}" srcOrd="5" destOrd="0" parTransId="{AF3D7582-EE27-4331-A5EE-E84B5E65388F}" sibTransId="{529B0DA9-12F8-4A50-A677-E0A39E9B39F6}"/>
    <dgm:cxn modelId="{4A9C806F-AF7C-44C1-9578-45B19FC57889}" srcId="{994F24FC-3144-40B3-B81F-00B6182408F6}" destId="{60F0C4EF-B88B-41BA-A8E8-3B8F05382BF5}" srcOrd="2" destOrd="0" parTransId="{83D465DE-BCD0-46C4-BCCD-BF3333ED5601}" sibTransId="{B33E6490-C12B-4BE4-A10C-2C8BA7A3ADF1}"/>
    <dgm:cxn modelId="{50C15459-CED9-49A2-B116-153DCC332EFE}" srcId="{994F24FC-3144-40B3-B81F-00B6182408F6}" destId="{599DCDC1-FEA0-482B-A82D-D934AF1C2E10}" srcOrd="3" destOrd="0" parTransId="{70DC9026-D3A7-408F-9DF4-1D74F47A9F42}" sibTransId="{391A6456-D5EF-444B-86B7-58D96D6FF93B}"/>
    <dgm:cxn modelId="{66667883-C045-4708-B9B5-69D61C463643}" srcId="{994F24FC-3144-40B3-B81F-00B6182408F6}" destId="{2CEC5821-0269-42A2-B3AC-7924A42E3646}" srcOrd="1" destOrd="0" parTransId="{E1FE5AD9-F2F0-4F64-A40D-D9242EFB0F05}" sibTransId="{59ED4E3F-19BE-4D3E-9D16-5AF2E9740DAB}"/>
    <dgm:cxn modelId="{383F7287-28CA-4133-95D1-46FCFA4331F1}" srcId="{994F24FC-3144-40B3-B81F-00B6182408F6}" destId="{2E0033E5-42D0-44FF-86B0-1E558A300C68}" srcOrd="4" destOrd="0" parTransId="{4C4C992E-EA0A-4D1B-B9E0-6B8477DF11A0}" sibTransId="{E61602C7-068C-4AE9-8144-783115DB8204}"/>
    <dgm:cxn modelId="{EFA8A98B-1053-47DE-9659-48717A08C7D2}" type="presOf" srcId="{2E0033E5-42D0-44FF-86B0-1E558A300C68}" destId="{7801031A-9084-4B9D-8D55-0BC0C991E50E}" srcOrd="0" destOrd="0" presId="urn:microsoft.com/office/officeart/2008/layout/LinedList"/>
    <dgm:cxn modelId="{8EC0299E-1CA0-4933-85C5-C5F2201C1646}" type="presOf" srcId="{599DCDC1-FEA0-482B-A82D-D934AF1C2E10}" destId="{A9F58B3D-2D2B-42F6-97F5-E4207E36C68D}" srcOrd="0" destOrd="0" presId="urn:microsoft.com/office/officeart/2008/layout/LinedList"/>
    <dgm:cxn modelId="{6FF777E6-D139-4B50-9BCB-3297113BC275}" type="presOf" srcId="{60F0C4EF-B88B-41BA-A8E8-3B8F05382BF5}" destId="{40FFB531-F345-4DE4-A1E8-0F3D1DEE8D1E}" srcOrd="0" destOrd="0" presId="urn:microsoft.com/office/officeart/2008/layout/LinedList"/>
    <dgm:cxn modelId="{E617DBF0-115E-4FEC-B64E-FE25A1448353}" type="presOf" srcId="{2CEC5821-0269-42A2-B3AC-7924A42E3646}" destId="{3B5361DD-962A-46CC-B452-F6E1BD44DD37}" srcOrd="0" destOrd="0" presId="urn:microsoft.com/office/officeart/2008/layout/LinedList"/>
    <dgm:cxn modelId="{34B16E3B-EC1C-4B8A-A1B6-E50EB05431C8}" type="presParOf" srcId="{E1AB8F50-B906-41AB-9570-E250DA87A26D}" destId="{7223C56A-2E1C-4F7B-A0AF-0176B3906F53}" srcOrd="0" destOrd="0" presId="urn:microsoft.com/office/officeart/2008/layout/LinedList"/>
    <dgm:cxn modelId="{EF5906AE-14A4-4BEC-8A7A-86449083EFA6}" type="presParOf" srcId="{E1AB8F50-B906-41AB-9570-E250DA87A26D}" destId="{12C9E290-E62D-4508-B3EF-4C54CF009633}" srcOrd="1" destOrd="0" presId="urn:microsoft.com/office/officeart/2008/layout/LinedList"/>
    <dgm:cxn modelId="{A6E59D3D-DD1C-4015-BA9F-D50AD3BE833B}" type="presParOf" srcId="{12C9E290-E62D-4508-B3EF-4C54CF009633}" destId="{37AA9705-6D81-4081-87B9-89540CA7EE4A}" srcOrd="0" destOrd="0" presId="urn:microsoft.com/office/officeart/2008/layout/LinedList"/>
    <dgm:cxn modelId="{9D182EC0-E26F-4566-8F3C-5E280D870323}" type="presParOf" srcId="{12C9E290-E62D-4508-B3EF-4C54CF009633}" destId="{E94091FD-ECEA-444B-AF9B-03D2FE204D06}" srcOrd="1" destOrd="0" presId="urn:microsoft.com/office/officeart/2008/layout/LinedList"/>
    <dgm:cxn modelId="{5722D9EB-12DD-4531-92D5-8D816C1DAA1F}" type="presParOf" srcId="{E1AB8F50-B906-41AB-9570-E250DA87A26D}" destId="{2BB0E26A-EB03-4B8F-8CCF-920E6E9E5833}" srcOrd="2" destOrd="0" presId="urn:microsoft.com/office/officeart/2008/layout/LinedList"/>
    <dgm:cxn modelId="{500D893D-9399-4694-867F-4078CE4CA90F}" type="presParOf" srcId="{E1AB8F50-B906-41AB-9570-E250DA87A26D}" destId="{10078C9C-AD81-466B-89E9-DE99458446FB}" srcOrd="3" destOrd="0" presId="urn:microsoft.com/office/officeart/2008/layout/LinedList"/>
    <dgm:cxn modelId="{F3508DE7-FCFC-4FA7-B3B6-9E1E38782F99}" type="presParOf" srcId="{10078C9C-AD81-466B-89E9-DE99458446FB}" destId="{3B5361DD-962A-46CC-B452-F6E1BD44DD37}" srcOrd="0" destOrd="0" presId="urn:microsoft.com/office/officeart/2008/layout/LinedList"/>
    <dgm:cxn modelId="{BCF10527-3A29-4EF4-8579-FA1F49F0840C}" type="presParOf" srcId="{10078C9C-AD81-466B-89E9-DE99458446FB}" destId="{77FCDE3B-84AA-4993-AD20-3F7650922E27}" srcOrd="1" destOrd="0" presId="urn:microsoft.com/office/officeart/2008/layout/LinedList"/>
    <dgm:cxn modelId="{071F1510-3FD8-4B8C-B0C2-43EC4CBC4ACD}" type="presParOf" srcId="{E1AB8F50-B906-41AB-9570-E250DA87A26D}" destId="{8A19F7F3-D825-47A9-A329-97D681A62B58}" srcOrd="4" destOrd="0" presId="urn:microsoft.com/office/officeart/2008/layout/LinedList"/>
    <dgm:cxn modelId="{F7600807-8826-41C1-9159-91935C4E6B56}" type="presParOf" srcId="{E1AB8F50-B906-41AB-9570-E250DA87A26D}" destId="{52A7FB3B-8A9F-4101-8715-5287B119E24F}" srcOrd="5" destOrd="0" presId="urn:microsoft.com/office/officeart/2008/layout/LinedList"/>
    <dgm:cxn modelId="{EBBA4B60-DA7E-4B62-A158-E79C65FE3E95}" type="presParOf" srcId="{52A7FB3B-8A9F-4101-8715-5287B119E24F}" destId="{40FFB531-F345-4DE4-A1E8-0F3D1DEE8D1E}" srcOrd="0" destOrd="0" presId="urn:microsoft.com/office/officeart/2008/layout/LinedList"/>
    <dgm:cxn modelId="{F515780A-DA37-42D6-9CCE-EABAE3C82B09}" type="presParOf" srcId="{52A7FB3B-8A9F-4101-8715-5287B119E24F}" destId="{B7CD1BF8-B7E8-4904-956D-C14CAE091A73}" srcOrd="1" destOrd="0" presId="urn:microsoft.com/office/officeart/2008/layout/LinedList"/>
    <dgm:cxn modelId="{26DDCEA9-4846-40DF-BF61-0A55D944F80D}" type="presParOf" srcId="{E1AB8F50-B906-41AB-9570-E250DA87A26D}" destId="{6BF8E760-8A1E-4C31-9F11-BF7D76AA7274}" srcOrd="6" destOrd="0" presId="urn:microsoft.com/office/officeart/2008/layout/LinedList"/>
    <dgm:cxn modelId="{116DBF6B-9AD9-4260-8C0C-3D885ADDD417}" type="presParOf" srcId="{E1AB8F50-B906-41AB-9570-E250DA87A26D}" destId="{5369C554-4B07-4AA0-A357-FA04F4D55819}" srcOrd="7" destOrd="0" presId="urn:microsoft.com/office/officeart/2008/layout/LinedList"/>
    <dgm:cxn modelId="{2491B29F-4A2A-4415-B529-36B2C9C8D95F}" type="presParOf" srcId="{5369C554-4B07-4AA0-A357-FA04F4D55819}" destId="{A9F58B3D-2D2B-42F6-97F5-E4207E36C68D}" srcOrd="0" destOrd="0" presId="urn:microsoft.com/office/officeart/2008/layout/LinedList"/>
    <dgm:cxn modelId="{4B852EE7-D765-4675-8C26-1DE1B58B0C07}" type="presParOf" srcId="{5369C554-4B07-4AA0-A357-FA04F4D55819}" destId="{19715F3E-37F8-42B3-BEF8-35ED65C4E741}" srcOrd="1" destOrd="0" presId="urn:microsoft.com/office/officeart/2008/layout/LinedList"/>
    <dgm:cxn modelId="{841ECD3C-1482-45C3-8CEB-282DAD6EBCEF}" type="presParOf" srcId="{E1AB8F50-B906-41AB-9570-E250DA87A26D}" destId="{A3A295DB-008E-4C4F-9D8A-BD87B020E5E3}" srcOrd="8" destOrd="0" presId="urn:microsoft.com/office/officeart/2008/layout/LinedList"/>
    <dgm:cxn modelId="{FB65EBB7-C148-4F0C-9770-B0D4C4FD94F5}" type="presParOf" srcId="{E1AB8F50-B906-41AB-9570-E250DA87A26D}" destId="{B3970405-39C8-4035-964E-9F9B9AE93AC4}" srcOrd="9" destOrd="0" presId="urn:microsoft.com/office/officeart/2008/layout/LinedList"/>
    <dgm:cxn modelId="{D85740DB-5B1A-4436-9502-C213EF725393}" type="presParOf" srcId="{B3970405-39C8-4035-964E-9F9B9AE93AC4}" destId="{7801031A-9084-4B9D-8D55-0BC0C991E50E}" srcOrd="0" destOrd="0" presId="urn:microsoft.com/office/officeart/2008/layout/LinedList"/>
    <dgm:cxn modelId="{A4029123-D661-43A5-BD4D-11605EEDBA0E}" type="presParOf" srcId="{B3970405-39C8-4035-964E-9F9B9AE93AC4}" destId="{09B31966-2A92-4029-A848-BB425AB7A674}" srcOrd="1" destOrd="0" presId="urn:microsoft.com/office/officeart/2008/layout/LinedList"/>
    <dgm:cxn modelId="{1FB17C68-5D5D-487B-AE63-CCD801216260}" type="presParOf" srcId="{E1AB8F50-B906-41AB-9570-E250DA87A26D}" destId="{841E298E-CFFF-4EE1-97F8-AE53B1F07A0C}" srcOrd="10" destOrd="0" presId="urn:microsoft.com/office/officeart/2008/layout/LinedList"/>
    <dgm:cxn modelId="{9709A16B-0E98-4535-9134-F25C557643FB}" type="presParOf" srcId="{E1AB8F50-B906-41AB-9570-E250DA87A26D}" destId="{607B19F8-763C-40D6-8D22-57642CBF6E89}" srcOrd="11" destOrd="0" presId="urn:microsoft.com/office/officeart/2008/layout/LinedList"/>
    <dgm:cxn modelId="{1E038C3E-31C5-416F-BA7E-8E94D7718B61}" type="presParOf" srcId="{607B19F8-763C-40D6-8D22-57642CBF6E89}" destId="{4BA085C8-BEFA-48D1-A140-D2F47316876D}" srcOrd="0" destOrd="0" presId="urn:microsoft.com/office/officeart/2008/layout/LinedList"/>
    <dgm:cxn modelId="{0DFE7589-57FB-4C98-BCB7-FAF682CEE893}" type="presParOf" srcId="{607B19F8-763C-40D6-8D22-57642CBF6E89}" destId="{F3BFE6DD-69A1-4ED8-8C10-ADC88E345D70}"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A16F5C8-381D-4F51-BF19-DA236A673B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B057AB2-6CE3-419C-BC55-A88998045CF2}">
      <dgm:prSet custT="1"/>
      <dgm:spPr/>
      <dgm:t>
        <a:bodyPr/>
        <a:lstStyle/>
        <a:p>
          <a:r>
            <a:rPr lang="uk-UA" sz="2400" dirty="0"/>
            <a:t>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sz="2400" dirty="0" err="1"/>
            <a:t>трансформерних</a:t>
          </a:r>
          <a:r>
            <a:rPr lang="uk-UA" sz="2400" dirty="0"/>
            <a:t> моделей виявлення, алгоритмів оптичного потоку та </a:t>
          </a:r>
          <a:r>
            <a:rPr lang="uk-UA" sz="2400" dirty="0" err="1"/>
            <a:t>нейромережевого</a:t>
          </a:r>
          <a:r>
            <a:rPr lang="uk-UA" sz="2400" dirty="0"/>
            <a:t> оцінювання глибини;</a:t>
          </a:r>
          <a:endParaRPr lang="en-US" sz="2400" dirty="0"/>
        </a:p>
      </dgm:t>
    </dgm:pt>
    <dgm:pt modelId="{D43838E2-2822-447D-8773-BF5BE12C8E3B}" type="parTrans" cxnId="{7F85A7DE-F0C6-46C3-BCC1-981C029EA768}">
      <dgm:prSet/>
      <dgm:spPr/>
      <dgm:t>
        <a:bodyPr/>
        <a:lstStyle/>
        <a:p>
          <a:endParaRPr lang="en-US"/>
        </a:p>
      </dgm:t>
    </dgm:pt>
    <dgm:pt modelId="{654B9D1C-B0C7-419C-9ABF-198A7621D9A8}" type="sibTrans" cxnId="{7F85A7DE-F0C6-46C3-BCC1-981C029EA768}">
      <dgm:prSet/>
      <dgm:spPr/>
      <dgm:t>
        <a:bodyPr/>
        <a:lstStyle/>
        <a:p>
          <a:endParaRPr lang="en-US"/>
        </a:p>
      </dgm:t>
    </dgm:pt>
    <dgm:pt modelId="{0637979E-BC32-4521-9EAC-CA3F4920EF68}">
      <dgm:prSet custT="1"/>
      <dgm:spPr/>
      <dgm:t>
        <a:bodyPr/>
        <a:lstStyle/>
        <a:p>
          <a:r>
            <a:rPr lang="uk-UA" sz="2400" dirty="0"/>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endParaRPr lang="en-US" sz="2400" dirty="0"/>
        </a:p>
      </dgm:t>
    </dgm:pt>
    <dgm:pt modelId="{B5C0CFCC-9CD0-4A1B-8309-510CB4F3A11C}" type="parTrans" cxnId="{01C3AB2F-E2A3-437F-B4C9-8BA2AB8DF16F}">
      <dgm:prSet/>
      <dgm:spPr/>
      <dgm:t>
        <a:bodyPr/>
        <a:lstStyle/>
        <a:p>
          <a:endParaRPr lang="en-US"/>
        </a:p>
      </dgm:t>
    </dgm:pt>
    <dgm:pt modelId="{F4327B8E-BBF3-4218-8F9B-93CEE7D91A2D}" type="sibTrans" cxnId="{01C3AB2F-E2A3-437F-B4C9-8BA2AB8DF16F}">
      <dgm:prSet/>
      <dgm:spPr/>
      <dgm:t>
        <a:bodyPr/>
        <a:lstStyle/>
        <a:p>
          <a:endParaRPr lang="en-US"/>
        </a:p>
      </dgm:t>
    </dgm:pt>
    <dgm:pt modelId="{20016CA0-1435-4B5A-8370-010E9F53C501}">
      <dgm:prSet custT="1"/>
      <dgm:spPr/>
      <dgm:t>
        <a:bodyPr/>
        <a:lstStyle/>
        <a:p>
          <a:r>
            <a:rPr lang="uk-UA" sz="2000" dirty="0"/>
            <a:t>розробити моделі та методи інтеграції </a:t>
          </a:r>
          <a:r>
            <a:rPr lang="uk-UA" sz="2000" dirty="0" err="1"/>
            <a:t>трансформерного</a:t>
          </a:r>
          <a:r>
            <a:rPr lang="uk-UA" sz="2000" dirty="0"/>
            <a:t> детектора об'єктів </a:t>
          </a:r>
          <a:r>
            <a:rPr lang="en-US" sz="2000" dirty="0"/>
            <a:t>DETR, </a:t>
          </a:r>
          <a:r>
            <a:rPr lang="uk-UA" sz="2000" dirty="0"/>
            <a:t>алгоритмів оптичного потоку (</a:t>
          </a:r>
          <a:r>
            <a:rPr lang="en-US" sz="2000" dirty="0" err="1"/>
            <a:t>Farneback</a:t>
          </a:r>
          <a:r>
            <a:rPr lang="en-US" sz="2000" dirty="0"/>
            <a:t>, Lucas–Kanade, Horn–Schunck, </a:t>
          </a:r>
          <a:r>
            <a:rPr lang="en-US" sz="2000" dirty="0" err="1"/>
            <a:t>FlowNet</a:t>
          </a:r>
          <a:r>
            <a:rPr lang="en-US" sz="2000" dirty="0"/>
            <a:t>, </a:t>
          </a:r>
          <a:r>
            <a:rPr lang="en-US" sz="2000" dirty="0" err="1"/>
            <a:t>GeoNet</a:t>
          </a:r>
          <a:r>
            <a:rPr lang="en-US" sz="2000" dirty="0"/>
            <a:t>) </a:t>
          </a:r>
          <a:r>
            <a:rPr lang="uk-UA" sz="2000" dirty="0"/>
            <a:t>та </a:t>
          </a:r>
          <a:r>
            <a:rPr lang="uk-UA" sz="2000" dirty="0" err="1"/>
            <a:t>нейромережевого</a:t>
          </a:r>
          <a:r>
            <a:rPr lang="uk-UA" sz="2000" dirty="0"/>
            <a:t> оцінювання глибини (</a:t>
          </a:r>
          <a:r>
            <a:rPr lang="en-US" sz="2000" dirty="0" err="1"/>
            <a:t>MiDaS</a:t>
          </a:r>
          <a:r>
            <a:rPr lang="en-US" sz="2000" dirty="0"/>
            <a:t>, </a:t>
          </a:r>
          <a:r>
            <a:rPr lang="en-US" sz="2000" dirty="0" err="1"/>
            <a:t>DPT_Large</a:t>
          </a:r>
          <a:r>
            <a:rPr lang="en-US" sz="2000" dirty="0"/>
            <a:t>, </a:t>
          </a:r>
          <a:r>
            <a:rPr lang="en-US" sz="2000" dirty="0" err="1"/>
            <a:t>GeoNet</a:t>
          </a:r>
          <a:r>
            <a:rPr lang="en-US" sz="2000" dirty="0"/>
            <a:t>), </a:t>
          </a:r>
          <a:r>
            <a:rPr lang="uk-UA" sz="2000" dirty="0"/>
            <a:t>включаючи метод адаптивного комбінування результатів з використанням ансамблевих підходів </a:t>
          </a:r>
          <a:r>
            <a:rPr lang="en-US" sz="2000" dirty="0"/>
            <a:t>Bagging </a:t>
          </a:r>
          <a:r>
            <a:rPr lang="uk-UA" sz="2000" dirty="0"/>
            <a:t>та </a:t>
          </a:r>
          <a:r>
            <a:rPr lang="en-US" sz="2000" dirty="0"/>
            <a:t>Boosting;</a:t>
          </a:r>
        </a:p>
      </dgm:t>
    </dgm:pt>
    <dgm:pt modelId="{D384EA4E-8EC5-495F-A0B9-4829B28EF55D}" type="parTrans" cxnId="{991F7DEB-0992-4070-877C-DAE1C6888416}">
      <dgm:prSet/>
      <dgm:spPr/>
      <dgm:t>
        <a:bodyPr/>
        <a:lstStyle/>
        <a:p>
          <a:endParaRPr lang="en-US"/>
        </a:p>
      </dgm:t>
    </dgm:pt>
    <dgm:pt modelId="{AB05C551-26EF-4718-BDB9-54D5D01F979E}" type="sibTrans" cxnId="{991F7DEB-0992-4070-877C-DAE1C6888416}">
      <dgm:prSet/>
      <dgm:spPr/>
      <dgm:t>
        <a:bodyPr/>
        <a:lstStyle/>
        <a:p>
          <a:endParaRPr lang="en-US"/>
        </a:p>
      </dgm:t>
    </dgm:pt>
    <dgm:pt modelId="{B763F8F3-B0E7-4023-9D0B-446BA149BF37}">
      <dgm:prSet custT="1"/>
      <dgm:spPr/>
      <dgm:t>
        <a:bodyPr/>
        <a:lstStyle/>
        <a:p>
          <a:r>
            <a:rPr lang="uk-UA" sz="2400"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sz="2400" dirty="0"/>
        </a:p>
      </dgm:t>
    </dgm:pt>
    <dgm:pt modelId="{3B5A3B5D-EF18-4EDE-B965-4429954F5F32}" type="parTrans" cxnId="{8280B900-3777-472A-BB91-402F5C18B3C9}">
      <dgm:prSet/>
      <dgm:spPr/>
      <dgm:t>
        <a:bodyPr/>
        <a:lstStyle/>
        <a:p>
          <a:endParaRPr lang="en-US"/>
        </a:p>
      </dgm:t>
    </dgm:pt>
    <dgm:pt modelId="{BD238226-DAA9-4516-8F66-672AEE71038D}" type="sibTrans" cxnId="{8280B900-3777-472A-BB91-402F5C18B3C9}">
      <dgm:prSet/>
      <dgm:spPr/>
      <dgm:t>
        <a:bodyPr/>
        <a:lstStyle/>
        <a:p>
          <a:endParaRPr lang="en-US"/>
        </a:p>
      </dgm:t>
    </dgm:pt>
    <dgm:pt modelId="{563909FB-3C88-45DA-A3B6-1FDFE4078232}" type="pres">
      <dgm:prSet presAssocID="{9A16F5C8-381D-4F51-BF19-DA236A673BA5}" presName="linear" presStyleCnt="0">
        <dgm:presLayoutVars>
          <dgm:animLvl val="lvl"/>
          <dgm:resizeHandles val="exact"/>
        </dgm:presLayoutVars>
      </dgm:prSet>
      <dgm:spPr/>
    </dgm:pt>
    <dgm:pt modelId="{692E2D70-9B97-4307-9102-5C98A07DD5B7}" type="pres">
      <dgm:prSet presAssocID="{DB057AB2-6CE3-419C-BC55-A88998045CF2}" presName="parentText" presStyleLbl="node1" presStyleIdx="0" presStyleCnt="4">
        <dgm:presLayoutVars>
          <dgm:chMax val="0"/>
          <dgm:bulletEnabled val="1"/>
        </dgm:presLayoutVars>
      </dgm:prSet>
      <dgm:spPr/>
    </dgm:pt>
    <dgm:pt modelId="{2733B3F6-CA3D-4E69-BFFD-04CA70976ED7}" type="pres">
      <dgm:prSet presAssocID="{654B9D1C-B0C7-419C-9ABF-198A7621D9A8}" presName="spacer" presStyleCnt="0"/>
      <dgm:spPr/>
    </dgm:pt>
    <dgm:pt modelId="{A769D06D-850B-4760-B624-D7B52A2852B7}" type="pres">
      <dgm:prSet presAssocID="{0637979E-BC32-4521-9EAC-CA3F4920EF68}" presName="parentText" presStyleLbl="node1" presStyleIdx="1" presStyleCnt="4">
        <dgm:presLayoutVars>
          <dgm:chMax val="0"/>
          <dgm:bulletEnabled val="1"/>
        </dgm:presLayoutVars>
      </dgm:prSet>
      <dgm:spPr/>
    </dgm:pt>
    <dgm:pt modelId="{6C6C2DBD-91DA-477E-BC94-D96519865071}" type="pres">
      <dgm:prSet presAssocID="{F4327B8E-BBF3-4218-8F9B-93CEE7D91A2D}" presName="spacer" presStyleCnt="0"/>
      <dgm:spPr/>
    </dgm:pt>
    <dgm:pt modelId="{285050AC-9EA1-47EE-B3C6-34F3D1BCB553}" type="pres">
      <dgm:prSet presAssocID="{20016CA0-1435-4B5A-8370-010E9F53C501}" presName="parentText" presStyleLbl="node1" presStyleIdx="2" presStyleCnt="4">
        <dgm:presLayoutVars>
          <dgm:chMax val="0"/>
          <dgm:bulletEnabled val="1"/>
        </dgm:presLayoutVars>
      </dgm:prSet>
      <dgm:spPr/>
    </dgm:pt>
    <dgm:pt modelId="{E63AD461-5E2C-49D1-BFDD-786A40E55134}" type="pres">
      <dgm:prSet presAssocID="{AB05C551-26EF-4718-BDB9-54D5D01F979E}" presName="spacer" presStyleCnt="0"/>
      <dgm:spPr/>
    </dgm:pt>
    <dgm:pt modelId="{CDD23F7A-6CCE-4B7E-9ADE-3F0C31AEEE1B}" type="pres">
      <dgm:prSet presAssocID="{B763F8F3-B0E7-4023-9D0B-446BA149BF37}" presName="parentText" presStyleLbl="node1" presStyleIdx="3" presStyleCnt="4">
        <dgm:presLayoutVars>
          <dgm:chMax val="0"/>
          <dgm:bulletEnabled val="1"/>
        </dgm:presLayoutVars>
      </dgm:prSet>
      <dgm:spPr/>
    </dgm:pt>
  </dgm:ptLst>
  <dgm:cxnLst>
    <dgm:cxn modelId="{8280B900-3777-472A-BB91-402F5C18B3C9}" srcId="{9A16F5C8-381D-4F51-BF19-DA236A673BA5}" destId="{B763F8F3-B0E7-4023-9D0B-446BA149BF37}" srcOrd="3" destOrd="0" parTransId="{3B5A3B5D-EF18-4EDE-B965-4429954F5F32}" sibTransId="{BD238226-DAA9-4516-8F66-672AEE71038D}"/>
    <dgm:cxn modelId="{015D342D-E7C5-47F0-85B1-D6DE84E0DD27}" type="presOf" srcId="{9A16F5C8-381D-4F51-BF19-DA236A673BA5}" destId="{563909FB-3C88-45DA-A3B6-1FDFE4078232}" srcOrd="0" destOrd="0" presId="urn:microsoft.com/office/officeart/2005/8/layout/vList2"/>
    <dgm:cxn modelId="{01C3AB2F-E2A3-437F-B4C9-8BA2AB8DF16F}" srcId="{9A16F5C8-381D-4F51-BF19-DA236A673BA5}" destId="{0637979E-BC32-4521-9EAC-CA3F4920EF68}" srcOrd="1" destOrd="0" parTransId="{B5C0CFCC-9CD0-4A1B-8309-510CB4F3A11C}" sibTransId="{F4327B8E-BBF3-4218-8F9B-93CEE7D91A2D}"/>
    <dgm:cxn modelId="{9CC4F65E-52A3-436F-A37F-ACD0F58F0449}" type="presOf" srcId="{0637979E-BC32-4521-9EAC-CA3F4920EF68}" destId="{A769D06D-850B-4760-B624-D7B52A2852B7}" srcOrd="0" destOrd="0" presId="urn:microsoft.com/office/officeart/2005/8/layout/vList2"/>
    <dgm:cxn modelId="{DA481B50-88A0-414D-B25F-2462D84FF428}" type="presOf" srcId="{20016CA0-1435-4B5A-8370-010E9F53C501}" destId="{285050AC-9EA1-47EE-B3C6-34F3D1BCB553}" srcOrd="0" destOrd="0" presId="urn:microsoft.com/office/officeart/2005/8/layout/vList2"/>
    <dgm:cxn modelId="{BA930291-609E-4576-B005-A78BAC43D419}" type="presOf" srcId="{B763F8F3-B0E7-4023-9D0B-446BA149BF37}" destId="{CDD23F7A-6CCE-4B7E-9ADE-3F0C31AEEE1B}" srcOrd="0" destOrd="0" presId="urn:microsoft.com/office/officeart/2005/8/layout/vList2"/>
    <dgm:cxn modelId="{2D28D9BF-A789-4423-B305-755547C2400E}" type="presOf" srcId="{DB057AB2-6CE3-419C-BC55-A88998045CF2}" destId="{692E2D70-9B97-4307-9102-5C98A07DD5B7}" srcOrd="0" destOrd="0" presId="urn:microsoft.com/office/officeart/2005/8/layout/vList2"/>
    <dgm:cxn modelId="{7F85A7DE-F0C6-46C3-BCC1-981C029EA768}" srcId="{9A16F5C8-381D-4F51-BF19-DA236A673BA5}" destId="{DB057AB2-6CE3-419C-BC55-A88998045CF2}" srcOrd="0" destOrd="0" parTransId="{D43838E2-2822-447D-8773-BF5BE12C8E3B}" sibTransId="{654B9D1C-B0C7-419C-9ABF-198A7621D9A8}"/>
    <dgm:cxn modelId="{991F7DEB-0992-4070-877C-DAE1C6888416}" srcId="{9A16F5C8-381D-4F51-BF19-DA236A673BA5}" destId="{20016CA0-1435-4B5A-8370-010E9F53C501}" srcOrd="2" destOrd="0" parTransId="{D384EA4E-8EC5-495F-A0B9-4829B28EF55D}" sibTransId="{AB05C551-26EF-4718-BDB9-54D5D01F979E}"/>
    <dgm:cxn modelId="{EB48E570-9897-496F-9FFA-5552E0D2D1E7}" type="presParOf" srcId="{563909FB-3C88-45DA-A3B6-1FDFE4078232}" destId="{692E2D70-9B97-4307-9102-5C98A07DD5B7}" srcOrd="0" destOrd="0" presId="urn:microsoft.com/office/officeart/2005/8/layout/vList2"/>
    <dgm:cxn modelId="{EDBB68F2-02DE-45D6-A06D-EFB2271585B5}" type="presParOf" srcId="{563909FB-3C88-45DA-A3B6-1FDFE4078232}" destId="{2733B3F6-CA3D-4E69-BFFD-04CA70976ED7}" srcOrd="1" destOrd="0" presId="urn:microsoft.com/office/officeart/2005/8/layout/vList2"/>
    <dgm:cxn modelId="{E81E6B13-98D4-44DF-A947-FF74E3CDC9BA}" type="presParOf" srcId="{563909FB-3C88-45DA-A3B6-1FDFE4078232}" destId="{A769D06D-850B-4760-B624-D7B52A2852B7}" srcOrd="2" destOrd="0" presId="urn:microsoft.com/office/officeart/2005/8/layout/vList2"/>
    <dgm:cxn modelId="{E105F499-1DD3-4CD5-A607-B4217FE23D61}" type="presParOf" srcId="{563909FB-3C88-45DA-A3B6-1FDFE4078232}" destId="{6C6C2DBD-91DA-477E-BC94-D96519865071}" srcOrd="3" destOrd="0" presId="urn:microsoft.com/office/officeart/2005/8/layout/vList2"/>
    <dgm:cxn modelId="{7ABAA247-83BA-447E-8F27-3A308292357B}" type="presParOf" srcId="{563909FB-3C88-45DA-A3B6-1FDFE4078232}" destId="{285050AC-9EA1-47EE-B3C6-34F3D1BCB553}" srcOrd="4" destOrd="0" presId="urn:microsoft.com/office/officeart/2005/8/layout/vList2"/>
    <dgm:cxn modelId="{A332F687-27B0-4470-AA1E-3084D9A871AC}" type="presParOf" srcId="{563909FB-3C88-45DA-A3B6-1FDFE4078232}" destId="{E63AD461-5E2C-49D1-BFDD-786A40E55134}" srcOrd="5" destOrd="0" presId="urn:microsoft.com/office/officeart/2005/8/layout/vList2"/>
    <dgm:cxn modelId="{FE85DB10-CAAA-4774-B73F-839421EA01E4}" type="presParOf" srcId="{563909FB-3C88-45DA-A3B6-1FDFE4078232}" destId="{CDD23F7A-6CCE-4B7E-9ADE-3F0C31AEEE1B}"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01EC39-82B4-4374-AEC3-FB4CC2082F7F}">
      <dsp:nvSpPr>
        <dsp:cNvPr id="0" name=""/>
        <dsp:cNvSpPr/>
      </dsp:nvSpPr>
      <dsp:spPr>
        <a:xfrm>
          <a:off x="0" y="2927"/>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B2A9F7-7780-4ECD-BA53-571FBE5C1C60}">
      <dsp:nvSpPr>
        <dsp:cNvPr id="0" name=""/>
        <dsp:cNvSpPr/>
      </dsp:nvSpPr>
      <dsp:spPr>
        <a:xfrm>
          <a:off x="0" y="2927"/>
          <a:ext cx="12188951" cy="1996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Підвищення </a:t>
          </a:r>
          <a:r>
            <a:rPr lang="en-US" sz="3700" kern="1200" dirty="0" err="1"/>
            <a:t>точності</a:t>
          </a:r>
          <a:r>
            <a:rPr lang="en-US" sz="3700" kern="1200" dirty="0"/>
            <a:t>, </a:t>
          </a:r>
          <a:r>
            <a:rPr lang="en-US" sz="3700" kern="1200" dirty="0" err="1"/>
            <a:t>надійності</a:t>
          </a:r>
          <a:r>
            <a:rPr lang="en-US" sz="3700" kern="1200" dirty="0"/>
            <a:t> </a:t>
          </a:r>
          <a:r>
            <a:rPr lang="en-US" sz="3700" kern="1200" dirty="0" err="1"/>
            <a:t>та</a:t>
          </a:r>
          <a:r>
            <a:rPr lang="en-US" sz="3700" kern="1200" dirty="0"/>
            <a:t> </a:t>
          </a:r>
          <a:r>
            <a:rPr lang="en-US" sz="3700" kern="1200" dirty="0" err="1"/>
            <a:t>адаптивності</a:t>
          </a:r>
          <a:r>
            <a:rPr lang="en-US" sz="3700" kern="1200" dirty="0"/>
            <a:t> </a:t>
          </a:r>
          <a:r>
            <a:rPr lang="en-US" sz="3700" kern="1200" dirty="0" err="1"/>
            <a:t>дистанційної</a:t>
          </a:r>
          <a:r>
            <a:rPr lang="en-US" sz="3700" kern="1200" dirty="0"/>
            <a:t> </a:t>
          </a:r>
          <a:r>
            <a:rPr lang="en-US" sz="3700" kern="1200" dirty="0" err="1"/>
            <a:t>ідентифікації</a:t>
          </a:r>
          <a:r>
            <a:rPr lang="en-US" sz="3700" kern="1200" dirty="0"/>
            <a:t> </a:t>
          </a:r>
          <a:r>
            <a:rPr lang="en-US" sz="3700" kern="1200" dirty="0" err="1"/>
            <a:t>параметрів</a:t>
          </a:r>
          <a:r>
            <a:rPr lang="en-US" sz="3700" kern="1200" dirty="0"/>
            <a:t> </a:t>
          </a:r>
          <a:r>
            <a:rPr lang="en-US" sz="3700" kern="1200" dirty="0" err="1"/>
            <a:t>динамічних</a:t>
          </a:r>
          <a:r>
            <a:rPr lang="en-US" sz="3700" kern="1200" dirty="0"/>
            <a:t> </a:t>
          </a:r>
          <a:r>
            <a:rPr lang="en-US" sz="3700" kern="1200" dirty="0" err="1"/>
            <a:t>об'єктів</a:t>
          </a:r>
          <a:r>
            <a:rPr lang="en-US" sz="3700" kern="1200" dirty="0"/>
            <a:t> (ДІПДО)</a:t>
          </a:r>
        </a:p>
      </dsp:txBody>
      <dsp:txXfrm>
        <a:off x="0" y="2927"/>
        <a:ext cx="12188951" cy="1996515"/>
      </dsp:txXfrm>
    </dsp:sp>
    <dsp:sp modelId="{273DB9DA-5210-495A-9114-01FD573BA43E}">
      <dsp:nvSpPr>
        <dsp:cNvPr id="0" name=""/>
        <dsp:cNvSpPr/>
      </dsp:nvSpPr>
      <dsp:spPr>
        <a:xfrm>
          <a:off x="0" y="1999443"/>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2891B6-7A59-4981-A918-48994BD8F287}">
      <dsp:nvSpPr>
        <dsp:cNvPr id="0" name=""/>
        <dsp:cNvSpPr/>
      </dsp:nvSpPr>
      <dsp:spPr>
        <a:xfrm>
          <a:off x="0" y="1999443"/>
          <a:ext cx="12188951" cy="1996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err="1"/>
            <a:t>Інтеграція</a:t>
          </a:r>
          <a:r>
            <a:rPr lang="en-US" sz="3400" kern="1200" dirty="0"/>
            <a:t> </a:t>
          </a:r>
          <a:r>
            <a:rPr lang="en-US" sz="3400" kern="1200" dirty="0" err="1"/>
            <a:t>трансформерних</a:t>
          </a:r>
          <a:r>
            <a:rPr lang="en-US" sz="3400" kern="1200" dirty="0"/>
            <a:t> </a:t>
          </a:r>
          <a:r>
            <a:rPr lang="en-US" sz="3400" kern="1200" dirty="0" err="1"/>
            <a:t>детекторів</a:t>
          </a:r>
          <a:r>
            <a:rPr lang="en-US" sz="3400" kern="1200" dirty="0"/>
            <a:t> (DETR), </a:t>
          </a:r>
          <a:r>
            <a:rPr lang="en-US" sz="3400" kern="1200" dirty="0" err="1"/>
            <a:t>методів</a:t>
          </a:r>
          <a:r>
            <a:rPr lang="en-US" sz="3400" kern="1200" dirty="0"/>
            <a:t> </a:t>
          </a:r>
          <a:r>
            <a:rPr lang="en-US" sz="3400" kern="1200" dirty="0" err="1"/>
            <a:t>оптичного</a:t>
          </a:r>
          <a:r>
            <a:rPr lang="en-US" sz="3400" kern="1200" dirty="0"/>
            <a:t> </a:t>
          </a:r>
          <a:r>
            <a:rPr lang="en-US" sz="3400" kern="1200" dirty="0" err="1"/>
            <a:t>потоку</a:t>
          </a:r>
          <a:r>
            <a:rPr lang="en-US" sz="3400" kern="1200" dirty="0"/>
            <a:t> (</a:t>
          </a:r>
          <a:r>
            <a:rPr lang="en-US" sz="3400" kern="1200" dirty="0" err="1"/>
            <a:t>Farneback</a:t>
          </a:r>
          <a:r>
            <a:rPr lang="en-US" sz="3400" kern="1200" dirty="0"/>
            <a:t>, Lucas-Kanade, Horn-Schunck, </a:t>
          </a:r>
          <a:r>
            <a:rPr lang="en-US" sz="3400" kern="1200" dirty="0" err="1"/>
            <a:t>FlowNet</a:t>
          </a:r>
          <a:r>
            <a:rPr lang="en-US" sz="3400" kern="1200" dirty="0"/>
            <a:t>, </a:t>
          </a:r>
          <a:r>
            <a:rPr lang="en-US" sz="3400" kern="1200" dirty="0" err="1"/>
            <a:t>GeoNet</a:t>
          </a:r>
          <a:r>
            <a:rPr lang="en-US" sz="3400" kern="1200" dirty="0"/>
            <a:t>), </a:t>
          </a:r>
          <a:r>
            <a:rPr lang="en-US" sz="3400" kern="1200" dirty="0" err="1"/>
            <a:t>оцінки</a:t>
          </a:r>
          <a:r>
            <a:rPr lang="en-US" sz="3400" kern="1200" dirty="0"/>
            <a:t> </a:t>
          </a:r>
          <a:r>
            <a:rPr lang="en-US" sz="3400" kern="1200" dirty="0" err="1"/>
            <a:t>глибини</a:t>
          </a:r>
          <a:r>
            <a:rPr lang="en-US" sz="3400" kern="1200" dirty="0"/>
            <a:t> (</a:t>
          </a:r>
          <a:r>
            <a:rPr lang="en-US" sz="3400" kern="1200" dirty="0" err="1"/>
            <a:t>MiDaS</a:t>
          </a:r>
          <a:r>
            <a:rPr lang="en-US" sz="3400" kern="1200" dirty="0"/>
            <a:t>, DPT, </a:t>
          </a:r>
          <a:r>
            <a:rPr lang="en-US" sz="3400" kern="1200" dirty="0" err="1"/>
            <a:t>GeoNet</a:t>
          </a:r>
          <a:r>
            <a:rPr lang="en-US" sz="3400" kern="1200" dirty="0"/>
            <a:t>) </a:t>
          </a:r>
          <a:r>
            <a:rPr lang="en-US" sz="3400" kern="1200" dirty="0" err="1"/>
            <a:t>та</a:t>
          </a:r>
          <a:r>
            <a:rPr lang="en-US" sz="3400" kern="1200" dirty="0"/>
            <a:t> </a:t>
          </a:r>
          <a:r>
            <a:rPr lang="en-US" sz="3400" kern="1200" dirty="0" err="1"/>
            <a:t>ансамблів</a:t>
          </a:r>
          <a:r>
            <a:rPr lang="en-US" sz="3400" kern="1200" dirty="0"/>
            <a:t> (Bagging, Boosting)</a:t>
          </a:r>
        </a:p>
      </dsp:txBody>
      <dsp:txXfrm>
        <a:off x="0" y="1999443"/>
        <a:ext cx="12188951" cy="1996515"/>
      </dsp:txXfrm>
    </dsp:sp>
    <dsp:sp modelId="{486F17D4-C955-4D52-96EA-217EED70D353}">
      <dsp:nvSpPr>
        <dsp:cNvPr id="0" name=""/>
        <dsp:cNvSpPr/>
      </dsp:nvSpPr>
      <dsp:spPr>
        <a:xfrm>
          <a:off x="0" y="3995958"/>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0D799D-F3B4-470F-9C57-15F5B15F05A4}">
      <dsp:nvSpPr>
        <dsp:cNvPr id="0" name=""/>
        <dsp:cNvSpPr/>
      </dsp:nvSpPr>
      <dsp:spPr>
        <a:xfrm>
          <a:off x="0" y="3995958"/>
          <a:ext cx="12188951" cy="1996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err="1"/>
            <a:t>Існуючі</a:t>
          </a:r>
          <a:r>
            <a:rPr lang="en-US" sz="4000" kern="1200" dirty="0"/>
            <a:t> </a:t>
          </a:r>
          <a:r>
            <a:rPr lang="en-US" sz="4000" kern="1200" dirty="0" err="1"/>
            <a:t>системи</a:t>
          </a:r>
          <a:r>
            <a:rPr lang="en-US" sz="4000" kern="1200" dirty="0"/>
            <a:t> </a:t>
          </a:r>
          <a:r>
            <a:rPr lang="en-US" sz="4000" kern="1200" dirty="0" err="1"/>
            <a:t>працюють</a:t>
          </a:r>
          <a:r>
            <a:rPr lang="en-US" sz="4000" kern="1200" dirty="0"/>
            <a:t> в </a:t>
          </a:r>
          <a:r>
            <a:rPr lang="en-US" sz="4000" kern="1200" dirty="0" err="1"/>
            <a:t>обмежених</a:t>
          </a:r>
          <a:r>
            <a:rPr lang="en-US" sz="4000" kern="1200" dirty="0"/>
            <a:t> </a:t>
          </a:r>
          <a:r>
            <a:rPr lang="en-US" sz="4000" kern="1200" dirty="0" err="1"/>
            <a:t>умовах</a:t>
          </a:r>
          <a:r>
            <a:rPr lang="en-US" sz="4000" kern="1200" dirty="0"/>
            <a:t> (</a:t>
          </a:r>
          <a:r>
            <a:rPr lang="en-US" sz="4000" kern="1200" dirty="0" err="1"/>
            <a:t>статична</a:t>
          </a:r>
          <a:r>
            <a:rPr lang="en-US" sz="4000" kern="1200" dirty="0"/>
            <a:t> </a:t>
          </a:r>
          <a:r>
            <a:rPr lang="en-US" sz="4000" kern="1200" dirty="0" err="1"/>
            <a:t>камера</a:t>
          </a:r>
          <a:r>
            <a:rPr lang="en-US" sz="4000" kern="1200" dirty="0"/>
            <a:t>, </a:t>
          </a:r>
          <a:r>
            <a:rPr lang="en-US" sz="4000" kern="1200" dirty="0" err="1"/>
            <a:t>фіксоване</a:t>
          </a:r>
          <a:r>
            <a:rPr lang="en-US" sz="4000" kern="1200" dirty="0"/>
            <a:t> </a:t>
          </a:r>
          <a:r>
            <a:rPr lang="en-US" sz="4000" kern="1200" dirty="0" err="1"/>
            <a:t>освітлення</a:t>
          </a:r>
          <a:r>
            <a:rPr lang="en-US" sz="4000" kern="1200" dirty="0"/>
            <a:t>) </a:t>
          </a:r>
          <a:r>
            <a:rPr lang="en-US" sz="4000" kern="1200" dirty="0" err="1"/>
            <a:t>або</a:t>
          </a:r>
          <a:r>
            <a:rPr lang="en-US" sz="4000" kern="1200" dirty="0"/>
            <a:t> </a:t>
          </a:r>
          <a:r>
            <a:rPr lang="en-US" sz="4000" kern="1200" dirty="0" err="1"/>
            <a:t>потребують</a:t>
          </a:r>
          <a:r>
            <a:rPr lang="en-US" sz="4000" kern="1200" dirty="0"/>
            <a:t> </a:t>
          </a:r>
          <a:r>
            <a:rPr lang="en-US" sz="4000" kern="1200" dirty="0" err="1"/>
            <a:t>значних</a:t>
          </a:r>
          <a:r>
            <a:rPr lang="en-US" sz="4000" kern="1200" dirty="0"/>
            <a:t> </a:t>
          </a:r>
          <a:r>
            <a:rPr lang="en-US" sz="4000" kern="1200" dirty="0" err="1"/>
            <a:t>обчислювальних</a:t>
          </a:r>
          <a:r>
            <a:rPr lang="en-US" sz="4000" kern="1200" dirty="0"/>
            <a:t> </a:t>
          </a:r>
          <a:r>
            <a:rPr lang="en-US" sz="4000" kern="1200" dirty="0" err="1"/>
            <a:t>ресурсів</a:t>
          </a:r>
          <a:endParaRPr lang="en-US" sz="4000" kern="1200" dirty="0"/>
        </a:p>
      </dsp:txBody>
      <dsp:txXfrm>
        <a:off x="0" y="3995958"/>
        <a:ext cx="12188951" cy="19965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E2D70-9B97-4307-9102-5C98A07DD5B7}">
      <dsp:nvSpPr>
        <dsp:cNvPr id="0" name=""/>
        <dsp:cNvSpPr/>
      </dsp:nvSpPr>
      <dsp:spPr>
        <a:xfrm>
          <a:off x="0" y="83165"/>
          <a:ext cx="12191980" cy="5171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uk-UA" sz="4400" kern="1200" dirty="0"/>
            <a:t>Виконати аналіз методів дистанційної ідентифікації параметрів динамічних об'єктів, визначити їх обмеження та сформулювати наукову задачу інтеграції </a:t>
          </a:r>
          <a:r>
            <a:rPr lang="uk-UA" sz="4400" kern="1200" dirty="0" err="1"/>
            <a:t>трансформерних</a:t>
          </a:r>
          <a:r>
            <a:rPr lang="uk-UA" sz="4400" kern="1200" dirty="0"/>
            <a:t> моделей виявлення, алгоритмів оптичного потоку та </a:t>
          </a:r>
          <a:r>
            <a:rPr lang="uk-UA" sz="4400" kern="1200" dirty="0" err="1"/>
            <a:t>нейромережевого</a:t>
          </a:r>
          <a:r>
            <a:rPr lang="uk-UA" sz="4400" kern="1200" dirty="0"/>
            <a:t> оцінювання глибини.</a:t>
          </a:r>
          <a:endParaRPr lang="en-US" sz="4400" kern="1200" dirty="0"/>
        </a:p>
      </dsp:txBody>
      <dsp:txXfrm>
        <a:off x="252447" y="335612"/>
        <a:ext cx="11687086" cy="46665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E2D70-9B97-4307-9102-5C98A07DD5B7}">
      <dsp:nvSpPr>
        <dsp:cNvPr id="0" name=""/>
        <dsp:cNvSpPr/>
      </dsp:nvSpPr>
      <dsp:spPr>
        <a:xfrm>
          <a:off x="0" y="2180"/>
          <a:ext cx="12191980" cy="533337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uk-UA" sz="4400" kern="1200" dirty="0"/>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endParaRPr lang="en-US" sz="4400" kern="1200" dirty="0"/>
        </a:p>
        <a:p>
          <a:pPr marL="0" lvl="0" indent="0" algn="l" defTabSz="1955800">
            <a:lnSpc>
              <a:spcPct val="90000"/>
            </a:lnSpc>
            <a:spcBef>
              <a:spcPct val="0"/>
            </a:spcBef>
            <a:spcAft>
              <a:spcPct val="35000"/>
            </a:spcAft>
            <a:buNone/>
          </a:pPr>
          <a:endParaRPr lang="en-US" sz="4400" kern="1200" dirty="0"/>
        </a:p>
      </dsp:txBody>
      <dsp:txXfrm>
        <a:off x="260354" y="262534"/>
        <a:ext cx="11671272" cy="48126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E2D70-9B97-4307-9102-5C98A07DD5B7}">
      <dsp:nvSpPr>
        <dsp:cNvPr id="0" name=""/>
        <dsp:cNvSpPr/>
      </dsp:nvSpPr>
      <dsp:spPr>
        <a:xfrm>
          <a:off x="0" y="2362"/>
          <a:ext cx="12191980" cy="533300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uk-UA" sz="4000" kern="1200" dirty="0"/>
            <a:t>Розробити моделі та методи інтеграції </a:t>
          </a:r>
          <a:r>
            <a:rPr lang="uk-UA" sz="4000" kern="1200" dirty="0" err="1"/>
            <a:t>трансформерного</a:t>
          </a:r>
          <a:r>
            <a:rPr lang="uk-UA" sz="4000" kern="1200" dirty="0"/>
            <a:t> детектора об'єктів </a:t>
          </a:r>
          <a:r>
            <a:rPr lang="en-US" sz="4000" kern="1200" dirty="0"/>
            <a:t>DETR, </a:t>
          </a:r>
          <a:r>
            <a:rPr lang="uk-UA" sz="4000" kern="1200" dirty="0"/>
            <a:t>алгоритмів оптичного потоку (</a:t>
          </a:r>
          <a:r>
            <a:rPr lang="en-US" sz="4000" kern="1200" dirty="0" err="1"/>
            <a:t>Farneback</a:t>
          </a:r>
          <a:r>
            <a:rPr lang="en-US" sz="4000" kern="1200" dirty="0"/>
            <a:t>, Lucas–Kanade, Horn–Schunck, </a:t>
          </a:r>
          <a:r>
            <a:rPr lang="en-US" sz="4000" kern="1200" dirty="0" err="1"/>
            <a:t>FlowNet</a:t>
          </a:r>
          <a:r>
            <a:rPr lang="en-US" sz="4000" kern="1200" dirty="0"/>
            <a:t>, </a:t>
          </a:r>
          <a:r>
            <a:rPr lang="en-US" sz="4000" kern="1200" dirty="0" err="1"/>
            <a:t>GeoNet</a:t>
          </a:r>
          <a:r>
            <a:rPr lang="en-US" sz="4000" kern="1200" dirty="0"/>
            <a:t>) </a:t>
          </a:r>
          <a:r>
            <a:rPr lang="uk-UA" sz="4000" kern="1200" dirty="0"/>
            <a:t>та </a:t>
          </a:r>
          <a:r>
            <a:rPr lang="uk-UA" sz="4000" kern="1200" dirty="0" err="1"/>
            <a:t>нейромережевого</a:t>
          </a:r>
          <a:r>
            <a:rPr lang="uk-UA" sz="4000" kern="1200" dirty="0"/>
            <a:t> оцінювання глибини (</a:t>
          </a:r>
          <a:r>
            <a:rPr lang="en-US" sz="4000" kern="1200" dirty="0" err="1"/>
            <a:t>MiDaS</a:t>
          </a:r>
          <a:r>
            <a:rPr lang="en-US" sz="4000" kern="1200" dirty="0"/>
            <a:t>, </a:t>
          </a:r>
          <a:r>
            <a:rPr lang="en-US" sz="4000" kern="1200" dirty="0" err="1"/>
            <a:t>DPT_Large</a:t>
          </a:r>
          <a:r>
            <a:rPr lang="en-US" sz="4000" kern="1200" dirty="0"/>
            <a:t>, </a:t>
          </a:r>
          <a:r>
            <a:rPr lang="en-US" sz="4000" kern="1200" dirty="0" err="1"/>
            <a:t>GeoNet</a:t>
          </a:r>
          <a:r>
            <a:rPr lang="en-US" sz="4000" kern="1200" dirty="0"/>
            <a:t>), </a:t>
          </a:r>
          <a:r>
            <a:rPr lang="uk-UA" sz="4000" kern="1200" dirty="0"/>
            <a:t>включаючи метод адаптивного комбінування результатів з використанням ансамблевих підходів </a:t>
          </a:r>
          <a:r>
            <a:rPr lang="en-US" sz="4000" kern="1200" dirty="0"/>
            <a:t>Bagging </a:t>
          </a:r>
          <a:r>
            <a:rPr lang="uk-UA" sz="4000" kern="1200" dirty="0"/>
            <a:t>та </a:t>
          </a:r>
          <a:r>
            <a:rPr lang="en-US" sz="4000" kern="1200" dirty="0"/>
            <a:t>Boosting</a:t>
          </a:r>
          <a:r>
            <a:rPr lang="uk-UA" sz="4000" kern="1200" dirty="0"/>
            <a:t>.</a:t>
          </a:r>
          <a:endParaRPr lang="en-US" sz="4000" kern="1200" dirty="0"/>
        </a:p>
        <a:p>
          <a:pPr marL="0" lvl="0" indent="0" algn="l" defTabSz="1778000">
            <a:lnSpc>
              <a:spcPct val="90000"/>
            </a:lnSpc>
            <a:spcBef>
              <a:spcPct val="0"/>
            </a:spcBef>
            <a:spcAft>
              <a:spcPct val="35000"/>
            </a:spcAft>
            <a:buNone/>
          </a:pPr>
          <a:endParaRPr lang="en-US" sz="4400" kern="1200" dirty="0"/>
        </a:p>
      </dsp:txBody>
      <dsp:txXfrm>
        <a:off x="260336" y="262698"/>
        <a:ext cx="11671308" cy="48123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E2D70-9B97-4307-9102-5C98A07DD5B7}">
      <dsp:nvSpPr>
        <dsp:cNvPr id="0" name=""/>
        <dsp:cNvSpPr/>
      </dsp:nvSpPr>
      <dsp:spPr>
        <a:xfrm>
          <a:off x="0" y="2362"/>
          <a:ext cx="12191980" cy="533300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uk-UA" sz="4400" kern="1200"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sz="4400" kern="1200" dirty="0"/>
        </a:p>
        <a:p>
          <a:pPr marL="0" lvl="0" indent="0" algn="l" defTabSz="1955800">
            <a:lnSpc>
              <a:spcPct val="90000"/>
            </a:lnSpc>
            <a:spcBef>
              <a:spcPct val="0"/>
            </a:spcBef>
            <a:spcAft>
              <a:spcPct val="35000"/>
            </a:spcAft>
            <a:buNone/>
          </a:pPr>
          <a:endParaRPr lang="en-US" sz="4400" kern="1200" dirty="0"/>
        </a:p>
      </dsp:txBody>
      <dsp:txXfrm>
        <a:off x="260336" y="262698"/>
        <a:ext cx="11671308" cy="48123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0D8E8-8FC3-42F8-AE36-5F878DDB0296}">
      <dsp:nvSpPr>
        <dsp:cNvPr id="0" name=""/>
        <dsp:cNvSpPr/>
      </dsp:nvSpPr>
      <dsp:spPr>
        <a:xfrm>
          <a:off x="0" y="137621"/>
          <a:ext cx="3809993" cy="228599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Найкраща </a:t>
          </a:r>
          <a:r>
            <a:rPr lang="en-US" sz="2900" kern="1200" dirty="0" err="1"/>
            <a:t>точність</a:t>
          </a:r>
          <a:r>
            <a:rPr lang="en-US" sz="2900" kern="1200" dirty="0"/>
            <a:t> </a:t>
          </a:r>
          <a:r>
            <a:rPr lang="en-US" sz="2900" kern="1200" dirty="0" err="1"/>
            <a:t>глибини</a:t>
          </a:r>
          <a:r>
            <a:rPr lang="en-US" sz="2900" kern="1200" dirty="0"/>
            <a:t>: Bagging (RMSE=0,713, PSNR=51,065 </a:t>
          </a:r>
          <a:r>
            <a:rPr lang="en-US" sz="2900" kern="1200" dirty="0" err="1"/>
            <a:t>дБ</a:t>
          </a:r>
          <a:r>
            <a:rPr lang="en-US" sz="2900" kern="1200" dirty="0"/>
            <a:t>, </a:t>
          </a:r>
          <a:r>
            <a:rPr lang="en-US" sz="2900" kern="1200" dirty="0" err="1"/>
            <a:t>IoU</a:t>
          </a:r>
          <a:r>
            <a:rPr lang="en-US" sz="2900" kern="1200" dirty="0"/>
            <a:t>=0,996)</a:t>
          </a:r>
        </a:p>
      </dsp:txBody>
      <dsp:txXfrm>
        <a:off x="0" y="137621"/>
        <a:ext cx="3809993" cy="2285996"/>
      </dsp:txXfrm>
    </dsp:sp>
    <dsp:sp modelId="{3CA71303-082A-40B2-8271-1A800373D62A}">
      <dsp:nvSpPr>
        <dsp:cNvPr id="0" name=""/>
        <dsp:cNvSpPr/>
      </dsp:nvSpPr>
      <dsp:spPr>
        <a:xfrm>
          <a:off x="4190993" y="137621"/>
          <a:ext cx="3809993" cy="228599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GeoNet та DPT_Large також високі, але Bagging перевершує за рахунок усереднення</a:t>
          </a:r>
        </a:p>
      </dsp:txBody>
      <dsp:txXfrm>
        <a:off x="4190993" y="137621"/>
        <a:ext cx="3809993" cy="2285996"/>
      </dsp:txXfrm>
    </dsp:sp>
    <dsp:sp modelId="{0DFE65B8-B841-497E-8AAC-A5EC30C98C8D}">
      <dsp:nvSpPr>
        <dsp:cNvPr id="0" name=""/>
        <dsp:cNvSpPr/>
      </dsp:nvSpPr>
      <dsp:spPr>
        <a:xfrm>
          <a:off x="8381986" y="137621"/>
          <a:ext cx="3809993" cy="228599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Щільні методи оптичного потоку (Farneback, FlowNet) дають узгоджені оцінки швидкості</a:t>
          </a:r>
        </a:p>
      </dsp:txBody>
      <dsp:txXfrm>
        <a:off x="8381986" y="137621"/>
        <a:ext cx="3809993" cy="2285996"/>
      </dsp:txXfrm>
    </dsp:sp>
    <dsp:sp modelId="{E6D38B83-0CF5-4F6E-BA29-268EA67F203B}">
      <dsp:nvSpPr>
        <dsp:cNvPr id="0" name=""/>
        <dsp:cNvSpPr/>
      </dsp:nvSpPr>
      <dsp:spPr>
        <a:xfrm>
          <a:off x="2095496" y="2804617"/>
          <a:ext cx="3809993" cy="228599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Lucas-Kanade </a:t>
          </a:r>
          <a:r>
            <a:rPr lang="en-US" sz="2900" kern="1200" dirty="0" err="1"/>
            <a:t>придатний</a:t>
          </a:r>
          <a:r>
            <a:rPr lang="en-US" sz="2900" kern="1200" dirty="0"/>
            <a:t> </a:t>
          </a:r>
          <a:r>
            <a:rPr lang="en-US" sz="2900" kern="1200" dirty="0" err="1"/>
            <a:t>лише</a:t>
          </a:r>
          <a:r>
            <a:rPr lang="en-US" sz="2900" kern="1200" dirty="0"/>
            <a:t> </a:t>
          </a:r>
          <a:r>
            <a:rPr lang="en-US" sz="2900" kern="1200" dirty="0" err="1"/>
            <a:t>для</a:t>
          </a:r>
          <a:r>
            <a:rPr lang="en-US" sz="2900" kern="1200" dirty="0"/>
            <a:t> </a:t>
          </a:r>
          <a:r>
            <a:rPr lang="en-US" sz="2900" kern="1200" dirty="0" err="1"/>
            <a:t>локального</a:t>
          </a:r>
          <a:r>
            <a:rPr lang="en-US" sz="2900" kern="1200" dirty="0"/>
            <a:t> </a:t>
          </a:r>
          <a:r>
            <a:rPr lang="en-US" sz="2900" kern="1200" dirty="0" err="1"/>
            <a:t>супроводу</a:t>
          </a:r>
          <a:r>
            <a:rPr lang="en-US" sz="2900" kern="1200" dirty="0"/>
            <a:t> </a:t>
          </a:r>
          <a:r>
            <a:rPr lang="en-US" sz="2900" kern="1200" dirty="0" err="1"/>
            <a:t>характерних</a:t>
          </a:r>
          <a:r>
            <a:rPr lang="en-US" sz="2900" kern="1200" dirty="0"/>
            <a:t> </a:t>
          </a:r>
          <a:r>
            <a:rPr lang="en-US" sz="2900" kern="1200" dirty="0" err="1"/>
            <a:t>точок</a:t>
          </a:r>
          <a:endParaRPr lang="en-US" sz="2900" kern="1200" dirty="0"/>
        </a:p>
      </dsp:txBody>
      <dsp:txXfrm>
        <a:off x="2095496" y="2804617"/>
        <a:ext cx="3809993" cy="2285996"/>
      </dsp:txXfrm>
    </dsp:sp>
    <dsp:sp modelId="{1D92E2AB-53B1-4799-8512-D04B6B4A8474}">
      <dsp:nvSpPr>
        <dsp:cNvPr id="0" name=""/>
        <dsp:cNvSpPr/>
      </dsp:nvSpPr>
      <dsp:spPr>
        <a:xfrm>
          <a:off x="6286489" y="2804617"/>
          <a:ext cx="3809993" cy="228599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Комбінація</a:t>
          </a:r>
          <a:r>
            <a:rPr lang="en-US" sz="2900" kern="1200" dirty="0"/>
            <a:t> DETR + </a:t>
          </a:r>
          <a:r>
            <a:rPr lang="en-US" sz="2900" kern="1200" dirty="0" err="1"/>
            <a:t>Farneback</a:t>
          </a:r>
          <a:r>
            <a:rPr lang="en-US" sz="2900" kern="1200" dirty="0"/>
            <a:t> + Bagging </a:t>
          </a:r>
          <a:r>
            <a:rPr lang="en-US" sz="2900" kern="1200" dirty="0" err="1"/>
            <a:t>рекомендується</a:t>
          </a:r>
          <a:r>
            <a:rPr lang="en-US" sz="2900" kern="1200" dirty="0"/>
            <a:t> </a:t>
          </a:r>
          <a:r>
            <a:rPr lang="en-US" sz="2900" kern="1200" dirty="0" err="1"/>
            <a:t>для</a:t>
          </a:r>
          <a:r>
            <a:rPr lang="en-US" sz="2900" kern="1200" dirty="0"/>
            <a:t> </a:t>
          </a:r>
          <a:r>
            <a:rPr lang="en-US" sz="2900" kern="1200" dirty="0" err="1"/>
            <a:t>реального</a:t>
          </a:r>
          <a:r>
            <a:rPr lang="en-US" sz="2900" kern="1200" dirty="0"/>
            <a:t> </a:t>
          </a:r>
          <a:r>
            <a:rPr lang="en-US" sz="2900" kern="1200" dirty="0" err="1"/>
            <a:t>часу</a:t>
          </a:r>
          <a:endParaRPr lang="en-US" sz="2900" kern="1200" dirty="0"/>
        </a:p>
      </dsp:txBody>
      <dsp:txXfrm>
        <a:off x="6286489" y="2804617"/>
        <a:ext cx="3809993" cy="22859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C56A-2E1C-4F7B-A0AF-0176B3906F53}">
      <dsp:nvSpPr>
        <dsp:cNvPr id="0" name=""/>
        <dsp:cNvSpPr/>
      </dsp:nvSpPr>
      <dsp:spPr>
        <a:xfrm>
          <a:off x="0" y="27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7AA9705-6D81-4081-87B9-89540CA7EE4A}">
      <dsp:nvSpPr>
        <dsp:cNvPr id="0" name=""/>
        <dsp:cNvSpPr/>
      </dsp:nvSpPr>
      <dsp:spPr>
        <a:xfrm>
          <a:off x="0" y="2720"/>
          <a:ext cx="12191960" cy="5565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n-US" sz="3600" kern="1200" dirty="0"/>
            <a:t>1) </a:t>
          </a:r>
          <a:r>
            <a:rPr lang="uk-UA" sz="3600" kern="1200" dirty="0"/>
            <a:t>вперше запропоновано метод дистанційної ідентифікації параметрів динамічних об'єктів, що ґрунтується на поєднанні </a:t>
          </a:r>
          <a:r>
            <a:rPr lang="uk-UA" sz="3600" kern="1200" dirty="0" err="1"/>
            <a:t>трансформерної</a:t>
          </a:r>
          <a:r>
            <a:rPr lang="uk-UA" sz="3600" kern="1200" dirty="0"/>
            <a:t> моделі виявлення об'єктів </a:t>
          </a:r>
          <a:r>
            <a:rPr lang="en-US" sz="3600" kern="1200" dirty="0" err="1"/>
            <a:t>DEtection</a:t>
          </a:r>
          <a:r>
            <a:rPr lang="en-US" sz="3600" kern="1200" dirty="0"/>
            <a:t> </a:t>
          </a:r>
          <a:r>
            <a:rPr lang="en-US" sz="3600" kern="1200" dirty="0" err="1"/>
            <a:t>TRansformer</a:t>
          </a:r>
          <a:r>
            <a:rPr lang="en-US" sz="3600" kern="1200" dirty="0"/>
            <a:t> (DETR) </a:t>
          </a:r>
          <a:r>
            <a:rPr lang="uk-UA" sz="3600" kern="12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3600" kern="1200" dirty="0" err="1"/>
            <a:t>постобробки</a:t>
          </a:r>
          <a:r>
            <a:rPr lang="uk-UA" sz="3600" kern="1200" dirty="0"/>
            <a:t>;</a:t>
          </a:r>
        </a:p>
      </dsp:txBody>
      <dsp:txXfrm>
        <a:off x="0" y="2720"/>
        <a:ext cx="12191960" cy="55656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B0E26A-EB03-4B8F-8CCF-920E6E9E5833}">
      <dsp:nvSpPr>
        <dsp:cNvPr id="0" name=""/>
        <dsp:cNvSpPr/>
      </dsp:nvSpPr>
      <dsp:spPr>
        <a:xfrm>
          <a:off x="0" y="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B5361DD-962A-46CC-B452-F6E1BD44DD37}">
      <dsp:nvSpPr>
        <dsp:cNvPr id="0" name=""/>
        <dsp:cNvSpPr/>
      </dsp:nvSpPr>
      <dsp:spPr>
        <a:xfrm>
          <a:off x="0" y="0"/>
          <a:ext cx="12191960" cy="607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n-US" sz="3600" kern="1200" dirty="0"/>
            <a:t>2) </a:t>
          </a:r>
          <a:r>
            <a:rPr lang="uk-UA" sz="3600" kern="1200" dirty="0"/>
            <a:t>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3600" kern="1200" dirty="0" err="1"/>
            <a:t>нейромережевих</a:t>
          </a:r>
          <a:r>
            <a:rPr lang="uk-UA" sz="3600" kern="1200" dirty="0"/>
            <a:t> </a:t>
          </a:r>
          <a:r>
            <a:rPr lang="uk-UA" sz="3600" kern="1200" dirty="0" err="1"/>
            <a:t>архітектур</a:t>
          </a:r>
          <a:r>
            <a:rPr lang="uk-UA" sz="3600" kern="1200" dirty="0"/>
            <a:t> </a:t>
          </a:r>
          <a:r>
            <a:rPr lang="en-US" sz="3600" kern="1200" dirty="0" err="1"/>
            <a:t>FlowNet</a:t>
          </a:r>
          <a:r>
            <a:rPr lang="en-US" sz="3600" kern="1200" dirty="0"/>
            <a:t> </a:t>
          </a:r>
          <a:r>
            <a:rPr lang="uk-UA" sz="3600" kern="1200" dirty="0"/>
            <a:t>та </a:t>
          </a:r>
          <a:r>
            <a:rPr lang="en-US" sz="3600" kern="1200" dirty="0" err="1"/>
            <a:t>GeoNet</a:t>
          </a:r>
          <a:r>
            <a:rPr lang="en-US" sz="3600" kern="1200" dirty="0"/>
            <a:t>, </a:t>
          </a:r>
          <a:r>
            <a:rPr lang="uk-UA" sz="3600" kern="12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sp:txBody>
      <dsp:txXfrm>
        <a:off x="0" y="0"/>
        <a:ext cx="12191960" cy="60726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9F7F3-D825-47A9-A329-97D681A62B58}">
      <dsp:nvSpPr>
        <dsp:cNvPr id="0" name=""/>
        <dsp:cNvSpPr/>
      </dsp:nvSpPr>
      <dsp:spPr>
        <a:xfrm>
          <a:off x="0" y="27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0FFB531-F345-4DE4-A1E8-0F3D1DEE8D1E}">
      <dsp:nvSpPr>
        <dsp:cNvPr id="0" name=""/>
        <dsp:cNvSpPr/>
      </dsp:nvSpPr>
      <dsp:spPr>
        <a:xfrm>
          <a:off x="0" y="2720"/>
          <a:ext cx="12191960" cy="5565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n-US" sz="3600" kern="1200" dirty="0"/>
            <a:t>3) </a:t>
          </a:r>
          <a:r>
            <a:rPr lang="uk-UA" sz="3600" kern="1200" dirty="0"/>
            <a:t>удосконалено метод оцінювання глибини сцени шляхом адаптивного комбінування </a:t>
          </a:r>
          <a:r>
            <a:rPr lang="uk-UA" sz="3600" kern="1200" dirty="0" err="1"/>
            <a:t>нейромережевих</a:t>
          </a:r>
          <a:r>
            <a:rPr lang="uk-UA" sz="3600" kern="1200" dirty="0"/>
            <a:t> моделей </a:t>
          </a:r>
          <a:r>
            <a:rPr lang="en-US" sz="3600" kern="1200" dirty="0" err="1"/>
            <a:t>MiDaS</a:t>
          </a:r>
          <a:r>
            <a:rPr lang="en-US" sz="3600" kern="1200" dirty="0"/>
            <a:t>, </a:t>
          </a:r>
          <a:r>
            <a:rPr lang="en-US" sz="3600" kern="1200" dirty="0" err="1"/>
            <a:t>DPT_Large</a:t>
          </a:r>
          <a:r>
            <a:rPr lang="en-US" sz="3600" kern="1200" dirty="0"/>
            <a:t> </a:t>
          </a:r>
          <a:r>
            <a:rPr lang="uk-UA" sz="3600" kern="1200" dirty="0"/>
            <a:t>та </a:t>
          </a:r>
          <a:r>
            <a:rPr lang="en-US" sz="3600" kern="1200" dirty="0" err="1"/>
            <a:t>GeoNet</a:t>
          </a:r>
          <a:r>
            <a:rPr lang="en-US" sz="3600" kern="1200" dirty="0"/>
            <a:t> </a:t>
          </a:r>
          <a:r>
            <a:rPr lang="uk-UA" sz="3600" kern="1200" dirty="0"/>
            <a:t>з ансамблевими підходами </a:t>
          </a:r>
          <a:r>
            <a:rPr lang="en-US" sz="3600" kern="1200" dirty="0"/>
            <a:t>Bagging </a:t>
          </a:r>
          <a:r>
            <a:rPr lang="uk-UA" sz="3600" kern="1200" dirty="0"/>
            <a:t>і </a:t>
          </a:r>
          <a:r>
            <a:rPr lang="en-US" sz="3600" kern="1200" dirty="0"/>
            <a:t>Boosting, </a:t>
          </a:r>
          <a:r>
            <a:rPr lang="uk-UA" sz="3600" kern="1200" dirty="0"/>
            <a:t>який, на відміну від використання окремих моделей, забезпечує підвищення точності та стійкості просторової локалізації динамічних об</a:t>
          </a:r>
          <a:r>
            <a:rPr lang="en-US" sz="3600" kern="1200" dirty="0"/>
            <a:t>`</a:t>
          </a:r>
          <a:r>
            <a:rPr lang="uk-UA" sz="3600" kern="1200" dirty="0" err="1"/>
            <a:t>єктів</a:t>
          </a:r>
          <a:r>
            <a:rPr lang="uk-UA" sz="3600" kern="1200" dirty="0"/>
            <a:t> на основі монокулярних зображень за рахунок зменшення дисперсії оцінок (</a:t>
          </a:r>
          <a:r>
            <a:rPr lang="en-US" sz="3600" kern="1200" dirty="0"/>
            <a:t>Bagging) </a:t>
          </a:r>
          <a:r>
            <a:rPr lang="uk-UA" sz="3600" kern="1200" dirty="0"/>
            <a:t>та уточнення параметрів на межах об'єктів і в зонах оклюзій (</a:t>
          </a:r>
          <a:r>
            <a:rPr lang="en-US" sz="3600" kern="1200" dirty="0"/>
            <a:t>Boosting), </a:t>
          </a:r>
          <a:r>
            <a:rPr lang="uk-UA" sz="3600" kern="1200" dirty="0"/>
            <a:t>що дозволяє визначати координату </a:t>
          </a:r>
          <a:r>
            <a:rPr lang="en-US" sz="3600" kern="1200" dirty="0"/>
            <a:t>Z (</a:t>
          </a:r>
          <a:r>
            <a:rPr lang="uk-UA" sz="3600" kern="1200" dirty="0"/>
            <a:t>глибину) об'єкта з меншою похибкою навіть при відсутності стереопари або даних </a:t>
          </a:r>
          <a:r>
            <a:rPr lang="en-US" sz="3600" kern="1200" dirty="0"/>
            <a:t>LiDAR;</a:t>
          </a:r>
        </a:p>
      </dsp:txBody>
      <dsp:txXfrm>
        <a:off x="0" y="2720"/>
        <a:ext cx="12191960" cy="55656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F8E760-8A1E-4C31-9F11-BF7D76AA7274}">
      <dsp:nvSpPr>
        <dsp:cNvPr id="0" name=""/>
        <dsp:cNvSpPr/>
      </dsp:nvSpPr>
      <dsp:spPr>
        <a:xfrm>
          <a:off x="0" y="27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9F58B3D-2D2B-42F6-97F5-E4207E36C68D}">
      <dsp:nvSpPr>
        <dsp:cNvPr id="0" name=""/>
        <dsp:cNvSpPr/>
      </dsp:nvSpPr>
      <dsp:spPr>
        <a:xfrm>
          <a:off x="0" y="2720"/>
          <a:ext cx="12191960" cy="5565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just" defTabSz="1422400">
            <a:lnSpc>
              <a:spcPct val="90000"/>
            </a:lnSpc>
            <a:spcBef>
              <a:spcPct val="0"/>
            </a:spcBef>
            <a:spcAft>
              <a:spcPct val="35000"/>
            </a:spcAft>
            <a:buNone/>
          </a:pPr>
          <a:r>
            <a:rPr lang="en-US" sz="3200" kern="1200" dirty="0"/>
            <a:t>4) </a:t>
          </a:r>
          <a:r>
            <a:rPr lang="uk-UA" sz="3200" kern="1200" dirty="0"/>
            <a:t>удосконалено метод ансамблевої агрегації результатів ідентифікації, а саме застосування </a:t>
          </a:r>
          <a:r>
            <a:rPr lang="uk-UA" sz="3200" kern="1200" dirty="0" err="1"/>
            <a:t>бегінгу</a:t>
          </a:r>
          <a:r>
            <a:rPr lang="uk-UA" sz="3200" kern="1200" dirty="0"/>
            <a:t> (</a:t>
          </a:r>
          <a:r>
            <a:rPr lang="en-US" sz="3200" kern="1200" dirty="0"/>
            <a:t>Bagging) </a:t>
          </a:r>
          <a:r>
            <a:rPr lang="uk-UA" sz="3200" kern="1200" dirty="0"/>
            <a:t>для зменшення дисперсії оцінок глибини шляхом усереднення результатів на різних підвибірках кадрів та </a:t>
          </a:r>
          <a:r>
            <a:rPr lang="uk-UA" sz="3200" kern="1200" dirty="0" err="1"/>
            <a:t>бустінгу</a:t>
          </a:r>
          <a:r>
            <a:rPr lang="uk-UA" sz="3200" kern="1200" dirty="0"/>
            <a:t> (</a:t>
          </a:r>
          <a:r>
            <a:rPr lang="en-US" sz="3200" kern="1200" dirty="0"/>
            <a:t>Boosting) </a:t>
          </a:r>
          <a:r>
            <a:rPr lang="uk-UA" sz="3200" kern="12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3200" kern="1200" dirty="0" err="1"/>
            <a:t>ансамблювання</a:t>
          </a:r>
          <a:r>
            <a:rPr lang="uk-UA" sz="3200" kern="12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sp:txBody>
      <dsp:txXfrm>
        <a:off x="0" y="2720"/>
        <a:ext cx="12191960" cy="556560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A295DB-008E-4C4F-9D8A-BD87B020E5E3}">
      <dsp:nvSpPr>
        <dsp:cNvPr id="0" name=""/>
        <dsp:cNvSpPr/>
      </dsp:nvSpPr>
      <dsp:spPr>
        <a:xfrm>
          <a:off x="0" y="2808"/>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7801031A-9084-4B9D-8D55-0BC0C991E50E}">
      <dsp:nvSpPr>
        <dsp:cNvPr id="0" name=""/>
        <dsp:cNvSpPr/>
      </dsp:nvSpPr>
      <dsp:spPr>
        <a:xfrm>
          <a:off x="0" y="2808"/>
          <a:ext cx="12191960" cy="5746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just" defTabSz="1377950">
            <a:lnSpc>
              <a:spcPct val="90000"/>
            </a:lnSpc>
            <a:spcBef>
              <a:spcPct val="0"/>
            </a:spcBef>
            <a:spcAft>
              <a:spcPct val="35000"/>
            </a:spcAft>
            <a:buNone/>
          </a:pPr>
          <a:r>
            <a:rPr lang="en-US" sz="3100" kern="1200" dirty="0"/>
            <a:t>5) </a:t>
          </a:r>
          <a:r>
            <a:rPr lang="uk-UA" sz="3100" kern="1200" dirty="0"/>
            <a:t>удосконалено метод кількісного оцінювання якості ідентифікації шляхом впровадження комплексної системи метрик, що включає </a:t>
          </a:r>
          <a:r>
            <a:rPr lang="en-US" sz="3100" kern="1200" dirty="0"/>
            <a:t>EPE </a:t>
          </a:r>
          <a:r>
            <a:rPr lang="uk-UA" sz="3100" kern="1200" dirty="0"/>
            <a:t>та </a:t>
          </a:r>
          <a:r>
            <a:rPr lang="en-US" sz="3100" kern="1200" dirty="0"/>
            <a:t>AAE </a:t>
          </a:r>
          <a:r>
            <a:rPr lang="uk-UA" sz="3100" kern="1200" dirty="0"/>
            <a:t>для оцінки точності оптичного потоку, </a:t>
          </a:r>
          <a:r>
            <a:rPr lang="en-US" sz="3100" kern="1200" dirty="0"/>
            <a:t>RMSE, MAE </a:t>
          </a:r>
          <a:r>
            <a:rPr lang="uk-UA" sz="3100" kern="1200" dirty="0"/>
            <a:t>та </a:t>
          </a:r>
          <a:r>
            <a:rPr lang="en-US" sz="3100" kern="1200" dirty="0"/>
            <a:t>PSNR </a:t>
          </a:r>
          <a:r>
            <a:rPr lang="uk-UA" sz="3100" kern="1200" dirty="0"/>
            <a:t>для оцінки точності відновлення глибини, а також </a:t>
          </a:r>
          <a:r>
            <a:rPr lang="en-US" sz="3100" kern="1200" dirty="0" err="1"/>
            <a:t>IoU</a:t>
          </a:r>
          <a:r>
            <a:rPr lang="en-US" sz="3100" kern="1200" dirty="0"/>
            <a:t> </a:t>
          </a:r>
          <a:r>
            <a:rPr lang="uk-UA" sz="3100" kern="1200" dirty="0"/>
            <a:t>та </a:t>
          </a:r>
          <a:r>
            <a:rPr lang="en-US" sz="3100" kern="1200" dirty="0"/>
            <a:t>Dice </a:t>
          </a:r>
          <a:r>
            <a:rPr lang="uk-UA" sz="3100" kern="1200"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sz="3100" kern="1200" dirty="0" err="1"/>
            <a:t>Farneback</a:t>
          </a:r>
          <a:r>
            <a:rPr lang="en-US" sz="3100" kern="1200" dirty="0"/>
            <a:t>, Lucas‑Kanade, Horn‑Schunck, </a:t>
          </a:r>
          <a:r>
            <a:rPr lang="en-US" sz="3100" kern="1200" dirty="0" err="1"/>
            <a:t>FlowNet</a:t>
          </a:r>
          <a:r>
            <a:rPr lang="en-US" sz="3100" kern="1200" dirty="0"/>
            <a:t>, </a:t>
          </a:r>
          <a:r>
            <a:rPr lang="en-US" sz="3100" kern="1200" dirty="0" err="1"/>
            <a:t>GeoNet</a:t>
          </a:r>
          <a:r>
            <a:rPr lang="en-US" sz="3100" kern="1200" dirty="0"/>
            <a:t>) </a:t>
          </a:r>
          <a:r>
            <a:rPr lang="uk-UA" sz="3100" kern="1200" dirty="0"/>
            <a:t>та методів глибини (</a:t>
          </a:r>
          <a:r>
            <a:rPr lang="en-US" sz="3100" kern="1200" dirty="0"/>
            <a:t>Blur, Gradient, </a:t>
          </a:r>
          <a:r>
            <a:rPr lang="en-US" sz="3100" kern="1200" dirty="0" err="1"/>
            <a:t>MiDaS</a:t>
          </a:r>
          <a:r>
            <a:rPr lang="en-US" sz="3100" kern="1200" dirty="0"/>
            <a:t>, </a:t>
          </a:r>
          <a:r>
            <a:rPr lang="en-US" sz="3100" kern="1200" dirty="0" err="1"/>
            <a:t>DPT_Large</a:t>
          </a:r>
          <a:r>
            <a:rPr lang="en-US" sz="3100" kern="1200" dirty="0"/>
            <a:t>, </a:t>
          </a:r>
          <a:r>
            <a:rPr lang="en-US" sz="3100" kern="1200" dirty="0" err="1"/>
            <a:t>GeoNet</a:t>
          </a:r>
          <a:r>
            <a:rPr lang="en-US" sz="3100" kern="1200" dirty="0"/>
            <a:t>, Bagging, Boosting), </a:t>
          </a:r>
          <a:r>
            <a:rPr lang="uk-UA" sz="3100" kern="1200"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sp:txBody>
      <dsp:txXfrm>
        <a:off x="0" y="2808"/>
        <a:ext cx="12191960" cy="574606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1E298E-CFFF-4EE1-97F8-AE53B1F07A0C}">
      <dsp:nvSpPr>
        <dsp:cNvPr id="0" name=""/>
        <dsp:cNvSpPr/>
      </dsp:nvSpPr>
      <dsp:spPr>
        <a:xfrm>
          <a:off x="0" y="2822"/>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BA085C8-BEFA-48D1-A140-D2F47316876D}">
      <dsp:nvSpPr>
        <dsp:cNvPr id="0" name=""/>
        <dsp:cNvSpPr/>
      </dsp:nvSpPr>
      <dsp:spPr>
        <a:xfrm>
          <a:off x="0" y="2822"/>
          <a:ext cx="12191960" cy="5775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just" defTabSz="1511300">
            <a:lnSpc>
              <a:spcPct val="90000"/>
            </a:lnSpc>
            <a:spcBef>
              <a:spcPct val="0"/>
            </a:spcBef>
            <a:spcAft>
              <a:spcPct val="35000"/>
            </a:spcAft>
            <a:buNone/>
          </a:pPr>
          <a:r>
            <a:rPr lang="en-US" sz="3400" kern="1200" dirty="0"/>
            <a:t>6) </a:t>
          </a:r>
          <a:r>
            <a:rPr lang="uk-UA" sz="3400" kern="1200" dirty="0"/>
            <a:t>отримав подальший розвиток метод синтезу просторово-часових ознак динамічних об'єктів шляхом інтеграції </a:t>
          </a:r>
          <a:r>
            <a:rPr lang="uk-UA" sz="3400" kern="1200" dirty="0" err="1"/>
            <a:t>трансформерних</a:t>
          </a:r>
          <a:r>
            <a:rPr lang="uk-UA" sz="3400" kern="1200" dirty="0"/>
            <a:t> механізмів уваги з векторними полями оптичного потоку, в якому, на відміну від класичних методів, вектори руху подаються на вхід </a:t>
          </a:r>
          <a:r>
            <a:rPr lang="uk-UA" sz="3400" kern="1200" dirty="0" err="1"/>
            <a:t>трансформерної</a:t>
          </a:r>
          <a:r>
            <a:rPr lang="uk-UA" sz="3400" kern="1200" dirty="0"/>
            <a:t> мережі для моделювання довготривалих просторово-часових </a:t>
          </a:r>
          <a:r>
            <a:rPr lang="uk-UA" sz="3400" kern="1200" dirty="0" err="1"/>
            <a:t>залежностей</a:t>
          </a:r>
          <a:r>
            <a:rPr lang="uk-UA" sz="3400" kern="1200" dirty="0"/>
            <a:t>, що дозволяє виявляти складні </a:t>
          </a:r>
          <a:r>
            <a:rPr lang="uk-UA" sz="3400" kern="1200" dirty="0" err="1"/>
            <a:t>патерни</a:t>
          </a:r>
          <a:r>
            <a:rPr lang="uk-UA" sz="3400" kern="12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3400" kern="1200" dirty="0"/>
        </a:p>
      </dsp:txBody>
      <dsp:txXfrm>
        <a:off x="0" y="2822"/>
        <a:ext cx="12191960" cy="577521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DEA1D-C260-4218-8F97-C0B1649C8AB9}">
      <dsp:nvSpPr>
        <dsp:cNvPr id="0" name=""/>
        <dsp:cNvSpPr/>
      </dsp:nvSpPr>
      <dsp:spPr>
        <a:xfrm>
          <a:off x="0" y="4405840"/>
          <a:ext cx="12191980" cy="96389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err="1"/>
            <a:t>Медицина</a:t>
          </a:r>
          <a:r>
            <a:rPr lang="en-US" sz="3600" kern="1200" dirty="0"/>
            <a:t>: </a:t>
          </a:r>
          <a:r>
            <a:rPr lang="en-US" sz="3600" kern="1200" dirty="0" err="1"/>
            <a:t>неінвазивна</a:t>
          </a:r>
          <a:r>
            <a:rPr lang="en-US" sz="3600" kern="1200" dirty="0"/>
            <a:t> </a:t>
          </a:r>
          <a:r>
            <a:rPr lang="en-US" sz="3600" kern="1200" dirty="0" err="1"/>
            <a:t>діагностика</a:t>
          </a:r>
          <a:r>
            <a:rPr lang="en-US" sz="3600" kern="1200" dirty="0"/>
            <a:t> (</a:t>
          </a:r>
          <a:r>
            <a:rPr lang="en-US" sz="3600" kern="1200" dirty="0" err="1"/>
            <a:t>швидкість</a:t>
          </a:r>
          <a:r>
            <a:rPr lang="en-US" sz="3600" kern="1200" dirty="0"/>
            <a:t> </a:t>
          </a:r>
          <a:r>
            <a:rPr lang="en-US" sz="3600" kern="1200" dirty="0" err="1"/>
            <a:t>кровотоку</a:t>
          </a:r>
          <a:r>
            <a:rPr lang="en-US" sz="3600" kern="1200" dirty="0"/>
            <a:t>, </a:t>
          </a:r>
          <a:r>
            <a:rPr lang="en-US" sz="3600" kern="1200" dirty="0" err="1"/>
            <a:t>рух</a:t>
          </a:r>
          <a:r>
            <a:rPr lang="en-US" sz="3600" kern="1200" dirty="0"/>
            <a:t> </a:t>
          </a:r>
          <a:r>
            <a:rPr lang="en-US" sz="3600" kern="1200" dirty="0" err="1"/>
            <a:t>серця</a:t>
          </a:r>
          <a:r>
            <a:rPr lang="en-US" sz="3600" kern="1200" dirty="0"/>
            <a:t>)</a:t>
          </a:r>
        </a:p>
      </dsp:txBody>
      <dsp:txXfrm>
        <a:off x="0" y="4405840"/>
        <a:ext cx="12191980" cy="963890"/>
      </dsp:txXfrm>
    </dsp:sp>
    <dsp:sp modelId="{1268D6C6-F68D-4EEB-AFB7-DB2AEC72108C}">
      <dsp:nvSpPr>
        <dsp:cNvPr id="0" name=""/>
        <dsp:cNvSpPr/>
      </dsp:nvSpPr>
      <dsp:spPr>
        <a:xfrm rot="10800000">
          <a:off x="0" y="2937835"/>
          <a:ext cx="12191980" cy="1482463"/>
        </a:xfrm>
        <a:prstGeom prst="upArrowCallou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err="1"/>
            <a:t>Цифровізація</a:t>
          </a:r>
          <a:r>
            <a:rPr lang="en-US" sz="3600" kern="1200" dirty="0"/>
            <a:t> </a:t>
          </a:r>
          <a:r>
            <a:rPr lang="en-US" sz="3600" kern="1200" dirty="0" err="1"/>
            <a:t>та</a:t>
          </a:r>
          <a:r>
            <a:rPr lang="en-US" sz="3600" kern="1200" dirty="0"/>
            <a:t> </a:t>
          </a:r>
          <a:r>
            <a:rPr lang="en-US" sz="3600" kern="1200" dirty="0" err="1"/>
            <a:t>економіка</a:t>
          </a:r>
          <a:r>
            <a:rPr lang="en-US" sz="3600" kern="1200" dirty="0"/>
            <a:t>: </a:t>
          </a:r>
          <a:r>
            <a:rPr lang="en-US" sz="3600" kern="1200" dirty="0" err="1"/>
            <a:t>розгортання</a:t>
          </a:r>
          <a:r>
            <a:rPr lang="en-US" sz="3600" kern="1200" dirty="0"/>
            <a:t> </a:t>
          </a:r>
          <a:r>
            <a:rPr lang="en-US" sz="3600" kern="1200" dirty="0" err="1"/>
            <a:t>інтелектуальних</a:t>
          </a:r>
          <a:r>
            <a:rPr lang="en-US" sz="3600" kern="1200" dirty="0"/>
            <a:t> </a:t>
          </a:r>
          <a:r>
            <a:rPr lang="en-US" sz="3600" kern="1200" dirty="0" err="1"/>
            <a:t>систем</a:t>
          </a:r>
          <a:r>
            <a:rPr lang="en-US" sz="3600" kern="1200" dirty="0"/>
            <a:t> </a:t>
          </a:r>
          <a:r>
            <a:rPr lang="en-US" sz="3600" kern="1200" dirty="0" err="1"/>
            <a:t>на</a:t>
          </a:r>
          <a:r>
            <a:rPr lang="en-US" sz="3600" kern="1200" dirty="0"/>
            <a:t> </a:t>
          </a:r>
          <a:r>
            <a:rPr lang="en-US" sz="3600" kern="1200" dirty="0" err="1"/>
            <a:t>мобільних</a:t>
          </a:r>
          <a:r>
            <a:rPr lang="en-US" sz="3600" kern="1200" dirty="0"/>
            <a:t> </a:t>
          </a:r>
          <a:r>
            <a:rPr lang="en-US" sz="3600" kern="1200" dirty="0" err="1"/>
            <a:t>пристроях</a:t>
          </a:r>
          <a:r>
            <a:rPr lang="en-US" sz="3600" kern="1200" dirty="0"/>
            <a:t> </a:t>
          </a:r>
          <a:r>
            <a:rPr lang="en-US" sz="3600" kern="1200" dirty="0" err="1"/>
            <a:t>та</a:t>
          </a:r>
          <a:r>
            <a:rPr lang="en-US" sz="3600" kern="1200" dirty="0"/>
            <a:t> </a:t>
          </a:r>
          <a:r>
            <a:rPr lang="en-US" sz="3600" kern="1200" dirty="0" err="1"/>
            <a:t>вбудованих</a:t>
          </a:r>
          <a:r>
            <a:rPr lang="en-US" sz="3600" kern="1200" dirty="0"/>
            <a:t> </a:t>
          </a:r>
          <a:r>
            <a:rPr lang="en-US" sz="3600" kern="1200" dirty="0" err="1"/>
            <a:t>платформах</a:t>
          </a:r>
          <a:endParaRPr lang="en-US" sz="3600" kern="1200" dirty="0"/>
        </a:p>
      </dsp:txBody>
      <dsp:txXfrm rot="10800000">
        <a:off x="0" y="2937835"/>
        <a:ext cx="12191980" cy="963260"/>
      </dsp:txXfrm>
    </dsp:sp>
    <dsp:sp modelId="{6138ACC6-B097-4C71-A2C6-969FFAE76616}">
      <dsp:nvSpPr>
        <dsp:cNvPr id="0" name=""/>
        <dsp:cNvSpPr/>
      </dsp:nvSpPr>
      <dsp:spPr>
        <a:xfrm rot="10800000">
          <a:off x="0" y="1469830"/>
          <a:ext cx="12191980" cy="1482463"/>
        </a:xfrm>
        <a:prstGeom prst="upArrowCallou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err="1"/>
            <a:t>Автономний</a:t>
          </a:r>
          <a:r>
            <a:rPr lang="en-US" sz="3600" kern="1200" dirty="0"/>
            <a:t> </a:t>
          </a:r>
          <a:r>
            <a:rPr lang="en-US" sz="3600" kern="1200" dirty="0" err="1"/>
            <a:t>транспорт</a:t>
          </a:r>
          <a:r>
            <a:rPr lang="en-US" sz="3600" kern="1200" dirty="0"/>
            <a:t> </a:t>
          </a:r>
          <a:r>
            <a:rPr lang="en-US" sz="3600" kern="1200" dirty="0" err="1"/>
            <a:t>та</a:t>
          </a:r>
          <a:r>
            <a:rPr lang="en-US" sz="3600" kern="1200" dirty="0"/>
            <a:t> </a:t>
          </a:r>
          <a:r>
            <a:rPr lang="en-US" sz="3600" kern="1200" dirty="0" err="1"/>
            <a:t>логістика</a:t>
          </a:r>
          <a:r>
            <a:rPr lang="en-US" sz="3600" kern="1200" dirty="0"/>
            <a:t>: </a:t>
          </a:r>
          <a:r>
            <a:rPr lang="en-US" sz="3600" kern="1200" dirty="0" err="1"/>
            <a:t>уникнення</a:t>
          </a:r>
          <a:r>
            <a:rPr lang="en-US" sz="3600" kern="1200" dirty="0"/>
            <a:t> </a:t>
          </a:r>
          <a:r>
            <a:rPr lang="en-US" sz="3600" kern="1200" dirty="0" err="1"/>
            <a:t>зіткнень</a:t>
          </a:r>
          <a:r>
            <a:rPr lang="en-US" sz="3600" kern="1200" dirty="0"/>
            <a:t> </a:t>
          </a:r>
          <a:r>
            <a:rPr lang="en-US" sz="3600" kern="1200" dirty="0" err="1"/>
            <a:t>на</a:t>
          </a:r>
          <a:r>
            <a:rPr lang="en-US" sz="3600" kern="1200" dirty="0"/>
            <a:t> </a:t>
          </a:r>
          <a:r>
            <a:rPr lang="en-US" sz="3600" kern="1200" dirty="0" err="1"/>
            <a:t>основі</a:t>
          </a:r>
          <a:r>
            <a:rPr lang="en-US" sz="3600" kern="1200" dirty="0"/>
            <a:t> </a:t>
          </a:r>
          <a:r>
            <a:rPr lang="en-US" sz="3600" kern="1200" dirty="0" err="1"/>
            <a:t>швидкості</a:t>
          </a:r>
          <a:r>
            <a:rPr lang="en-US" sz="3600" kern="1200" dirty="0"/>
            <a:t>, </a:t>
          </a:r>
          <a:r>
            <a:rPr lang="en-US" sz="3600" kern="1200" dirty="0" err="1"/>
            <a:t>траєкторії</a:t>
          </a:r>
          <a:r>
            <a:rPr lang="en-US" sz="3600" kern="1200" dirty="0"/>
            <a:t> </a:t>
          </a:r>
          <a:r>
            <a:rPr lang="en-US" sz="3600" kern="1200" dirty="0" err="1"/>
            <a:t>та</a:t>
          </a:r>
          <a:r>
            <a:rPr lang="en-US" sz="3600" kern="1200" dirty="0"/>
            <a:t> </a:t>
          </a:r>
          <a:r>
            <a:rPr lang="en-US" sz="3600" kern="1200" dirty="0" err="1"/>
            <a:t>глибини</a:t>
          </a:r>
          <a:endParaRPr lang="en-US" sz="3600" kern="1200" dirty="0"/>
        </a:p>
      </dsp:txBody>
      <dsp:txXfrm rot="10800000">
        <a:off x="0" y="1469830"/>
        <a:ext cx="12191980" cy="963260"/>
      </dsp:txXfrm>
    </dsp:sp>
    <dsp:sp modelId="{33623962-81AA-4C61-8C8E-5D0CA73FE0BF}">
      <dsp:nvSpPr>
        <dsp:cNvPr id="0" name=""/>
        <dsp:cNvSpPr/>
      </dsp:nvSpPr>
      <dsp:spPr>
        <a:xfrm rot="10800000">
          <a:off x="0" y="1826"/>
          <a:ext cx="12191980" cy="1482463"/>
        </a:xfrm>
        <a:prstGeom prst="upArrowCallou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err="1"/>
            <a:t>Безпека</a:t>
          </a:r>
          <a:r>
            <a:rPr lang="en-US" sz="3600" kern="1200" dirty="0"/>
            <a:t> </a:t>
          </a:r>
          <a:r>
            <a:rPr lang="en-US" sz="3600" kern="1200" dirty="0" err="1"/>
            <a:t>та</a:t>
          </a:r>
          <a:r>
            <a:rPr lang="en-US" sz="3600" kern="1200" dirty="0"/>
            <a:t> </a:t>
          </a:r>
          <a:r>
            <a:rPr lang="en-US" sz="3600" kern="1200" dirty="0" err="1"/>
            <a:t>оборона</a:t>
          </a:r>
          <a:r>
            <a:rPr lang="en-US" sz="3600" kern="1200" dirty="0"/>
            <a:t>: </a:t>
          </a:r>
          <a:r>
            <a:rPr lang="en-US" sz="3600" kern="1200" dirty="0" err="1"/>
            <a:t>висока</a:t>
          </a:r>
          <a:r>
            <a:rPr lang="en-US" sz="3600" kern="1200" dirty="0"/>
            <a:t> </a:t>
          </a:r>
          <a:r>
            <a:rPr lang="en-US" sz="3600" kern="1200" dirty="0" err="1"/>
            <a:t>точність</a:t>
          </a:r>
          <a:r>
            <a:rPr lang="en-US" sz="3600" kern="1200" dirty="0"/>
            <a:t> </a:t>
          </a:r>
          <a:r>
            <a:rPr lang="en-US" sz="3600" kern="1200" dirty="0" err="1"/>
            <a:t>відстеження</a:t>
          </a:r>
          <a:r>
            <a:rPr lang="en-US" sz="3600" kern="1200" dirty="0"/>
            <a:t> </a:t>
          </a:r>
          <a:r>
            <a:rPr lang="en-US" sz="3600" kern="1200" dirty="0" err="1"/>
            <a:t>об'єктів</a:t>
          </a:r>
          <a:r>
            <a:rPr lang="en-US" sz="3600" kern="1200" dirty="0"/>
            <a:t> у </a:t>
          </a:r>
          <a:r>
            <a:rPr lang="en-US" sz="3600" kern="1200" dirty="0" err="1"/>
            <a:t>реальному</a:t>
          </a:r>
          <a:r>
            <a:rPr lang="en-US" sz="3600" kern="1200" dirty="0"/>
            <a:t> </a:t>
          </a:r>
          <a:r>
            <a:rPr lang="en-US" sz="3600" kern="1200" dirty="0" err="1"/>
            <a:t>часі</a:t>
          </a:r>
          <a:r>
            <a:rPr lang="en-US" sz="3600" kern="1200" dirty="0"/>
            <a:t> </a:t>
          </a:r>
          <a:r>
            <a:rPr lang="en-US" sz="3600" kern="1200" dirty="0" err="1"/>
            <a:t>для</a:t>
          </a:r>
          <a:r>
            <a:rPr lang="en-US" sz="3600" kern="1200" dirty="0"/>
            <a:t> </a:t>
          </a:r>
          <a:r>
            <a:rPr lang="en-US" sz="3600" kern="1200" dirty="0" err="1"/>
            <a:t>відеоспостереження</a:t>
          </a:r>
          <a:r>
            <a:rPr lang="en-US" sz="3600" kern="1200" dirty="0"/>
            <a:t>, БПЛА</a:t>
          </a:r>
        </a:p>
      </dsp:txBody>
      <dsp:txXfrm rot="10800000">
        <a:off x="0" y="1826"/>
        <a:ext cx="12191980" cy="9632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C56A-2E1C-4F7B-A0AF-0176B3906F53}">
      <dsp:nvSpPr>
        <dsp:cNvPr id="0" name=""/>
        <dsp:cNvSpPr/>
      </dsp:nvSpPr>
      <dsp:spPr>
        <a:xfrm>
          <a:off x="0" y="27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7AA9705-6D81-4081-87B9-89540CA7EE4A}">
      <dsp:nvSpPr>
        <dsp:cNvPr id="0" name=""/>
        <dsp:cNvSpPr/>
      </dsp:nvSpPr>
      <dsp:spPr>
        <a:xfrm>
          <a:off x="0" y="27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вперше запропоновано метод дистанційної ідентифікації параметрів динамічних об'єктів, що ґрунтується на поєднанні </a:t>
          </a:r>
          <a:r>
            <a:rPr lang="uk-UA" sz="1200" kern="1200" dirty="0" err="1"/>
            <a:t>трансформерної</a:t>
          </a:r>
          <a:r>
            <a:rPr lang="uk-UA" sz="1200" kern="1200" dirty="0"/>
            <a:t> моделі виявлення об'єктів </a:t>
          </a:r>
          <a:r>
            <a:rPr lang="en-US" sz="1200" kern="1200" dirty="0" err="1"/>
            <a:t>DEtection</a:t>
          </a:r>
          <a:r>
            <a:rPr lang="en-US" sz="1200" kern="1200" dirty="0"/>
            <a:t> </a:t>
          </a:r>
          <a:r>
            <a:rPr lang="en-US" sz="1200" kern="1200" dirty="0" err="1"/>
            <a:t>TRansformer</a:t>
          </a:r>
          <a:r>
            <a:rPr lang="en-US" sz="1200" kern="1200" dirty="0"/>
            <a:t> (DETR) </a:t>
          </a:r>
          <a:r>
            <a:rPr lang="uk-UA" sz="1200" kern="12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1200" kern="1200" dirty="0" err="1"/>
            <a:t>постобробки</a:t>
          </a:r>
          <a:r>
            <a:rPr lang="uk-UA" sz="1200" kern="1200" dirty="0"/>
            <a:t>;</a:t>
          </a:r>
        </a:p>
      </dsp:txBody>
      <dsp:txXfrm>
        <a:off x="0" y="2720"/>
        <a:ext cx="12191960" cy="927600"/>
      </dsp:txXfrm>
    </dsp:sp>
    <dsp:sp modelId="{2BB0E26A-EB03-4B8F-8CCF-920E6E9E5833}">
      <dsp:nvSpPr>
        <dsp:cNvPr id="0" name=""/>
        <dsp:cNvSpPr/>
      </dsp:nvSpPr>
      <dsp:spPr>
        <a:xfrm>
          <a:off x="0" y="9303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B5361DD-962A-46CC-B452-F6E1BD44DD37}">
      <dsp:nvSpPr>
        <dsp:cNvPr id="0" name=""/>
        <dsp:cNvSpPr/>
      </dsp:nvSpPr>
      <dsp:spPr>
        <a:xfrm>
          <a:off x="0" y="9303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1200" kern="1200" dirty="0" err="1"/>
            <a:t>нейромережевих</a:t>
          </a:r>
          <a:r>
            <a:rPr lang="uk-UA" sz="1200" kern="1200" dirty="0"/>
            <a:t> </a:t>
          </a:r>
          <a:r>
            <a:rPr lang="uk-UA" sz="1200" kern="1200" dirty="0" err="1"/>
            <a:t>архітектур</a:t>
          </a:r>
          <a:r>
            <a:rPr lang="uk-UA" sz="1200" kern="1200" dirty="0"/>
            <a:t> </a:t>
          </a:r>
          <a:r>
            <a:rPr lang="en-US" sz="1200" kern="1200" dirty="0" err="1"/>
            <a:t>FlowNet</a:t>
          </a:r>
          <a:r>
            <a:rPr lang="en-US" sz="1200" kern="1200" dirty="0"/>
            <a:t> </a:t>
          </a:r>
          <a:r>
            <a:rPr lang="uk-UA" sz="1200" kern="1200" dirty="0"/>
            <a:t>та </a:t>
          </a:r>
          <a:r>
            <a:rPr lang="en-US" sz="1200" kern="1200" dirty="0" err="1"/>
            <a:t>GeoNet</a:t>
          </a:r>
          <a:r>
            <a:rPr lang="en-US" sz="1200" kern="1200" dirty="0"/>
            <a:t>, </a:t>
          </a:r>
          <a:r>
            <a:rPr lang="uk-UA" sz="1200" kern="12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sp:txBody>
      <dsp:txXfrm>
        <a:off x="0" y="930320"/>
        <a:ext cx="12191960" cy="927600"/>
      </dsp:txXfrm>
    </dsp:sp>
    <dsp:sp modelId="{8A19F7F3-D825-47A9-A329-97D681A62B58}">
      <dsp:nvSpPr>
        <dsp:cNvPr id="0" name=""/>
        <dsp:cNvSpPr/>
      </dsp:nvSpPr>
      <dsp:spPr>
        <a:xfrm>
          <a:off x="0" y="18579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0FFB531-F345-4DE4-A1E8-0F3D1DEE8D1E}">
      <dsp:nvSpPr>
        <dsp:cNvPr id="0" name=""/>
        <dsp:cNvSpPr/>
      </dsp:nvSpPr>
      <dsp:spPr>
        <a:xfrm>
          <a:off x="0" y="18579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удосконалено метод оцінювання глибини сцени шляхом адаптивного комбінування </a:t>
          </a:r>
          <a:r>
            <a:rPr lang="uk-UA" sz="1200" kern="1200" dirty="0" err="1"/>
            <a:t>нейромережевих</a:t>
          </a:r>
          <a:r>
            <a:rPr lang="uk-UA" sz="1200" kern="1200" dirty="0"/>
            <a:t> моделей </a:t>
          </a:r>
          <a:r>
            <a:rPr lang="en-US" sz="1200" kern="1200" dirty="0" err="1"/>
            <a:t>MiDaS</a:t>
          </a:r>
          <a:r>
            <a:rPr lang="en-US" sz="1200" kern="1200" dirty="0"/>
            <a:t>, </a:t>
          </a:r>
          <a:r>
            <a:rPr lang="en-US" sz="1200" kern="1200" dirty="0" err="1"/>
            <a:t>DPT_Large</a:t>
          </a:r>
          <a:r>
            <a:rPr lang="en-US" sz="1200" kern="1200" dirty="0"/>
            <a:t> </a:t>
          </a:r>
          <a:r>
            <a:rPr lang="uk-UA" sz="1200" kern="1200" dirty="0"/>
            <a:t>та </a:t>
          </a:r>
          <a:r>
            <a:rPr lang="en-US" sz="1200" kern="1200" dirty="0" err="1"/>
            <a:t>GeoNet</a:t>
          </a:r>
          <a:r>
            <a:rPr lang="en-US" sz="1200" kern="1200" dirty="0"/>
            <a:t> </a:t>
          </a:r>
          <a:r>
            <a:rPr lang="uk-UA" sz="1200" kern="1200" dirty="0"/>
            <a:t>з ансамблевими підходами </a:t>
          </a:r>
          <a:r>
            <a:rPr lang="en-US" sz="1200" kern="1200" dirty="0"/>
            <a:t>Bagging </a:t>
          </a:r>
          <a:r>
            <a:rPr lang="uk-UA" sz="1200" kern="1200" dirty="0"/>
            <a:t>і </a:t>
          </a:r>
          <a:r>
            <a:rPr lang="en-US" sz="1200" kern="1200" dirty="0"/>
            <a:t>Boosting, </a:t>
          </a:r>
          <a:r>
            <a:rPr lang="uk-UA" sz="1200" kern="1200"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sz="1200" kern="1200" dirty="0"/>
            <a:t>Bagging) </a:t>
          </a:r>
          <a:r>
            <a:rPr lang="uk-UA" sz="1200" kern="1200" dirty="0"/>
            <a:t>та уточнення параметрів на межах об'єктів і в зонах оклюзій (</a:t>
          </a:r>
          <a:r>
            <a:rPr lang="en-US" sz="1200" kern="1200" dirty="0"/>
            <a:t>Boosting), </a:t>
          </a:r>
          <a:r>
            <a:rPr lang="uk-UA" sz="1200" kern="1200" dirty="0"/>
            <a:t>що дозволяє визначати координату </a:t>
          </a:r>
          <a:r>
            <a:rPr lang="en-US" sz="1200" kern="1200" dirty="0"/>
            <a:t>Z (</a:t>
          </a:r>
          <a:r>
            <a:rPr lang="uk-UA" sz="1200" kern="1200" dirty="0"/>
            <a:t>глибину) об'єкта з меншою похибкою навіть при відсутності стереопари або даних </a:t>
          </a:r>
          <a:r>
            <a:rPr lang="en-US" sz="1200" kern="1200" dirty="0"/>
            <a:t>LiDAR;</a:t>
          </a:r>
        </a:p>
      </dsp:txBody>
      <dsp:txXfrm>
        <a:off x="0" y="1857920"/>
        <a:ext cx="12191960" cy="927600"/>
      </dsp:txXfrm>
    </dsp:sp>
    <dsp:sp modelId="{6BF8E760-8A1E-4C31-9F11-BF7D76AA7274}">
      <dsp:nvSpPr>
        <dsp:cNvPr id="0" name=""/>
        <dsp:cNvSpPr/>
      </dsp:nvSpPr>
      <dsp:spPr>
        <a:xfrm>
          <a:off x="0" y="27855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9F58B3D-2D2B-42F6-97F5-E4207E36C68D}">
      <dsp:nvSpPr>
        <dsp:cNvPr id="0" name=""/>
        <dsp:cNvSpPr/>
      </dsp:nvSpPr>
      <dsp:spPr>
        <a:xfrm>
          <a:off x="0" y="27855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удосконалено метод ансамблевої агрегації результатів ідентифікації, а саме застосування </a:t>
          </a:r>
          <a:r>
            <a:rPr lang="uk-UA" sz="1200" kern="1200" dirty="0" err="1"/>
            <a:t>бегінгу</a:t>
          </a:r>
          <a:r>
            <a:rPr lang="uk-UA" sz="1200" kern="1200" dirty="0"/>
            <a:t> (</a:t>
          </a:r>
          <a:r>
            <a:rPr lang="en-US" sz="1200" kern="1200" dirty="0"/>
            <a:t>Bagging) </a:t>
          </a:r>
          <a:r>
            <a:rPr lang="uk-UA" sz="1200" kern="1200" dirty="0"/>
            <a:t>для зменшення дисперсії оцінок глибини шляхом усереднення результатів на різних підвибірках кадрів та </a:t>
          </a:r>
          <a:r>
            <a:rPr lang="uk-UA" sz="1200" kern="1200" dirty="0" err="1"/>
            <a:t>бустінгу</a:t>
          </a:r>
          <a:r>
            <a:rPr lang="uk-UA" sz="1200" kern="1200" dirty="0"/>
            <a:t> (</a:t>
          </a:r>
          <a:r>
            <a:rPr lang="en-US" sz="1200" kern="1200" dirty="0"/>
            <a:t>Boosting) </a:t>
          </a:r>
          <a:r>
            <a:rPr lang="uk-UA" sz="1200" kern="12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1200" kern="1200" dirty="0" err="1"/>
            <a:t>ансамблювання</a:t>
          </a:r>
          <a:r>
            <a:rPr lang="uk-UA" sz="1200" kern="12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sp:txBody>
      <dsp:txXfrm>
        <a:off x="0" y="2785520"/>
        <a:ext cx="12191960" cy="927600"/>
      </dsp:txXfrm>
    </dsp:sp>
    <dsp:sp modelId="{A3A295DB-008E-4C4F-9D8A-BD87B020E5E3}">
      <dsp:nvSpPr>
        <dsp:cNvPr id="0" name=""/>
        <dsp:cNvSpPr/>
      </dsp:nvSpPr>
      <dsp:spPr>
        <a:xfrm>
          <a:off x="0" y="3713121"/>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7801031A-9084-4B9D-8D55-0BC0C991E50E}">
      <dsp:nvSpPr>
        <dsp:cNvPr id="0" name=""/>
        <dsp:cNvSpPr/>
      </dsp:nvSpPr>
      <dsp:spPr>
        <a:xfrm>
          <a:off x="0" y="3713121"/>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удосконалено метод кількісного оцінювання якості ідентифікації шляхом впровадження комплексної системи метрик, що включає </a:t>
          </a:r>
          <a:r>
            <a:rPr lang="en-US" sz="1200" kern="1200" dirty="0"/>
            <a:t>EPE </a:t>
          </a:r>
          <a:r>
            <a:rPr lang="uk-UA" sz="1200" kern="1200" dirty="0"/>
            <a:t>та </a:t>
          </a:r>
          <a:r>
            <a:rPr lang="en-US" sz="1200" kern="1200" dirty="0"/>
            <a:t>AAE </a:t>
          </a:r>
          <a:r>
            <a:rPr lang="uk-UA" sz="1200" kern="1200" dirty="0"/>
            <a:t>для оцінки точності оптичного потоку, </a:t>
          </a:r>
          <a:r>
            <a:rPr lang="en-US" sz="1200" kern="1200" dirty="0"/>
            <a:t>RMSE, MAE </a:t>
          </a:r>
          <a:r>
            <a:rPr lang="uk-UA" sz="1200" kern="1200" dirty="0"/>
            <a:t>та </a:t>
          </a:r>
          <a:r>
            <a:rPr lang="en-US" sz="1200" kern="1200" dirty="0"/>
            <a:t>PSNR </a:t>
          </a:r>
          <a:r>
            <a:rPr lang="uk-UA" sz="1200" kern="1200" dirty="0"/>
            <a:t>для оцінки точності відновлення глибини, а також </a:t>
          </a:r>
          <a:r>
            <a:rPr lang="en-US" sz="1200" kern="1200" dirty="0" err="1"/>
            <a:t>IoU</a:t>
          </a:r>
          <a:r>
            <a:rPr lang="en-US" sz="1200" kern="1200" dirty="0"/>
            <a:t> </a:t>
          </a:r>
          <a:r>
            <a:rPr lang="uk-UA" sz="1200" kern="1200" dirty="0"/>
            <a:t>та </a:t>
          </a:r>
          <a:r>
            <a:rPr lang="en-US" sz="1200" kern="1200" dirty="0"/>
            <a:t>Dice </a:t>
          </a:r>
          <a:r>
            <a:rPr lang="uk-UA" sz="1200" kern="1200"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sz="1200" kern="1200" dirty="0" err="1"/>
            <a:t>Farneback</a:t>
          </a:r>
          <a:r>
            <a:rPr lang="en-US" sz="1200" kern="1200" dirty="0"/>
            <a:t>, Lucas‑Kanade, Horn‑Schunck, </a:t>
          </a:r>
          <a:r>
            <a:rPr lang="en-US" sz="1200" kern="1200" dirty="0" err="1"/>
            <a:t>FlowNet</a:t>
          </a:r>
          <a:r>
            <a:rPr lang="en-US" sz="1200" kern="1200" dirty="0"/>
            <a:t>, </a:t>
          </a:r>
          <a:r>
            <a:rPr lang="en-US" sz="1200" kern="1200" dirty="0" err="1"/>
            <a:t>GeoNet</a:t>
          </a:r>
          <a:r>
            <a:rPr lang="en-US" sz="1200" kern="1200" dirty="0"/>
            <a:t>) </a:t>
          </a:r>
          <a:r>
            <a:rPr lang="uk-UA" sz="1200" kern="1200" dirty="0"/>
            <a:t>та методів глибини (</a:t>
          </a:r>
          <a:r>
            <a:rPr lang="en-US" sz="1200" kern="1200" dirty="0"/>
            <a:t>Blur, Gradient, </a:t>
          </a:r>
          <a:r>
            <a:rPr lang="en-US" sz="1200" kern="1200" dirty="0" err="1"/>
            <a:t>MiDaS</a:t>
          </a:r>
          <a:r>
            <a:rPr lang="en-US" sz="1200" kern="1200" dirty="0"/>
            <a:t>, </a:t>
          </a:r>
          <a:r>
            <a:rPr lang="en-US" sz="1200" kern="1200" dirty="0" err="1"/>
            <a:t>DPT_Large</a:t>
          </a:r>
          <a:r>
            <a:rPr lang="en-US" sz="1200" kern="1200" dirty="0"/>
            <a:t>, </a:t>
          </a:r>
          <a:r>
            <a:rPr lang="en-US" sz="1200" kern="1200" dirty="0" err="1"/>
            <a:t>GeoNet</a:t>
          </a:r>
          <a:r>
            <a:rPr lang="en-US" sz="1200" kern="1200" dirty="0"/>
            <a:t>, Bagging, Boosting), </a:t>
          </a:r>
          <a:r>
            <a:rPr lang="uk-UA" sz="1200" kern="1200"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sp:txBody>
      <dsp:txXfrm>
        <a:off x="0" y="3713121"/>
        <a:ext cx="12191960" cy="927600"/>
      </dsp:txXfrm>
    </dsp:sp>
    <dsp:sp modelId="{841E298E-CFFF-4EE1-97F8-AE53B1F07A0C}">
      <dsp:nvSpPr>
        <dsp:cNvPr id="0" name=""/>
        <dsp:cNvSpPr/>
      </dsp:nvSpPr>
      <dsp:spPr>
        <a:xfrm>
          <a:off x="0" y="4640721"/>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BA085C8-BEFA-48D1-A140-D2F47316876D}">
      <dsp:nvSpPr>
        <dsp:cNvPr id="0" name=""/>
        <dsp:cNvSpPr/>
      </dsp:nvSpPr>
      <dsp:spPr>
        <a:xfrm>
          <a:off x="0" y="4640721"/>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отримав подальший розвиток метод синтезу просторово-часових ознак динамічних об'єктів шляхом інтеграції </a:t>
          </a:r>
          <a:r>
            <a:rPr lang="uk-UA" sz="1200" kern="1200" dirty="0" err="1"/>
            <a:t>трансформерних</a:t>
          </a:r>
          <a:r>
            <a:rPr lang="uk-UA" sz="1200" kern="1200" dirty="0"/>
            <a:t> механізмів уваги з векторними полями оптичного потоку, в якому, на відміну від класичних методів, вектори руху подаються на вхід </a:t>
          </a:r>
          <a:r>
            <a:rPr lang="uk-UA" sz="1200" kern="1200" dirty="0" err="1"/>
            <a:t>трансформерної</a:t>
          </a:r>
          <a:r>
            <a:rPr lang="uk-UA" sz="1200" kern="1200" dirty="0"/>
            <a:t> мережі для моделювання довготривалих просторово-часових </a:t>
          </a:r>
          <a:r>
            <a:rPr lang="uk-UA" sz="1200" kern="1200" dirty="0" err="1"/>
            <a:t>залежностей</a:t>
          </a:r>
          <a:r>
            <a:rPr lang="uk-UA" sz="1200" kern="1200" dirty="0"/>
            <a:t>, що дозволяє виявляти складні </a:t>
          </a:r>
          <a:r>
            <a:rPr lang="uk-UA" sz="1200" kern="1200" dirty="0" err="1"/>
            <a:t>патерни</a:t>
          </a:r>
          <a:r>
            <a:rPr lang="uk-UA" sz="1200" kern="12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1200" kern="1200" dirty="0"/>
        </a:p>
      </dsp:txBody>
      <dsp:txXfrm>
        <a:off x="0" y="4640721"/>
        <a:ext cx="12191960" cy="9276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E2D70-9B97-4307-9102-5C98A07DD5B7}">
      <dsp:nvSpPr>
        <dsp:cNvPr id="0" name=""/>
        <dsp:cNvSpPr/>
      </dsp:nvSpPr>
      <dsp:spPr>
        <a:xfrm>
          <a:off x="0" y="1025"/>
          <a:ext cx="9696226" cy="167108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kern="1200" dirty="0"/>
            <a:t>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sz="2400" kern="1200" dirty="0" err="1"/>
            <a:t>трансформерних</a:t>
          </a:r>
          <a:r>
            <a:rPr lang="uk-UA" sz="2400" kern="1200" dirty="0"/>
            <a:t> моделей виявлення, алгоритмів оптичного потоку та </a:t>
          </a:r>
          <a:r>
            <a:rPr lang="uk-UA" sz="2400" kern="1200" dirty="0" err="1"/>
            <a:t>нейромережевого</a:t>
          </a:r>
          <a:r>
            <a:rPr lang="uk-UA" sz="2400" kern="1200" dirty="0"/>
            <a:t> оцінювання глибини;</a:t>
          </a:r>
          <a:endParaRPr lang="en-US" sz="2400" kern="1200" dirty="0"/>
        </a:p>
      </dsp:txBody>
      <dsp:txXfrm>
        <a:off x="81576" y="82601"/>
        <a:ext cx="9533074" cy="1507937"/>
      </dsp:txXfrm>
    </dsp:sp>
    <dsp:sp modelId="{A769D06D-850B-4760-B624-D7B52A2852B7}">
      <dsp:nvSpPr>
        <dsp:cNvPr id="0" name=""/>
        <dsp:cNvSpPr/>
      </dsp:nvSpPr>
      <dsp:spPr>
        <a:xfrm>
          <a:off x="0" y="1683800"/>
          <a:ext cx="9696226" cy="167108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kern="1200" dirty="0"/>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endParaRPr lang="en-US" sz="2400" kern="1200" dirty="0"/>
        </a:p>
      </dsp:txBody>
      <dsp:txXfrm>
        <a:off x="81576" y="1765376"/>
        <a:ext cx="9533074" cy="1507937"/>
      </dsp:txXfrm>
    </dsp:sp>
    <dsp:sp modelId="{285050AC-9EA1-47EE-B3C6-34F3D1BCB553}">
      <dsp:nvSpPr>
        <dsp:cNvPr id="0" name=""/>
        <dsp:cNvSpPr/>
      </dsp:nvSpPr>
      <dsp:spPr>
        <a:xfrm>
          <a:off x="0" y="3366575"/>
          <a:ext cx="9696226" cy="167108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kern="1200" dirty="0"/>
            <a:t>розробити моделі та методи інтеграції </a:t>
          </a:r>
          <a:r>
            <a:rPr lang="uk-UA" sz="2000" kern="1200" dirty="0" err="1"/>
            <a:t>трансформерного</a:t>
          </a:r>
          <a:r>
            <a:rPr lang="uk-UA" sz="2000" kern="1200" dirty="0"/>
            <a:t> детектора об'єктів </a:t>
          </a:r>
          <a:r>
            <a:rPr lang="en-US" sz="2000" kern="1200" dirty="0"/>
            <a:t>DETR, </a:t>
          </a:r>
          <a:r>
            <a:rPr lang="uk-UA" sz="2000" kern="1200" dirty="0"/>
            <a:t>алгоритмів оптичного потоку (</a:t>
          </a:r>
          <a:r>
            <a:rPr lang="en-US" sz="2000" kern="1200" dirty="0" err="1"/>
            <a:t>Farneback</a:t>
          </a:r>
          <a:r>
            <a:rPr lang="en-US" sz="2000" kern="1200" dirty="0"/>
            <a:t>, Lucas–Kanade, Horn–Schunck, </a:t>
          </a:r>
          <a:r>
            <a:rPr lang="en-US" sz="2000" kern="1200" dirty="0" err="1"/>
            <a:t>FlowNet</a:t>
          </a:r>
          <a:r>
            <a:rPr lang="en-US" sz="2000" kern="1200" dirty="0"/>
            <a:t>, </a:t>
          </a:r>
          <a:r>
            <a:rPr lang="en-US" sz="2000" kern="1200" dirty="0" err="1"/>
            <a:t>GeoNet</a:t>
          </a:r>
          <a:r>
            <a:rPr lang="en-US" sz="2000" kern="1200" dirty="0"/>
            <a:t>) </a:t>
          </a:r>
          <a:r>
            <a:rPr lang="uk-UA" sz="2000" kern="1200" dirty="0"/>
            <a:t>та </a:t>
          </a:r>
          <a:r>
            <a:rPr lang="uk-UA" sz="2000" kern="1200" dirty="0" err="1"/>
            <a:t>нейромережевого</a:t>
          </a:r>
          <a:r>
            <a:rPr lang="uk-UA" sz="2000" kern="1200" dirty="0"/>
            <a:t> оцінювання глибини (</a:t>
          </a:r>
          <a:r>
            <a:rPr lang="en-US" sz="2000" kern="1200" dirty="0" err="1"/>
            <a:t>MiDaS</a:t>
          </a:r>
          <a:r>
            <a:rPr lang="en-US" sz="2000" kern="1200" dirty="0"/>
            <a:t>, </a:t>
          </a:r>
          <a:r>
            <a:rPr lang="en-US" sz="2000" kern="1200" dirty="0" err="1"/>
            <a:t>DPT_Large</a:t>
          </a:r>
          <a:r>
            <a:rPr lang="en-US" sz="2000" kern="1200" dirty="0"/>
            <a:t>, </a:t>
          </a:r>
          <a:r>
            <a:rPr lang="en-US" sz="2000" kern="1200" dirty="0" err="1"/>
            <a:t>GeoNet</a:t>
          </a:r>
          <a:r>
            <a:rPr lang="en-US" sz="2000" kern="1200" dirty="0"/>
            <a:t>), </a:t>
          </a:r>
          <a:r>
            <a:rPr lang="uk-UA" sz="2000" kern="1200" dirty="0"/>
            <a:t>включаючи метод адаптивного комбінування результатів з використанням ансамблевих підходів </a:t>
          </a:r>
          <a:r>
            <a:rPr lang="en-US" sz="2000" kern="1200" dirty="0"/>
            <a:t>Bagging </a:t>
          </a:r>
          <a:r>
            <a:rPr lang="uk-UA" sz="2000" kern="1200" dirty="0"/>
            <a:t>та </a:t>
          </a:r>
          <a:r>
            <a:rPr lang="en-US" sz="2000" kern="1200" dirty="0"/>
            <a:t>Boosting;</a:t>
          </a:r>
        </a:p>
      </dsp:txBody>
      <dsp:txXfrm>
        <a:off x="81576" y="3448151"/>
        <a:ext cx="9533074" cy="1507937"/>
      </dsp:txXfrm>
    </dsp:sp>
    <dsp:sp modelId="{CDD23F7A-6CCE-4B7E-9ADE-3F0C31AEEE1B}">
      <dsp:nvSpPr>
        <dsp:cNvPr id="0" name=""/>
        <dsp:cNvSpPr/>
      </dsp:nvSpPr>
      <dsp:spPr>
        <a:xfrm>
          <a:off x="0" y="5049350"/>
          <a:ext cx="9696226" cy="167108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kern="1200"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sz="2400" kern="1200" dirty="0"/>
        </a:p>
      </dsp:txBody>
      <dsp:txXfrm>
        <a:off x="81576" y="5130926"/>
        <a:ext cx="9533074" cy="150793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560D42-8794-49FF-91CA-016079B6E200}" type="datetimeFigureOut">
              <a:rPr lang="en-US" smtClean="0"/>
              <a:t>7/24/2026</a:t>
            </a:fld>
            <a:endParaRPr lang="en-US"/>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D210FF-A65C-4C43-9EF1-FEAEFF91A41E}" type="slidenum">
              <a:rPr lang="en-US" smtClean="0"/>
              <a:t>‹#›</a:t>
            </a:fld>
            <a:endParaRPr lang="en-US"/>
          </a:p>
        </p:txBody>
      </p:sp>
    </p:spTree>
    <p:extLst>
      <p:ext uri="{BB962C8B-B14F-4D97-AF65-F5344CB8AC3E}">
        <p14:creationId xmlns:p14="http://schemas.microsoft.com/office/powerpoint/2010/main" val="97918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«Шановні присутні</a:t>
            </a:r>
          </a:p>
          <a:p>
            <a:endParaRPr lang="uk-UA" dirty="0"/>
          </a:p>
          <a:p>
            <a:r>
              <a:rPr lang="uk-UA" dirty="0"/>
              <a:t>Вашій увазі пропонується дисертаційна робота Олексія Михайловича Кондратова на тему: "Моделі, методи та інформаційна технологія дистанційної ідентифікації параметрів динамічних об'єктів".</a:t>
            </a:r>
          </a:p>
          <a:p>
            <a:endParaRPr lang="uk-UA" dirty="0"/>
          </a:p>
          <a:p>
            <a:r>
              <a:rPr lang="uk-UA" dirty="0"/>
              <a:t>Роботу виконано на кафедрі інформаційних систем та технологій Національного технічного університету "Харківський політехнічний інститут" під керівництвом доктора технічних наук, професора </a:t>
            </a:r>
            <a:r>
              <a:rPr lang="uk-UA" dirty="0" err="1"/>
              <a:t>Нікуліної</a:t>
            </a:r>
            <a:r>
              <a:rPr lang="uk-UA" dirty="0"/>
              <a:t> Олени Миколаївни.</a:t>
            </a:r>
          </a:p>
          <a:p>
            <a:endParaRPr lang="uk-UA" dirty="0"/>
          </a:p>
          <a:p>
            <a:r>
              <a:rPr lang="uk-UA" dirty="0"/>
              <a:t>Дисертація подана на здобуття наукового ступеня доктора філософії за спеціальністю 122 – Комп'ютерні науки».</a:t>
            </a:r>
          </a:p>
          <a:p>
            <a:r>
              <a:rPr lang="uk-UA" dirty="0"/>
              <a:t>Титульний</a:t>
            </a:r>
          </a:p>
          <a:p>
            <a:r>
              <a:rPr lang="uk-UA" dirty="0"/>
              <a:t>Що казати:</a:t>
            </a:r>
          </a:p>
          <a:p>
            <a:r>
              <a:rPr lang="uk-UA" dirty="0"/>
              <a:t>«Шановний голово, шановні члени спеціалізованої вченої ради! Вашій увазі пропонується дисертаційна робота на тему: "Моделі, методи та інформаційна технологія дистанційної ідентифікації параметрів динамічних об'єктів", яка подана на здобуття наукового ступеня доктора філософії за спеціальністю 122 "Комп'ютерні науки". Роботу виконано на кафедрі інформаційних систем та технологій Національного технічного університету "Харківський політехнічний інститут" під керівництвом доктора технічних наук, професора </a:t>
            </a:r>
            <a:r>
              <a:rPr lang="uk-UA" dirty="0" err="1"/>
              <a:t>Нікуліної</a:t>
            </a:r>
            <a:r>
              <a:rPr lang="uk-UA" dirty="0"/>
              <a:t> Олени Миколаївни.»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a:t>
            </a:fld>
            <a:endParaRPr lang="en-US"/>
          </a:p>
        </p:txBody>
      </p:sp>
    </p:spTree>
    <p:extLst>
      <p:ext uri="{BB962C8B-B14F-4D97-AF65-F5344CB8AC3E}">
        <p14:creationId xmlns:p14="http://schemas.microsoft.com/office/powerpoint/2010/main" val="1938120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«Актуальність теми зумовлена </a:t>
            </a:r>
            <a:r>
              <a:rPr lang="uk-UA" sz="1200" b="1" i="0" kern="1200" dirty="0">
                <a:solidFill>
                  <a:schemeClr val="tx1"/>
                </a:solidFill>
                <a:effectLst/>
                <a:latin typeface="+mn-lt"/>
                <a:ea typeface="+mn-ea"/>
                <a:cs typeface="+mn-cs"/>
              </a:rPr>
              <a:t>стрімким розвитком</a:t>
            </a:r>
            <a:r>
              <a:rPr lang="uk-UA" sz="1200" b="0" i="0" kern="1200" dirty="0">
                <a:solidFill>
                  <a:schemeClr val="tx1"/>
                </a:solidFill>
                <a:effectLst/>
                <a:latin typeface="+mn-lt"/>
                <a:ea typeface="+mn-ea"/>
                <a:cs typeface="+mn-cs"/>
              </a:rPr>
              <a:t> систем автономного транспорту, відеоспостереження, безпілотних літальних апаратів та робототехніки.</a:t>
            </a:r>
          </a:p>
          <a:p>
            <a:r>
              <a:rPr lang="uk-UA" sz="1200" b="0" i="0" kern="1200" dirty="0">
                <a:solidFill>
                  <a:schemeClr val="tx1"/>
                </a:solidFill>
                <a:effectLst/>
                <a:latin typeface="+mn-lt"/>
                <a:ea typeface="+mn-ea"/>
                <a:cs typeface="+mn-cs"/>
              </a:rPr>
              <a:t>У всіх цих системах виникає </a:t>
            </a:r>
            <a:r>
              <a:rPr lang="uk-UA" sz="1200" b="1" i="0" kern="1200" dirty="0">
                <a:solidFill>
                  <a:schemeClr val="tx1"/>
                </a:solidFill>
                <a:effectLst/>
                <a:latin typeface="+mn-lt"/>
                <a:ea typeface="+mn-ea"/>
                <a:cs typeface="+mn-cs"/>
              </a:rPr>
              <a:t>критична потреба</a:t>
            </a:r>
            <a:r>
              <a:rPr lang="uk-UA" sz="1200" b="0" i="0" kern="1200" dirty="0">
                <a:solidFill>
                  <a:schemeClr val="tx1"/>
                </a:solidFill>
                <a:effectLst/>
                <a:latin typeface="+mn-lt"/>
                <a:ea typeface="+mn-ea"/>
                <a:cs typeface="+mn-cs"/>
              </a:rPr>
              <a:t> в надійному визначенні положення, швидкості, напрямку руху та просторових характеристик об'єктів у режимі реального часу без безпосереднього контакту.</a:t>
            </a:r>
          </a:p>
          <a:p>
            <a:r>
              <a:rPr lang="uk-UA" sz="1200" b="1" i="0" kern="1200" dirty="0">
                <a:solidFill>
                  <a:schemeClr val="tx1"/>
                </a:solidFill>
                <a:effectLst/>
                <a:latin typeface="+mn-lt"/>
                <a:ea typeface="+mn-ea"/>
                <a:cs typeface="+mn-cs"/>
              </a:rPr>
              <a:t>Проблема</a:t>
            </a:r>
            <a:r>
              <a:rPr lang="uk-UA" sz="1200" b="0" i="0" kern="1200" dirty="0">
                <a:solidFill>
                  <a:schemeClr val="tx1"/>
                </a:solidFill>
                <a:effectLst/>
                <a:latin typeface="+mn-lt"/>
                <a:ea typeface="+mn-ea"/>
                <a:cs typeface="+mn-cs"/>
              </a:rPr>
              <a:t> полягає в тому, що існуючі методи виявлення об'єктів, оцінювання оптичного потоку та реконструкції глибини розвиваються </a:t>
            </a:r>
            <a:r>
              <a:rPr lang="uk-UA" sz="1200" b="1" i="0" kern="1200" dirty="0">
                <a:solidFill>
                  <a:schemeClr val="tx1"/>
                </a:solidFill>
                <a:effectLst/>
                <a:latin typeface="+mn-lt"/>
                <a:ea typeface="+mn-ea"/>
                <a:cs typeface="+mn-cs"/>
              </a:rPr>
              <a:t>переважно ізольовано</a:t>
            </a:r>
            <a:r>
              <a:rPr lang="uk-UA" sz="1200" b="0" i="0" kern="1200" dirty="0">
                <a:solidFill>
                  <a:schemeClr val="tx1"/>
                </a:solidFill>
                <a:effectLst/>
                <a:latin typeface="+mn-lt"/>
                <a:ea typeface="+mn-ea"/>
                <a:cs typeface="+mn-cs"/>
              </a:rPr>
              <a:t>. Це призводить до того, що багато систем працюють лише в обмежених умовах – при статичному положенні камери або фіксованому освітленні.</a:t>
            </a:r>
          </a:p>
          <a:p>
            <a:r>
              <a:rPr lang="uk-UA" sz="1200" b="0" i="0" kern="1200" dirty="0">
                <a:solidFill>
                  <a:schemeClr val="tx1"/>
                </a:solidFill>
                <a:effectLst/>
                <a:latin typeface="+mn-lt"/>
                <a:ea typeface="+mn-ea"/>
                <a:cs typeface="+mn-cs"/>
              </a:rPr>
              <a:t>Тому </a:t>
            </a:r>
            <a:r>
              <a:rPr lang="uk-UA" sz="1200" b="1" i="0" kern="1200" dirty="0">
                <a:solidFill>
                  <a:schemeClr val="tx1"/>
                </a:solidFill>
                <a:effectLst/>
                <a:latin typeface="+mn-lt"/>
                <a:ea typeface="+mn-ea"/>
                <a:cs typeface="+mn-cs"/>
              </a:rPr>
              <a:t>актуальним науковим завданням</a:t>
            </a:r>
            <a:r>
              <a:rPr lang="uk-UA" sz="1200" b="0" i="0" kern="1200" dirty="0">
                <a:solidFill>
                  <a:schemeClr val="tx1"/>
                </a:solidFill>
                <a:effectLst/>
                <a:latin typeface="+mn-lt"/>
                <a:ea typeface="+mn-ea"/>
                <a:cs typeface="+mn-cs"/>
              </a:rPr>
              <a:t> є створення </a:t>
            </a:r>
            <a:r>
              <a:rPr lang="uk-UA" sz="1200" b="1" i="0" kern="1200" dirty="0">
                <a:solidFill>
                  <a:schemeClr val="tx1"/>
                </a:solidFill>
                <a:effectLst/>
                <a:latin typeface="+mn-lt"/>
                <a:ea typeface="+mn-ea"/>
                <a:cs typeface="+mn-cs"/>
              </a:rPr>
              <a:t>інтегрованої інформаційної технології</a:t>
            </a:r>
            <a:r>
              <a:rPr lang="uk-UA" sz="1200" b="0" i="0" kern="1200" dirty="0">
                <a:solidFill>
                  <a:schemeClr val="tx1"/>
                </a:solidFill>
                <a:effectLst/>
                <a:latin typeface="+mn-lt"/>
                <a:ea typeface="+mn-ea"/>
                <a:cs typeface="+mn-cs"/>
              </a:rPr>
              <a:t>, яка поєднує </a:t>
            </a:r>
            <a:r>
              <a:rPr lang="uk-UA" sz="1200" b="0" i="0" kern="1200" dirty="0" err="1">
                <a:solidFill>
                  <a:schemeClr val="tx1"/>
                </a:solidFill>
                <a:effectLst/>
                <a:latin typeface="+mn-lt"/>
                <a:ea typeface="+mn-ea"/>
                <a:cs typeface="+mn-cs"/>
              </a:rPr>
              <a:t>трансформерне</a:t>
            </a:r>
            <a:r>
              <a:rPr lang="uk-UA" sz="1200" b="0" i="0" kern="1200" dirty="0">
                <a:solidFill>
                  <a:schemeClr val="tx1"/>
                </a:solidFill>
                <a:effectLst/>
                <a:latin typeface="+mn-lt"/>
                <a:ea typeface="+mn-ea"/>
                <a:cs typeface="+mn-cs"/>
              </a:rPr>
              <a:t> виявлення об'єктів, методи оптичного потоку, </a:t>
            </a:r>
            <a:r>
              <a:rPr lang="uk-UA" sz="1200" b="0" i="0" kern="1200" dirty="0" err="1">
                <a:solidFill>
                  <a:schemeClr val="tx1"/>
                </a:solidFill>
                <a:effectLst/>
                <a:latin typeface="+mn-lt"/>
                <a:ea typeface="+mn-ea"/>
                <a:cs typeface="+mn-cs"/>
              </a:rPr>
              <a:t>нейромережеву</a:t>
            </a:r>
            <a:r>
              <a:rPr lang="uk-UA" sz="1200" b="0" i="0" kern="1200" dirty="0">
                <a:solidFill>
                  <a:schemeClr val="tx1"/>
                </a:solidFill>
                <a:effectLst/>
                <a:latin typeface="+mn-lt"/>
                <a:ea typeface="+mn-ea"/>
                <a:cs typeface="+mn-cs"/>
              </a:rPr>
              <a:t> оцінку глибини та ансамблеві методи для підвищення стійкості в умовах шумів, оклюзій та зміни освітлення».</a:t>
            </a:r>
          </a:p>
          <a:p>
            <a:br>
              <a:rPr lang="uk-UA" dirty="0"/>
            </a:br>
            <a:r>
              <a:rPr lang="uk-UA" dirty="0"/>
              <a:t>Актуальність теми</a:t>
            </a:r>
          </a:p>
          <a:p>
            <a:r>
              <a:rPr lang="uk-UA" dirty="0"/>
              <a:t>Що казати:</a:t>
            </a:r>
          </a:p>
          <a:p>
            <a:r>
              <a:rPr lang="uk-UA" dirty="0"/>
              <a:t>«Актуальність теми дослідження зумовлена стрімким розвитком систем автономного транспорту, відеоспостереження, безпілотних літальних апаратів та робототехніки. У всіх цих системах виникає критична потреба у надійному визначенні положення, швидкості, напрямку руху та просторових характеристик об'єктів у режимі реального часу без безпосереднього контакту з ними.</a:t>
            </a:r>
          </a:p>
          <a:p>
            <a:endParaRPr lang="uk-UA" dirty="0"/>
          </a:p>
          <a:p>
            <a:r>
              <a:rPr lang="uk-UA" dirty="0"/>
              <a:t>Існуючі методи виявлення об'єктів, оцінювання оптичного потоку та реконструкції глибини розвиваються переважно ізольовано. Це призводить до того, що багато систем працюють лише в обмежених умовах – при статичній камері або фіксованому освітленні. Тому актуальним є створення інтегрованої інформаційної технології, яка поєднує </a:t>
            </a:r>
            <a:r>
              <a:rPr lang="uk-UA" dirty="0" err="1"/>
              <a:t>трансформерне</a:t>
            </a:r>
            <a:r>
              <a:rPr lang="uk-UA" dirty="0"/>
              <a:t> виявлення об'єктів, методи оптичного потоку, </a:t>
            </a:r>
            <a:r>
              <a:rPr lang="uk-UA" dirty="0" err="1"/>
              <a:t>нейромережеву</a:t>
            </a:r>
            <a:r>
              <a:rPr lang="uk-UA" dirty="0"/>
              <a:t> оцінку глибини та ансамблеві методи для підвищення стійкості в умовах шумів, оклюзій та зміни освітлення.»</a:t>
            </a:r>
          </a:p>
          <a:p>
            <a:endParaRPr lang="uk-UA" dirty="0"/>
          </a:p>
          <a:p>
            <a:r>
              <a:rPr lang="uk-UA" sz="1200" kern="1200" dirty="0">
                <a:solidFill>
                  <a:schemeClr val="tx1"/>
                </a:solidFill>
                <a:effectLst/>
                <a:latin typeface="+mn-lt"/>
                <a:ea typeface="+mn-ea"/>
                <a:cs typeface="+mn-cs"/>
              </a:rPr>
              <a:t>Дисертаційна робота присвячена розробленню моделей, методів та інформаційної технології дистанційної ідентифікації параметрів динамічних об'єктів за відеоданими. Актуальність теми зумовлена потребою у надійному визначенні положення, швидкості, напряму руху, траєкторії та просторових характеристик об'єктів у режимі реального часу без безпосереднього контакту з ними. Задачі дистанційної ідентифікації параметрів динамічних об'єктів (ДІПДО) відрізняються високими вимогами до методів та інформаційних технологій їх реалізації. Це необхідність обробки відеоданих у реальному часі, здатність працювати з шумами, оклюзіями та зміною освітлення, забезпечення високої точності визначення просторових, кінематичних та структурних параметрів об'єктів, а також адаптивність до динамічної зміни характеристик середовища спостереження. На сучасному етапі розвитку комп'ютерного зору та глибокого навчання існує широкий спектр методів виявлення об'єктів, оцінювання оптичного потоку та реконструкції глибини сцени. Однак задача інтеграції цих методів в єдину інформаційну технологію, здатну забезпечити надійну ідентифікацію параметрів динамічних об'єктів у реальних умовах експлуатації, відрізняється своєю складністю.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По-перше, необхідно забезпечити сумісну роботу різнорідних модулів: детектора об'єктів (наприклад, </a:t>
            </a:r>
            <a:r>
              <a:rPr lang="uk-UA" sz="1200" kern="1200" dirty="0" err="1">
                <a:solidFill>
                  <a:schemeClr val="tx1"/>
                </a:solidFill>
                <a:effectLst/>
                <a:latin typeface="+mn-lt"/>
                <a:ea typeface="+mn-ea"/>
                <a:cs typeface="+mn-cs"/>
              </a:rPr>
              <a:t>трансформерної</a:t>
            </a:r>
            <a:r>
              <a:rPr lang="uk-UA" sz="1200" kern="1200" dirty="0">
                <a:solidFill>
                  <a:schemeClr val="tx1"/>
                </a:solidFill>
                <a:effectLst/>
                <a:latin typeface="+mn-lt"/>
                <a:ea typeface="+mn-ea"/>
                <a:cs typeface="+mn-cs"/>
              </a:rPr>
              <a:t> моделі DETR), алгоритмів оптичного потоку (</a:t>
            </a:r>
            <a:r>
              <a:rPr lang="uk-UA" sz="1200" kern="1200" dirty="0" err="1">
                <a:solidFill>
                  <a:schemeClr val="tx1"/>
                </a:solidFill>
                <a:effectLst/>
                <a:latin typeface="+mn-lt"/>
                <a:ea typeface="+mn-ea"/>
                <a:cs typeface="+mn-cs"/>
              </a:rPr>
              <a:t>Farneback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Lucas‑Kanade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Horn‑Schunck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FlowNet</a:t>
            </a:r>
            <a:r>
              <a:rPr lang="uk-UA" sz="1200" kern="1200" dirty="0">
                <a:solidFill>
                  <a:schemeClr val="tx1"/>
                </a:solidFill>
                <a:effectLst/>
                <a:latin typeface="+mn-lt"/>
                <a:ea typeface="+mn-ea"/>
                <a:cs typeface="+mn-cs"/>
              </a:rPr>
              <a:t>) та методів оцінювання глибини (</a:t>
            </a:r>
            <a:r>
              <a:rPr lang="uk-UA" sz="1200" kern="1200" dirty="0" err="1">
                <a:solidFill>
                  <a:schemeClr val="tx1"/>
                </a:solidFill>
                <a:effectLst/>
                <a:latin typeface="+mn-lt"/>
                <a:ea typeface="+mn-ea"/>
                <a:cs typeface="+mn-cs"/>
              </a:rPr>
              <a:t>MiDaS</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DPT_Large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GeoNet</a:t>
            </a:r>
            <a:r>
              <a:rPr lang="uk-UA" sz="1200" kern="1200" dirty="0">
                <a:solidFill>
                  <a:schemeClr val="tx1"/>
                </a:solidFill>
                <a:effectLst/>
                <a:latin typeface="+mn-lt"/>
                <a:ea typeface="+mn-ea"/>
                <a:cs typeface="+mn-cs"/>
              </a:rPr>
              <a:t>). Враховуючи, що умови спостереження (освітлення, рівень шумів, наявність оклюзій, швидкість руху об'єктів) часто змінюються протягом </a:t>
            </a:r>
            <a:r>
              <a:rPr lang="uk-UA" sz="1200" kern="1200" dirty="0" err="1">
                <a:solidFill>
                  <a:schemeClr val="tx1"/>
                </a:solidFill>
                <a:effectLst/>
                <a:latin typeface="+mn-lt"/>
                <a:ea typeface="+mn-ea"/>
                <a:cs typeface="+mn-cs"/>
              </a:rPr>
              <a:t>відеопослідовності</a:t>
            </a:r>
            <a:r>
              <a:rPr lang="uk-UA" sz="1200" kern="1200" dirty="0">
                <a:solidFill>
                  <a:schemeClr val="tx1"/>
                </a:solidFill>
                <a:effectLst/>
                <a:latin typeface="+mn-lt"/>
                <a:ea typeface="+mn-ea"/>
                <a:cs typeface="+mn-cs"/>
              </a:rPr>
              <a:t>, відповідно змінюються вимоги до точності та стійкості кожного з модулів.</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По-друге, треба оцінити якість роботи різних комбінацій методів ДІПДО. Такі оцінки, як правило, є багатокритеріальними та включають метрики для оптичного потоку (EPE, AAE), для глибини (RMSE, MAE, PSNR) та для сегментації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що ускладнює вибір оптимальної конфігурації.</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По-третє, слід розв'язати задачу підвищення стійкості ідентифікації в умовах невизначеності (шумів, оклюзій, зміни освітлення). Ця задача вирішується, як правило, шляхом застосування ансамблевих методів </a:t>
            </a:r>
            <a:r>
              <a:rPr lang="uk-UA" sz="1200" kern="1200" dirty="0" err="1">
                <a:solidFill>
                  <a:schemeClr val="tx1"/>
                </a:solidFill>
                <a:effectLst/>
                <a:latin typeface="+mn-lt"/>
                <a:ea typeface="+mn-ea"/>
                <a:cs typeface="+mn-cs"/>
              </a:rPr>
              <a:t>бегінгу</a:t>
            </a:r>
            <a:r>
              <a:rPr lang="uk-UA" sz="1200" kern="1200" dirty="0">
                <a:solidFill>
                  <a:schemeClr val="tx1"/>
                </a:solidFill>
                <a:effectLst/>
                <a:latin typeface="+mn-lt"/>
                <a:ea typeface="+mn-ea"/>
                <a:cs typeface="+mn-cs"/>
              </a:rPr>
              <a:t> та </a:t>
            </a:r>
            <a:r>
              <a:rPr lang="uk-UA" sz="1200" kern="1200" dirty="0" err="1">
                <a:solidFill>
                  <a:schemeClr val="tx1"/>
                </a:solidFill>
                <a:effectLst/>
                <a:latin typeface="+mn-lt"/>
                <a:ea typeface="+mn-ea"/>
                <a:cs typeface="+mn-cs"/>
              </a:rPr>
              <a:t>бустінгу</a:t>
            </a:r>
            <a:r>
              <a:rPr lang="uk-UA" sz="1200" kern="1200" dirty="0">
                <a:solidFill>
                  <a:schemeClr val="tx1"/>
                </a:solidFill>
                <a:effectLst/>
                <a:latin typeface="+mn-lt"/>
                <a:ea typeface="+mn-ea"/>
                <a:cs typeface="+mn-cs"/>
              </a:rPr>
              <a:t>, які потребують додаткового налаштування та обґрунтування доцільності їх використання в конкретних сценаріях.</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Вказані фактори призводять до того, що багато існуючих систем дистанційної ідентифікації або працюють лише в обмежених умовах (наприклад, при статичній камері або фіксованому освітленні), або потребують значного обчислювального ресурсу, що унеможливлює їх роботу в реальному часі.</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Питанням дистанційної ідентифікації параметрів динамічних об'єктів присвячено цілий ряд робіт вітчизняних та закордонних вчених. Однак запропоновані в них моделі та методи не враховують важливі особливості задачі, зокрема необхідність інтеграції </a:t>
            </a:r>
            <a:r>
              <a:rPr lang="uk-UA" sz="1200" kern="1200" dirty="0" err="1">
                <a:solidFill>
                  <a:schemeClr val="tx1"/>
                </a:solidFill>
                <a:effectLst/>
                <a:latin typeface="+mn-lt"/>
                <a:ea typeface="+mn-ea"/>
                <a:cs typeface="+mn-cs"/>
              </a:rPr>
              <a:t>трансформерного</a:t>
            </a:r>
            <a:r>
              <a:rPr lang="uk-UA" sz="1200" kern="1200" dirty="0">
                <a:solidFill>
                  <a:schemeClr val="tx1"/>
                </a:solidFill>
                <a:effectLst/>
                <a:latin typeface="+mn-lt"/>
                <a:ea typeface="+mn-ea"/>
                <a:cs typeface="+mn-cs"/>
              </a:rPr>
              <a:t> виявлення, оптичного потоку та оцінювання глибини в єдину інформаційну технологію з ансамблевою корекцією результатів.</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Великий вплив якості ідентифікації параметрів динамічних об'єктів на ефективність систем відеоспостереження, автономного транспорту, робототехніки та промислового моніторингу і, в той же час, складність розв'язання задачі інтеграції різнорідних методів роблять </a:t>
            </a:r>
            <a:r>
              <a:rPr lang="uk-UA" sz="1200" b="1" kern="1200" dirty="0">
                <a:solidFill>
                  <a:schemeClr val="tx1"/>
                </a:solidFill>
                <a:effectLst/>
                <a:latin typeface="+mn-lt"/>
                <a:ea typeface="+mn-ea"/>
                <a:cs typeface="+mn-cs"/>
              </a:rPr>
              <a:t>актуальною  наукову задачу</a:t>
            </a:r>
            <a:r>
              <a:rPr lang="uk-UA" sz="1200" kern="1200" dirty="0">
                <a:solidFill>
                  <a:schemeClr val="tx1"/>
                </a:solidFill>
                <a:effectLst/>
                <a:latin typeface="+mn-lt"/>
                <a:ea typeface="+mn-ea"/>
                <a:cs typeface="+mn-cs"/>
              </a:rPr>
              <a:t> з розробки моделей, методів та інформаційної технології дистанційної ідентифікації параметрів динамічних об'єктів в умовах невизначеності, яке має істотне значення для розвитку інформаційних технологій комп'ютерного зору.</a:t>
            </a:r>
            <a:endParaRPr lang="en-US" sz="1200" kern="1200" dirty="0">
              <a:solidFill>
                <a:schemeClr val="tx1"/>
              </a:solidFill>
              <a:effectLst/>
              <a:latin typeface="+mn-lt"/>
              <a:ea typeface="+mn-ea"/>
              <a:cs typeface="+mn-cs"/>
            </a:endParaRPr>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a:t>
            </a:fld>
            <a:endParaRPr lang="en-US"/>
          </a:p>
        </p:txBody>
      </p:sp>
    </p:spTree>
    <p:extLst>
      <p:ext uri="{BB962C8B-B14F-4D97-AF65-F5344CB8AC3E}">
        <p14:creationId xmlns:p14="http://schemas.microsoft.com/office/powerpoint/2010/main" val="4047712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«Мета роботи – підвищення точності, надійності та адаптивності дистанційної ідентифікації параметрів динамічних об'єктів шляхом розробки відповідних моделей, методів та інформаційної технології.</a:t>
            </a:r>
          </a:p>
          <a:p>
            <a:endParaRPr lang="uk-UA" dirty="0"/>
          </a:p>
          <a:p>
            <a:r>
              <a:rPr lang="uk-UA" dirty="0"/>
              <a:t>Об'єкт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endParaRPr lang="uk-UA" dirty="0"/>
          </a:p>
          <a:p>
            <a:r>
              <a:rPr lang="uk-UA" dirty="0"/>
              <a:t>Предмет дослідження – моделі, методи та інформаційна технологія визначення просторових, кінематичних і структурних параметрів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a:t>
            </a:r>
          </a:p>
          <a:p>
            <a:endParaRPr lang="uk-UA" dirty="0"/>
          </a:p>
          <a:p>
            <a:r>
              <a:rPr lang="uk-UA" dirty="0"/>
              <a:t>Методи, які були використані: комп'ютерний зір, глибоке навчання – зокрема архітектури </a:t>
            </a:r>
            <a:r>
              <a:rPr lang="en-US" dirty="0"/>
              <a:t>DETR, </a:t>
            </a:r>
            <a:r>
              <a:rPr lang="en-US" dirty="0" err="1"/>
              <a:t>FlowNet</a:t>
            </a:r>
            <a:r>
              <a:rPr lang="en-US" dirty="0"/>
              <a:t>, </a:t>
            </a:r>
            <a:r>
              <a:rPr lang="en-US" dirty="0" err="1"/>
              <a:t>MiDaS</a:t>
            </a:r>
            <a:r>
              <a:rPr lang="en-US" dirty="0"/>
              <a:t>, DPT;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ансамблеві методи </a:t>
            </a:r>
            <a:r>
              <a:rPr lang="en-US" dirty="0"/>
              <a:t>Bagging </a:t>
            </a:r>
            <a:r>
              <a:rPr lang="uk-UA" dirty="0"/>
              <a:t>та </a:t>
            </a:r>
            <a:r>
              <a:rPr lang="en-US" dirty="0"/>
              <a:t>Boosting; </a:t>
            </a:r>
            <a:r>
              <a:rPr lang="uk-UA" dirty="0"/>
              <a:t>а також математичне моделювання та теорія ймовірностей».</a:t>
            </a:r>
          </a:p>
          <a:p>
            <a:pPr marL="0" marR="0" lvl="0" indent="0" algn="l" defTabSz="914400" rtl="0" eaLnBrk="1" fontAlgn="auto" latinLnBrk="0" hangingPunct="1">
              <a:lnSpc>
                <a:spcPct val="100000"/>
              </a:lnSpc>
              <a:spcBef>
                <a:spcPts val="0"/>
              </a:spcBef>
              <a:spcAft>
                <a:spcPts val="0"/>
              </a:spcAft>
              <a:buClrTx/>
              <a:buSzTx/>
              <a:buFontTx/>
              <a:buNone/>
              <a:tabLst/>
              <a:defRPr/>
            </a:pPr>
            <a:r>
              <a:rPr lang="uk-UA" dirty="0"/>
              <a:t>-----------------------------------------------------------------------</a:t>
            </a:r>
          </a:p>
          <a:p>
            <a:r>
              <a:rPr lang="uk-UA" dirty="0"/>
              <a:t>Мета, об'єкт, предмет та методи</a:t>
            </a:r>
          </a:p>
          <a:p>
            <a:r>
              <a:rPr lang="uk-UA" dirty="0"/>
              <a:t>Що казати:</a:t>
            </a:r>
          </a:p>
          <a:p>
            <a:r>
              <a:rPr lang="uk-UA" dirty="0"/>
              <a:t>«Метою дисертаційної роботи є підвищення точності, надійності та адаптивності дистанційної ідентифікації параметрів динамічних об'єктів шляхом розробки моделей, методів та інформаційної технології.</a:t>
            </a:r>
          </a:p>
          <a:p>
            <a:endParaRPr lang="uk-UA" dirty="0"/>
          </a:p>
          <a:p>
            <a:r>
              <a:rPr lang="uk-UA" dirty="0"/>
              <a:t>Об'єктом дослідження є процес дистанційної ідентифікації параметрів динамічних об'єктів у </a:t>
            </a:r>
            <a:r>
              <a:rPr lang="uk-UA" dirty="0" err="1"/>
              <a:t>відеопотоках</a:t>
            </a:r>
            <a:r>
              <a:rPr lang="uk-UA" dirty="0"/>
              <a:t> та сенсорних даних.</a:t>
            </a:r>
          </a:p>
          <a:p>
            <a:endParaRPr lang="uk-UA" dirty="0"/>
          </a:p>
          <a:p>
            <a:r>
              <a:rPr lang="uk-UA" dirty="0"/>
              <a:t>Предметом дослідження є моделі, методи та інформаційна технологія визначення просторових, кінематичних і структурних параметрів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a:t>
            </a:r>
          </a:p>
          <a:p>
            <a:endParaRPr lang="uk-UA" dirty="0"/>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a:t>
            </a:fld>
            <a:endParaRPr lang="en-US"/>
          </a:p>
        </p:txBody>
      </p:sp>
    </p:spTree>
    <p:extLst>
      <p:ext uri="{BB962C8B-B14F-4D97-AF65-F5344CB8AC3E}">
        <p14:creationId xmlns:p14="http://schemas.microsoft.com/office/powerpoint/2010/main" val="3501981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показано </a:t>
            </a:r>
            <a:r>
              <a:rPr lang="ru-RU" dirty="0" err="1"/>
              <a:t>логіку</a:t>
            </a:r>
            <a:r>
              <a:rPr lang="ru-RU" dirty="0"/>
              <a:t> </a:t>
            </a:r>
            <a:r>
              <a:rPr lang="ru-RU" dirty="0" err="1"/>
              <a:t>всієї</a:t>
            </a:r>
            <a:r>
              <a:rPr lang="ru-RU" dirty="0"/>
              <a:t> </a:t>
            </a:r>
            <a:r>
              <a:rPr lang="ru-RU" dirty="0" err="1"/>
              <a:t>дисертаційної</a:t>
            </a:r>
            <a:r>
              <a:rPr lang="ru-RU" dirty="0"/>
              <a:t> </a:t>
            </a:r>
            <a:r>
              <a:rPr lang="ru-RU" dirty="0" err="1"/>
              <a:t>роботи</a:t>
            </a:r>
            <a:r>
              <a:rPr lang="ru-RU" dirty="0"/>
              <a:t>: </a:t>
            </a:r>
            <a:r>
              <a:rPr lang="ru-RU" dirty="0" err="1"/>
              <a:t>від</a:t>
            </a:r>
            <a:r>
              <a:rPr lang="ru-RU" dirty="0"/>
              <a:t> </a:t>
            </a:r>
            <a:r>
              <a:rPr lang="ru-RU" dirty="0" err="1"/>
              <a:t>аналізу</a:t>
            </a:r>
            <a:r>
              <a:rPr lang="ru-RU" dirty="0"/>
              <a:t> </a:t>
            </a:r>
            <a:r>
              <a:rPr lang="ru-RU" dirty="0" err="1"/>
              <a:t>предметної</a:t>
            </a:r>
            <a:r>
              <a:rPr lang="ru-RU" dirty="0"/>
              <a:t> </a:t>
            </a:r>
            <a:r>
              <a:rPr lang="ru-RU" dirty="0" err="1"/>
              <a:t>області</a:t>
            </a:r>
            <a:r>
              <a:rPr lang="ru-RU" dirty="0"/>
              <a:t> до </a:t>
            </a:r>
            <a:r>
              <a:rPr lang="ru-RU" dirty="0" err="1"/>
              <a:t>створення</a:t>
            </a:r>
            <a:r>
              <a:rPr lang="ru-RU" dirty="0"/>
              <a:t> </a:t>
            </a:r>
            <a:r>
              <a:rPr lang="ru-RU" dirty="0" err="1"/>
              <a:t>інформаційної</a:t>
            </a:r>
            <a:r>
              <a:rPr lang="ru-RU" dirty="0"/>
              <a:t> </a:t>
            </a:r>
            <a:r>
              <a:rPr lang="ru-RU" dirty="0" err="1"/>
              <a:t>технології</a:t>
            </a:r>
            <a:r>
              <a:rPr lang="ru-RU" dirty="0"/>
              <a:t>. Робота </a:t>
            </a:r>
            <a:r>
              <a:rPr lang="ru-RU" dirty="0" err="1"/>
              <a:t>складається</a:t>
            </a:r>
            <a:r>
              <a:rPr lang="ru-RU" dirty="0"/>
              <a:t> з </a:t>
            </a:r>
            <a:r>
              <a:rPr lang="ru-RU" dirty="0" err="1"/>
              <a:t>чотирьох</a:t>
            </a:r>
            <a:r>
              <a:rPr lang="ru-RU" dirty="0"/>
              <a:t> </a:t>
            </a:r>
            <a:r>
              <a:rPr lang="ru-RU" dirty="0" err="1"/>
              <a:t>розділів</a:t>
            </a:r>
            <a:r>
              <a:rPr lang="ru-RU" dirty="0"/>
              <a:t>, і </a:t>
            </a:r>
            <a:r>
              <a:rPr lang="ru-RU" dirty="0" err="1"/>
              <a:t>кожен</a:t>
            </a:r>
            <a:r>
              <a:rPr lang="ru-RU" dirty="0"/>
              <a:t> </a:t>
            </a:r>
            <a:r>
              <a:rPr lang="ru-RU" dirty="0" err="1"/>
              <a:t>розділ</a:t>
            </a:r>
            <a:r>
              <a:rPr lang="ru-RU" dirty="0"/>
              <a:t> </a:t>
            </a:r>
            <a:r>
              <a:rPr lang="ru-RU" dirty="0" err="1"/>
              <a:t>пов'язаний</a:t>
            </a:r>
            <a:r>
              <a:rPr lang="ru-RU" dirty="0"/>
              <a:t> </a:t>
            </a:r>
            <a:r>
              <a:rPr lang="ru-RU" dirty="0" err="1"/>
              <a:t>із</a:t>
            </a:r>
            <a:r>
              <a:rPr lang="ru-RU" dirty="0"/>
              <a:t> конкретною задачею </a:t>
            </a:r>
            <a:r>
              <a:rPr lang="ru-RU" dirty="0" err="1"/>
              <a:t>дослідження</a:t>
            </a:r>
            <a:r>
              <a:rPr lang="ru-RU" dirty="0"/>
              <a:t>.</a:t>
            </a:r>
          </a:p>
          <a:p>
            <a:r>
              <a:rPr lang="ru-RU" dirty="0"/>
              <a:t>У </a:t>
            </a:r>
            <a:r>
              <a:rPr lang="ru-RU" dirty="0" err="1"/>
              <a:t>верхній</a:t>
            </a:r>
            <a:r>
              <a:rPr lang="ru-RU" dirty="0"/>
              <a:t> </a:t>
            </a:r>
            <a:r>
              <a:rPr lang="ru-RU" dirty="0" err="1"/>
              <a:t>частині</a:t>
            </a:r>
            <a:r>
              <a:rPr lang="ru-RU" dirty="0"/>
              <a:t> подано </a:t>
            </a:r>
            <a:r>
              <a:rPr lang="ru-RU" dirty="0" err="1"/>
              <a:t>основні</a:t>
            </a:r>
            <a:r>
              <a:rPr lang="ru-RU" dirty="0"/>
              <a:t> </a:t>
            </a:r>
            <a:r>
              <a:rPr lang="ru-RU" dirty="0" err="1"/>
              <a:t>розділи</a:t>
            </a:r>
            <a:r>
              <a:rPr lang="ru-RU" dirty="0"/>
              <a:t> </a:t>
            </a:r>
            <a:r>
              <a:rPr lang="ru-RU" dirty="0" err="1"/>
              <a:t>роботи</a:t>
            </a:r>
            <a:r>
              <a:rPr lang="ru-RU" dirty="0"/>
              <a:t>, у </a:t>
            </a:r>
            <a:r>
              <a:rPr lang="ru-RU" dirty="0" err="1"/>
              <a:t>середній</a:t>
            </a:r>
            <a:r>
              <a:rPr lang="ru-RU" dirty="0"/>
              <a:t> — </a:t>
            </a:r>
            <a:r>
              <a:rPr lang="ru-RU" dirty="0" err="1"/>
              <a:t>задачі</a:t>
            </a:r>
            <a:r>
              <a:rPr lang="ru-RU" dirty="0"/>
              <a:t>, </a:t>
            </a:r>
            <a:r>
              <a:rPr lang="ru-RU" dirty="0" err="1"/>
              <a:t>які</a:t>
            </a:r>
            <a:r>
              <a:rPr lang="ru-RU" dirty="0"/>
              <a:t> </a:t>
            </a:r>
            <a:r>
              <a:rPr lang="ru-RU" dirty="0" err="1"/>
              <a:t>вирішуються</a:t>
            </a:r>
            <a:r>
              <a:rPr lang="ru-RU" dirty="0"/>
              <a:t> в межах </a:t>
            </a:r>
            <a:r>
              <a:rPr lang="ru-RU" dirty="0" err="1"/>
              <a:t>цих</a:t>
            </a:r>
            <a:r>
              <a:rPr lang="ru-RU" dirty="0"/>
              <a:t> </a:t>
            </a:r>
            <a:r>
              <a:rPr lang="ru-RU" dirty="0" err="1"/>
              <a:t>розділів</a:t>
            </a:r>
            <a:r>
              <a:rPr lang="ru-RU" dirty="0"/>
              <a:t>, а в </a:t>
            </a:r>
            <a:r>
              <a:rPr lang="ru-RU" dirty="0" err="1"/>
              <a:t>нижній</a:t>
            </a:r>
            <a:r>
              <a:rPr lang="ru-RU" dirty="0"/>
              <a:t> — </a:t>
            </a:r>
            <a:r>
              <a:rPr lang="ru-RU" dirty="0" err="1"/>
              <a:t>положення</a:t>
            </a:r>
            <a:r>
              <a:rPr lang="ru-RU" dirty="0"/>
              <a:t> </a:t>
            </a:r>
            <a:r>
              <a:rPr lang="ru-RU" dirty="0" err="1"/>
              <a:t>наукової</a:t>
            </a:r>
            <a:r>
              <a:rPr lang="ru-RU" dirty="0"/>
              <a:t> </a:t>
            </a:r>
            <a:r>
              <a:rPr lang="ru-RU" dirty="0" err="1"/>
              <a:t>новизни</a:t>
            </a:r>
            <a:r>
              <a:rPr lang="ru-RU" dirty="0"/>
              <a:t>. </a:t>
            </a:r>
            <a:r>
              <a:rPr lang="ru-RU" dirty="0" err="1"/>
              <a:t>Важливо</a:t>
            </a:r>
            <a:r>
              <a:rPr lang="ru-RU" dirty="0"/>
              <a:t> </a:t>
            </a:r>
            <a:r>
              <a:rPr lang="ru-RU" dirty="0" err="1"/>
              <a:t>підкреслити</a:t>
            </a:r>
            <a:r>
              <a:rPr lang="ru-RU" dirty="0"/>
              <a:t>, </a:t>
            </a:r>
            <a:r>
              <a:rPr lang="ru-RU" dirty="0" err="1"/>
              <a:t>що</a:t>
            </a:r>
            <a:r>
              <a:rPr lang="ru-RU" dirty="0"/>
              <a:t> </a:t>
            </a:r>
            <a:r>
              <a:rPr lang="ru-RU" dirty="0" err="1"/>
              <a:t>наукова</a:t>
            </a:r>
            <a:r>
              <a:rPr lang="ru-RU" dirty="0"/>
              <a:t> новизна </a:t>
            </a:r>
            <a:r>
              <a:rPr lang="ru-RU" dirty="0" err="1"/>
              <a:t>безпосередньо</a:t>
            </a:r>
            <a:r>
              <a:rPr lang="ru-RU" dirty="0"/>
              <a:t> </a:t>
            </a:r>
            <a:r>
              <a:rPr lang="ru-RU" dirty="0" err="1"/>
              <a:t>випливає</a:t>
            </a:r>
            <a:r>
              <a:rPr lang="ru-RU" dirty="0"/>
              <a:t> з </a:t>
            </a:r>
            <a:r>
              <a:rPr lang="ru-RU" dirty="0" err="1"/>
              <a:t>розроблених</a:t>
            </a:r>
            <a:r>
              <a:rPr lang="ru-RU" dirty="0"/>
              <a:t> моделей, </a:t>
            </a:r>
            <a:r>
              <a:rPr lang="ru-RU" dirty="0" err="1"/>
              <a:t>методів</a:t>
            </a:r>
            <a:r>
              <a:rPr lang="ru-RU" dirty="0"/>
              <a:t> та </a:t>
            </a:r>
            <a:r>
              <a:rPr lang="ru-RU" dirty="0" err="1"/>
              <a:t>інформаційної</a:t>
            </a:r>
            <a:r>
              <a:rPr lang="ru-RU" dirty="0"/>
              <a:t> </a:t>
            </a:r>
            <a:r>
              <a:rPr lang="ru-RU" dirty="0" err="1"/>
              <a:t>технології</a:t>
            </a:r>
            <a:r>
              <a:rPr lang="ru-RU" dirty="0"/>
              <a:t> ДІПДО (</a:t>
            </a:r>
            <a:r>
              <a:rPr lang="ru-RU" dirty="0" err="1"/>
              <a:t>дистанційної</a:t>
            </a:r>
            <a:r>
              <a:rPr lang="ru-RU" dirty="0"/>
              <a:t> </a:t>
            </a:r>
            <a:r>
              <a:rPr lang="ru-RU" dirty="0" err="1"/>
              <a:t>ідентифікації</a:t>
            </a:r>
            <a:r>
              <a:rPr lang="ru-RU" dirty="0"/>
              <a:t> </a:t>
            </a:r>
            <a:r>
              <a:rPr lang="ru-RU" dirty="0" err="1"/>
              <a:t>параметрів</a:t>
            </a:r>
            <a:r>
              <a:rPr lang="ru-RU" dirty="0"/>
              <a:t> </a:t>
            </a:r>
            <a:r>
              <a:rPr lang="ru-RU" dirty="0" err="1"/>
              <a:t>динамічних</a:t>
            </a:r>
            <a:r>
              <a:rPr lang="ru-RU" dirty="0"/>
              <a:t> </a:t>
            </a:r>
            <a:r>
              <a:rPr lang="ru-RU" dirty="0" err="1"/>
              <a:t>об'єктів</a:t>
            </a:r>
            <a:r>
              <a:rPr lang="ru-RU" dirty="0"/>
              <a:t>).</a:t>
            </a:r>
          </a:p>
          <a:p>
            <a:r>
              <a:rPr lang="ru-RU" dirty="0" err="1"/>
              <a:t>Зокрема</a:t>
            </a:r>
            <a:r>
              <a:rPr lang="ru-RU" dirty="0"/>
              <a:t>, новизна </a:t>
            </a:r>
            <a:r>
              <a:rPr lang="ru-RU" dirty="0" err="1"/>
              <a:t>полягає</a:t>
            </a:r>
            <a:r>
              <a:rPr lang="ru-RU" dirty="0"/>
              <a:t> у </a:t>
            </a:r>
            <a:r>
              <a:rPr lang="ru-RU" dirty="0" err="1"/>
              <a:t>поєднанні</a:t>
            </a:r>
            <a:r>
              <a:rPr lang="ru-RU" dirty="0"/>
              <a:t> </a:t>
            </a:r>
            <a:r>
              <a:rPr lang="en-US" dirty="0"/>
              <a:t>DETR (Detection Transformer — </a:t>
            </a:r>
            <a:r>
              <a:rPr lang="ru-RU" dirty="0"/>
              <a:t>трансформер </a:t>
            </a:r>
            <a:r>
              <a:rPr lang="ru-RU" dirty="0" err="1"/>
              <a:t>виявлення</a:t>
            </a:r>
            <a:r>
              <a:rPr lang="ru-RU" dirty="0"/>
              <a:t> </a:t>
            </a:r>
            <a:r>
              <a:rPr lang="ru-RU" dirty="0" err="1"/>
              <a:t>об'єктів</a:t>
            </a:r>
            <a:r>
              <a:rPr lang="ru-RU" dirty="0"/>
              <a:t>), </a:t>
            </a:r>
            <a:r>
              <a:rPr lang="ru-RU" dirty="0" err="1"/>
              <a:t>алгоритмів</a:t>
            </a:r>
            <a:r>
              <a:rPr lang="ru-RU" dirty="0"/>
              <a:t> </a:t>
            </a:r>
            <a:r>
              <a:rPr lang="ru-RU" dirty="0" err="1"/>
              <a:t>оптичного</a:t>
            </a:r>
            <a:r>
              <a:rPr lang="ru-RU" dirty="0"/>
              <a:t> потоку, моделей </a:t>
            </a:r>
            <a:r>
              <a:rPr lang="ru-RU" dirty="0" err="1"/>
              <a:t>оцінювання</a:t>
            </a:r>
            <a:r>
              <a:rPr lang="ru-RU" dirty="0"/>
              <a:t> </a:t>
            </a:r>
            <a:r>
              <a:rPr lang="ru-RU" dirty="0" err="1"/>
              <a:t>глибини</a:t>
            </a:r>
            <a:r>
              <a:rPr lang="ru-RU" dirty="0"/>
              <a:t> </a:t>
            </a:r>
            <a:r>
              <a:rPr lang="en-US" dirty="0" err="1"/>
              <a:t>GeoNet</a:t>
            </a:r>
            <a:r>
              <a:rPr lang="en-US" dirty="0"/>
              <a:t>, </a:t>
            </a:r>
            <a:r>
              <a:rPr lang="en-US" dirty="0" err="1"/>
              <a:t>MiDaS</a:t>
            </a:r>
            <a:r>
              <a:rPr lang="en-US" dirty="0"/>
              <a:t> </a:t>
            </a:r>
            <a:r>
              <a:rPr lang="ru-RU" dirty="0"/>
              <a:t>та </a:t>
            </a:r>
            <a:r>
              <a:rPr lang="en-US" dirty="0" err="1"/>
              <a:t>DPT_Large</a:t>
            </a:r>
            <a:r>
              <a:rPr lang="en-US" dirty="0"/>
              <a:t>, </a:t>
            </a:r>
            <a:r>
              <a:rPr lang="ru-RU" dirty="0"/>
              <a:t>а також </a:t>
            </a:r>
            <a:r>
              <a:rPr lang="ru-RU" dirty="0" err="1"/>
              <a:t>ансамблевих</a:t>
            </a:r>
            <a:r>
              <a:rPr lang="ru-RU" dirty="0"/>
              <a:t> </a:t>
            </a:r>
            <a:r>
              <a:rPr lang="ru-RU" dirty="0" err="1"/>
              <a:t>підходів</a:t>
            </a:r>
            <a:r>
              <a:rPr lang="ru-RU" dirty="0"/>
              <a:t> </a:t>
            </a:r>
            <a:r>
              <a:rPr lang="en-US" dirty="0"/>
              <a:t>Bagging (</a:t>
            </a:r>
            <a:r>
              <a:rPr lang="ru-RU" dirty="0" err="1"/>
              <a:t>паралельне</a:t>
            </a:r>
            <a:r>
              <a:rPr lang="ru-RU" dirty="0"/>
              <a:t> </a:t>
            </a:r>
            <a:r>
              <a:rPr lang="ru-RU" dirty="0" err="1"/>
              <a:t>усереднення</a:t>
            </a:r>
            <a:r>
              <a:rPr lang="ru-RU" dirty="0"/>
              <a:t> </a:t>
            </a:r>
            <a:r>
              <a:rPr lang="ru-RU" dirty="0" err="1"/>
              <a:t>результатів</a:t>
            </a:r>
            <a:r>
              <a:rPr lang="ru-RU" dirty="0"/>
              <a:t>) і </a:t>
            </a:r>
            <a:r>
              <a:rPr lang="en-US" dirty="0"/>
              <a:t>Boosting (</a:t>
            </a:r>
            <a:r>
              <a:rPr lang="ru-RU" dirty="0" err="1"/>
              <a:t>послідовне</a:t>
            </a:r>
            <a:r>
              <a:rPr lang="ru-RU" dirty="0"/>
              <a:t> </a:t>
            </a:r>
            <a:r>
              <a:rPr lang="ru-RU" dirty="0" err="1"/>
              <a:t>уточнення</a:t>
            </a:r>
            <a:r>
              <a:rPr lang="ru-RU" dirty="0"/>
              <a:t> </a:t>
            </a:r>
            <a:r>
              <a:rPr lang="ru-RU" dirty="0" err="1"/>
              <a:t>результатів</a:t>
            </a:r>
            <a:r>
              <a:rPr lang="ru-RU" dirty="0"/>
              <a:t>).</a:t>
            </a:r>
          </a:p>
          <a:p>
            <a:endParaRPr lang="ru-RU" dirty="0"/>
          </a:p>
        </p:txBody>
      </p:sp>
      <p:sp>
        <p:nvSpPr>
          <p:cNvPr id="4" name="Номер слайда 3"/>
          <p:cNvSpPr>
            <a:spLocks noGrp="1"/>
          </p:cNvSpPr>
          <p:nvPr>
            <p:ph type="sldNum" sz="quarter" idx="5"/>
          </p:nvPr>
        </p:nvSpPr>
        <p:spPr/>
        <p:txBody>
          <a:bodyPr/>
          <a:lstStyle/>
          <a:p>
            <a:fld id="{22D210FF-A65C-4C43-9EF1-FEAEFF91A41E}" type="slidenum">
              <a:rPr lang="en-US" smtClean="0"/>
              <a:t>4</a:t>
            </a:fld>
            <a:endParaRPr lang="en-US"/>
          </a:p>
        </p:txBody>
      </p:sp>
    </p:spTree>
    <p:extLst>
      <p:ext uri="{BB962C8B-B14F-4D97-AF65-F5344CB8AC3E}">
        <p14:creationId xmlns:p14="http://schemas.microsoft.com/office/powerpoint/2010/main" val="1273030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655E-9DEE-1F7D-564D-A85B22839D4A}"/>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A1101B9-66DC-50B9-53A1-28DF88FB7CC7}"/>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A18C440F-B97E-1016-DF8C-56C0933097F8}"/>
              </a:ext>
            </a:extLst>
          </p:cNvPr>
          <p:cNvSpPr>
            <a:spLocks noGrp="1"/>
          </p:cNvSpPr>
          <p:nvPr>
            <p:ph type="body" idx="1"/>
          </p:nvPr>
        </p:nvSpPr>
        <p:spPr/>
        <p:txBody>
          <a:bodyPr/>
          <a:lstStyle/>
          <a:p>
            <a:r>
              <a:rPr lang="uk-UA" dirty="0"/>
              <a:t>«Для досягнення поставленої мети необхідно вирішити чотири основні задачі, які </a:t>
            </a:r>
            <a:r>
              <a:rPr lang="uk-UA" dirty="0" err="1"/>
              <a:t>логічно</a:t>
            </a:r>
            <a:r>
              <a:rPr lang="uk-UA" dirty="0"/>
              <a:t> структурують моє дослідження.</a:t>
            </a:r>
          </a:p>
          <a:p>
            <a:endParaRPr lang="uk-UA" dirty="0"/>
          </a:p>
          <a:p>
            <a:r>
              <a:rPr lang="uk-UA" dirty="0"/>
              <a:t>Перша задача – аналітична. Потрібно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endParaRPr lang="uk-UA" dirty="0"/>
          </a:p>
          <a:p>
            <a:r>
              <a:rPr lang="uk-UA" dirty="0"/>
              <a:t>Друга задача – класифікаційна.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a:t>
            </a:r>
          </a:p>
          <a:p>
            <a:endParaRPr lang="uk-UA" dirty="0"/>
          </a:p>
          <a:p>
            <a:r>
              <a:rPr lang="uk-UA" dirty="0"/>
              <a:t>Третя задача – модельна. Це ключова задача –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нейромережевого</a:t>
            </a:r>
            <a:r>
              <a:rPr lang="uk-UA" dirty="0"/>
              <a:t> оцінювання глибини – </a:t>
            </a:r>
            <a:r>
              <a:rPr lang="en-US" dirty="0" err="1"/>
              <a:t>MiDaS</a:t>
            </a:r>
            <a:r>
              <a:rPr lang="en-US" dirty="0"/>
              <a:t>, </a:t>
            </a:r>
            <a:r>
              <a:rPr lang="en-US" dirty="0" err="1"/>
              <a:t>DPT_Large</a:t>
            </a:r>
            <a:r>
              <a:rPr lang="en-US" dirty="0"/>
              <a:t>, </a:t>
            </a:r>
            <a:r>
              <a:rPr lang="en-US" dirty="0" err="1"/>
              <a:t>GeoNet</a:t>
            </a:r>
            <a:r>
              <a:rPr lang="en-US" dirty="0"/>
              <a:t>. </a:t>
            </a:r>
            <a:r>
              <a:rPr lang="uk-UA" dirty="0"/>
              <a:t>А також розробити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Четверта задача – експериментально-впроваджувальна. Реалізувати інформаційну технологію дистанційної ідентифікації параметрів динамічних об'єктів,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a:t>
            </a:r>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E8C4E7C8-ABD2-99F0-6B4D-A08FC3A692AA}"/>
              </a:ext>
            </a:extLst>
          </p:cNvPr>
          <p:cNvSpPr>
            <a:spLocks noGrp="1"/>
          </p:cNvSpPr>
          <p:nvPr>
            <p:ph type="sldNum" sz="quarter" idx="5"/>
          </p:nvPr>
        </p:nvSpPr>
        <p:spPr/>
        <p:txBody>
          <a:bodyPr/>
          <a:lstStyle/>
          <a:p>
            <a:fld id="{22D210FF-A65C-4C43-9EF1-FEAEFF91A41E}" type="slidenum">
              <a:rPr lang="en-US" smtClean="0"/>
              <a:t>5</a:t>
            </a:fld>
            <a:endParaRPr lang="en-US"/>
          </a:p>
        </p:txBody>
      </p:sp>
    </p:spTree>
    <p:extLst>
      <p:ext uri="{BB962C8B-B14F-4D97-AF65-F5344CB8AC3E}">
        <p14:creationId xmlns:p14="http://schemas.microsoft.com/office/powerpoint/2010/main" val="4162854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96D92-CB1B-0729-62AC-369606E3E8D4}"/>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B7478F8A-F4FB-D1ED-DE98-1F8948E341D8}"/>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18CC8812-AAC8-AF24-47E7-F49A94D0E0BE}"/>
              </a:ext>
            </a:extLst>
          </p:cNvPr>
          <p:cNvSpPr>
            <a:spLocks noGrp="1"/>
          </p:cNvSpPr>
          <p:nvPr>
            <p:ph type="body" idx="1"/>
          </p:nvPr>
        </p:nvSpPr>
        <p:spPr/>
        <p:txBody>
          <a:bodyPr/>
          <a:lstStyle/>
          <a:p>
            <a:r>
              <a:rPr lang="uk-UA" dirty="0"/>
              <a:t>«Для досягнення поставленої мети необхідно вирішити чотири основні задачі, які </a:t>
            </a:r>
            <a:r>
              <a:rPr lang="uk-UA" dirty="0" err="1"/>
              <a:t>логічно</a:t>
            </a:r>
            <a:r>
              <a:rPr lang="uk-UA" dirty="0"/>
              <a:t> структурують моє дослідження.</a:t>
            </a:r>
          </a:p>
          <a:p>
            <a:endParaRPr lang="uk-UA" dirty="0"/>
          </a:p>
          <a:p>
            <a:r>
              <a:rPr lang="uk-UA" dirty="0"/>
              <a:t>Перша задача – аналітична. Потрібно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endParaRPr lang="uk-UA" dirty="0"/>
          </a:p>
          <a:p>
            <a:r>
              <a:rPr lang="uk-UA" dirty="0"/>
              <a:t>Друга задача – класифікаційна.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a:t>
            </a:r>
          </a:p>
          <a:p>
            <a:endParaRPr lang="uk-UA" dirty="0"/>
          </a:p>
          <a:p>
            <a:r>
              <a:rPr lang="uk-UA" dirty="0"/>
              <a:t>Третя задача – модельна. Це ключова задача –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нейромережевого</a:t>
            </a:r>
            <a:r>
              <a:rPr lang="uk-UA" dirty="0"/>
              <a:t> оцінювання глибини – </a:t>
            </a:r>
            <a:r>
              <a:rPr lang="en-US" dirty="0" err="1"/>
              <a:t>MiDaS</a:t>
            </a:r>
            <a:r>
              <a:rPr lang="en-US" dirty="0"/>
              <a:t>, </a:t>
            </a:r>
            <a:r>
              <a:rPr lang="en-US" dirty="0" err="1"/>
              <a:t>DPT_Large</a:t>
            </a:r>
            <a:r>
              <a:rPr lang="en-US" dirty="0"/>
              <a:t>, </a:t>
            </a:r>
            <a:r>
              <a:rPr lang="en-US" dirty="0" err="1"/>
              <a:t>GeoNet</a:t>
            </a:r>
            <a:r>
              <a:rPr lang="en-US" dirty="0"/>
              <a:t>. </a:t>
            </a:r>
            <a:r>
              <a:rPr lang="uk-UA" dirty="0"/>
              <a:t>А також розробити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Четверта задача – експериментально-впроваджувальна. Реалізувати інформаційну технологію дистанційної ідентифікації параметрів динамічних об'єктів,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a:t>
            </a:r>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5DB14B93-94A8-3063-5877-9C5D60AAEB44}"/>
              </a:ext>
            </a:extLst>
          </p:cNvPr>
          <p:cNvSpPr>
            <a:spLocks noGrp="1"/>
          </p:cNvSpPr>
          <p:nvPr>
            <p:ph type="sldNum" sz="quarter" idx="5"/>
          </p:nvPr>
        </p:nvSpPr>
        <p:spPr/>
        <p:txBody>
          <a:bodyPr/>
          <a:lstStyle/>
          <a:p>
            <a:fld id="{22D210FF-A65C-4C43-9EF1-FEAEFF91A41E}" type="slidenum">
              <a:rPr lang="en-US" smtClean="0"/>
              <a:t>6</a:t>
            </a:fld>
            <a:endParaRPr lang="en-US"/>
          </a:p>
        </p:txBody>
      </p:sp>
    </p:spTree>
    <p:extLst>
      <p:ext uri="{BB962C8B-B14F-4D97-AF65-F5344CB8AC3E}">
        <p14:creationId xmlns:p14="http://schemas.microsoft.com/office/powerpoint/2010/main" val="680629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1F3C2-E691-9DCF-DBB5-95B3A1C1E135}"/>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AF8B4D9E-BA2D-FFC1-9D0E-46D76EF78823}"/>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60E5BB21-4AD0-D49A-9939-B867F654951C}"/>
              </a:ext>
            </a:extLst>
          </p:cNvPr>
          <p:cNvSpPr>
            <a:spLocks noGrp="1"/>
          </p:cNvSpPr>
          <p:nvPr>
            <p:ph type="body" idx="1"/>
          </p:nvPr>
        </p:nvSpPr>
        <p:spPr/>
        <p:txBody>
          <a:bodyPr/>
          <a:lstStyle/>
          <a:p>
            <a:r>
              <a:rPr lang="uk-UA" dirty="0"/>
              <a:t>«Для досягнення поставленої мети необхідно вирішити чотири основні задачі, які </a:t>
            </a:r>
            <a:r>
              <a:rPr lang="uk-UA" dirty="0" err="1"/>
              <a:t>логічно</a:t>
            </a:r>
            <a:r>
              <a:rPr lang="uk-UA" dirty="0"/>
              <a:t> структурують моє дослідження.</a:t>
            </a:r>
          </a:p>
          <a:p>
            <a:endParaRPr lang="uk-UA" dirty="0"/>
          </a:p>
          <a:p>
            <a:r>
              <a:rPr lang="uk-UA" dirty="0"/>
              <a:t>Перша задача – аналітична. Потрібно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endParaRPr lang="uk-UA" dirty="0"/>
          </a:p>
          <a:p>
            <a:r>
              <a:rPr lang="uk-UA" dirty="0"/>
              <a:t>Друга задача – класифікаційна.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a:t>
            </a:r>
          </a:p>
          <a:p>
            <a:endParaRPr lang="uk-UA" dirty="0"/>
          </a:p>
          <a:p>
            <a:r>
              <a:rPr lang="uk-UA" dirty="0"/>
              <a:t>Третя задача – модельна. Це ключова задача –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нейромережевого</a:t>
            </a:r>
            <a:r>
              <a:rPr lang="uk-UA" dirty="0"/>
              <a:t> оцінювання глибини – </a:t>
            </a:r>
            <a:r>
              <a:rPr lang="en-US" dirty="0" err="1"/>
              <a:t>MiDaS</a:t>
            </a:r>
            <a:r>
              <a:rPr lang="en-US" dirty="0"/>
              <a:t>, </a:t>
            </a:r>
            <a:r>
              <a:rPr lang="en-US" dirty="0" err="1"/>
              <a:t>DPT_Large</a:t>
            </a:r>
            <a:r>
              <a:rPr lang="en-US" dirty="0"/>
              <a:t>, </a:t>
            </a:r>
            <a:r>
              <a:rPr lang="en-US" dirty="0" err="1"/>
              <a:t>GeoNet</a:t>
            </a:r>
            <a:r>
              <a:rPr lang="en-US" dirty="0"/>
              <a:t>. </a:t>
            </a:r>
            <a:r>
              <a:rPr lang="uk-UA" dirty="0"/>
              <a:t>А також розробити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Четверта задача – експериментально-впроваджувальна. Реалізувати інформаційну технологію дистанційної ідентифікації параметрів динамічних об'єктів,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a:t>
            </a:r>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8112C15F-F1D9-4EF1-24B8-BA2180AE0A16}"/>
              </a:ext>
            </a:extLst>
          </p:cNvPr>
          <p:cNvSpPr>
            <a:spLocks noGrp="1"/>
          </p:cNvSpPr>
          <p:nvPr>
            <p:ph type="sldNum" sz="quarter" idx="5"/>
          </p:nvPr>
        </p:nvSpPr>
        <p:spPr/>
        <p:txBody>
          <a:bodyPr/>
          <a:lstStyle/>
          <a:p>
            <a:fld id="{22D210FF-A65C-4C43-9EF1-FEAEFF91A41E}" type="slidenum">
              <a:rPr lang="en-US" smtClean="0"/>
              <a:t>7</a:t>
            </a:fld>
            <a:endParaRPr lang="en-US"/>
          </a:p>
        </p:txBody>
      </p:sp>
    </p:spTree>
    <p:extLst>
      <p:ext uri="{BB962C8B-B14F-4D97-AF65-F5344CB8AC3E}">
        <p14:creationId xmlns:p14="http://schemas.microsoft.com/office/powerpoint/2010/main" val="3563271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C043F-1CCA-7037-504D-10B59C812E23}"/>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29F02982-0035-9675-9A3B-DF982FBF50F5}"/>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B91AF6CB-E96F-AC9D-C268-BA90FE81E446}"/>
              </a:ext>
            </a:extLst>
          </p:cNvPr>
          <p:cNvSpPr>
            <a:spLocks noGrp="1"/>
          </p:cNvSpPr>
          <p:nvPr>
            <p:ph type="body" idx="1"/>
          </p:nvPr>
        </p:nvSpPr>
        <p:spPr/>
        <p:txBody>
          <a:bodyPr/>
          <a:lstStyle/>
          <a:p>
            <a:r>
              <a:rPr lang="uk-UA" dirty="0"/>
              <a:t>«Для досягнення поставленої мети необхідно вирішити чотири основні задачі, які </a:t>
            </a:r>
            <a:r>
              <a:rPr lang="uk-UA" dirty="0" err="1"/>
              <a:t>логічно</a:t>
            </a:r>
            <a:r>
              <a:rPr lang="uk-UA" dirty="0"/>
              <a:t> структурують моє дослідження.</a:t>
            </a:r>
          </a:p>
          <a:p>
            <a:endParaRPr lang="uk-UA" dirty="0"/>
          </a:p>
          <a:p>
            <a:r>
              <a:rPr lang="uk-UA" dirty="0"/>
              <a:t>Перша задача – аналітична. Потрібно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endParaRPr lang="uk-UA" dirty="0"/>
          </a:p>
          <a:p>
            <a:r>
              <a:rPr lang="uk-UA" dirty="0"/>
              <a:t>Друга задача – класифікаційна.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a:t>
            </a:r>
          </a:p>
          <a:p>
            <a:endParaRPr lang="uk-UA" dirty="0"/>
          </a:p>
          <a:p>
            <a:r>
              <a:rPr lang="uk-UA" dirty="0"/>
              <a:t>Третя задача – модельна. Це ключова задача –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нейромережевого</a:t>
            </a:r>
            <a:r>
              <a:rPr lang="uk-UA" dirty="0"/>
              <a:t> оцінювання глибини – </a:t>
            </a:r>
            <a:r>
              <a:rPr lang="en-US" dirty="0" err="1"/>
              <a:t>MiDaS</a:t>
            </a:r>
            <a:r>
              <a:rPr lang="en-US" dirty="0"/>
              <a:t>, </a:t>
            </a:r>
            <a:r>
              <a:rPr lang="en-US" dirty="0" err="1"/>
              <a:t>DPT_Large</a:t>
            </a:r>
            <a:r>
              <a:rPr lang="en-US" dirty="0"/>
              <a:t>, </a:t>
            </a:r>
            <a:r>
              <a:rPr lang="en-US" dirty="0" err="1"/>
              <a:t>GeoNet</a:t>
            </a:r>
            <a:r>
              <a:rPr lang="en-US" dirty="0"/>
              <a:t>. </a:t>
            </a:r>
            <a:r>
              <a:rPr lang="uk-UA" dirty="0"/>
              <a:t>А також розробити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Четверта задача – експериментально-впроваджувальна. Реалізувати інформаційну технологію дистанційної ідентифікації параметрів динамічних об'єктів,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a:t>
            </a:r>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E220A42C-E8AD-9E46-D6B3-047901A6FE41}"/>
              </a:ext>
            </a:extLst>
          </p:cNvPr>
          <p:cNvSpPr>
            <a:spLocks noGrp="1"/>
          </p:cNvSpPr>
          <p:nvPr>
            <p:ph type="sldNum" sz="quarter" idx="5"/>
          </p:nvPr>
        </p:nvSpPr>
        <p:spPr/>
        <p:txBody>
          <a:bodyPr/>
          <a:lstStyle/>
          <a:p>
            <a:fld id="{22D210FF-A65C-4C43-9EF1-FEAEFF91A41E}" type="slidenum">
              <a:rPr lang="en-US" smtClean="0"/>
              <a:t>8</a:t>
            </a:fld>
            <a:endParaRPr lang="en-US"/>
          </a:p>
        </p:txBody>
      </p:sp>
    </p:spTree>
    <p:extLst>
      <p:ext uri="{BB962C8B-B14F-4D97-AF65-F5344CB8AC3E}">
        <p14:creationId xmlns:p14="http://schemas.microsoft.com/office/powerpoint/2010/main" val="2488860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«У першому розділі роботи визначено, що динамічні об'єкти є складними багатовимірними системами, стан яких безперервно змінюється в часі.</a:t>
            </a:r>
          </a:p>
          <a:p>
            <a:endParaRPr lang="uk-UA" dirty="0"/>
          </a:p>
          <a:p>
            <a:r>
              <a:rPr lang="uk-UA" dirty="0"/>
              <a:t>Основні групи параметрів, що підлягають ідентифікації – це просторові координати, кінематичні характеристики – швидкість, прискорення, напрямок руху та траєкторія, а також структурні параметри – контур, площа та клас об'єкта.</a:t>
            </a:r>
          </a:p>
          <a:p>
            <a:endParaRPr lang="uk-UA" dirty="0"/>
          </a:p>
          <a:p>
            <a:r>
              <a:rPr lang="uk-UA" dirty="0"/>
              <a:t>Проаналізовано еволюцію методів – від класичних, таких як Віоли-Джонса, гістограми орієнтованих градієнтів та моделі деформованих частин, до сучасних </a:t>
            </a:r>
            <a:r>
              <a:rPr lang="uk-UA" dirty="0" err="1"/>
              <a:t>архітектур</a:t>
            </a:r>
            <a:r>
              <a:rPr lang="uk-UA" dirty="0"/>
              <a:t> глибокого навчання, включаючи згорткові нейронні мережі, </a:t>
            </a:r>
            <a:r>
              <a:rPr lang="uk-UA" dirty="0" err="1"/>
              <a:t>трансформерні</a:t>
            </a:r>
            <a:r>
              <a:rPr lang="uk-UA" dirty="0"/>
              <a:t> детектори </a:t>
            </a:r>
            <a:r>
              <a:rPr lang="en-US" dirty="0"/>
              <a:t>DETR </a:t>
            </a:r>
            <a:r>
              <a:rPr lang="uk-UA" dirty="0"/>
              <a:t>та </a:t>
            </a:r>
            <a:r>
              <a:rPr lang="en-US" dirty="0"/>
              <a:t>YOLO».</a:t>
            </a:r>
            <a:endParaRPr lang="uk-UA" dirty="0"/>
          </a:p>
          <a:p>
            <a:pPr marL="0" marR="0" lvl="0" indent="0" algn="l" defTabSz="914400" rtl="0" eaLnBrk="1" fontAlgn="auto" latinLnBrk="0" hangingPunct="1">
              <a:lnSpc>
                <a:spcPct val="100000"/>
              </a:lnSpc>
              <a:spcBef>
                <a:spcPts val="0"/>
              </a:spcBef>
              <a:spcAft>
                <a:spcPts val="0"/>
              </a:spcAft>
              <a:buClrTx/>
              <a:buSzTx/>
              <a:buFontTx/>
              <a:buNone/>
              <a:tabLst/>
              <a:defRPr/>
            </a:pPr>
            <a:r>
              <a:rPr lang="uk-UA" sz="1200" kern="1200" dirty="0">
                <a:solidFill>
                  <a:schemeClr val="tx1"/>
                </a:solidFill>
                <a:effectLst/>
                <a:latin typeface="+mn-lt"/>
                <a:ea typeface="+mn-ea"/>
                <a:cs typeface="+mn-cs"/>
              </a:rPr>
              <a:t>-----------------------------------------------------------------------</a:t>
            </a:r>
            <a:endParaRPr lang="en-US" dirty="0">
              <a:effectLst/>
            </a:endParaRPr>
          </a:p>
          <a:p>
            <a:br>
              <a:rPr lang="uk-UA" dirty="0"/>
            </a:br>
            <a:r>
              <a:rPr lang="uk-UA" dirty="0"/>
              <a:t>Аналіз задач та методів ДІПДО</a:t>
            </a:r>
          </a:p>
          <a:p>
            <a:r>
              <a:rPr lang="uk-UA" dirty="0"/>
              <a:t>Що казати:</a:t>
            </a:r>
          </a:p>
          <a:p>
            <a:r>
              <a:rPr lang="uk-UA" dirty="0"/>
              <a:t>«Перейдемо до першого розділу, присвяченого аналізу задач та методів дистанційної ідентифікації.</a:t>
            </a:r>
          </a:p>
          <a:p>
            <a:endParaRPr lang="uk-UA" dirty="0"/>
          </a:p>
          <a:p>
            <a:r>
              <a:rPr lang="uk-UA" dirty="0"/>
              <a:t>У цьому розділі визначено, що динамічні об'єкти є складними багатовимірними системами, стан яких безперервно змінюється в часі під впливом внутрішніх процесів або зовнішнього середовища.</a:t>
            </a:r>
          </a:p>
          <a:p>
            <a:endParaRPr lang="uk-UA" dirty="0"/>
          </a:p>
          <a:p>
            <a:r>
              <a:rPr lang="uk-UA" dirty="0"/>
              <a:t>Основні групи параметрів, що підлягають ідентифікації – це просторові координати, кінематичні характеристики, такі як швидкість, прискорення, напрямок руху та траєкторія, а також структурні параметри, зокрема контур, площа та клас об'єкта.</a:t>
            </a:r>
          </a:p>
          <a:p>
            <a:endParaRPr lang="uk-UA" dirty="0"/>
          </a:p>
          <a:p>
            <a:r>
              <a:rPr lang="uk-UA" dirty="0"/>
              <a:t>Проаналізовано еволюцію методів – від класичних, таких як Віоли-Джонса, гістограми орієнтованих градієнтів та моделі деформованих частин, до сучасних </a:t>
            </a:r>
            <a:r>
              <a:rPr lang="uk-UA" dirty="0" err="1"/>
              <a:t>архітектур</a:t>
            </a:r>
            <a:r>
              <a:rPr lang="uk-UA" dirty="0"/>
              <a:t> глибокого навчання, включаючи згорткові нейронні мережі, </a:t>
            </a:r>
            <a:r>
              <a:rPr lang="uk-UA" dirty="0" err="1"/>
              <a:t>трансформерні</a:t>
            </a:r>
            <a:r>
              <a:rPr lang="uk-UA" dirty="0"/>
              <a:t> детектори </a:t>
            </a:r>
            <a:r>
              <a:rPr lang="en-US" dirty="0"/>
              <a:t>DETR </a:t>
            </a:r>
            <a:r>
              <a:rPr lang="uk-UA" dirty="0"/>
              <a:t>та </a:t>
            </a:r>
            <a:r>
              <a:rPr lang="en-US" dirty="0"/>
              <a:t>YOLO.»</a:t>
            </a:r>
            <a:r>
              <a:rPr lang="uk-UA" dirty="0"/>
              <a:t> 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9</a:t>
            </a:fld>
            <a:endParaRPr lang="en-US"/>
          </a:p>
        </p:txBody>
      </p:sp>
    </p:spTree>
    <p:extLst>
      <p:ext uri="{BB962C8B-B14F-4D97-AF65-F5344CB8AC3E}">
        <p14:creationId xmlns:p14="http://schemas.microsoft.com/office/powerpoint/2010/main" val="1687584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«На цьому слайді наведено </a:t>
            </a:r>
            <a:r>
              <a:rPr lang="uk-UA" sz="1200" b="1" i="0" kern="1200" dirty="0">
                <a:solidFill>
                  <a:schemeClr val="tx1"/>
                </a:solidFill>
                <a:effectLst/>
                <a:latin typeface="+mn-lt"/>
                <a:ea typeface="+mn-ea"/>
                <a:cs typeface="+mn-cs"/>
              </a:rPr>
              <a:t>класифікацію параметрів</a:t>
            </a:r>
            <a:r>
              <a:rPr lang="uk-UA" sz="1200" b="0" i="0" kern="1200" dirty="0">
                <a:solidFill>
                  <a:schemeClr val="tx1"/>
                </a:solidFill>
                <a:effectLst/>
                <a:latin typeface="+mn-lt"/>
                <a:ea typeface="+mn-ea"/>
                <a:cs typeface="+mn-cs"/>
              </a:rPr>
              <a:t>, яка стала основою для подальшої розробки методів їх визначення.</a:t>
            </a:r>
          </a:p>
          <a:p>
            <a:r>
              <a:rPr lang="uk-UA" sz="1200" b="1" i="0" kern="1200" dirty="0">
                <a:solidFill>
                  <a:schemeClr val="tx1"/>
                </a:solidFill>
                <a:effectLst/>
                <a:latin typeface="+mn-lt"/>
                <a:ea typeface="+mn-ea"/>
                <a:cs typeface="+mn-cs"/>
              </a:rPr>
              <a:t>Просторові параметри</a:t>
            </a:r>
            <a:r>
              <a:rPr lang="uk-UA" sz="1200" b="0" i="0" kern="1200" dirty="0">
                <a:solidFill>
                  <a:schemeClr val="tx1"/>
                </a:solidFill>
                <a:effectLst/>
                <a:latin typeface="+mn-lt"/>
                <a:ea typeface="+mn-ea"/>
                <a:cs typeface="+mn-cs"/>
              </a:rPr>
              <a:t> – це координати </a:t>
            </a:r>
            <a:r>
              <a:rPr lang="en-US" sz="1200" b="0" i="0" kern="1200" dirty="0">
                <a:solidFill>
                  <a:schemeClr val="tx1"/>
                </a:solidFill>
                <a:effectLst/>
                <a:latin typeface="+mn-lt"/>
                <a:ea typeface="+mn-ea"/>
                <a:cs typeface="+mn-cs"/>
              </a:rPr>
              <a:t>x, y, z, </a:t>
            </a:r>
            <a:r>
              <a:rPr lang="uk-UA" sz="1200" b="0" i="0" kern="1200" dirty="0">
                <a:solidFill>
                  <a:schemeClr val="tx1"/>
                </a:solidFill>
                <a:effectLst/>
                <a:latin typeface="+mn-lt"/>
                <a:ea typeface="+mn-ea"/>
                <a:cs typeface="+mn-cs"/>
              </a:rPr>
              <a:t>глибина сцени, розміри об'єкта та орієнтація.</a:t>
            </a:r>
          </a:p>
          <a:p>
            <a:r>
              <a:rPr lang="uk-UA" sz="1200" b="1" i="0" kern="1200" dirty="0">
                <a:solidFill>
                  <a:schemeClr val="tx1"/>
                </a:solidFill>
                <a:effectLst/>
                <a:latin typeface="+mn-lt"/>
                <a:ea typeface="+mn-ea"/>
                <a:cs typeface="+mn-cs"/>
              </a:rPr>
              <a:t>Кінематичні параметри</a:t>
            </a:r>
            <a:r>
              <a:rPr lang="uk-UA" sz="1200" b="0" i="0" kern="1200" dirty="0">
                <a:solidFill>
                  <a:schemeClr val="tx1"/>
                </a:solidFill>
                <a:effectLst/>
                <a:latin typeface="+mn-lt"/>
                <a:ea typeface="+mn-ea"/>
                <a:cs typeface="+mn-cs"/>
              </a:rPr>
              <a:t> – миттєва швидкість переміщення </a:t>
            </a:r>
            <a:r>
              <a:rPr lang="en-US" sz="1200" b="0" i="0" kern="1200" dirty="0">
                <a:solidFill>
                  <a:schemeClr val="tx1"/>
                </a:solidFill>
                <a:effectLst/>
                <a:latin typeface="+mn-lt"/>
                <a:ea typeface="+mn-ea"/>
                <a:cs typeface="+mn-cs"/>
              </a:rPr>
              <a:t>v, </a:t>
            </a:r>
            <a:r>
              <a:rPr lang="uk-UA" sz="1200" b="0" i="0" kern="1200" dirty="0">
                <a:solidFill>
                  <a:schemeClr val="tx1"/>
                </a:solidFill>
                <a:effectLst/>
                <a:latin typeface="+mn-lt"/>
                <a:ea typeface="+mn-ea"/>
                <a:cs typeface="+mn-cs"/>
              </a:rPr>
              <a:t>прискорення </a:t>
            </a:r>
            <a:r>
              <a:rPr lang="en-US" sz="1200" b="0" i="0" kern="1200" dirty="0">
                <a:solidFill>
                  <a:schemeClr val="tx1"/>
                </a:solidFill>
                <a:effectLst/>
                <a:latin typeface="+mn-lt"/>
                <a:ea typeface="+mn-ea"/>
                <a:cs typeface="+mn-cs"/>
              </a:rPr>
              <a:t>a, </a:t>
            </a:r>
            <a:r>
              <a:rPr lang="uk-UA" sz="1200" b="0" i="0" kern="1200" dirty="0">
                <a:solidFill>
                  <a:schemeClr val="tx1"/>
                </a:solidFill>
                <a:effectLst/>
                <a:latin typeface="+mn-lt"/>
                <a:ea typeface="+mn-ea"/>
                <a:cs typeface="+mn-cs"/>
              </a:rPr>
              <a:t>напрямок руху </a:t>
            </a:r>
            <a:r>
              <a:rPr lang="el-GR" sz="1200" b="0" i="0" kern="1200" dirty="0">
                <a:solidFill>
                  <a:schemeClr val="tx1"/>
                </a:solidFill>
                <a:effectLst/>
                <a:latin typeface="+mn-lt"/>
                <a:ea typeface="+mn-ea"/>
                <a:cs typeface="+mn-cs"/>
              </a:rPr>
              <a:t>θ </a:t>
            </a:r>
            <a:r>
              <a:rPr lang="uk-UA" sz="1200" b="0" i="0" kern="1200" dirty="0">
                <a:solidFill>
                  <a:schemeClr val="tx1"/>
                </a:solidFill>
                <a:effectLst/>
                <a:latin typeface="+mn-lt"/>
                <a:ea typeface="+mn-ea"/>
                <a:cs typeface="+mn-cs"/>
              </a:rPr>
              <a:t>та траєкторія </a:t>
            </a:r>
            <a:r>
              <a:rPr lang="en-US" sz="1200" b="0" i="0" kern="1200" dirty="0">
                <a:solidFill>
                  <a:schemeClr val="tx1"/>
                </a:solidFill>
                <a:effectLst/>
                <a:latin typeface="+mn-lt"/>
                <a:ea typeface="+mn-ea"/>
                <a:cs typeface="+mn-cs"/>
              </a:rPr>
              <a:t>T.</a:t>
            </a:r>
          </a:p>
          <a:p>
            <a:r>
              <a:rPr lang="uk-UA" sz="1200" b="1" i="0" kern="1200" dirty="0">
                <a:solidFill>
                  <a:schemeClr val="tx1"/>
                </a:solidFill>
                <a:effectLst/>
                <a:latin typeface="+mn-lt"/>
                <a:ea typeface="+mn-ea"/>
                <a:cs typeface="+mn-cs"/>
              </a:rPr>
              <a:t>Структурні параметри</a:t>
            </a:r>
            <a:r>
              <a:rPr lang="uk-UA" sz="1200" b="0" i="0" kern="1200" dirty="0">
                <a:solidFill>
                  <a:schemeClr val="tx1"/>
                </a:solidFill>
                <a:effectLst/>
                <a:latin typeface="+mn-lt"/>
                <a:ea typeface="+mn-ea"/>
                <a:cs typeface="+mn-cs"/>
              </a:rPr>
              <a:t> описують форму об'єкта: контур, площу, яку він займає у кадрі, клас об'єкта – наприклад, автомобіль або пішохід – та інші ознаки форми, такі як компактність або </a:t>
            </a:r>
            <a:r>
              <a:rPr lang="uk-UA" sz="1200" b="0" i="0" kern="1200" dirty="0" err="1">
                <a:solidFill>
                  <a:schemeClr val="tx1"/>
                </a:solidFill>
                <a:effectLst/>
                <a:latin typeface="+mn-lt"/>
                <a:ea typeface="+mn-ea"/>
                <a:cs typeface="+mn-cs"/>
              </a:rPr>
              <a:t>витягнутість</a:t>
            </a:r>
            <a:r>
              <a:rPr lang="uk-UA"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uk-UA" sz="1200" kern="1200" dirty="0">
                <a:solidFill>
                  <a:schemeClr val="tx1"/>
                </a:solidFill>
                <a:effectLst/>
                <a:latin typeface="+mn-lt"/>
                <a:ea typeface="+mn-ea"/>
                <a:cs typeface="+mn-cs"/>
              </a:rPr>
              <a:t>-----------------------------------------------------------------------</a:t>
            </a:r>
            <a:endParaRPr lang="en-US" dirty="0">
              <a:effectLst/>
            </a:endParaRPr>
          </a:p>
          <a:p>
            <a:br>
              <a:rPr lang="uk-UA" dirty="0"/>
            </a:br>
            <a:br>
              <a:rPr lang="uk-UA" dirty="0"/>
            </a:br>
            <a:r>
              <a:rPr lang="uk-UA" dirty="0"/>
              <a:t>Класифікація параметрів динамічних об'єктів</a:t>
            </a:r>
          </a:p>
          <a:p>
            <a:r>
              <a:rPr lang="uk-UA" dirty="0"/>
              <a:t>Що казати:</a:t>
            </a:r>
          </a:p>
          <a:p>
            <a:r>
              <a:rPr lang="uk-UA" dirty="0"/>
              <a:t>«наведено класифікацію параметрів динамічних об'єктів, яка стала основою для подальшої розробки методів їх визначення.</a:t>
            </a:r>
          </a:p>
          <a:p>
            <a:endParaRPr lang="uk-UA" dirty="0"/>
          </a:p>
          <a:p>
            <a:r>
              <a:rPr lang="uk-UA" dirty="0"/>
              <a:t>Просторові параметри включають координати </a:t>
            </a:r>
            <a:r>
              <a:rPr lang="en-US" dirty="0"/>
              <a:t>x, y, z, </a:t>
            </a:r>
            <a:r>
              <a:rPr lang="uk-UA" dirty="0"/>
              <a:t>глибину сцени, розміри об'єкта, такі як ширина та висота, а також орієнтацію в просторі.</a:t>
            </a:r>
          </a:p>
          <a:p>
            <a:endParaRPr lang="uk-UA" dirty="0"/>
          </a:p>
          <a:p>
            <a:r>
              <a:rPr lang="uk-UA" dirty="0"/>
              <a:t>Кінематичні параметри – це миттєва швидкість переміщення </a:t>
            </a:r>
            <a:r>
              <a:rPr lang="en-US" dirty="0"/>
              <a:t>v, </a:t>
            </a:r>
            <a:r>
              <a:rPr lang="uk-UA" dirty="0"/>
              <a:t>прискорення </a:t>
            </a:r>
            <a:r>
              <a:rPr lang="en-US" dirty="0"/>
              <a:t>a, </a:t>
            </a:r>
            <a:r>
              <a:rPr lang="uk-UA" dirty="0"/>
              <a:t>напрямок руху, який задається кутом тета, та траєкторія руху </a:t>
            </a:r>
            <a:r>
              <a:rPr lang="en-US" dirty="0"/>
              <a:t>T </a:t>
            </a:r>
            <a:r>
              <a:rPr lang="uk-UA" dirty="0"/>
              <a:t>як функція часу.</a:t>
            </a:r>
          </a:p>
          <a:p>
            <a:endParaRPr lang="uk-UA" dirty="0"/>
          </a:p>
          <a:p>
            <a:r>
              <a:rPr lang="uk-UA" dirty="0"/>
              <a:t>Структурні параметри описують форму об'єкта: його контур, площу, яку він займає у кадрі, клас об'єкта, наприклад автомобіль або пішохід, та інші ознаки форми, такі як компактність або </a:t>
            </a:r>
            <a:r>
              <a:rPr lang="uk-UA" dirty="0" err="1"/>
              <a:t>витягнутість</a:t>
            </a:r>
            <a:r>
              <a:rPr lang="uk-UA" dirty="0"/>
              <a:t>.»</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10</a:t>
            </a:fld>
            <a:endParaRPr lang="en-US"/>
          </a:p>
        </p:txBody>
      </p:sp>
    </p:spTree>
    <p:extLst>
      <p:ext uri="{BB962C8B-B14F-4D97-AF65-F5344CB8AC3E}">
        <p14:creationId xmlns:p14="http://schemas.microsoft.com/office/powerpoint/2010/main" val="2799855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b="0" i="0" kern="1200" dirty="0">
                <a:solidFill>
                  <a:schemeClr val="tx1"/>
                </a:solidFill>
                <a:effectLst/>
                <a:latin typeface="+mn-lt"/>
                <a:ea typeface="+mn-ea"/>
                <a:cs typeface="+mn-cs"/>
              </a:rPr>
              <a:t>«демонструє еволюцію класичних методів виявлення об'єктів.</a:t>
            </a:r>
          </a:p>
          <a:p>
            <a:r>
              <a:rPr lang="uk-UA" sz="1200" b="0" i="0" kern="1200" dirty="0">
                <a:solidFill>
                  <a:schemeClr val="tx1"/>
                </a:solidFill>
                <a:effectLst/>
                <a:latin typeface="+mn-lt"/>
                <a:ea typeface="+mn-ea"/>
                <a:cs typeface="+mn-cs"/>
              </a:rPr>
              <a:t>Ранній етап – каскадний детектор Віоли-Джонса з інтегральним представленням зображення. Подальший розвиток – метод гістограм орієнтованих градієнтів для стійкого виділення форм об'єктів. Далі – моделі деформованих частин, які враховують варіативність форми. І завершальний етап класичного підходу – агреговані канальні ознаки, що об'єднують кілька типів дескрипторів».</a:t>
            </a:r>
          </a:p>
          <a:p>
            <a:r>
              <a:rPr lang="uk-UA" dirty="0"/>
              <a:t>----------------------------------------------------------------------------------------------------</a:t>
            </a:r>
          </a:p>
          <a:p>
            <a:r>
              <a:rPr lang="uk-UA" dirty="0"/>
              <a:t>Еволюція класичних методів виявлення об'єктів (рис.1.1)</a:t>
            </a:r>
          </a:p>
          <a:p>
            <a:r>
              <a:rPr lang="uk-UA" dirty="0"/>
              <a:t>Що казати:</a:t>
            </a:r>
          </a:p>
          <a:p>
            <a:r>
              <a:rPr lang="uk-UA" dirty="0"/>
              <a:t>«На рисунку 1.1 показано еволюцію класичних методів виявлення об'єктів, яка демонструє перехід від каскадних детекторів до </a:t>
            </a:r>
            <a:r>
              <a:rPr lang="uk-UA" dirty="0" err="1"/>
              <a:t>ознакових</a:t>
            </a:r>
            <a:r>
              <a:rPr lang="uk-UA" dirty="0"/>
              <a:t> і деформованих моделей.</a:t>
            </a:r>
          </a:p>
          <a:p>
            <a:endParaRPr lang="uk-UA" dirty="0"/>
          </a:p>
          <a:p>
            <a:r>
              <a:rPr lang="uk-UA" dirty="0"/>
              <a:t>Ранній етап цієї еволюції представлений каскадним детектором Віоли-Джонса, який використовує інтегральне представлення зображення та набір слабких класифікаторів для швидкого виявлення </a:t>
            </a:r>
            <a:r>
              <a:rPr lang="uk-UA" dirty="0" err="1"/>
              <a:t>облич</a:t>
            </a:r>
            <a:r>
              <a:rPr lang="uk-UA" dirty="0"/>
              <a:t>.</a:t>
            </a:r>
          </a:p>
          <a:p>
            <a:endParaRPr lang="uk-UA" dirty="0"/>
          </a:p>
          <a:p>
            <a:r>
              <a:rPr lang="uk-UA" dirty="0"/>
              <a:t>Подальший розвиток пов'язаний з появою методу гістограм орієнтованих градієнтів, який забезпечує більш стійке виділення форм об'єктів на основі локальних градієнтів інтенсивності.</a:t>
            </a:r>
          </a:p>
          <a:p>
            <a:endParaRPr lang="uk-UA" dirty="0"/>
          </a:p>
          <a:p>
            <a:r>
              <a:rPr lang="uk-UA" dirty="0"/>
              <a:t>Наступним кроком стали моделі деформованих частин, які враховують внутрішню варіативність форми об'єкта через представлення його у вигляді набору частин, з'єднаних пружними зв'язками.</a:t>
            </a:r>
          </a:p>
          <a:p>
            <a:endParaRPr lang="uk-UA" dirty="0"/>
          </a:p>
          <a:p>
            <a:r>
              <a:rPr lang="uk-UA" dirty="0"/>
              <a:t>Завершальним етапом класичного підходу стало створення агрегованих канальних ознак, що об'єднують кілька типів дескрипторів.»</a:t>
            </a:r>
          </a:p>
          <a:p>
            <a:r>
              <a:rPr lang="uk-UA" sz="1200" b="0" i="0" kern="1200" dirty="0">
                <a:solidFill>
                  <a:schemeClr val="tx1"/>
                </a:solidFill>
                <a:effectLst/>
                <a:latin typeface="+mn-lt"/>
                <a:ea typeface="+mn-ea"/>
                <a:cs typeface="+mn-cs"/>
              </a:rPr>
              <a:t>«показано розвиток </a:t>
            </a:r>
            <a:r>
              <a:rPr lang="uk-UA" sz="1200" b="0" i="0" kern="1200" dirty="0" err="1">
                <a:solidFill>
                  <a:schemeClr val="tx1"/>
                </a:solidFill>
                <a:effectLst/>
                <a:latin typeface="+mn-lt"/>
                <a:ea typeface="+mn-ea"/>
                <a:cs typeface="+mn-cs"/>
              </a:rPr>
              <a:t>одноетапних</a:t>
            </a:r>
            <a:r>
              <a:rPr lang="uk-UA" sz="1200" b="0" i="0" kern="1200" dirty="0">
                <a:solidFill>
                  <a:schemeClr val="tx1"/>
                </a:solidFill>
                <a:effectLst/>
                <a:latin typeface="+mn-lt"/>
                <a:ea typeface="+mn-ea"/>
                <a:cs typeface="+mn-cs"/>
              </a:rPr>
              <a:t> </a:t>
            </a:r>
            <a:r>
              <a:rPr lang="uk-UA" sz="1200" b="0" i="0" kern="1200" dirty="0" err="1">
                <a:solidFill>
                  <a:schemeClr val="tx1"/>
                </a:solidFill>
                <a:effectLst/>
                <a:latin typeface="+mn-lt"/>
                <a:ea typeface="+mn-ea"/>
                <a:cs typeface="+mn-cs"/>
              </a:rPr>
              <a:t>згорткових</a:t>
            </a:r>
            <a:r>
              <a:rPr lang="uk-UA" sz="1200" b="0" i="0" kern="1200" dirty="0">
                <a:solidFill>
                  <a:schemeClr val="tx1"/>
                </a:solidFill>
                <a:effectLst/>
                <a:latin typeface="+mn-lt"/>
                <a:ea typeface="+mn-ea"/>
                <a:cs typeface="+mn-cs"/>
              </a:rPr>
              <a:t> нейронних детекторів.</a:t>
            </a:r>
          </a:p>
          <a:p>
            <a:r>
              <a:rPr lang="uk-UA" sz="1200" b="0" i="0" kern="1200" dirty="0">
                <a:solidFill>
                  <a:schemeClr val="tx1"/>
                </a:solidFill>
                <a:effectLst/>
                <a:latin typeface="+mn-lt"/>
                <a:ea typeface="+mn-ea"/>
                <a:cs typeface="+mn-cs"/>
              </a:rPr>
              <a:t>Починаючи з </a:t>
            </a:r>
            <a:r>
              <a:rPr lang="en-US" sz="1200" b="0" i="0" kern="1200" dirty="0">
                <a:solidFill>
                  <a:schemeClr val="tx1"/>
                </a:solidFill>
                <a:effectLst/>
                <a:latin typeface="+mn-lt"/>
                <a:ea typeface="+mn-ea"/>
                <a:cs typeface="+mn-cs"/>
              </a:rPr>
              <a:t>YOLO 2015 </a:t>
            </a:r>
            <a:r>
              <a:rPr lang="uk-UA" sz="1200" b="0" i="0" kern="1200" dirty="0">
                <a:solidFill>
                  <a:schemeClr val="tx1"/>
                </a:solidFill>
                <a:effectLst/>
                <a:latin typeface="+mn-lt"/>
                <a:ea typeface="+mn-ea"/>
                <a:cs typeface="+mn-cs"/>
              </a:rPr>
              <a:t>року, далі </a:t>
            </a:r>
            <a:r>
              <a:rPr lang="en-US" sz="1200" b="0" i="0" kern="1200" dirty="0">
                <a:solidFill>
                  <a:schemeClr val="tx1"/>
                </a:solidFill>
                <a:effectLst/>
                <a:latin typeface="+mn-lt"/>
                <a:ea typeface="+mn-ea"/>
                <a:cs typeface="+mn-cs"/>
              </a:rPr>
              <a:t>SSD, RetinaNet </a:t>
            </a:r>
            <a:r>
              <a:rPr lang="uk-UA" sz="1200" b="0" i="0" kern="1200" dirty="0">
                <a:solidFill>
                  <a:schemeClr val="tx1"/>
                </a:solidFill>
                <a:effectLst/>
                <a:latin typeface="+mn-lt"/>
                <a:ea typeface="+mn-ea"/>
                <a:cs typeface="+mn-cs"/>
              </a:rPr>
              <a:t>з фокальною функцією втрат, кутові та центральні детектори </a:t>
            </a:r>
            <a:r>
              <a:rPr lang="en-US" sz="1200" b="0" i="0" kern="1200" dirty="0" err="1">
                <a:solidFill>
                  <a:schemeClr val="tx1"/>
                </a:solidFill>
                <a:effectLst/>
                <a:latin typeface="+mn-lt"/>
                <a:ea typeface="+mn-ea"/>
                <a:cs typeface="+mn-cs"/>
              </a:rPr>
              <a:t>CornerNet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0" i="0" kern="1200" dirty="0" err="1">
                <a:solidFill>
                  <a:schemeClr val="tx1"/>
                </a:solidFill>
                <a:effectLst/>
                <a:latin typeface="+mn-lt"/>
                <a:ea typeface="+mn-ea"/>
                <a:cs typeface="+mn-cs"/>
              </a:rPr>
              <a:t>CenterNet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Завершальний етап – </a:t>
            </a:r>
            <a:r>
              <a:rPr lang="uk-UA" sz="1200" b="0" i="0" kern="1200" dirty="0" err="1">
                <a:solidFill>
                  <a:schemeClr val="tx1"/>
                </a:solidFill>
                <a:effectLst/>
                <a:latin typeface="+mn-lt"/>
                <a:ea typeface="+mn-ea"/>
                <a:cs typeface="+mn-cs"/>
              </a:rPr>
              <a:t>трансформерні</a:t>
            </a:r>
            <a:r>
              <a:rPr lang="uk-UA" sz="1200" b="0" i="0" kern="1200" dirty="0">
                <a:solidFill>
                  <a:schemeClr val="tx1"/>
                </a:solidFill>
                <a:effectLst/>
                <a:latin typeface="+mn-lt"/>
                <a:ea typeface="+mn-ea"/>
                <a:cs typeface="+mn-cs"/>
              </a:rPr>
              <a:t> детектори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Deformable DETR, </a:t>
            </a:r>
            <a:r>
              <a:rPr lang="uk-UA" sz="1200" b="0" i="0" kern="1200" dirty="0">
                <a:solidFill>
                  <a:schemeClr val="tx1"/>
                </a:solidFill>
                <a:effectLst/>
                <a:latin typeface="+mn-lt"/>
                <a:ea typeface="+mn-ea"/>
                <a:cs typeface="+mn-cs"/>
              </a:rPr>
              <a:t>які розглядають виявлення об'єктів як задачу прогнозування набору об'єктів без потреби в механізмах придушення не-максимумів».</a:t>
            </a:r>
          </a:p>
          <a:p>
            <a:pPr marL="0" marR="0" lvl="0" indent="0" algn="l" defTabSz="914400" rtl="0" eaLnBrk="1" fontAlgn="auto" latinLnBrk="0" hangingPunct="1">
              <a:lnSpc>
                <a:spcPct val="100000"/>
              </a:lnSpc>
              <a:spcBef>
                <a:spcPts val="0"/>
              </a:spcBef>
              <a:spcAft>
                <a:spcPts val="0"/>
              </a:spcAft>
              <a:buClrTx/>
              <a:buSzTx/>
              <a:buFontTx/>
              <a:buNone/>
              <a:tabLst/>
              <a:defRPr/>
            </a:pPr>
            <a:r>
              <a:rPr lang="uk-UA" sz="1200" kern="1200" dirty="0">
                <a:solidFill>
                  <a:schemeClr val="tx1"/>
                </a:solidFill>
                <a:effectLst/>
                <a:latin typeface="+mn-lt"/>
                <a:ea typeface="+mn-ea"/>
                <a:cs typeface="+mn-cs"/>
              </a:rPr>
              <a:t>-----------------------------------------------------------------------</a:t>
            </a:r>
            <a:endParaRPr lang="en-US" dirty="0">
              <a:effectLst/>
            </a:endParaRPr>
          </a:p>
          <a:p>
            <a:endParaRPr lang="uk-UA" dirty="0"/>
          </a:p>
          <a:p>
            <a:r>
              <a:rPr lang="uk-UA" dirty="0" err="1"/>
              <a:t>Одноетапні</a:t>
            </a:r>
            <a:r>
              <a:rPr lang="uk-UA" dirty="0"/>
              <a:t> </a:t>
            </a:r>
            <a:r>
              <a:rPr lang="en-US" dirty="0"/>
              <a:t>CNN-</a:t>
            </a:r>
            <a:r>
              <a:rPr lang="uk-UA" dirty="0"/>
              <a:t>детектори (рис.1.2)</a:t>
            </a:r>
          </a:p>
          <a:p>
            <a:r>
              <a:rPr lang="uk-UA" dirty="0"/>
              <a:t>Що казати:</a:t>
            </a:r>
          </a:p>
          <a:p>
            <a:r>
              <a:rPr lang="uk-UA" dirty="0"/>
              <a:t>«На рисунку 1.2 показано розвиток </a:t>
            </a:r>
            <a:r>
              <a:rPr lang="uk-UA" dirty="0" err="1"/>
              <a:t>одноетапних</a:t>
            </a:r>
            <a:r>
              <a:rPr lang="uk-UA" dirty="0"/>
              <a:t> </a:t>
            </a:r>
            <a:r>
              <a:rPr lang="uk-UA" dirty="0" err="1"/>
              <a:t>згорткових</a:t>
            </a:r>
            <a:r>
              <a:rPr lang="uk-UA" dirty="0"/>
              <a:t> нейронних детекторів, які забезпечують швидке прогнозування класів і координат об'єктів в одному проході мережі.</a:t>
            </a:r>
          </a:p>
          <a:p>
            <a:endParaRPr lang="uk-UA" dirty="0"/>
          </a:p>
          <a:p>
            <a:r>
              <a:rPr lang="uk-UA" dirty="0"/>
              <a:t>Раннім представником цього напряму є детектор </a:t>
            </a:r>
            <a:r>
              <a:rPr lang="en-US" dirty="0"/>
              <a:t>YOLO 2015 </a:t>
            </a:r>
            <a:r>
              <a:rPr lang="uk-UA" dirty="0"/>
              <a:t>року, який виконує регресію обмежувальних рамок безпосередньо з </a:t>
            </a:r>
            <a:r>
              <a:rPr lang="uk-UA" dirty="0" err="1"/>
              <a:t>повнозв'язних</a:t>
            </a:r>
            <a:r>
              <a:rPr lang="uk-UA" dirty="0"/>
              <a:t> шарів.</a:t>
            </a:r>
          </a:p>
          <a:p>
            <a:endParaRPr lang="uk-UA" dirty="0"/>
          </a:p>
          <a:p>
            <a:r>
              <a:rPr lang="uk-UA" dirty="0"/>
              <a:t>Альтернативним підходом став метод </a:t>
            </a:r>
            <a:r>
              <a:rPr lang="en-US" dirty="0"/>
              <a:t>SSD 2015 </a:t>
            </a:r>
            <a:r>
              <a:rPr lang="uk-UA" dirty="0"/>
              <a:t>року, що використовує набір </a:t>
            </a:r>
            <a:r>
              <a:rPr lang="uk-UA" dirty="0" err="1"/>
              <a:t>згорткових</a:t>
            </a:r>
            <a:r>
              <a:rPr lang="uk-UA" dirty="0"/>
              <a:t> фільтрів різного масштабу для виявлення об'єктів різних розмірів.</a:t>
            </a:r>
          </a:p>
          <a:p>
            <a:endParaRPr lang="uk-UA" dirty="0"/>
          </a:p>
          <a:p>
            <a:r>
              <a:rPr lang="uk-UA" dirty="0"/>
              <a:t>Подальший розвиток пов'язаний з появою </a:t>
            </a:r>
            <a:r>
              <a:rPr lang="en-US" dirty="0"/>
              <a:t>RetinaNet </a:t>
            </a:r>
            <a:r>
              <a:rPr lang="uk-UA" dirty="0"/>
              <a:t>у 2017 році, який впровадив фокальну функцію втрат для подолання проблеми дисбалансу між фоновими та цільовими пікселями.</a:t>
            </a:r>
          </a:p>
          <a:p>
            <a:endParaRPr lang="uk-UA" dirty="0"/>
          </a:p>
          <a:p>
            <a:r>
              <a:rPr lang="uk-UA" dirty="0"/>
              <a:t>Кутові та центральні детектори </a:t>
            </a:r>
            <a:r>
              <a:rPr lang="en-US" dirty="0" err="1"/>
              <a:t>CornerNet</a:t>
            </a:r>
            <a:r>
              <a:rPr lang="en-US" dirty="0"/>
              <a:t> (2018) </a:t>
            </a:r>
            <a:r>
              <a:rPr lang="uk-UA" dirty="0"/>
              <a:t>та </a:t>
            </a:r>
            <a:r>
              <a:rPr lang="en-US" dirty="0" err="1"/>
              <a:t>CenterNet</a:t>
            </a:r>
            <a:r>
              <a:rPr lang="en-US" dirty="0"/>
              <a:t> (2019) </a:t>
            </a:r>
            <a:r>
              <a:rPr lang="uk-UA" dirty="0"/>
              <a:t>відмовилися від традиційних якірних рамок на користь виявлення об'єктів як пар кутових точок або центрів.</a:t>
            </a:r>
          </a:p>
          <a:p>
            <a:endParaRPr lang="uk-UA" dirty="0"/>
          </a:p>
          <a:p>
            <a:r>
              <a:rPr lang="uk-UA" dirty="0"/>
              <a:t>Завершальним етапом є </a:t>
            </a:r>
            <a:r>
              <a:rPr lang="uk-UA" dirty="0" err="1"/>
              <a:t>трансформерні</a:t>
            </a:r>
            <a:r>
              <a:rPr lang="uk-UA" dirty="0"/>
              <a:t> детектори </a:t>
            </a:r>
            <a:r>
              <a:rPr lang="en-US" dirty="0"/>
              <a:t>DETR (2020) </a:t>
            </a:r>
            <a:r>
              <a:rPr lang="uk-UA" dirty="0"/>
              <a:t>та </a:t>
            </a:r>
            <a:r>
              <a:rPr lang="en-US" dirty="0"/>
              <a:t>Deformable DETR (2021), </a:t>
            </a:r>
            <a:r>
              <a:rPr lang="uk-UA" dirty="0"/>
              <a:t>які розглядають виявлення об'єктів як задачу прогнозування набору об'єктів без потреби в механізмах придушення не-максимумів.»</a:t>
            </a:r>
            <a:endParaRPr lang="en-US" dirty="0"/>
          </a:p>
          <a:p>
            <a:r>
              <a:rPr lang="uk-UA" sz="1200" b="0" i="0" kern="1200" dirty="0">
                <a:solidFill>
                  <a:schemeClr val="tx1"/>
                </a:solidFill>
                <a:effectLst/>
                <a:latin typeface="+mn-lt"/>
                <a:ea typeface="+mn-ea"/>
                <a:cs typeface="+mn-cs"/>
              </a:rPr>
              <a:t>«Двоетапні архітектури </a:t>
            </a:r>
            <a:r>
              <a:rPr lang="en-US" sz="1200" b="0" i="0" kern="1200" dirty="0">
                <a:solidFill>
                  <a:schemeClr val="tx1"/>
                </a:solidFill>
                <a:effectLst/>
                <a:latin typeface="+mn-lt"/>
                <a:ea typeface="+mn-ea"/>
                <a:cs typeface="+mn-cs"/>
              </a:rPr>
              <a:t>R-CNN </a:t>
            </a:r>
            <a:r>
              <a:rPr lang="uk-UA" sz="1200" b="0" i="0" kern="1200" dirty="0">
                <a:solidFill>
                  <a:schemeClr val="tx1"/>
                </a:solidFill>
                <a:effectLst/>
                <a:latin typeface="+mn-lt"/>
                <a:ea typeface="+mn-ea"/>
                <a:cs typeface="+mn-cs"/>
              </a:rPr>
              <a:t>використовують область пропозицій, згорткові ознаки та пірамідальні представлення для підвищення точності детектування.</a:t>
            </a:r>
          </a:p>
          <a:p>
            <a:r>
              <a:rPr lang="uk-UA" sz="1200" b="0" i="0" kern="1200" dirty="0">
                <a:solidFill>
                  <a:schemeClr val="tx1"/>
                </a:solidFill>
                <a:effectLst/>
                <a:latin typeface="+mn-lt"/>
                <a:ea typeface="+mn-ea"/>
                <a:cs typeface="+mn-cs"/>
              </a:rPr>
              <a:t>Ключові особливості: </a:t>
            </a:r>
            <a:r>
              <a:rPr lang="en-US" sz="1200" b="0" i="0" kern="1200" dirty="0">
                <a:solidFill>
                  <a:schemeClr val="tx1"/>
                </a:solidFill>
                <a:effectLst/>
                <a:latin typeface="+mn-lt"/>
                <a:ea typeface="+mn-ea"/>
                <a:cs typeface="+mn-cs"/>
              </a:rPr>
              <a:t>ROI pooling </a:t>
            </a:r>
            <a:r>
              <a:rPr lang="uk-UA" sz="1200" b="0" i="0" kern="1200" dirty="0">
                <a:solidFill>
                  <a:schemeClr val="tx1"/>
                </a:solidFill>
                <a:effectLst/>
                <a:latin typeface="+mn-lt"/>
                <a:ea typeface="+mn-ea"/>
                <a:cs typeface="+mn-cs"/>
              </a:rPr>
              <a:t>для вирівнювання розмірів областей інтересу, </a:t>
            </a:r>
            <a:r>
              <a:rPr lang="en-US" sz="1200" b="0" i="0" kern="1200" dirty="0">
                <a:solidFill>
                  <a:schemeClr val="tx1"/>
                </a:solidFill>
                <a:effectLst/>
                <a:latin typeface="+mn-lt"/>
                <a:ea typeface="+mn-ea"/>
                <a:cs typeface="+mn-cs"/>
              </a:rPr>
              <a:t>RPN – </a:t>
            </a:r>
            <a:r>
              <a:rPr lang="uk-UA" sz="1200" b="0" i="0" kern="1200" dirty="0">
                <a:solidFill>
                  <a:schemeClr val="tx1"/>
                </a:solidFill>
                <a:effectLst/>
                <a:latin typeface="+mn-lt"/>
                <a:ea typeface="+mn-ea"/>
                <a:cs typeface="+mn-cs"/>
              </a:rPr>
              <a:t>мережа формування пропозицій, </a:t>
            </a:r>
            <a:r>
              <a:rPr lang="uk-UA" sz="1200" b="0" i="0" kern="1200" dirty="0" err="1">
                <a:solidFill>
                  <a:schemeClr val="tx1"/>
                </a:solidFill>
                <a:effectLst/>
                <a:latin typeface="+mn-lt"/>
                <a:ea typeface="+mn-ea"/>
                <a:cs typeface="+mn-cs"/>
              </a:rPr>
              <a:t>багатозадачне</a:t>
            </a:r>
            <a:r>
              <a:rPr lang="uk-UA" sz="1200" b="0" i="0" kern="1200" dirty="0">
                <a:solidFill>
                  <a:schemeClr val="tx1"/>
                </a:solidFill>
                <a:effectLst/>
                <a:latin typeface="+mn-lt"/>
                <a:ea typeface="+mn-ea"/>
                <a:cs typeface="+mn-cs"/>
              </a:rPr>
              <a:t> навчання та додаткова гілка сегментації в </a:t>
            </a:r>
            <a:r>
              <a:rPr lang="en-US" sz="1200" b="0" i="0" kern="1200" dirty="0">
                <a:solidFill>
                  <a:schemeClr val="tx1"/>
                </a:solidFill>
                <a:effectLst/>
                <a:latin typeface="+mn-lt"/>
                <a:ea typeface="+mn-ea"/>
                <a:cs typeface="+mn-cs"/>
              </a:rPr>
              <a:t>Mask R-CNN. Cascade R-CNN </a:t>
            </a:r>
            <a:r>
              <a:rPr lang="uk-UA" sz="1200" b="0" i="0" kern="1200" dirty="0">
                <a:solidFill>
                  <a:schemeClr val="tx1"/>
                </a:solidFill>
                <a:effectLst/>
                <a:latin typeface="+mn-lt"/>
                <a:ea typeface="+mn-ea"/>
                <a:cs typeface="+mn-cs"/>
              </a:rPr>
              <a:t>використовує послідовність уточнюючих </a:t>
            </a:r>
            <a:r>
              <a:rPr lang="uk-UA" sz="1200" b="0" i="0" kern="1200" dirty="0" err="1">
                <a:solidFill>
                  <a:schemeClr val="tx1"/>
                </a:solidFill>
                <a:effectLst/>
                <a:latin typeface="+mn-lt"/>
                <a:ea typeface="+mn-ea"/>
                <a:cs typeface="+mn-cs"/>
              </a:rPr>
              <a:t>регресорів</a:t>
            </a:r>
            <a:r>
              <a:rPr lang="uk-UA" sz="1200" b="0" i="0" kern="1200" dirty="0">
                <a:solidFill>
                  <a:schemeClr val="tx1"/>
                </a:solidFill>
                <a:effectLst/>
                <a:latin typeface="+mn-lt"/>
                <a:ea typeface="+mn-ea"/>
                <a:cs typeface="+mn-cs"/>
              </a:rPr>
              <a:t> для підвищення точності локалізації.</a:t>
            </a:r>
          </a:p>
          <a:p>
            <a:r>
              <a:rPr lang="uk-UA" sz="1200" b="0" i="0" kern="1200" dirty="0">
                <a:solidFill>
                  <a:schemeClr val="tx1"/>
                </a:solidFill>
                <a:effectLst/>
                <a:latin typeface="+mn-lt"/>
                <a:ea typeface="+mn-ea"/>
                <a:cs typeface="+mn-cs"/>
              </a:rPr>
              <a:t>Основний недолік – менша швидкодія порівняно з </a:t>
            </a:r>
            <a:r>
              <a:rPr lang="uk-UA" sz="1200" b="0" i="0" kern="1200" dirty="0" err="1">
                <a:solidFill>
                  <a:schemeClr val="tx1"/>
                </a:solidFill>
                <a:effectLst/>
                <a:latin typeface="+mn-lt"/>
                <a:ea typeface="+mn-ea"/>
                <a:cs typeface="+mn-cs"/>
              </a:rPr>
              <a:t>одноетапними</a:t>
            </a:r>
            <a:r>
              <a:rPr lang="uk-UA" sz="1200" b="0" i="0" kern="1200" dirty="0">
                <a:solidFill>
                  <a:schemeClr val="tx1"/>
                </a:solidFill>
                <a:effectLst/>
                <a:latin typeface="+mn-lt"/>
                <a:ea typeface="+mn-ea"/>
                <a:cs typeface="+mn-cs"/>
              </a:rPr>
              <a:t> детекторами».</a:t>
            </a:r>
          </a:p>
          <a:p>
            <a:r>
              <a:rPr lang="uk-UA" dirty="0"/>
              <a:t>----------------------------------------------------------</a:t>
            </a:r>
          </a:p>
          <a:p>
            <a:r>
              <a:rPr lang="uk-UA" dirty="0"/>
              <a:t>Двоетапні архітектури </a:t>
            </a:r>
            <a:r>
              <a:rPr lang="en-US" dirty="0"/>
              <a:t>R-CNN (</a:t>
            </a:r>
            <a:r>
              <a:rPr lang="uk-UA" dirty="0"/>
              <a:t>рис.1.3)</a:t>
            </a:r>
          </a:p>
          <a:p>
            <a:r>
              <a:rPr lang="uk-UA" dirty="0"/>
              <a:t>Що казати:</a:t>
            </a:r>
          </a:p>
          <a:p>
            <a:r>
              <a:rPr lang="uk-UA" dirty="0"/>
              <a:t>«Рисунок 1.3 демонструє еволюцію двоетапних </a:t>
            </a:r>
            <a:r>
              <a:rPr lang="uk-UA" dirty="0" err="1"/>
              <a:t>архітектур</a:t>
            </a:r>
            <a:r>
              <a:rPr lang="uk-UA" dirty="0"/>
              <a:t> </a:t>
            </a:r>
            <a:r>
              <a:rPr lang="en-US" dirty="0"/>
              <a:t>R-CNN, </a:t>
            </a:r>
            <a:r>
              <a:rPr lang="uk-UA" dirty="0"/>
              <a:t>які використовують область пропозицій, згорткові ознаки та пірамідальні представлення для підвищення точності детектування.</a:t>
            </a:r>
          </a:p>
          <a:p>
            <a:endParaRPr lang="uk-UA" dirty="0"/>
          </a:p>
          <a:p>
            <a:r>
              <a:rPr lang="en-US" dirty="0"/>
              <a:t>R-CNN </a:t>
            </a:r>
            <a:r>
              <a:rPr lang="uk-UA" dirty="0"/>
              <a:t>використовує селективний пошук для генерації областей-кандидатів. </a:t>
            </a:r>
            <a:r>
              <a:rPr lang="en-US" dirty="0"/>
              <a:t>SPP-Net </a:t>
            </a:r>
            <a:r>
              <a:rPr lang="uk-UA" dirty="0"/>
              <a:t>впроваджує просторову пірамідну </a:t>
            </a:r>
            <a:r>
              <a:rPr lang="uk-UA" dirty="0" err="1"/>
              <a:t>пулінг</a:t>
            </a:r>
            <a:r>
              <a:rPr lang="uk-UA" dirty="0"/>
              <a:t> для роботи з довільним розміром зображення.</a:t>
            </a:r>
          </a:p>
          <a:p>
            <a:endParaRPr lang="uk-UA" dirty="0"/>
          </a:p>
          <a:p>
            <a:r>
              <a:rPr lang="en-US" dirty="0"/>
              <a:t>Fast R-CNN </a:t>
            </a:r>
            <a:r>
              <a:rPr lang="uk-UA" dirty="0"/>
              <a:t>об'єднує класифікацію та регресію обмежувальних рамок у спільну </a:t>
            </a:r>
            <a:r>
              <a:rPr lang="uk-UA" dirty="0" err="1"/>
              <a:t>багатозадачну</a:t>
            </a:r>
            <a:r>
              <a:rPr lang="uk-UA" dirty="0"/>
              <a:t> функцію втрат. </a:t>
            </a:r>
            <a:r>
              <a:rPr lang="en-US" dirty="0"/>
              <a:t>Faster R-CNN </a:t>
            </a:r>
            <a:r>
              <a:rPr lang="uk-UA" dirty="0"/>
              <a:t>замінює селективний пошук на навчену мережу формування пропозицій – </a:t>
            </a:r>
            <a:r>
              <a:rPr lang="en-US" dirty="0"/>
              <a:t>Region Proposal Network.</a:t>
            </a:r>
          </a:p>
          <a:p>
            <a:endParaRPr lang="en-US" dirty="0"/>
          </a:p>
          <a:p>
            <a:r>
              <a:rPr lang="en-US" dirty="0"/>
              <a:t>Mask R-CNN </a:t>
            </a:r>
            <a:r>
              <a:rPr lang="uk-UA" dirty="0"/>
              <a:t>додає гілку сегментації для виділення контурів об'єктів, а </a:t>
            </a:r>
            <a:r>
              <a:rPr lang="en-US" dirty="0"/>
              <a:t>Cascade R-CNN </a:t>
            </a:r>
            <a:r>
              <a:rPr lang="uk-UA" dirty="0"/>
              <a:t>використовує послідовність уточнювальних </a:t>
            </a:r>
            <a:r>
              <a:rPr lang="uk-UA" dirty="0" err="1"/>
              <a:t>регресорів</a:t>
            </a:r>
            <a:r>
              <a:rPr lang="uk-UA" dirty="0"/>
              <a:t> для підвищення точності локалізації.</a:t>
            </a:r>
          </a:p>
          <a:p>
            <a:endParaRPr lang="uk-UA" dirty="0"/>
          </a:p>
          <a:p>
            <a:r>
              <a:rPr lang="uk-UA" dirty="0"/>
              <a:t>Основним недоліком двоетапних </a:t>
            </a:r>
            <a:r>
              <a:rPr lang="uk-UA" dirty="0" err="1"/>
              <a:t>архітектур</a:t>
            </a:r>
            <a:r>
              <a:rPr lang="uk-UA" dirty="0"/>
              <a:t> є менша швидкодія порівняно з </a:t>
            </a:r>
            <a:r>
              <a:rPr lang="uk-UA" dirty="0" err="1"/>
              <a:t>одноетапними</a:t>
            </a:r>
            <a:r>
              <a:rPr lang="uk-UA" dirty="0"/>
              <a:t> детекторами через необхідність послідовного виконання етапу формування пропозицій та етапу їх класифікації.»</a:t>
            </a:r>
            <a:endParaRPr lang="en-US" dirty="0"/>
          </a:p>
          <a:p>
            <a:endParaRPr lang="uk-UA" dirty="0"/>
          </a:p>
          <a:p>
            <a:endParaRPr lang="en-US" dirty="0"/>
          </a:p>
          <a:p>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11</a:t>
            </a:fld>
            <a:endParaRPr lang="en-US"/>
          </a:p>
        </p:txBody>
      </p:sp>
    </p:spTree>
    <p:extLst>
      <p:ext uri="{BB962C8B-B14F-4D97-AF65-F5344CB8AC3E}">
        <p14:creationId xmlns:p14="http://schemas.microsoft.com/office/powerpoint/2010/main" val="2296745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«Модель динамічного об'єкта в межах задач дистанційної ідентифікації описує зміну його просторового положення, швидкості, прискорення та орієнтації в часі.</a:t>
            </a:r>
          </a:p>
          <a:p>
            <a:r>
              <a:rPr lang="uk-UA" sz="1200" b="1" i="0" kern="1200" dirty="0">
                <a:solidFill>
                  <a:schemeClr val="tx1"/>
                </a:solidFill>
                <a:effectLst/>
                <a:latin typeface="+mn-lt"/>
                <a:ea typeface="+mn-ea"/>
                <a:cs typeface="+mn-cs"/>
              </a:rPr>
              <a:t>Структурна модель</a:t>
            </a:r>
            <a:r>
              <a:rPr lang="uk-UA" sz="1200" b="0" i="0" kern="1200" dirty="0">
                <a:solidFill>
                  <a:schemeClr val="tx1"/>
                </a:solidFill>
                <a:effectLst/>
                <a:latin typeface="+mn-lt"/>
                <a:ea typeface="+mn-ea"/>
                <a:cs typeface="+mn-cs"/>
              </a:rPr>
              <a:t> встановлює зв'язок між відеоданими та множиною параметрів, що ідентифікуються.</a:t>
            </a:r>
          </a:p>
          <a:p>
            <a:r>
              <a:rPr lang="uk-UA" sz="1200" b="1" i="0" kern="1200" dirty="0">
                <a:solidFill>
                  <a:schemeClr val="tx1"/>
                </a:solidFill>
                <a:effectLst/>
                <a:latin typeface="+mn-lt"/>
                <a:ea typeface="+mn-ea"/>
                <a:cs typeface="+mn-cs"/>
              </a:rPr>
              <a:t>Вектор стану об'єкта</a:t>
            </a:r>
            <a:r>
              <a:rPr lang="uk-UA" sz="1200" b="0" i="0" kern="1200" dirty="0">
                <a:solidFill>
                  <a:schemeClr val="tx1"/>
                </a:solidFill>
                <a:effectLst/>
                <a:latin typeface="+mn-lt"/>
                <a:ea typeface="+mn-ea"/>
                <a:cs typeface="+mn-cs"/>
              </a:rPr>
              <a:t> включає координати </a:t>
            </a:r>
            <a:r>
              <a:rPr lang="en-US" sz="1200" b="0" i="0" kern="1200" dirty="0">
                <a:solidFill>
                  <a:schemeClr val="tx1"/>
                </a:solidFill>
                <a:effectLst/>
                <a:latin typeface="+mn-lt"/>
                <a:ea typeface="+mn-ea"/>
                <a:cs typeface="+mn-cs"/>
              </a:rPr>
              <a:t>x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y, </a:t>
            </a:r>
            <a:r>
              <a:rPr lang="uk-UA" sz="1200" b="0" i="0" kern="1200" dirty="0">
                <a:solidFill>
                  <a:schemeClr val="tx1"/>
                </a:solidFill>
                <a:effectLst/>
                <a:latin typeface="+mn-lt"/>
                <a:ea typeface="+mn-ea"/>
                <a:cs typeface="+mn-cs"/>
              </a:rPr>
              <a:t>компоненти швидкості </a:t>
            </a:r>
            <a:r>
              <a:rPr lang="en-US" sz="1200" b="0" i="0" kern="1200" dirty="0" err="1">
                <a:solidFill>
                  <a:schemeClr val="tx1"/>
                </a:solidFill>
                <a:effectLst/>
                <a:latin typeface="+mn-lt"/>
                <a:ea typeface="+mn-ea"/>
                <a:cs typeface="+mn-cs"/>
              </a:rPr>
              <a:t>v_x</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0" i="0" kern="1200" dirty="0" err="1">
                <a:solidFill>
                  <a:schemeClr val="tx1"/>
                </a:solidFill>
                <a:effectLst/>
                <a:latin typeface="+mn-lt"/>
                <a:ea typeface="+mn-ea"/>
                <a:cs typeface="+mn-cs"/>
              </a:rPr>
              <a:t>v_y</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а також кут напрямку руху </a:t>
            </a:r>
            <a:r>
              <a:rPr lang="el-GR" sz="1200" b="0" i="0" kern="1200" dirty="0">
                <a:solidFill>
                  <a:schemeClr val="tx1"/>
                </a:solidFill>
                <a:effectLst/>
                <a:latin typeface="+mn-lt"/>
                <a:ea typeface="+mn-ea"/>
                <a:cs typeface="+mn-cs"/>
              </a:rPr>
              <a:t>θ.</a:t>
            </a:r>
          </a:p>
          <a:p>
            <a:r>
              <a:rPr lang="uk-UA" sz="1200" b="1" i="0" kern="1200" dirty="0">
                <a:solidFill>
                  <a:schemeClr val="tx1"/>
                </a:solidFill>
                <a:effectLst/>
                <a:latin typeface="+mn-lt"/>
                <a:ea typeface="+mn-ea"/>
                <a:cs typeface="+mn-cs"/>
              </a:rPr>
              <a:t>Динамічна модель руху</a:t>
            </a:r>
            <a:r>
              <a:rPr lang="uk-UA" sz="1200" b="0" i="0" kern="1200" dirty="0">
                <a:solidFill>
                  <a:schemeClr val="tx1"/>
                </a:solidFill>
                <a:effectLst/>
                <a:latin typeface="+mn-lt"/>
                <a:ea typeface="+mn-ea"/>
                <a:cs typeface="+mn-cs"/>
              </a:rPr>
              <a:t> описує зміну стану під дією власної динаміки та зовнішніх впливів.</a:t>
            </a:r>
          </a:p>
          <a:p>
            <a:r>
              <a:rPr lang="uk-UA" sz="1200" b="0" i="0" kern="1200" dirty="0">
                <a:solidFill>
                  <a:schemeClr val="tx1"/>
                </a:solidFill>
                <a:effectLst/>
                <a:latin typeface="+mn-lt"/>
                <a:ea typeface="+mn-ea"/>
                <a:cs typeface="+mn-cs"/>
              </a:rPr>
              <a:t>Важливо підкреслити, що в даній роботі модель динамічного об'єкта розглядається не як ізольоване рівняння руху, а як </a:t>
            </a:r>
            <a:r>
              <a:rPr lang="uk-UA" sz="1200" b="1" i="0" kern="1200" dirty="0">
                <a:solidFill>
                  <a:schemeClr val="tx1"/>
                </a:solidFill>
                <a:effectLst/>
                <a:latin typeface="+mn-lt"/>
                <a:ea typeface="+mn-ea"/>
                <a:cs typeface="+mn-cs"/>
              </a:rPr>
              <a:t>інформаційна структура</a:t>
            </a:r>
            <a:r>
              <a:rPr lang="uk-UA" sz="1200" b="0" i="0" kern="1200" dirty="0">
                <a:solidFill>
                  <a:schemeClr val="tx1"/>
                </a:solidFill>
                <a:effectLst/>
                <a:latin typeface="+mn-lt"/>
                <a:ea typeface="+mn-ea"/>
                <a:cs typeface="+mn-cs"/>
              </a:rPr>
              <a:t>, що об'єднує результати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оптичного потоку,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моделей глибини та ансамблевого узгодження параметрів».</a:t>
            </a:r>
          </a:p>
          <a:p>
            <a:r>
              <a:rPr lang="uk-UA" dirty="0"/>
              <a:t>---------------------------------------------------------------------</a:t>
            </a:r>
          </a:p>
          <a:p>
            <a:r>
              <a:rPr lang="uk-UA" dirty="0"/>
              <a:t>Моделі динамічних об'єктів</a:t>
            </a:r>
          </a:p>
          <a:p>
            <a:r>
              <a:rPr lang="uk-UA" dirty="0"/>
              <a:t>Що казати:</a:t>
            </a:r>
          </a:p>
          <a:p>
            <a:r>
              <a:rPr lang="uk-UA" dirty="0"/>
              <a:t>«Модель динамічного об'єкта в межах задач дистанційної ідентифікації описує зміну його просторового положення, швидкості, прискорення та орієнтації в часі.</a:t>
            </a:r>
          </a:p>
          <a:p>
            <a:endParaRPr lang="uk-UA" dirty="0"/>
          </a:p>
          <a:p>
            <a:r>
              <a:rPr lang="uk-UA" dirty="0"/>
              <a:t>Модель встановлює зв'язок між відеоданими та множиною параметрів, що ідентифікуються.</a:t>
            </a:r>
          </a:p>
          <a:p>
            <a:endParaRPr lang="uk-UA" dirty="0"/>
          </a:p>
          <a:p>
            <a:r>
              <a:rPr lang="uk-UA" dirty="0"/>
              <a:t>Вектор стану об'єкта включає координати </a:t>
            </a:r>
            <a:r>
              <a:rPr lang="en-US" dirty="0"/>
              <a:t>x </a:t>
            </a:r>
            <a:r>
              <a:rPr lang="uk-UA" dirty="0"/>
              <a:t>та </a:t>
            </a:r>
            <a:r>
              <a:rPr lang="en-US" dirty="0"/>
              <a:t>y, </a:t>
            </a:r>
            <a:r>
              <a:rPr lang="uk-UA" dirty="0"/>
              <a:t>компоненти швидкості </a:t>
            </a:r>
            <a:r>
              <a:rPr lang="en-US" dirty="0" err="1"/>
              <a:t>v_x</a:t>
            </a:r>
            <a:r>
              <a:rPr lang="en-US" dirty="0"/>
              <a:t> </a:t>
            </a:r>
            <a:r>
              <a:rPr lang="uk-UA" dirty="0"/>
              <a:t>та </a:t>
            </a:r>
            <a:r>
              <a:rPr lang="en-US" dirty="0" err="1"/>
              <a:t>v_y</a:t>
            </a:r>
            <a:r>
              <a:rPr lang="en-US" dirty="0"/>
              <a:t>, </a:t>
            </a:r>
            <a:r>
              <a:rPr lang="uk-UA" dirty="0"/>
              <a:t>а також кут напрямку руху тета.</a:t>
            </a:r>
          </a:p>
          <a:p>
            <a:endParaRPr lang="uk-UA" dirty="0"/>
          </a:p>
          <a:p>
            <a:r>
              <a:rPr lang="uk-UA" dirty="0"/>
              <a:t>Динамічна модель руху описує зміну стану під дією власної динаміки та зовнішніх впливів.</a:t>
            </a:r>
          </a:p>
          <a:p>
            <a:endParaRPr lang="uk-UA" dirty="0"/>
          </a:p>
          <a:p>
            <a:r>
              <a:rPr lang="uk-UA" dirty="0"/>
              <a:t>Важливо підкреслити, що в даній роботі модель динамічного об'єкта розглядається не як ізольоване рівняння руху, а як інформаційна структура, що об'єднує результати </a:t>
            </a:r>
            <a:r>
              <a:rPr lang="en-US" dirty="0"/>
              <a:t>DETR, </a:t>
            </a:r>
            <a:r>
              <a:rPr lang="uk-UA" dirty="0"/>
              <a:t>оптичного потоку, </a:t>
            </a:r>
            <a:r>
              <a:rPr lang="en-US" dirty="0" err="1"/>
              <a:t>GeoNet</a:t>
            </a:r>
            <a:r>
              <a:rPr lang="en-US" dirty="0"/>
              <a:t>, </a:t>
            </a:r>
            <a:r>
              <a:rPr lang="uk-UA" dirty="0"/>
              <a:t>моделей глибини та ансамблевого узгодження параметрів.»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12</a:t>
            </a:fld>
            <a:endParaRPr lang="en-US"/>
          </a:p>
        </p:txBody>
      </p:sp>
    </p:spTree>
    <p:extLst>
      <p:ext uri="{BB962C8B-B14F-4D97-AF65-F5344CB8AC3E}">
        <p14:creationId xmlns:p14="http://schemas.microsoft.com/office/powerpoint/2010/main" val="1959655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«У роботі проаналізовано та використано п'ять основних методів оптичного потоку.</a:t>
            </a:r>
          </a:p>
          <a:p>
            <a:r>
              <a:rPr lang="en-US" sz="1200" b="1" i="0" kern="1200" dirty="0">
                <a:solidFill>
                  <a:schemeClr val="tx1"/>
                </a:solidFill>
                <a:effectLst/>
                <a:latin typeface="+mn-lt"/>
                <a:ea typeface="+mn-ea"/>
                <a:cs typeface="+mn-cs"/>
              </a:rPr>
              <a:t>Lucas-Kanade</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локальний метод, який базується на припущенні, що оптичний потік є локально постійним у межах невеликого вікна. Переваги – висока швидкість та стійкість до шумів. Недолік – не відновлює потік в областях з однорідною текстурою.</a:t>
            </a:r>
          </a:p>
          <a:p>
            <a:r>
              <a:rPr lang="en-US" sz="1200" b="1" i="0" kern="1200" dirty="0">
                <a:solidFill>
                  <a:schemeClr val="tx1"/>
                </a:solidFill>
                <a:effectLst/>
                <a:latin typeface="+mn-lt"/>
                <a:ea typeface="+mn-ea"/>
                <a:cs typeface="+mn-cs"/>
              </a:rPr>
              <a:t>Horn-Schunck</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глобальний метод, який мінімізує функціонал енергії, що поєднує обмеження сталості яскравості з умовою глобальної гладкості поля руху. Будує густе гладке поле, але потребує значних ітераційних ресурсів.</a:t>
            </a:r>
          </a:p>
          <a:p>
            <a:r>
              <a:rPr lang="en-US" sz="1200" b="1"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поліноміальний метод, який використовує пірамідальну структуру зображень та апроксимацію інтенсивності поліномами другого порядку.</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 </a:t>
            </a:r>
            <a:r>
              <a:rPr lang="uk-UA" sz="1200" b="0" i="0" kern="1200" dirty="0" err="1">
                <a:solidFill>
                  <a:schemeClr val="tx1"/>
                </a:solidFill>
                <a:effectLst/>
                <a:latin typeface="+mn-lt"/>
                <a:ea typeface="+mn-ea"/>
                <a:cs typeface="+mn-cs"/>
              </a:rPr>
              <a:t>нейромережеві</a:t>
            </a:r>
            <a:r>
              <a:rPr lang="uk-UA" sz="1200" b="0" i="0" kern="1200" dirty="0">
                <a:solidFill>
                  <a:schemeClr val="tx1"/>
                </a:solidFill>
                <a:effectLst/>
                <a:latin typeface="+mn-lt"/>
                <a:ea typeface="+mn-ea"/>
                <a:cs typeface="+mn-cs"/>
              </a:rPr>
              <a:t> методи, які навчаються передбачати оптичний потік за принципом "кінець-у-кінець"».</a:t>
            </a:r>
          </a:p>
          <a:p>
            <a:r>
              <a:rPr lang="uk-UA" dirty="0"/>
              <a:t>--------------------------------------------------------------------------------------------------------</a:t>
            </a:r>
          </a:p>
          <a:p>
            <a:r>
              <a:rPr lang="uk-UA" dirty="0"/>
              <a:t>Методи оптичного потоку</a:t>
            </a:r>
          </a:p>
          <a:p>
            <a:r>
              <a:rPr lang="uk-UA" dirty="0"/>
              <a:t>Що казати:</a:t>
            </a:r>
          </a:p>
          <a:p>
            <a:r>
              <a:rPr lang="uk-UA" dirty="0"/>
              <a:t>«У роботі проаналізовано та використано п'ять основних методів оптичного потоку.</a:t>
            </a:r>
          </a:p>
          <a:p>
            <a:endParaRPr lang="uk-UA" dirty="0"/>
          </a:p>
          <a:p>
            <a:r>
              <a:rPr lang="uk-UA" dirty="0"/>
              <a:t>Перший – локальний метод Лукаса-</a:t>
            </a:r>
            <a:r>
              <a:rPr lang="uk-UA" dirty="0" err="1"/>
              <a:t>Канаде</a:t>
            </a:r>
            <a:r>
              <a:rPr lang="uk-UA" dirty="0"/>
              <a:t>, який базується на припущенні, що оптичний потік є локально постійним у межах невеликого вікна. Розв'язок знаходиться методом найменших квадратів. Перевагами методу є висока швидкість обчислень та стійкість до шумів, але він не здатен відновлювати потік в областях з однорідною текстурою.</a:t>
            </a:r>
          </a:p>
          <a:p>
            <a:endParaRPr lang="uk-UA" dirty="0"/>
          </a:p>
          <a:p>
            <a:r>
              <a:rPr lang="uk-UA" dirty="0"/>
              <a:t>Другий – глобальний метод </a:t>
            </a:r>
            <a:r>
              <a:rPr lang="uk-UA" dirty="0" err="1"/>
              <a:t>Хорна-Шунка</a:t>
            </a:r>
            <a:r>
              <a:rPr lang="uk-UA" dirty="0"/>
              <a:t>, який мінімізує функціонал енергії, що поєднує обмеження сталості яскравості з умовою глобальної гладкості поля руху. Цей метод будує густе гладке поле, але потребує значних ітераційних ресурсів.</a:t>
            </a:r>
          </a:p>
          <a:p>
            <a:endParaRPr lang="uk-UA" dirty="0"/>
          </a:p>
          <a:p>
            <a:r>
              <a:rPr lang="uk-UA" dirty="0"/>
              <a:t>Третій – поліноміальний метод </a:t>
            </a:r>
            <a:r>
              <a:rPr lang="uk-UA" dirty="0" err="1"/>
              <a:t>Фарнебека</a:t>
            </a:r>
            <a:r>
              <a:rPr lang="uk-UA" dirty="0"/>
              <a:t>, який використовує пірамідальну структуру зображень та апроксимацію інтенсивності поліномами другого порядку.</a:t>
            </a:r>
          </a:p>
          <a:p>
            <a:endParaRPr lang="uk-UA" dirty="0"/>
          </a:p>
          <a:p>
            <a:r>
              <a:rPr lang="uk-UA" dirty="0"/>
              <a:t>Четвертий та п'ятий – </a:t>
            </a:r>
            <a:r>
              <a:rPr lang="uk-UA" dirty="0" err="1"/>
              <a:t>нейромережеві</a:t>
            </a:r>
            <a:r>
              <a:rPr lang="uk-UA" dirty="0"/>
              <a:t> методи </a:t>
            </a:r>
            <a:r>
              <a:rPr lang="en-US" dirty="0" err="1"/>
              <a:t>FlowNet</a:t>
            </a:r>
            <a:r>
              <a:rPr lang="en-US" dirty="0"/>
              <a:t> </a:t>
            </a:r>
            <a:r>
              <a:rPr lang="uk-UA" dirty="0"/>
              <a:t>та </a:t>
            </a:r>
            <a:r>
              <a:rPr lang="en-US" dirty="0" err="1"/>
              <a:t>GeoNet</a:t>
            </a:r>
            <a:r>
              <a:rPr lang="en-US" dirty="0"/>
              <a:t>, </a:t>
            </a:r>
            <a:r>
              <a:rPr lang="uk-UA" dirty="0"/>
              <a:t>які навчаються передбачати оптичний потік за принципом "кінець-у-кінець".»</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13</a:t>
            </a:fld>
            <a:endParaRPr lang="en-US"/>
          </a:p>
        </p:txBody>
      </p:sp>
    </p:spTree>
    <p:extLst>
      <p:ext uri="{BB962C8B-B14F-4D97-AF65-F5344CB8AC3E}">
        <p14:creationId xmlns:p14="http://schemas.microsoft.com/office/powerpoint/2010/main" val="2551284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«Об'єднання методів ґрунтується на спільному використанні просторових ознак від детектора, часових характеристик від оптичного потоку та оцінок глибини сцени.</a:t>
            </a:r>
          </a:p>
          <a:p>
            <a:r>
              <a:rPr lang="uk-UA" sz="1200" b="1" i="0" kern="1200" dirty="0">
                <a:solidFill>
                  <a:schemeClr val="tx1"/>
                </a:solidFill>
                <a:effectLst/>
                <a:latin typeface="+mn-lt"/>
                <a:ea typeface="+mn-ea"/>
                <a:cs typeface="+mn-cs"/>
              </a:rPr>
              <a:t>Узагальнена просторово-часова модель</a:t>
            </a:r>
            <a:r>
              <a:rPr lang="uk-UA" sz="1200" b="0" i="0" kern="1200" dirty="0">
                <a:solidFill>
                  <a:schemeClr val="tx1"/>
                </a:solidFill>
                <a:effectLst/>
                <a:latin typeface="+mn-lt"/>
                <a:ea typeface="+mn-ea"/>
                <a:cs typeface="+mn-cs"/>
              </a:rPr>
              <a:t> задає функцію інтенсивності зображення, що залежить від просторових координат та часу.</a:t>
            </a:r>
          </a:p>
          <a:p>
            <a:r>
              <a:rPr lang="uk-UA" sz="1200" b="1" i="0" kern="1200" dirty="0">
                <a:solidFill>
                  <a:schemeClr val="tx1"/>
                </a:solidFill>
                <a:effectLst/>
                <a:latin typeface="+mn-lt"/>
                <a:ea typeface="+mn-ea"/>
                <a:cs typeface="+mn-cs"/>
              </a:rPr>
              <a:t>Сумісна оцінка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реалізується через геометричні обмеження: фотометричну узгодженість, яка стверджує, що піксель після зсуву на вектор оптичного потоку повинен мати ту саму інтенсивність, та геометричну модель, яка пов'язує оптичний потік з глибиною, рухом камери та проекцією точки».</a:t>
            </a:r>
          </a:p>
          <a:p>
            <a:r>
              <a:rPr lang="uk-UA" dirty="0"/>
              <a:t>-----------------------------------------------------------------------------------------------</a:t>
            </a:r>
          </a:p>
          <a:p>
            <a:r>
              <a:rPr lang="uk-UA" dirty="0"/>
              <a:t>Об'єднання методів (просторово-часова модель)</a:t>
            </a:r>
          </a:p>
          <a:p>
            <a:r>
              <a:rPr lang="uk-UA" dirty="0"/>
              <a:t>Що казати:</a:t>
            </a:r>
          </a:p>
          <a:p>
            <a:r>
              <a:rPr lang="uk-UA" dirty="0"/>
              <a:t>«Об'єднання методів дистанційної ідентифікації ґрунтується на спільному використанні просторових ознак, отриманих детектором об'єктів, часових характеристик, визначених за оптичним потоком, та оцінок глибини сцени.</a:t>
            </a:r>
          </a:p>
          <a:p>
            <a:endParaRPr lang="uk-UA" dirty="0"/>
          </a:p>
          <a:p>
            <a:r>
              <a:rPr lang="uk-UA" dirty="0"/>
              <a:t>Узагальнена просторово-часова модель задає функцію інтенсивності зображення, що залежить від просторових координат та часу.</a:t>
            </a:r>
          </a:p>
          <a:p>
            <a:endParaRPr lang="uk-UA" dirty="0"/>
          </a:p>
          <a:p>
            <a:r>
              <a:rPr lang="uk-UA" dirty="0"/>
              <a:t>Сумісна оцінка глибини та оптичного потоку в моделі </a:t>
            </a:r>
            <a:r>
              <a:rPr lang="en-US" dirty="0" err="1"/>
              <a:t>GeoNet</a:t>
            </a:r>
            <a:r>
              <a:rPr lang="en-US" dirty="0"/>
              <a:t> </a:t>
            </a:r>
            <a:r>
              <a:rPr lang="uk-UA" dirty="0"/>
              <a:t>реалізується через геометричні обмеження: фотометричну узгодженість, яка стверджує, що піксель з першого кадру після зсуву на вектор оптичного потоку повинен мати таку саму інтенсивність, що й відповідний піксель другого кадру.</a:t>
            </a:r>
          </a:p>
          <a:p>
            <a:endParaRPr lang="uk-UA" dirty="0"/>
          </a:p>
          <a:p>
            <a:r>
              <a:rPr lang="uk-UA" dirty="0"/>
              <a:t>Геометрична модель пов'язує оптичний потік з глибиною, рухом камери та проекцією точки.</a:t>
            </a:r>
          </a:p>
          <a:p>
            <a:endParaRPr lang="uk-UA" dirty="0"/>
          </a:p>
          <a:p>
            <a:r>
              <a:rPr lang="uk-UA" dirty="0"/>
              <a:t>На основі отриманого поля оптичного потоку обчислюються кінематичні параметри об'єкта: швидкість, напрямок руху, просторове положення та траєкторія.»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14</a:t>
            </a:fld>
            <a:endParaRPr lang="en-US"/>
          </a:p>
        </p:txBody>
      </p:sp>
    </p:spTree>
    <p:extLst>
      <p:ext uri="{BB962C8B-B14F-4D97-AF65-F5344CB8AC3E}">
        <p14:creationId xmlns:p14="http://schemas.microsoft.com/office/powerpoint/2010/main" val="3170169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«Структура ґрунтується на поєднанні трьох взаємопов'язаних рівнів:</a:t>
            </a:r>
          </a:p>
          <a:p>
            <a:r>
              <a:rPr lang="uk-UA" sz="1200" b="1" i="0" kern="1200" dirty="0">
                <a:solidFill>
                  <a:schemeClr val="tx1"/>
                </a:solidFill>
                <a:effectLst/>
                <a:latin typeface="+mn-lt"/>
                <a:ea typeface="+mn-ea"/>
                <a:cs typeface="+mn-cs"/>
              </a:rPr>
              <a:t>Перший рівень</a:t>
            </a:r>
            <a:r>
              <a:rPr lang="uk-UA" sz="1200" b="0" i="0" kern="1200" dirty="0">
                <a:solidFill>
                  <a:schemeClr val="tx1"/>
                </a:solidFill>
                <a:effectLst/>
                <a:latin typeface="+mn-lt"/>
                <a:ea typeface="+mn-ea"/>
                <a:cs typeface="+mn-cs"/>
              </a:rPr>
              <a:t> – виявлення об'єктів за допомогою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або </a:t>
            </a:r>
            <a:r>
              <a:rPr lang="en-US" sz="1200" b="0" i="0" kern="1200" dirty="0">
                <a:solidFill>
                  <a:schemeClr val="tx1"/>
                </a:solidFill>
                <a:effectLst/>
                <a:latin typeface="+mn-lt"/>
                <a:ea typeface="+mn-ea"/>
                <a:cs typeface="+mn-cs"/>
              </a:rPr>
              <a:t>YOLO.</a:t>
            </a:r>
          </a:p>
          <a:p>
            <a:r>
              <a:rPr lang="uk-UA" sz="1200" b="1" i="0" kern="1200" dirty="0">
                <a:solidFill>
                  <a:schemeClr val="tx1"/>
                </a:solidFill>
                <a:effectLst/>
                <a:latin typeface="+mn-lt"/>
                <a:ea typeface="+mn-ea"/>
                <a:cs typeface="+mn-cs"/>
              </a:rPr>
              <a:t>Другий рівень</a:t>
            </a:r>
            <a:r>
              <a:rPr lang="uk-UA" sz="1200" b="0" i="0" kern="1200" dirty="0">
                <a:solidFill>
                  <a:schemeClr val="tx1"/>
                </a:solidFill>
                <a:effectLst/>
                <a:latin typeface="+mn-lt"/>
                <a:ea typeface="+mn-ea"/>
                <a:cs typeface="+mn-cs"/>
              </a:rPr>
              <a:t> – оцінка руху методами оптичного потоку.</a:t>
            </a:r>
          </a:p>
          <a:p>
            <a:r>
              <a:rPr lang="uk-UA" sz="1200" b="1" i="0" kern="1200" dirty="0">
                <a:solidFill>
                  <a:schemeClr val="tx1"/>
                </a:solidFill>
                <a:effectLst/>
                <a:latin typeface="+mn-lt"/>
                <a:ea typeface="+mn-ea"/>
                <a:cs typeface="+mn-cs"/>
              </a:rPr>
              <a:t>Третій рівень</a:t>
            </a:r>
            <a:r>
              <a:rPr lang="uk-UA" sz="1200" b="0" i="0" kern="1200" dirty="0">
                <a:solidFill>
                  <a:schemeClr val="tx1"/>
                </a:solidFill>
                <a:effectLst/>
                <a:latin typeface="+mn-lt"/>
                <a:ea typeface="+mn-ea"/>
                <a:cs typeface="+mn-cs"/>
              </a:rPr>
              <a:t> – просторова структура – оцінювання глибини.</a:t>
            </a:r>
          </a:p>
          <a:p>
            <a:r>
              <a:rPr lang="uk-UA" sz="1200" b="0" i="0" kern="1200" dirty="0">
                <a:solidFill>
                  <a:schemeClr val="tx1"/>
                </a:solidFill>
                <a:effectLst/>
                <a:latin typeface="+mn-lt"/>
                <a:ea typeface="+mn-ea"/>
                <a:cs typeface="+mn-cs"/>
              </a:rPr>
              <a:t>Інтеграція цих рівнів забезпечує перехід від </a:t>
            </a:r>
            <a:r>
              <a:rPr lang="uk-UA" sz="1200" b="0" i="0" kern="1200" dirty="0" err="1">
                <a:solidFill>
                  <a:schemeClr val="tx1"/>
                </a:solidFill>
                <a:effectLst/>
                <a:latin typeface="+mn-lt"/>
                <a:ea typeface="+mn-ea"/>
                <a:cs typeface="+mn-cs"/>
              </a:rPr>
              <a:t>покадрового</a:t>
            </a:r>
            <a:r>
              <a:rPr lang="uk-UA" sz="1200" b="0" i="0" kern="1200" dirty="0">
                <a:solidFill>
                  <a:schemeClr val="tx1"/>
                </a:solidFill>
                <a:effectLst/>
                <a:latin typeface="+mn-lt"/>
                <a:ea typeface="+mn-ea"/>
                <a:cs typeface="+mn-cs"/>
              </a:rPr>
              <a:t> виявлення до просторово-часового опису об'єкта.</a:t>
            </a:r>
          </a:p>
          <a:p>
            <a:r>
              <a:rPr lang="uk-UA" sz="1200" b="0" i="0" kern="1200" dirty="0">
                <a:solidFill>
                  <a:schemeClr val="tx1"/>
                </a:solidFill>
                <a:effectLst/>
                <a:latin typeface="+mn-lt"/>
                <a:ea typeface="+mn-ea"/>
                <a:cs typeface="+mn-cs"/>
              </a:rPr>
              <a:t>Архітектура системи представлена у вигляді набору модулів: детектор, оптичний потік, глибина, параметри, візуалізація. Така модульна структура забезпечує гнучкість та можливість заміни окремих компонентів».</a:t>
            </a:r>
          </a:p>
          <a:p>
            <a:r>
              <a:rPr lang="uk-UA" dirty="0"/>
              <a:t>-----------------------------------------------------------------------------------------------------</a:t>
            </a:r>
          </a:p>
          <a:p>
            <a:r>
              <a:rPr lang="uk-UA" dirty="0"/>
              <a:t>Структура моделей ДІПДО</a:t>
            </a:r>
          </a:p>
          <a:p>
            <a:r>
              <a:rPr lang="uk-UA" dirty="0"/>
              <a:t>Що казати:</a:t>
            </a:r>
          </a:p>
          <a:p>
            <a:r>
              <a:rPr lang="uk-UA" dirty="0"/>
              <a:t>«Перейдемо до третього розділу, в якому сформовано структуру моделей дистанційної ідентифікації.</a:t>
            </a:r>
          </a:p>
          <a:p>
            <a:endParaRPr lang="uk-UA" dirty="0"/>
          </a:p>
          <a:p>
            <a:r>
              <a:rPr lang="uk-UA" dirty="0"/>
              <a:t>Структура ґрунтується на поєднанні трьох взаємопов'язаних рівнів. На першому рівні використовуються детектори об'єктів для виявлення та локалізації об'єктів у кадрі. Другий рівень – методи оптичного потоку – забезпечує оцінювання руху об'єктів між кадрами. Третій рівень – моделі оцінювання глибини – відновлює просторову структуру сцени.</a:t>
            </a:r>
          </a:p>
          <a:p>
            <a:endParaRPr lang="uk-UA" dirty="0"/>
          </a:p>
          <a:p>
            <a:r>
              <a:rPr lang="uk-UA" dirty="0"/>
              <a:t>Інтеграція цих рівнів забезпечує отримання координат, швидкості, напрямку руху та траєкторії об'єкта в єдиному інформаційному просторі.</a:t>
            </a:r>
          </a:p>
          <a:p>
            <a:endParaRPr lang="uk-UA" dirty="0"/>
          </a:p>
          <a:p>
            <a:r>
              <a:rPr lang="uk-UA" dirty="0"/>
              <a:t>Архітектура системи представлена у вигляді набору модулів: модуль виявлення об'єктів </a:t>
            </a:r>
            <a:r>
              <a:rPr lang="en-US" dirty="0"/>
              <a:t>DETR </a:t>
            </a:r>
            <a:r>
              <a:rPr lang="uk-UA" dirty="0"/>
              <a:t>або </a:t>
            </a:r>
            <a:r>
              <a:rPr lang="en-US" dirty="0"/>
              <a:t>YOLO, </a:t>
            </a:r>
            <a:r>
              <a:rPr lang="uk-UA" dirty="0"/>
              <a:t>модуль оптичного потоку, модуль оцінки глибини, модуль обчислення параметрів та модуль візуалізації результатів. Така модульна структура забезпечує гнучкість та можливість заміни окремих компонентів.»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15</a:t>
            </a:fld>
            <a:endParaRPr lang="en-US"/>
          </a:p>
        </p:txBody>
      </p:sp>
    </p:spTree>
    <p:extLst>
      <p:ext uri="{BB962C8B-B14F-4D97-AF65-F5344CB8AC3E}">
        <p14:creationId xmlns:p14="http://schemas.microsoft.com/office/powerpoint/2010/main" val="1269937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«Ця схема демонструє аналітичну модель дистанційної ідентифікації.</a:t>
            </a:r>
          </a:p>
          <a:p>
            <a:r>
              <a:rPr lang="uk-UA" sz="1200" b="0" i="0" kern="1200" dirty="0">
                <a:solidFill>
                  <a:schemeClr val="tx1"/>
                </a:solidFill>
                <a:effectLst/>
                <a:latin typeface="+mn-lt"/>
                <a:ea typeface="+mn-ea"/>
                <a:cs typeface="+mn-cs"/>
              </a:rPr>
              <a:t>Вхідний </a:t>
            </a:r>
            <a:r>
              <a:rPr lang="uk-UA" sz="1200" b="0" i="0" kern="1200" dirty="0" err="1">
                <a:solidFill>
                  <a:schemeClr val="tx1"/>
                </a:solidFill>
                <a:effectLst/>
                <a:latin typeface="+mn-lt"/>
                <a:ea typeface="+mn-ea"/>
                <a:cs typeface="+mn-cs"/>
              </a:rPr>
              <a:t>відеопотік</a:t>
            </a:r>
            <a:r>
              <a:rPr lang="uk-UA" sz="1200" b="0" i="0" kern="1200" dirty="0">
                <a:solidFill>
                  <a:schemeClr val="tx1"/>
                </a:solidFill>
                <a:effectLst/>
                <a:latin typeface="+mn-lt"/>
                <a:ea typeface="+mn-ea"/>
                <a:cs typeface="+mn-cs"/>
              </a:rPr>
              <a:t> надходить на детектор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який виконує локалізацію об'єктів у кожному кадрі – визначає обмежувальні рамки.</a:t>
            </a:r>
          </a:p>
          <a:p>
            <a:r>
              <a:rPr lang="uk-UA" sz="1200" b="0" i="0" kern="1200" dirty="0">
                <a:solidFill>
                  <a:schemeClr val="tx1"/>
                </a:solidFill>
                <a:effectLst/>
                <a:latin typeface="+mn-lt"/>
                <a:ea typeface="+mn-ea"/>
                <a:cs typeface="+mn-cs"/>
              </a:rPr>
              <a:t>Для кожної пари послідовних кадрів обчислюється оптичний потік – векторне поле переміщення пікселів.</a:t>
            </a:r>
          </a:p>
          <a:p>
            <a:r>
              <a:rPr lang="uk-UA" sz="1200" b="0" i="0" kern="1200" dirty="0">
                <a:solidFill>
                  <a:schemeClr val="tx1"/>
                </a:solidFill>
                <a:effectLst/>
                <a:latin typeface="+mn-lt"/>
                <a:ea typeface="+mn-ea"/>
                <a:cs typeface="+mn-cs"/>
              </a:rPr>
              <a:t>Для кожного виявленого об'єкта аналізуються вектори оптичного потоку в межах його обмежувальної рамки, на основі чого визначаються швидкість, напрямок руху та траєкторія».</a:t>
            </a:r>
          </a:p>
          <a:p>
            <a:r>
              <a:rPr lang="uk-UA" dirty="0"/>
              <a:t>-----------------------------------------------------------------</a:t>
            </a:r>
          </a:p>
          <a:p>
            <a:r>
              <a:rPr lang="uk-UA" dirty="0"/>
              <a:t>Аналітична модель (рис.3.1) – </a:t>
            </a:r>
            <a:r>
              <a:rPr lang="en-US" dirty="0"/>
              <a:t>DETR + Optical Flow</a:t>
            </a:r>
          </a:p>
          <a:p>
            <a:r>
              <a:rPr lang="uk-UA" dirty="0"/>
              <a:t>Що казати:</a:t>
            </a:r>
          </a:p>
          <a:p>
            <a:r>
              <a:rPr lang="uk-UA" dirty="0"/>
              <a:t>«На рисунку 3.1 показано аналітичну модель дистанційної ідентифікації параметрів динамічного об'єкта з використанням </a:t>
            </a:r>
            <a:r>
              <a:rPr lang="en-US" dirty="0"/>
              <a:t>DETR </a:t>
            </a:r>
            <a:r>
              <a:rPr lang="uk-UA" dirty="0"/>
              <a:t>та оптичного потоку.</a:t>
            </a:r>
          </a:p>
          <a:p>
            <a:endParaRPr lang="uk-UA" dirty="0"/>
          </a:p>
          <a:p>
            <a:r>
              <a:rPr lang="uk-UA" dirty="0"/>
              <a:t>Вхідний </a:t>
            </a:r>
            <a:r>
              <a:rPr lang="uk-UA" dirty="0" err="1"/>
              <a:t>відеопотік</a:t>
            </a:r>
            <a:r>
              <a:rPr lang="uk-UA" dirty="0"/>
              <a:t> надходить на детектор </a:t>
            </a:r>
            <a:r>
              <a:rPr lang="en-US" dirty="0"/>
              <a:t>DETR, </a:t>
            </a:r>
            <a:r>
              <a:rPr lang="uk-UA" dirty="0"/>
              <a:t>який виконує локалізацію об'єктів у кожному кадрі – визначає обмежувальні рамки навколо кожного виявленого об'єкта.</a:t>
            </a:r>
          </a:p>
          <a:p>
            <a:endParaRPr lang="uk-UA" dirty="0"/>
          </a:p>
          <a:p>
            <a:r>
              <a:rPr lang="uk-UA" dirty="0"/>
              <a:t>Далі для кожної пари послідовних кадрів обчислюється оптичний потік, який дає векторне поле переміщення пікселів.</a:t>
            </a:r>
          </a:p>
          <a:p>
            <a:endParaRPr lang="uk-UA" dirty="0"/>
          </a:p>
          <a:p>
            <a:r>
              <a:rPr lang="uk-UA" dirty="0"/>
              <a:t>Після цього для кожного виявленого об'єкта аналізуються вектори оптичного потоку в межах його обмежувальної рамки. На основі цього аналізу визначаються кінематичні параметри об'єкта: швидкість руху як середня величина векторів потоку, напрямок руху як середнє арифметичне або векторне усереднення кутів, а також траєкторія руху як послідовність положень у часі.</a:t>
            </a:r>
          </a:p>
          <a:p>
            <a:endParaRPr lang="uk-UA" dirty="0"/>
          </a:p>
          <a:p>
            <a:r>
              <a:rPr lang="uk-UA" dirty="0"/>
              <a:t>Такий підхід дозволяє перейти від простого виявлення об'єкта в кадрі до кількісного опису його динамічних характеристик.»</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16</a:t>
            </a:fld>
            <a:endParaRPr lang="en-US"/>
          </a:p>
        </p:txBody>
      </p:sp>
    </p:spTree>
    <p:extLst>
      <p:ext uri="{BB962C8B-B14F-4D97-AF65-F5344CB8AC3E}">
        <p14:creationId xmlns:p14="http://schemas.microsoft.com/office/powerpoint/2010/main" val="788192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«Це узагальнена схема об'єднання всіх компонентів.</a:t>
            </a:r>
          </a:p>
          <a:p>
            <a:endParaRPr lang="uk-UA" dirty="0"/>
          </a:p>
          <a:p>
            <a:r>
              <a:rPr lang="uk-UA" dirty="0" err="1"/>
              <a:t>Відеопотік</a:t>
            </a:r>
            <a:r>
              <a:rPr lang="uk-UA" dirty="0"/>
              <a:t> надходить на блок обчислення оптичного потоку. Паралельно інформація про оптичний потік передається до </a:t>
            </a:r>
            <a:r>
              <a:rPr lang="uk-UA" dirty="0" err="1"/>
              <a:t>трансформерної</a:t>
            </a:r>
            <a:r>
              <a:rPr lang="uk-UA" dirty="0"/>
              <a:t> мережі, яка моделює просторово-часові залежності.</a:t>
            </a:r>
          </a:p>
          <a:p>
            <a:endParaRPr lang="uk-UA" dirty="0"/>
          </a:p>
          <a:p>
            <a:r>
              <a:rPr lang="uk-UA" dirty="0"/>
              <a:t>Після </a:t>
            </a:r>
            <a:r>
              <a:rPr lang="uk-UA" dirty="0" err="1"/>
              <a:t>трансформерної</a:t>
            </a:r>
            <a:r>
              <a:rPr lang="uk-UA" dirty="0"/>
              <a:t> обробки отримані параметри та інформація про оптичний потік об'єднуються в ансамблевому модулі.</a:t>
            </a:r>
          </a:p>
          <a:p>
            <a:endParaRPr lang="uk-UA" dirty="0"/>
          </a:p>
          <a:p>
            <a:r>
              <a:rPr lang="uk-UA" dirty="0"/>
              <a:t>Ансамблевий модуль може використовувати два підходи:</a:t>
            </a:r>
          </a:p>
          <a:p>
            <a:endParaRPr lang="uk-UA" dirty="0"/>
          </a:p>
          <a:p>
            <a:r>
              <a:rPr lang="en-US" dirty="0"/>
              <a:t>Bagging – </a:t>
            </a:r>
            <a:r>
              <a:rPr lang="uk-UA" dirty="0"/>
              <a:t>для зменшення дисперсії шляхом усереднення результатів на різних підвибірках.</a:t>
            </a:r>
          </a:p>
          <a:p>
            <a:endParaRPr lang="uk-UA" dirty="0"/>
          </a:p>
          <a:p>
            <a:r>
              <a:rPr lang="en-US" dirty="0"/>
              <a:t>Boosting – </a:t>
            </a:r>
            <a:r>
              <a:rPr lang="uk-UA" dirty="0"/>
              <a:t>для послідовного уточнення прогнозів у складних областях сцени.</a:t>
            </a:r>
          </a:p>
          <a:p>
            <a:endParaRPr lang="uk-UA" dirty="0"/>
          </a:p>
          <a:p>
            <a:r>
              <a:rPr lang="uk-UA" dirty="0"/>
              <a:t>На виході формуються прогнозовані параметри: просторове положення, миттєва швидкість, напрямок руху, прискорення та прогнозована траєкторія».</a:t>
            </a:r>
          </a:p>
          <a:p>
            <a:r>
              <a:rPr lang="uk-UA" dirty="0"/>
              <a:t>----------------------------------------------------------------------</a:t>
            </a:r>
          </a:p>
          <a:p>
            <a:r>
              <a:rPr lang="uk-UA" dirty="0"/>
              <a:t>Об'єднання моделей (рис.3.6) – інтегральна схема</a:t>
            </a:r>
          </a:p>
          <a:p>
            <a:r>
              <a:rPr lang="uk-UA" dirty="0"/>
              <a:t>Що казати:</a:t>
            </a:r>
          </a:p>
          <a:p>
            <a:r>
              <a:rPr lang="uk-UA" dirty="0"/>
              <a:t>«Рисунок 3.6 демонструє узагальнену схему об'єднання </a:t>
            </a:r>
            <a:r>
              <a:rPr lang="uk-UA" dirty="0" err="1"/>
              <a:t>відеопотоку</a:t>
            </a:r>
            <a:r>
              <a:rPr lang="uk-UA" dirty="0"/>
              <a:t>, оптичного потоку, </a:t>
            </a:r>
            <a:r>
              <a:rPr lang="uk-UA" dirty="0" err="1"/>
              <a:t>трансформерної</a:t>
            </a:r>
            <a:r>
              <a:rPr lang="uk-UA" dirty="0"/>
              <a:t> мережі та ансамблевого модуля.</a:t>
            </a:r>
          </a:p>
          <a:p>
            <a:endParaRPr lang="uk-UA" dirty="0"/>
          </a:p>
          <a:p>
            <a:r>
              <a:rPr lang="uk-UA" dirty="0" err="1"/>
              <a:t>Відеопотік</a:t>
            </a:r>
            <a:r>
              <a:rPr lang="uk-UA" dirty="0"/>
              <a:t> надходить на блок обчислення оптичного потоку, який формує векторне поле. Паралельно інформація про оптичний потік передається до </a:t>
            </a:r>
            <a:r>
              <a:rPr lang="uk-UA" dirty="0" err="1"/>
              <a:t>трансформерної</a:t>
            </a:r>
            <a:r>
              <a:rPr lang="uk-UA" dirty="0"/>
              <a:t> мережі, яка моделює просторово-часові залежності.</a:t>
            </a:r>
          </a:p>
          <a:p>
            <a:endParaRPr lang="uk-UA" dirty="0"/>
          </a:p>
          <a:p>
            <a:r>
              <a:rPr lang="uk-UA" dirty="0"/>
              <a:t>Після </a:t>
            </a:r>
            <a:r>
              <a:rPr lang="uk-UA" dirty="0" err="1"/>
              <a:t>трансформерної</a:t>
            </a:r>
            <a:r>
              <a:rPr lang="uk-UA" dirty="0"/>
              <a:t> обробки отримані параметри та інформація про оптичний потік об'єднуються в ансамблевому модулі.</a:t>
            </a:r>
          </a:p>
          <a:p>
            <a:endParaRPr lang="uk-UA" dirty="0"/>
          </a:p>
          <a:p>
            <a:r>
              <a:rPr lang="uk-UA" dirty="0"/>
              <a:t>Ансамблевий модуль може використовувати два підходи. По-перше, метод </a:t>
            </a:r>
            <a:r>
              <a:rPr lang="uk-UA" dirty="0" err="1"/>
              <a:t>бегінгу</a:t>
            </a:r>
            <a:r>
              <a:rPr lang="uk-UA" dirty="0"/>
              <a:t> для зменшення дисперсії оцінок шляхом усереднення результатів на різних підвибірках даних. По-друге, метод </a:t>
            </a:r>
            <a:r>
              <a:rPr lang="uk-UA" dirty="0" err="1"/>
              <a:t>бустінгу</a:t>
            </a:r>
            <a:r>
              <a:rPr lang="uk-UA" dirty="0"/>
              <a:t> для послідовного уточнення прогнозів у складних областях сцени.</a:t>
            </a:r>
          </a:p>
          <a:p>
            <a:endParaRPr lang="uk-UA" dirty="0"/>
          </a:p>
          <a:p>
            <a:r>
              <a:rPr lang="uk-UA" dirty="0"/>
              <a:t>На виході схеми формуються прогнозовані параметри динамічних об'єктів, які включають просторове положення об'єкта в кадрі, його миттєву швидкість, напрямок руху, прискорення та прогнозовану траєкторію.»</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17</a:t>
            </a:fld>
            <a:endParaRPr lang="en-US"/>
          </a:p>
        </p:txBody>
      </p:sp>
    </p:spTree>
    <p:extLst>
      <p:ext uri="{BB962C8B-B14F-4D97-AF65-F5344CB8AC3E}">
        <p14:creationId xmlns:p14="http://schemas.microsoft.com/office/powerpoint/2010/main" val="1746442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«Структура інформаційної технології охоплює повний цикл обробки.</a:t>
            </a:r>
          </a:p>
          <a:p>
            <a:r>
              <a:rPr lang="uk-UA" dirty="0"/>
              <a:t>Вхідні дані – </a:t>
            </a:r>
            <a:r>
              <a:rPr lang="uk-UA" dirty="0" err="1"/>
              <a:t>відеопотік</a:t>
            </a:r>
            <a:r>
              <a:rPr lang="uk-UA" dirty="0"/>
              <a:t>, сенсорні дані, статичні зображення – надходять на етап попередньої обробки: синхронізація кадрів, нормалізація інтенсивності, фільтрація шумів.</a:t>
            </a:r>
          </a:p>
          <a:p>
            <a:r>
              <a:rPr lang="uk-UA" dirty="0"/>
              <a:t>Після цього дані розподіляються на три паралельні гілки:</a:t>
            </a:r>
          </a:p>
          <a:p>
            <a:r>
              <a:rPr lang="uk-UA" dirty="0"/>
              <a:t>Перша гілка – оптичний потік: </a:t>
            </a:r>
            <a:r>
              <a:rPr lang="en-US" dirty="0" err="1"/>
              <a:t>Farneback</a:t>
            </a:r>
            <a:r>
              <a:rPr lang="en-US" dirty="0"/>
              <a:t>, Lucas-Kanade, Horn-Schunck, </a:t>
            </a:r>
            <a:r>
              <a:rPr lang="en-US" dirty="0" err="1"/>
              <a:t>FlowNet</a:t>
            </a:r>
            <a:r>
              <a:rPr lang="en-US" dirty="0"/>
              <a:t> </a:t>
            </a:r>
            <a:r>
              <a:rPr lang="uk-UA" dirty="0"/>
              <a:t>або </a:t>
            </a:r>
            <a:r>
              <a:rPr lang="en-US" dirty="0" err="1"/>
              <a:t>GeoNet</a:t>
            </a:r>
            <a:r>
              <a:rPr lang="en-US" dirty="0"/>
              <a:t>.</a:t>
            </a:r>
          </a:p>
          <a:p>
            <a:r>
              <a:rPr lang="uk-UA" dirty="0"/>
              <a:t>Друга гілка – структура сцени: </a:t>
            </a:r>
            <a:r>
              <a:rPr lang="en-US" dirty="0"/>
              <a:t>Blur, Gradient, </a:t>
            </a:r>
            <a:r>
              <a:rPr lang="en-US" dirty="0" err="1"/>
              <a:t>MiDaS</a:t>
            </a:r>
            <a:r>
              <a:rPr lang="en-US" dirty="0"/>
              <a:t>, </a:t>
            </a:r>
            <a:r>
              <a:rPr lang="en-US" dirty="0" err="1"/>
              <a:t>DPT_Large</a:t>
            </a:r>
            <a:r>
              <a:rPr lang="en-US" dirty="0"/>
              <a:t> </a:t>
            </a:r>
            <a:r>
              <a:rPr lang="uk-UA" dirty="0"/>
              <a:t>або </a:t>
            </a:r>
            <a:r>
              <a:rPr lang="en-US" dirty="0" err="1"/>
              <a:t>GeoNet</a:t>
            </a:r>
            <a:r>
              <a:rPr lang="en-US" dirty="0"/>
              <a:t>.</a:t>
            </a:r>
          </a:p>
          <a:p>
            <a:r>
              <a:rPr lang="uk-UA" dirty="0"/>
              <a:t>Третя гілка – виявлення об'єктів: </a:t>
            </a:r>
            <a:r>
              <a:rPr lang="en-US" dirty="0"/>
              <a:t>DETR </a:t>
            </a:r>
            <a:r>
              <a:rPr lang="uk-UA" dirty="0"/>
              <a:t>або опціонально </a:t>
            </a:r>
            <a:r>
              <a:rPr lang="en-US" dirty="0"/>
              <a:t>YOLO.</a:t>
            </a:r>
          </a:p>
          <a:p>
            <a:r>
              <a:rPr lang="uk-UA" dirty="0"/>
              <a:t>Результати з усіх трьох гілок об'єднуються, після чого виконується обчислення параметрів – швидкості, напрямку, траєкторії, положення – та ансамблева корекція.</a:t>
            </a:r>
          </a:p>
          <a:p>
            <a:r>
              <a:rPr lang="uk-UA" dirty="0"/>
              <a:t>Такий підхід забезпечує комплексний аналіз динамічних сцен з урахуванням як рухових, так і просторових характеристик об'єктів».</a:t>
            </a:r>
          </a:p>
          <a:p>
            <a:r>
              <a:rPr lang="uk-UA" dirty="0"/>
              <a:t>--------------------------------------------------------------------</a:t>
            </a:r>
          </a:p>
          <a:p>
            <a:r>
              <a:rPr lang="uk-UA" dirty="0"/>
              <a:t>Структура інформаційної технології (рис.4.1-4.3)</a:t>
            </a:r>
          </a:p>
          <a:p>
            <a:r>
              <a:rPr lang="uk-UA" dirty="0"/>
              <a:t>Що казати:</a:t>
            </a:r>
          </a:p>
          <a:p>
            <a:r>
              <a:rPr lang="uk-UA" dirty="0"/>
              <a:t>«У четвертому розділі розроблено структуру інформаційної технології дистанційної ідентифікації.</a:t>
            </a:r>
          </a:p>
          <a:p>
            <a:endParaRPr lang="uk-UA" dirty="0"/>
          </a:p>
          <a:p>
            <a:r>
              <a:rPr lang="uk-UA" dirty="0"/>
              <a:t>Вхідними даними системи є </a:t>
            </a:r>
            <a:r>
              <a:rPr lang="uk-UA" dirty="0" err="1"/>
              <a:t>відеопотік</a:t>
            </a:r>
            <a:r>
              <a:rPr lang="uk-UA" dirty="0"/>
              <a:t>, сенсорні дані від різнорідних датчиків та статичні зображення. Дані надходять на етап попередньої обробки, який включає синхронізацію кадрів, нормалізацію інтенсивності, вирівнювання геометричних спотворень та фільтрацію шумів.</a:t>
            </a:r>
          </a:p>
          <a:p>
            <a:endParaRPr lang="uk-UA" dirty="0"/>
          </a:p>
          <a:p>
            <a:r>
              <a:rPr lang="uk-UA" dirty="0"/>
              <a:t>Після попередньої обробки дані розподіляються на три паралельні гілки. Перша гілка – оптичний потік – використовує методи </a:t>
            </a:r>
            <a:r>
              <a:rPr lang="en-US" dirty="0" err="1"/>
              <a:t>Farneback</a:t>
            </a:r>
            <a:r>
              <a:rPr lang="en-US" dirty="0"/>
              <a:t>, Lucas-Kanade, Horn-Schunck, </a:t>
            </a:r>
            <a:r>
              <a:rPr lang="en-US" dirty="0" err="1"/>
              <a:t>FlowNet</a:t>
            </a:r>
            <a:r>
              <a:rPr lang="en-US" dirty="0"/>
              <a:t> </a:t>
            </a:r>
            <a:r>
              <a:rPr lang="uk-UA" dirty="0"/>
              <a:t>або </a:t>
            </a:r>
            <a:r>
              <a:rPr lang="en-US" dirty="0" err="1"/>
              <a:t>GeoNet</a:t>
            </a:r>
            <a:r>
              <a:rPr lang="en-US" dirty="0"/>
              <a:t> </a:t>
            </a:r>
            <a:r>
              <a:rPr lang="uk-UA" dirty="0"/>
              <a:t>для оцінювання векторів руху. Друга гілка – структура сцени – використовує методи </a:t>
            </a:r>
            <a:r>
              <a:rPr lang="en-US" dirty="0"/>
              <a:t>Blur, Gradient, </a:t>
            </a:r>
            <a:r>
              <a:rPr lang="en-US" dirty="0" err="1"/>
              <a:t>MiDaS</a:t>
            </a:r>
            <a:r>
              <a:rPr lang="en-US" dirty="0"/>
              <a:t>, </a:t>
            </a:r>
            <a:r>
              <a:rPr lang="en-US" dirty="0" err="1"/>
              <a:t>DPT_Large</a:t>
            </a:r>
            <a:r>
              <a:rPr lang="en-US" dirty="0"/>
              <a:t> </a:t>
            </a:r>
            <a:r>
              <a:rPr lang="uk-UA" dirty="0"/>
              <a:t>або </a:t>
            </a:r>
            <a:r>
              <a:rPr lang="en-US" dirty="0" err="1"/>
              <a:t>GeoNet</a:t>
            </a:r>
            <a:r>
              <a:rPr lang="en-US" dirty="0"/>
              <a:t> </a:t>
            </a:r>
            <a:r>
              <a:rPr lang="uk-UA" dirty="0"/>
              <a:t>для реконструкції тривимірної геометрії. Третя гілка – виявлення об'єктів – використовує </a:t>
            </a:r>
            <a:r>
              <a:rPr lang="en-US" dirty="0"/>
              <a:t>DETR </a:t>
            </a:r>
            <a:r>
              <a:rPr lang="uk-UA" dirty="0"/>
              <a:t>або опціонально </a:t>
            </a:r>
            <a:r>
              <a:rPr lang="en-US" dirty="0"/>
              <a:t>YOLO </a:t>
            </a:r>
            <a:r>
              <a:rPr lang="uk-UA" dirty="0"/>
              <a:t>для локалізації об'єктів.</a:t>
            </a:r>
          </a:p>
          <a:p>
            <a:endParaRPr lang="uk-UA" dirty="0"/>
          </a:p>
          <a:p>
            <a:r>
              <a:rPr lang="uk-UA" dirty="0"/>
              <a:t>Результати з усіх трьох гілок об'єднуються, після чого виконується обчислення параметрів – швидкості, напрямку, траєкторії, положення. Цей підхід забезпечує комплексний аналіз динамічних сцен з урахуванням як рухових, так і просторових характеристик об'єктів.»</a:t>
            </a:r>
          </a:p>
          <a:p>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18</a:t>
            </a:fld>
            <a:endParaRPr lang="en-US"/>
          </a:p>
        </p:txBody>
      </p:sp>
    </p:spTree>
    <p:extLst>
      <p:ext uri="{BB962C8B-B14F-4D97-AF65-F5344CB8AC3E}">
        <p14:creationId xmlns:p14="http://schemas.microsoft.com/office/powerpoint/2010/main" val="734928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«Програмна реалізація складається з трьох основних блоків.</a:t>
            </a:r>
          </a:p>
          <a:p>
            <a:endParaRPr lang="uk-UA" dirty="0"/>
          </a:p>
          <a:p>
            <a:r>
              <a:rPr lang="uk-UA" dirty="0"/>
              <a:t>Перший блок – обробка </a:t>
            </a:r>
            <a:r>
              <a:rPr lang="uk-UA" dirty="0" err="1"/>
              <a:t>відеопотоку</a:t>
            </a:r>
            <a:r>
              <a:rPr lang="uk-UA" dirty="0"/>
              <a:t>: отримання даних з камери або файлу, </a:t>
            </a:r>
            <a:r>
              <a:rPr lang="uk-UA" dirty="0" err="1"/>
              <a:t>покадрова</a:t>
            </a:r>
            <a:r>
              <a:rPr lang="uk-UA" dirty="0"/>
              <a:t> екстракція зображень, нормалізація.</a:t>
            </a:r>
          </a:p>
          <a:p>
            <a:endParaRPr lang="uk-UA" dirty="0"/>
          </a:p>
          <a:p>
            <a:r>
              <a:rPr lang="uk-UA" dirty="0"/>
              <a:t>Другий блок – </a:t>
            </a:r>
            <a:r>
              <a:rPr lang="uk-UA" dirty="0" err="1"/>
              <a:t>детекція</a:t>
            </a:r>
            <a:r>
              <a:rPr lang="uk-UA" dirty="0"/>
              <a:t> об'єктів за допомогою </a:t>
            </a:r>
            <a:r>
              <a:rPr lang="en-US" dirty="0"/>
              <a:t>DETR. </a:t>
            </a:r>
            <a:r>
              <a:rPr lang="uk-UA" dirty="0"/>
              <a:t>Модель виконує одночасне прогнозування класів, обмежувальних рамок та ймовірностей.</a:t>
            </a:r>
          </a:p>
          <a:p>
            <a:endParaRPr lang="uk-UA" dirty="0"/>
          </a:p>
          <a:p>
            <a:r>
              <a:rPr lang="uk-UA" dirty="0"/>
              <a:t>Третій блок – обчислення оптичного потоку для оцінювання векторів руху пікселів.</a:t>
            </a:r>
          </a:p>
          <a:p>
            <a:endParaRPr lang="uk-UA" dirty="0"/>
          </a:p>
          <a:p>
            <a:r>
              <a:rPr lang="uk-UA" dirty="0"/>
              <a:t>Результати – </a:t>
            </a:r>
            <a:r>
              <a:rPr lang="uk-UA" dirty="0" err="1"/>
              <a:t>візуалізовані</a:t>
            </a:r>
            <a:r>
              <a:rPr lang="uk-UA" dirty="0"/>
              <a:t> кадри з обмежувальними рамками, кольорові карти оптичного потоку та табличні дані.</a:t>
            </a:r>
          </a:p>
          <a:p>
            <a:endParaRPr lang="uk-UA" dirty="0"/>
          </a:p>
          <a:p>
            <a:r>
              <a:rPr lang="uk-UA" dirty="0"/>
              <a:t>Важливо: архітектура модульна – замість </a:t>
            </a:r>
            <a:r>
              <a:rPr lang="en-US" dirty="0"/>
              <a:t>DETR </a:t>
            </a:r>
            <a:r>
              <a:rPr lang="uk-UA" dirty="0"/>
              <a:t>можна використовувати </a:t>
            </a:r>
            <a:r>
              <a:rPr lang="en-US" dirty="0"/>
              <a:t>YOLO, </a:t>
            </a:r>
            <a:r>
              <a:rPr lang="uk-UA" dirty="0"/>
              <a:t>замість </a:t>
            </a:r>
            <a:r>
              <a:rPr lang="en-US" dirty="0" err="1"/>
              <a:t>Farneback</a:t>
            </a:r>
            <a:r>
              <a:rPr lang="en-US" dirty="0"/>
              <a:t> – </a:t>
            </a:r>
            <a:r>
              <a:rPr lang="en-US" dirty="0" err="1"/>
              <a:t>FlowNet</a:t>
            </a:r>
            <a:r>
              <a:rPr lang="en-US" dirty="0"/>
              <a:t>. </a:t>
            </a:r>
            <a:r>
              <a:rPr lang="uk-UA" dirty="0"/>
              <a:t>Це забезпечує гнучкість системи».</a:t>
            </a:r>
          </a:p>
          <a:p>
            <a:r>
              <a:rPr lang="uk-UA" dirty="0"/>
              <a:t>-------------------------------------------------------------------------------------------</a:t>
            </a:r>
          </a:p>
          <a:p>
            <a:r>
              <a:rPr lang="uk-UA" dirty="0"/>
              <a:t>Програмна реалізація (рис.4.4-4.5)</a:t>
            </a:r>
          </a:p>
          <a:p>
            <a:r>
              <a:rPr lang="uk-UA" dirty="0"/>
              <a:t>Що казати:</a:t>
            </a:r>
          </a:p>
          <a:p>
            <a:r>
              <a:rPr lang="uk-UA" dirty="0"/>
              <a:t>«На рисунках 4.4 та 4.5 показано реалізовану модель інформаційної технології.</a:t>
            </a:r>
          </a:p>
          <a:p>
            <a:endParaRPr lang="uk-UA" dirty="0"/>
          </a:p>
          <a:p>
            <a:r>
              <a:rPr lang="uk-UA" dirty="0"/>
              <a:t>Перший блок забезпечує обробку </a:t>
            </a:r>
            <a:r>
              <a:rPr lang="uk-UA" dirty="0" err="1"/>
              <a:t>відеопотоку</a:t>
            </a:r>
            <a:r>
              <a:rPr lang="uk-UA" dirty="0"/>
              <a:t>: отримання відеоданих з камери або збереженого файлу, </a:t>
            </a:r>
            <a:r>
              <a:rPr lang="uk-UA" dirty="0" err="1"/>
              <a:t>покадрову</a:t>
            </a:r>
            <a:r>
              <a:rPr lang="uk-UA" dirty="0"/>
              <a:t> екстракцію зображень та попередню нормалізацію вхідних кадрів.</a:t>
            </a:r>
          </a:p>
          <a:p>
            <a:endParaRPr lang="uk-UA" dirty="0"/>
          </a:p>
          <a:p>
            <a:r>
              <a:rPr lang="uk-UA" dirty="0"/>
              <a:t>Другий блок реалізує </a:t>
            </a:r>
            <a:r>
              <a:rPr lang="uk-UA" dirty="0" err="1"/>
              <a:t>детекцію</a:t>
            </a:r>
            <a:r>
              <a:rPr lang="uk-UA" dirty="0"/>
              <a:t> об'єктів за допомогою </a:t>
            </a:r>
            <a:r>
              <a:rPr lang="uk-UA" dirty="0" err="1"/>
              <a:t>трансформерної</a:t>
            </a:r>
            <a:r>
              <a:rPr lang="uk-UA" dirty="0"/>
              <a:t> моделі </a:t>
            </a:r>
            <a:r>
              <a:rPr lang="en-US" dirty="0"/>
              <a:t>DETR. </a:t>
            </a:r>
            <a:r>
              <a:rPr lang="uk-UA" dirty="0"/>
              <a:t>Модель виконує одночасне прогнозування класів об'єктів, обмежувальних рамок та ймовірностей без потреби в механізмах придушення не-максимумів або попереднього формування областей-кандидатів.</a:t>
            </a:r>
          </a:p>
          <a:p>
            <a:endParaRPr lang="uk-UA" dirty="0"/>
          </a:p>
          <a:p>
            <a:r>
              <a:rPr lang="uk-UA" dirty="0"/>
              <a:t>Третій блок виконує обчислення оптичного потоку для оцінювання векторів руху пікселів між послідовними кадрами. Це дає змогу визначати швидкість, напрямок та інтенсивність руху ідентифікованих об'єктів.</a:t>
            </a:r>
          </a:p>
          <a:p>
            <a:endParaRPr lang="uk-UA" dirty="0"/>
          </a:p>
          <a:p>
            <a:r>
              <a:rPr lang="uk-UA" dirty="0"/>
              <a:t>Результати роботи моделі формуються у вигляді </a:t>
            </a:r>
            <a:r>
              <a:rPr lang="uk-UA" dirty="0" err="1"/>
              <a:t>візуалізованих</a:t>
            </a:r>
            <a:r>
              <a:rPr lang="uk-UA" dirty="0"/>
              <a:t> кадрів з накладеними обмежувальними рамками виявлених об'єктів, кольорових карт оптичного потоку та табличних даних про просторове положення, швидкість і напрямок руху кожного об'єкта.</a:t>
            </a:r>
          </a:p>
          <a:p>
            <a:endParaRPr lang="uk-UA" dirty="0"/>
          </a:p>
          <a:p>
            <a:r>
              <a:rPr lang="uk-UA" dirty="0"/>
              <a:t>Важливо, що запропонована архітектура забезпечує модульність та гнучкість – замість </a:t>
            </a:r>
            <a:r>
              <a:rPr lang="en-US" dirty="0"/>
              <a:t>DETR </a:t>
            </a:r>
            <a:r>
              <a:rPr lang="uk-UA" dirty="0"/>
              <a:t>може бути використаний альтернативний детектор </a:t>
            </a:r>
            <a:r>
              <a:rPr lang="en-US" dirty="0"/>
              <a:t>YOLO, </a:t>
            </a:r>
            <a:r>
              <a:rPr lang="uk-UA" dirty="0"/>
              <a:t>а замість методу </a:t>
            </a:r>
            <a:r>
              <a:rPr lang="en-US" dirty="0" err="1"/>
              <a:t>Farneback</a:t>
            </a:r>
            <a:r>
              <a:rPr lang="en-US" dirty="0"/>
              <a:t> – </a:t>
            </a:r>
            <a:r>
              <a:rPr lang="uk-UA" dirty="0" err="1"/>
              <a:t>нейромережевий</a:t>
            </a:r>
            <a:r>
              <a:rPr lang="uk-UA" dirty="0"/>
              <a:t> підхід </a:t>
            </a:r>
            <a:r>
              <a:rPr lang="en-US" dirty="0" err="1"/>
              <a:t>FlowNet</a:t>
            </a:r>
            <a:r>
              <a:rPr lang="en-US" dirty="0"/>
              <a:t>.»</a:t>
            </a:r>
          </a:p>
          <a:p>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19</a:t>
            </a:fld>
            <a:endParaRPr lang="en-US"/>
          </a:p>
        </p:txBody>
      </p:sp>
    </p:spTree>
    <p:extLst>
      <p:ext uri="{BB962C8B-B14F-4D97-AF65-F5344CB8AC3E}">
        <p14:creationId xmlns:p14="http://schemas.microsoft.com/office/powerpoint/2010/main" val="2818039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«Це результати експериментального запуску </a:t>
            </a:r>
            <a:r>
              <a:rPr lang="en-US" dirty="0"/>
              <a:t>DETR </a:t>
            </a:r>
            <a:r>
              <a:rPr lang="uk-UA" dirty="0"/>
              <a:t>на тестовому </a:t>
            </a:r>
            <a:r>
              <a:rPr lang="uk-UA" dirty="0" err="1"/>
              <a:t>відеопотоці</a:t>
            </a:r>
            <a:r>
              <a:rPr lang="uk-UA" dirty="0"/>
              <a:t>.</a:t>
            </a:r>
          </a:p>
          <a:p>
            <a:endParaRPr lang="uk-UA" dirty="0"/>
          </a:p>
          <a:p>
            <a:r>
              <a:rPr lang="uk-UA" dirty="0"/>
              <a:t>Виявлено шість об'єктів. Найбільші значення швидкості – для об'єктів 0, 4 та 5: 6,526; 4,592 та 1,840 пікселів на кадр відповідно. Це </a:t>
            </a:r>
            <a:r>
              <a:rPr lang="uk-UA" dirty="0" err="1"/>
              <a:t>динамічно</a:t>
            </a:r>
            <a:r>
              <a:rPr lang="uk-UA" dirty="0"/>
              <a:t> значущі об'єкти.</a:t>
            </a:r>
          </a:p>
          <a:p>
            <a:endParaRPr lang="uk-UA" dirty="0"/>
          </a:p>
          <a:p>
            <a:r>
              <a:rPr lang="uk-UA" dirty="0"/>
              <a:t>Об'єкти 1, 2 та 3 мають швидкість близько 0,017 пікселя на кадр – майже статичні.</a:t>
            </a:r>
          </a:p>
          <a:p>
            <a:endParaRPr lang="uk-UA" dirty="0"/>
          </a:p>
          <a:p>
            <a:r>
              <a:rPr lang="uk-UA" dirty="0"/>
              <a:t>Значення глибини </a:t>
            </a:r>
            <a:r>
              <a:rPr lang="en-US" dirty="0"/>
              <a:t>z – </a:t>
            </a:r>
            <a:r>
              <a:rPr lang="uk-UA" dirty="0"/>
              <a:t>відносна оцінка, нормована до діапазону карти глибини. Вона дозволяє </a:t>
            </a:r>
            <a:r>
              <a:rPr lang="uk-UA" dirty="0" err="1"/>
              <a:t>коректно</a:t>
            </a:r>
            <a:r>
              <a:rPr lang="uk-UA" dirty="0"/>
              <a:t> </a:t>
            </a:r>
            <a:r>
              <a:rPr lang="uk-UA" dirty="0" err="1"/>
              <a:t>ранжувати</a:t>
            </a:r>
            <a:r>
              <a:rPr lang="uk-UA" dirty="0"/>
              <a:t> об'єкти за відстанню до камери.</a:t>
            </a:r>
          </a:p>
          <a:p>
            <a:endParaRPr lang="uk-UA" dirty="0"/>
          </a:p>
          <a:p>
            <a:r>
              <a:rPr lang="uk-UA" dirty="0"/>
              <a:t>Довіра класифікації – від 0,74 до 1,00 – свідчить про високу достовірність роботи детектора.</a:t>
            </a:r>
          </a:p>
          <a:p>
            <a:endParaRPr lang="uk-UA" dirty="0"/>
          </a:p>
          <a:p>
            <a:r>
              <a:rPr lang="uk-UA" dirty="0"/>
              <a:t>Кожен об'єкт супроводжується обмежувальною рамкою, яка точно окреслює його просторові межі – це необхідна умова для подальшого обчислення кінематичних параметрів».</a:t>
            </a:r>
          </a:p>
          <a:p>
            <a:r>
              <a:rPr lang="uk-UA" dirty="0"/>
              <a:t>-------------------------------------------------------------------------------------------------------</a:t>
            </a:r>
          </a:p>
          <a:p>
            <a:endParaRPr lang="uk-UA" dirty="0"/>
          </a:p>
          <a:p>
            <a:r>
              <a:rPr lang="uk-UA" dirty="0"/>
              <a:t>Виявлення об'єктів </a:t>
            </a:r>
            <a:r>
              <a:rPr lang="en-US" dirty="0"/>
              <a:t>DETR (</a:t>
            </a:r>
            <a:r>
              <a:rPr lang="uk-UA" dirty="0"/>
              <a:t>рис.4.7) – параметри</a:t>
            </a:r>
          </a:p>
          <a:p>
            <a:r>
              <a:rPr lang="uk-UA" dirty="0"/>
              <a:t>Що казати:</a:t>
            </a:r>
          </a:p>
          <a:p>
            <a:r>
              <a:rPr lang="uk-UA" dirty="0"/>
              <a:t>«У результаті експериментального запуску моделі </a:t>
            </a:r>
            <a:r>
              <a:rPr lang="en-US" dirty="0"/>
              <a:t>DETR </a:t>
            </a:r>
            <a:r>
              <a:rPr lang="uk-UA" dirty="0"/>
              <a:t>на тестовому </a:t>
            </a:r>
            <a:r>
              <a:rPr lang="uk-UA" dirty="0" err="1"/>
              <a:t>відеопотоці</a:t>
            </a:r>
            <a:r>
              <a:rPr lang="uk-UA" dirty="0"/>
              <a:t> було виявлено шість об'єктів. Найбільші значення швидкості отримано для об'єктів з ідентифікаторами 0, 4 та 5 – відповідно 6,526; 4,592 та 1,840 пікселів на кадр.</a:t>
            </a:r>
          </a:p>
          <a:p>
            <a:endParaRPr lang="uk-UA" dirty="0"/>
          </a:p>
          <a:p>
            <a:r>
              <a:rPr lang="uk-UA" dirty="0"/>
              <a:t>Об'єкти 1, 2 та 3 мають майже нульову швидкість у межах вибраної пари кадрів – приблизно 0,017 пікселя на кадр. Це узгоджується з їх малим локальним зміщенням у полі оптичного потоку.</a:t>
            </a:r>
          </a:p>
          <a:p>
            <a:endParaRPr lang="uk-UA" dirty="0"/>
          </a:p>
          <a:p>
            <a:r>
              <a:rPr lang="uk-UA" dirty="0"/>
              <a:t>Значення глибини </a:t>
            </a:r>
            <a:r>
              <a:rPr lang="en-US" dirty="0"/>
              <a:t>z, </a:t>
            </a:r>
            <a:r>
              <a:rPr lang="uk-UA" dirty="0"/>
              <a:t>наведені в таблиці, є відносною оцінкою глибини, нормованою до діапазону карти глибини, а не метричною відстанню в одиницях </a:t>
            </a:r>
            <a:r>
              <a:rPr lang="en-US" dirty="0"/>
              <a:t>SI. </a:t>
            </a:r>
            <a:r>
              <a:rPr lang="uk-UA" dirty="0"/>
              <a:t>Тим не менш, ці значення дозволяють </a:t>
            </a:r>
            <a:r>
              <a:rPr lang="uk-UA" dirty="0" err="1"/>
              <a:t>коректно</a:t>
            </a:r>
            <a:r>
              <a:rPr lang="uk-UA" dirty="0"/>
              <a:t> </a:t>
            </a:r>
            <a:r>
              <a:rPr lang="uk-UA" dirty="0" err="1"/>
              <a:t>ранжувати</a:t>
            </a:r>
            <a:r>
              <a:rPr lang="uk-UA" dirty="0"/>
              <a:t> об'єкти за відстанню до камери.</a:t>
            </a:r>
          </a:p>
          <a:p>
            <a:endParaRPr lang="uk-UA" dirty="0"/>
          </a:p>
          <a:p>
            <a:r>
              <a:rPr lang="uk-UA" dirty="0"/>
              <a:t>Довіра класифікації для всіх виявлених об'єктів є високою – від 0,74 до 1,00, що свідчить про надійну роботу детектора на тестовому відеоматеріалі.</a:t>
            </a:r>
          </a:p>
          <a:p>
            <a:endParaRPr lang="uk-UA" dirty="0"/>
          </a:p>
          <a:p>
            <a:r>
              <a:rPr lang="uk-UA" dirty="0"/>
              <a:t>Кожен виявлений об'єкт супроводжується обмежувальною рамкою, яка точно окреслює його просторові межі, що є необхідною умовою для подальшого обчислення кінематичних параметрів.»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20</a:t>
            </a:fld>
            <a:endParaRPr lang="en-US"/>
          </a:p>
        </p:txBody>
      </p:sp>
    </p:spTree>
    <p:extLst>
      <p:ext uri="{BB962C8B-B14F-4D97-AF65-F5344CB8AC3E}">
        <p14:creationId xmlns:p14="http://schemas.microsoft.com/office/powerpoint/2010/main" val="741767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«На цьому слайді показано, як виглядає візуалізація результатів роботи системи.</a:t>
            </a:r>
          </a:p>
          <a:p>
            <a:endParaRPr lang="uk-UA" dirty="0"/>
          </a:p>
          <a:p>
            <a:r>
              <a:rPr lang="uk-UA" dirty="0"/>
              <a:t>На кадр </a:t>
            </a:r>
            <a:r>
              <a:rPr lang="uk-UA" dirty="0" err="1"/>
              <a:t>відеопослідовності</a:t>
            </a:r>
            <a:r>
              <a:rPr lang="uk-UA" dirty="0"/>
              <a:t> накладаються обмежувальні рамки виявлених об'єктів, вектори миттєвої швидкості та значення глибини.</a:t>
            </a:r>
          </a:p>
          <a:p>
            <a:endParaRPr lang="uk-UA" dirty="0"/>
          </a:p>
          <a:p>
            <a:r>
              <a:rPr lang="uk-UA" dirty="0"/>
              <a:t>Для кодування напрямку руху використовується кольорова модель </a:t>
            </a:r>
            <a:r>
              <a:rPr lang="en-US" dirty="0"/>
              <a:t>HSV, </a:t>
            </a:r>
            <a:r>
              <a:rPr lang="uk-UA" dirty="0"/>
              <a:t>де відтінок кодує напрямок руху, а яскравість пропорційна величині </a:t>
            </a:r>
            <a:r>
              <a:rPr lang="uk-UA" dirty="0" err="1"/>
              <a:t>вектора</a:t>
            </a:r>
            <a:r>
              <a:rPr lang="uk-UA" dirty="0"/>
              <a:t> переміщення.</a:t>
            </a:r>
          </a:p>
          <a:p>
            <a:endParaRPr lang="uk-UA" dirty="0"/>
          </a:p>
          <a:p>
            <a:r>
              <a:rPr lang="uk-UA" dirty="0"/>
              <a:t>Така візуалізація дозволяє наочно сприймати динамічні характеристики сцени: пішоходи та транспортні засоби, що рухаються в різних напрямках, позначаються різними кольорами, а інтенсивність кольору відображає швидкість руху».</a:t>
            </a:r>
            <a:endParaRPr lang="en-US" dirty="0"/>
          </a:p>
          <a:p>
            <a:r>
              <a:rPr lang="en-US" dirty="0"/>
              <a:t>--------------------------------------------------------------------------------------------------</a:t>
            </a:r>
          </a:p>
          <a:p>
            <a:r>
              <a:rPr lang="uk-UA" dirty="0"/>
              <a:t>Візуалізація ідентифікованих параметрів (рис.4.8)</a:t>
            </a:r>
          </a:p>
          <a:p>
            <a:r>
              <a:rPr lang="uk-UA" dirty="0"/>
              <a:t>Що казати:</a:t>
            </a:r>
          </a:p>
          <a:p>
            <a:r>
              <a:rPr lang="uk-UA" dirty="0"/>
              <a:t>«На рисунку 4.8 показано візуалізацію ідентифікованих параметрів для виявлених об'єктів.</a:t>
            </a:r>
          </a:p>
          <a:p>
            <a:endParaRPr lang="uk-UA" dirty="0"/>
          </a:p>
          <a:p>
            <a:r>
              <a:rPr lang="uk-UA" dirty="0"/>
              <a:t>На кадр </a:t>
            </a:r>
            <a:r>
              <a:rPr lang="uk-UA" dirty="0" err="1"/>
              <a:t>відеопослідовності</a:t>
            </a:r>
            <a:r>
              <a:rPr lang="uk-UA" dirty="0"/>
              <a:t> накладаються обмежувальні рамки виявлених об'єктів, вектори миттєвої швидкості та значення глибини.</a:t>
            </a:r>
          </a:p>
          <a:p>
            <a:endParaRPr lang="uk-UA" dirty="0"/>
          </a:p>
          <a:p>
            <a:r>
              <a:rPr lang="uk-UA" dirty="0"/>
              <a:t>Для кодування напрямку руху використовується кольорова модель </a:t>
            </a:r>
            <a:r>
              <a:rPr lang="en-US" dirty="0"/>
              <a:t>HSV, </a:t>
            </a:r>
            <a:r>
              <a:rPr lang="uk-UA" dirty="0"/>
              <a:t>де відтінок кодує напрямок руху, насиченість є максимальною, а яскравість пропорційна величині </a:t>
            </a:r>
            <a:r>
              <a:rPr lang="uk-UA" dirty="0" err="1"/>
              <a:t>вектора</a:t>
            </a:r>
            <a:r>
              <a:rPr lang="uk-UA" dirty="0"/>
              <a:t> переміщення.</a:t>
            </a:r>
          </a:p>
          <a:p>
            <a:endParaRPr lang="uk-UA" dirty="0"/>
          </a:p>
          <a:p>
            <a:r>
              <a:rPr lang="uk-UA" dirty="0"/>
              <a:t>Така візуалізація дозволяє наочно сприймати динамічні характеристики сцени: пішоходи та транспортні засоби, що рухаються в різних напрямках, позначаються різними кольорами, а інтенсивність кольору відображає швидкість руху.</a:t>
            </a:r>
          </a:p>
          <a:p>
            <a:endParaRPr lang="uk-UA" dirty="0"/>
          </a:p>
          <a:p>
            <a:r>
              <a:rPr lang="uk-UA" dirty="0"/>
              <a:t>Крім того, на кадрі відображаються числові значення швидкості в пікселях на кадр та відносної глибини для кожного об'єкта.</a:t>
            </a:r>
          </a:p>
          <a:p>
            <a:endParaRPr lang="uk-UA" dirty="0"/>
          </a:p>
          <a:p>
            <a:r>
              <a:rPr lang="uk-UA" dirty="0"/>
              <a:t>Такий підхід до візуалізації є важливим не лише для демонстрації результатів, але й для налагодження системи та аналізу її роботи в різних умовах.»</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21</a:t>
            </a:fld>
            <a:endParaRPr lang="en-US"/>
          </a:p>
        </p:txBody>
      </p:sp>
    </p:spTree>
    <p:extLst>
      <p:ext uri="{BB962C8B-B14F-4D97-AF65-F5344CB8AC3E}">
        <p14:creationId xmlns:p14="http://schemas.microsoft.com/office/powerpoint/2010/main" val="690362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«У роботі проаналізовано різні комбінації методів оптичного потоку та оцінювання глибини. представлені чотири характерні приклади.</a:t>
            </a:r>
          </a:p>
          <a:p>
            <a:r>
              <a:rPr lang="uk-UA" sz="1200" b="1" i="0" kern="1200" dirty="0">
                <a:solidFill>
                  <a:schemeClr val="tx1"/>
                </a:solidFill>
                <a:effectLst/>
                <a:latin typeface="+mn-lt"/>
                <a:ea typeface="+mn-ea"/>
                <a:cs typeface="+mn-cs"/>
              </a:rPr>
              <a:t>Перша комбінація – </a:t>
            </a:r>
            <a:r>
              <a:rPr lang="en-US" sz="1200" b="1" i="0" kern="1200" dirty="0" err="1">
                <a:solidFill>
                  <a:schemeClr val="tx1"/>
                </a:solidFill>
                <a:effectLst/>
                <a:latin typeface="+mn-lt"/>
                <a:ea typeface="+mn-ea"/>
                <a:cs typeface="+mn-cs"/>
              </a:rPr>
              <a:t>Farneback</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MiDaS</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Це класичний поліноміальний метод оптичного потоку в парі з </a:t>
            </a:r>
            <a:r>
              <a:rPr lang="uk-UA" sz="1200" b="0" i="0" kern="1200" dirty="0" err="1">
                <a:solidFill>
                  <a:schemeClr val="tx1"/>
                </a:solidFill>
                <a:effectLst/>
                <a:latin typeface="+mn-lt"/>
                <a:ea typeface="+mn-ea"/>
                <a:cs typeface="+mn-cs"/>
              </a:rPr>
              <a:t>трансформерною</a:t>
            </a:r>
            <a:r>
              <a:rPr lang="uk-UA" sz="1200" b="0" i="0" kern="1200" dirty="0">
                <a:solidFill>
                  <a:schemeClr val="tx1"/>
                </a:solidFill>
                <a:effectLst/>
                <a:latin typeface="+mn-lt"/>
                <a:ea typeface="+mn-ea"/>
                <a:cs typeface="+mn-cs"/>
              </a:rPr>
              <a:t> моделлю глибини. Така комбінація забезпечує хороший баланс між швидкодією та точністю.</a:t>
            </a:r>
          </a:p>
          <a:p>
            <a:r>
              <a:rPr lang="uk-UA" sz="1200" b="1" i="0" kern="1200" dirty="0">
                <a:solidFill>
                  <a:schemeClr val="tx1"/>
                </a:solidFill>
                <a:effectLst/>
                <a:latin typeface="+mn-lt"/>
                <a:ea typeface="+mn-ea"/>
                <a:cs typeface="+mn-cs"/>
              </a:rPr>
              <a:t>Друга комбінація – </a:t>
            </a:r>
            <a:r>
              <a:rPr lang="en-US" sz="1200" b="1" i="0" kern="1200" dirty="0" err="1">
                <a:solidFill>
                  <a:schemeClr val="tx1"/>
                </a:solidFill>
                <a:effectLst/>
                <a:latin typeface="+mn-lt"/>
                <a:ea typeface="+mn-ea"/>
                <a:cs typeface="+mn-cs"/>
              </a:rPr>
              <a:t>FlowNet</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DPT_Large</a:t>
            </a:r>
            <a:r>
              <a:rPr lang="en-US" sz="1200" b="0" i="0" kern="1200" dirty="0">
                <a:solidFill>
                  <a:schemeClr val="tx1"/>
                </a:solidFill>
                <a:effectLst/>
                <a:latin typeface="+mn-lt"/>
                <a:ea typeface="+mn-ea"/>
                <a:cs typeface="+mn-cs"/>
              </a:rPr>
              <a:t>. </a:t>
            </a:r>
            <a:r>
              <a:rPr lang="uk-UA" sz="1200" b="0" i="0" kern="1200" dirty="0" err="1">
                <a:solidFill>
                  <a:schemeClr val="tx1"/>
                </a:solidFill>
                <a:effectLst/>
                <a:latin typeface="+mn-lt"/>
                <a:ea typeface="+mn-ea"/>
                <a:cs typeface="+mn-cs"/>
              </a:rPr>
              <a:t>Нейромережевий</a:t>
            </a:r>
            <a:r>
              <a:rPr lang="uk-UA" sz="1200" b="0" i="0" kern="1200" dirty="0">
                <a:solidFill>
                  <a:schemeClr val="tx1"/>
                </a:solidFill>
                <a:effectLst/>
                <a:latin typeface="+mn-lt"/>
                <a:ea typeface="+mn-ea"/>
                <a:cs typeface="+mn-cs"/>
              </a:rPr>
              <a:t> оптичний потік разом із щільним </a:t>
            </a:r>
            <a:r>
              <a:rPr lang="uk-UA" sz="1200" b="0" i="0" kern="1200" dirty="0" err="1">
                <a:solidFill>
                  <a:schemeClr val="tx1"/>
                </a:solidFill>
                <a:effectLst/>
                <a:latin typeface="+mn-lt"/>
                <a:ea typeface="+mn-ea"/>
                <a:cs typeface="+mn-cs"/>
              </a:rPr>
              <a:t>трансформером</a:t>
            </a:r>
            <a:r>
              <a:rPr lang="uk-UA" sz="1200" b="0" i="0" kern="1200" dirty="0">
                <a:solidFill>
                  <a:schemeClr val="tx1"/>
                </a:solidFill>
                <a:effectLst/>
                <a:latin typeface="+mn-lt"/>
                <a:ea typeface="+mn-ea"/>
                <a:cs typeface="+mn-cs"/>
              </a:rPr>
              <a:t> глибини. Ця комбінація дає більш деталізоване поле оптичного потоку та вищу роздільну здатність карти глибини, особливо на межах об'єктів.</a:t>
            </a:r>
          </a:p>
          <a:p>
            <a:r>
              <a:rPr lang="uk-UA" sz="1200" b="1" i="0" kern="1200" dirty="0">
                <a:solidFill>
                  <a:schemeClr val="tx1"/>
                </a:solidFill>
                <a:effectLst/>
                <a:latin typeface="+mn-lt"/>
                <a:ea typeface="+mn-ea"/>
                <a:cs typeface="+mn-cs"/>
              </a:rPr>
              <a:t>Третя комбінація –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Це інтегрована модель, яка одночасно оцінює глибину та оптичний потік. Вона забезпечує найкращу узгодженість між просторовою та часовою інформацією.</a:t>
            </a:r>
          </a:p>
          <a:p>
            <a:r>
              <a:rPr lang="uk-UA" sz="1200" b="1" i="0" kern="1200" dirty="0">
                <a:solidFill>
                  <a:schemeClr val="tx1"/>
                </a:solidFill>
                <a:effectLst/>
                <a:latin typeface="+mn-lt"/>
                <a:ea typeface="+mn-ea"/>
                <a:cs typeface="+mn-cs"/>
              </a:rPr>
              <a:t>Четверта комбінація – </a:t>
            </a:r>
            <a:r>
              <a:rPr lang="en-US" sz="1200" b="1" i="0" kern="1200" dirty="0">
                <a:solidFill>
                  <a:schemeClr val="tx1"/>
                </a:solidFill>
                <a:effectLst/>
                <a:latin typeface="+mn-lt"/>
                <a:ea typeface="+mn-ea"/>
                <a:cs typeface="+mn-cs"/>
              </a:rPr>
              <a:t>Horn-Schunck + Bagging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Глобальний метод оптичного потоку з ансамблевою оцінкою глибини забезпечує високу стійкість до шумів та артефактів».</a:t>
            </a:r>
          </a:p>
          <a:p>
            <a:r>
              <a:rPr lang="en-US" dirty="0"/>
              <a:t>-----------------------------------------------------------------------------------------------------------</a:t>
            </a:r>
          </a:p>
          <a:p>
            <a:r>
              <a:rPr lang="uk-UA" dirty="0"/>
              <a:t>Приклади комбінацій методів</a:t>
            </a:r>
          </a:p>
          <a:p>
            <a:r>
              <a:rPr lang="uk-UA" dirty="0"/>
              <a:t>Що казати:</a:t>
            </a:r>
          </a:p>
          <a:p>
            <a:r>
              <a:rPr lang="uk-UA" dirty="0"/>
              <a:t>«У роботі проаналізовано різні комбінації методів оптичного потоку та оцінювання глибини.</a:t>
            </a:r>
          </a:p>
          <a:p>
            <a:endParaRPr lang="uk-UA" dirty="0"/>
          </a:p>
          <a:p>
            <a:r>
              <a:rPr lang="uk-UA" dirty="0"/>
              <a:t>Перша комбінація – </a:t>
            </a:r>
            <a:r>
              <a:rPr lang="en-US" dirty="0" err="1"/>
              <a:t>Farneback</a:t>
            </a:r>
            <a:r>
              <a:rPr lang="en-US" dirty="0"/>
              <a:t> </a:t>
            </a:r>
            <a:r>
              <a:rPr lang="uk-UA" dirty="0"/>
              <a:t>плюс </a:t>
            </a:r>
            <a:r>
              <a:rPr lang="en-US" dirty="0" err="1"/>
              <a:t>MiDaS</a:t>
            </a:r>
            <a:r>
              <a:rPr lang="en-US" dirty="0"/>
              <a:t> – </a:t>
            </a:r>
            <a:r>
              <a:rPr lang="uk-UA" dirty="0"/>
              <a:t>це класичний поліноміальний метод оптичного потоку в парі з </a:t>
            </a:r>
            <a:r>
              <a:rPr lang="uk-UA" dirty="0" err="1"/>
              <a:t>трансформерною</a:t>
            </a:r>
            <a:r>
              <a:rPr lang="uk-UA" dirty="0"/>
              <a:t> моделлю глибини. Така комбінація забезпечує хороший баланс між швидкодією та точністю.</a:t>
            </a:r>
          </a:p>
          <a:p>
            <a:endParaRPr lang="uk-UA" dirty="0"/>
          </a:p>
          <a:p>
            <a:r>
              <a:rPr lang="uk-UA" dirty="0"/>
              <a:t>Друга комбінація – </a:t>
            </a:r>
            <a:r>
              <a:rPr lang="en-US" dirty="0" err="1"/>
              <a:t>FlowNet</a:t>
            </a:r>
            <a:r>
              <a:rPr lang="en-US" dirty="0"/>
              <a:t> </a:t>
            </a:r>
            <a:r>
              <a:rPr lang="uk-UA" dirty="0"/>
              <a:t>плюс </a:t>
            </a:r>
            <a:r>
              <a:rPr lang="en-US" dirty="0" err="1"/>
              <a:t>DPT_Large</a:t>
            </a:r>
            <a:r>
              <a:rPr lang="en-US" dirty="0"/>
              <a:t> – </a:t>
            </a:r>
            <a:r>
              <a:rPr lang="uk-UA" dirty="0" err="1"/>
              <a:t>нейромережевий</a:t>
            </a:r>
            <a:r>
              <a:rPr lang="uk-UA" dirty="0"/>
              <a:t> оптичний потік з щільним </a:t>
            </a:r>
            <a:r>
              <a:rPr lang="uk-UA" dirty="0" err="1"/>
              <a:t>трансформером</a:t>
            </a:r>
            <a:r>
              <a:rPr lang="uk-UA" dirty="0"/>
              <a:t> глибини. Ця комбінація дає більш деталізоване поле оптичного потоку та вищу роздільну здатність карти глибини, особливо на межах об'єктів.</a:t>
            </a:r>
          </a:p>
          <a:p>
            <a:endParaRPr lang="uk-UA" dirty="0"/>
          </a:p>
          <a:p>
            <a:r>
              <a:rPr lang="uk-UA" dirty="0"/>
              <a:t>Третя комбінація – інтегрована модель </a:t>
            </a:r>
            <a:r>
              <a:rPr lang="en-US" dirty="0" err="1"/>
              <a:t>GeoNet</a:t>
            </a:r>
            <a:r>
              <a:rPr lang="en-US" dirty="0"/>
              <a:t>, </a:t>
            </a:r>
            <a:r>
              <a:rPr lang="uk-UA" dirty="0"/>
              <a:t>яка одночасно оцінює глибину та оптичний потік. Ця комбінація забезпечує найкращу узгодженість між просторовою та часовою інформацією: рухомі об'єкти чітко відокремлюються від статичного фону, а їх просторове положення узгоджується з картою глибини.</a:t>
            </a:r>
          </a:p>
          <a:p>
            <a:endParaRPr lang="uk-UA" dirty="0"/>
          </a:p>
          <a:p>
            <a:r>
              <a:rPr lang="uk-UA" dirty="0"/>
              <a:t>Четверта комбінація – </a:t>
            </a:r>
            <a:r>
              <a:rPr lang="en-US" dirty="0"/>
              <a:t>Horn-Schunck </a:t>
            </a:r>
            <a:r>
              <a:rPr lang="uk-UA" dirty="0"/>
              <a:t>плюс </a:t>
            </a:r>
            <a:r>
              <a:rPr lang="en-US" dirty="0"/>
              <a:t>Bagging – </a:t>
            </a:r>
            <a:r>
              <a:rPr lang="uk-UA" dirty="0"/>
              <a:t>глобальний метод оптичного потоку з ансамблевою оцінкою глибини. Ця комбінація забезпечує високу стійкість до шумів та артефактів.»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22</a:t>
            </a:fld>
            <a:endParaRPr lang="en-US"/>
          </a:p>
        </p:txBody>
      </p:sp>
    </p:spTree>
    <p:extLst>
      <p:ext uri="{BB962C8B-B14F-4D97-AF65-F5344CB8AC3E}">
        <p14:creationId xmlns:p14="http://schemas.microsoft.com/office/powerpoint/2010/main" val="1328059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Тому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тобто середня кінцева похибка, та </a:t>
                </a:r>
                <a:r>
                  <a:rPr lang="en-US" sz="1200" b="0" i="0" kern="1200" dirty="0">
                    <a:solidFill>
                      <a:schemeClr val="tx1"/>
                    </a:solidFill>
                    <a:effectLst/>
                    <a:latin typeface="+mn-lt"/>
                    <a:ea typeface="+mn-ea"/>
                    <a:cs typeface="+mn-cs"/>
                  </a:rPr>
                  <a:t>Angular Average Error, </a:t>
                </a:r>
                <a:r>
                  <a:rPr lang="uk-UA" sz="1200" b="0" i="0" kern="1200" dirty="0">
                    <a:solidFill>
                      <a:schemeClr val="tx1"/>
                    </a:solidFill>
                    <a:effectLst/>
                    <a:latin typeface="+mn-lt"/>
                    <a:ea typeface="+mn-ea"/>
                    <a:cs typeface="+mn-cs"/>
                  </a:rPr>
                  <a:t>тобто середня кутова похибка, дорівнюють нулю.</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Лукаса-</a:t>
                </a:r>
                <a:r>
                  <a:rPr lang="uk-UA" sz="1200" b="0" i="0" kern="1200" dirty="0" err="1">
                    <a:solidFill>
                      <a:schemeClr val="tx1"/>
                    </a:solidFill>
                    <a:effectLst/>
                    <a:latin typeface="+mn-lt"/>
                    <a:ea typeface="+mn-ea"/>
                    <a:cs typeface="+mn-cs"/>
                  </a:rPr>
                  <a:t>Канаде</a:t>
                </a:r>
                <a:r>
                  <a:rPr lang="uk-UA" sz="1200" b="0" i="0" kern="1200" dirty="0">
                    <a:solidFill>
                      <a:schemeClr val="tx1"/>
                    </a:solidFill>
                    <a:effectLst/>
                    <a:latin typeface="+mn-lt"/>
                    <a:ea typeface="+mn-ea"/>
                    <a:cs typeface="+mn-cs"/>
                  </a:rPr>
                  <a:t> 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End-Point Error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Angular Average Error 0,152 </a:t>
                </a:r>
                <a:r>
                  <a:rPr lang="uk-UA" sz="1200" b="0" i="0" kern="1200" dirty="0">
                    <a:solidFill>
                      <a:schemeClr val="tx1"/>
                    </a:solidFill>
                    <a:effectLst/>
                    <a:latin typeface="+mn-lt"/>
                    <a:ea typeface="+mn-ea"/>
                    <a:cs typeface="+mn-cs"/>
                  </a:rPr>
                  <a:t>радіана. Для об'єкта з ідентифікатором нуль цей метод дає значно меншу середню швидкість – лише 0,013 пікселя на кадр.</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Горна-</a:t>
                </a:r>
                <a:r>
                  <a:rPr lang="uk-UA" sz="1200" b="0" i="0" kern="1200" dirty="0" err="1">
                    <a:solidFill>
                      <a:schemeClr val="tx1"/>
                    </a:solidFill>
                    <a:effectLst/>
                    <a:latin typeface="+mn-lt"/>
                    <a:ea typeface="+mn-ea"/>
                    <a:cs typeface="+mn-cs"/>
                  </a:rPr>
                  <a:t>Шунка</a:t>
                </a:r>
                <a:r>
                  <a:rPr lang="uk-UA" sz="1200" b="0" i="0" kern="1200" dirty="0">
                    <a:solidFill>
                      <a:schemeClr val="tx1"/>
                    </a:solidFill>
                    <a:effectLst/>
                    <a:latin typeface="+mn-lt"/>
                    <a:ea typeface="+mn-ea"/>
                    <a:cs typeface="+mn-cs"/>
                  </a:rPr>
                  <a:t> забезпечує згладжене поле руху.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становить 0,266 пікселя, а </a:t>
                </a:r>
                <a:r>
                  <a:rPr lang="en-US" sz="1200" b="0" i="0" kern="1200" dirty="0">
                    <a:solidFill>
                      <a:schemeClr val="tx1"/>
                    </a:solidFill>
                    <a:effectLst/>
                    <a:latin typeface="+mn-lt"/>
                    <a:ea typeface="+mn-ea"/>
                    <a:cs typeface="+mn-cs"/>
                  </a:rPr>
                  <a:t>Angular Average Error – 0,145 </a:t>
                </a:r>
                <a:r>
                  <a:rPr lang="uk-UA" sz="1200" b="0" i="0" kern="1200" dirty="0">
                    <a:solidFill>
                      <a:schemeClr val="tx1"/>
                    </a:solidFill>
                    <a:effectLst/>
                    <a:latin typeface="+mn-lt"/>
                    <a:ea typeface="+mn-ea"/>
                    <a:cs typeface="+mn-cs"/>
                  </a:rPr>
                  <a:t>радіана.</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ФлоуНет</a:t>
                </a:r>
                <a:r>
                  <a:rPr lang="uk-UA" sz="1200" b="0" i="0" kern="1200" dirty="0">
                    <a:solidFill>
                      <a:schemeClr val="tx1"/>
                    </a:solidFill>
                    <a:effectLst/>
                    <a:latin typeface="+mn-lt"/>
                    <a:ea typeface="+mn-ea"/>
                    <a:cs typeface="+mn-cs"/>
                  </a:rPr>
                  <a:t> та метод </a:t>
                </a:r>
                <a:r>
                  <a:rPr lang="uk-UA" sz="1200" b="0" i="0" kern="1200" dirty="0" err="1">
                    <a:solidFill>
                      <a:schemeClr val="tx1"/>
                    </a:solidFill>
                    <a:effectLst/>
                    <a:latin typeface="+mn-lt"/>
                    <a:ea typeface="+mn-ea"/>
                    <a:cs typeface="+mn-cs"/>
                  </a:rPr>
                  <a:t>ДжіоНет</a:t>
                </a:r>
                <a:r>
                  <a:rPr lang="uk-UA" sz="1200" b="0" i="0" kern="1200" dirty="0">
                    <a:solidFill>
                      <a:schemeClr val="tx1"/>
                    </a:solidFill>
                    <a:effectLst/>
                    <a:latin typeface="+mn-lt"/>
                    <a:ea typeface="+mn-ea"/>
                    <a:cs typeface="+mn-cs"/>
                  </a:rPr>
                  <a:t> 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методу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 для цього експерименту».</a:t>
                </a:r>
              </a:p>
              <a:p>
                <a:r>
                  <a:rPr lang="uk-UA"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EPE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rad>
                          <m:radPr>
                            <m:degHide m:val="on"/>
                            <m:ctrlPr>
                              <a:rPr lang="en-US" sz="1200" i="1" kern="1200">
                                <a:solidFill>
                                  <a:schemeClr val="tx1"/>
                                </a:solidFill>
                                <a:effectLst/>
                                <a:latin typeface="Cambria Math" panose="02040503050406030204" pitchFamily="18" charset="0"/>
                                <a:ea typeface="+mn-ea"/>
                                <a:cs typeface="+mn-cs"/>
                              </a:rPr>
                            </m:ctrlPr>
                          </m:radPr>
                          <m:deg/>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r>
                              <a:rPr lang="uk-UA" sz="1200" kern="1200">
                                <a:solidFill>
                                  <a:schemeClr val="tx1"/>
                                </a:solidFill>
                                <a:effectLst/>
                                <a:latin typeface="Cambria Math" panose="02040503050406030204" pitchFamily="18" charset="0"/>
                                <a:ea typeface="+mn-ea"/>
                                <a:cs typeface="+mn-cs"/>
                              </a:rPr>
                              <m:t>+</m:t>
                            </m:r>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e>
                        </m:rad>
                      </m:e>
                    </m:nary>
                  </m:oMath>
                </a14:m>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uk-UA" sz="1200" i="1" kern="1200">
                            <a:solidFill>
                              <a:schemeClr val="tx1"/>
                            </a:solidFill>
                            <a:effectLst/>
                            <a:latin typeface="Cambria Math" panose="02040503050406030204" pitchFamily="18" charset="0"/>
                            <a:ea typeface="+mn-ea"/>
                            <a:cs typeface="+mn-cs"/>
                          </a:rPr>
                          <m:t>𝑢</m:t>
                        </m:r>
                      </m:e>
                      <m:sub>
                        <m:r>
                          <a:rPr lang="uk-UA" sz="1200" i="1" kern="1200">
                            <a:solidFill>
                              <a:schemeClr val="tx1"/>
                            </a:solidFill>
                            <a:effectLst/>
                            <a:latin typeface="Cambria Math" panose="02040503050406030204" pitchFamily="18" charset="0"/>
                            <a:ea typeface="+mn-ea"/>
                            <a:cs typeface="+mn-cs"/>
                          </a:rPr>
                          <m:t>𝑖</m:t>
                        </m:r>
                      </m:sub>
                    </m:sSub>
                  </m:oMath>
                </a14:m>
                <a:r>
                  <a:rPr lang="uk-UA" sz="1200" kern="1200" dirty="0">
                    <a:solidFill>
                      <a:schemeClr val="tx1"/>
                    </a:solidFill>
                    <a:effectLst/>
                    <a:latin typeface="+mn-lt"/>
                    <a:ea typeface="+mn-ea"/>
                    <a:cs typeface="+mn-cs"/>
                  </a:rPr>
                  <a:t>,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uk-UA" sz="1200" i="1" kern="1200">
                            <a:solidFill>
                              <a:schemeClr val="tx1"/>
                            </a:solidFill>
                            <a:effectLst/>
                            <a:latin typeface="Cambria Math" panose="02040503050406030204" pitchFamily="18" charset="0"/>
                            <a:ea typeface="+mn-ea"/>
                            <a:cs typeface="+mn-cs"/>
                          </a:rPr>
                          <m:t>𝑣</m:t>
                        </m:r>
                      </m:e>
                      <m:sub>
                        <m:r>
                          <a:rPr lang="uk-UA" sz="1200" i="1" kern="1200">
                            <a:solidFill>
                              <a:schemeClr val="tx1"/>
                            </a:solidFill>
                            <a:effectLst/>
                            <a:latin typeface="Cambria Math" panose="02040503050406030204" pitchFamily="18" charset="0"/>
                            <a:ea typeface="+mn-ea"/>
                            <a:cs typeface="+mn-cs"/>
                          </a:rPr>
                          <m:t>𝑖</m:t>
                        </m:r>
                      </m:sub>
                    </m:sSub>
                  </m:oMath>
                </a14:m>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14:m>
                  <m:oMath xmlns:m="http://schemas.openxmlformats.org/officeDocument/2006/math">
                    <m:sSubSup>
                      <m:sSubSupPr>
                        <m:ctrlPr>
                          <a:rPr lang="en-US" sz="1200" i="1" kern="1200">
                            <a:solidFill>
                              <a:schemeClr val="tx1"/>
                            </a:solidFill>
                            <a:effectLst/>
                            <a:latin typeface="Cambria Math" panose="02040503050406030204" pitchFamily="18" charset="0"/>
                            <a:ea typeface="+mn-ea"/>
                            <a:cs typeface="+mn-cs"/>
                          </a:rPr>
                        </m:ctrlPr>
                      </m:sSubSupPr>
                      <m:e>
                        <m:r>
                          <a:rPr lang="uk-UA" sz="1200" i="1" kern="1200">
                            <a:solidFill>
                              <a:schemeClr val="tx1"/>
                            </a:solidFill>
                            <a:effectLst/>
                            <a:latin typeface="Cambria Math" panose="02040503050406030204" pitchFamily="18" charset="0"/>
                            <a:ea typeface="+mn-ea"/>
                            <a:cs typeface="+mn-cs"/>
                          </a:rPr>
                          <m:t>𝑢</m:t>
                        </m:r>
                      </m:e>
                      <m:sub>
                        <m:r>
                          <a:rPr lang="uk-UA" sz="1200" i="1" kern="1200">
                            <a:solidFill>
                              <a:schemeClr val="tx1"/>
                            </a:solidFill>
                            <a:effectLst/>
                            <a:latin typeface="Cambria Math" panose="02040503050406030204" pitchFamily="18" charset="0"/>
                            <a:ea typeface="+mn-ea"/>
                            <a:cs typeface="+mn-cs"/>
                          </a:rPr>
                          <m:t>𝑖</m:t>
                        </m:r>
                      </m:sub>
                      <m:sup>
                        <m:r>
                          <a:rPr lang="uk-UA" sz="1200" i="1" kern="1200">
                            <a:solidFill>
                              <a:schemeClr val="tx1"/>
                            </a:solidFill>
                            <a:effectLst/>
                            <a:latin typeface="Cambria Math" panose="02040503050406030204" pitchFamily="18" charset="0"/>
                            <a:ea typeface="+mn-ea"/>
                            <a:cs typeface="+mn-cs"/>
                          </a:rPr>
                          <m:t>𝑔𝑡</m:t>
                        </m:r>
                      </m:sup>
                    </m:sSubSup>
                  </m:oMath>
                </a14:m>
                <a:r>
                  <a:rPr lang="uk-UA" sz="120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effectLst/>
                            <a:latin typeface="Cambria Math" panose="02040503050406030204" pitchFamily="18" charset="0"/>
                            <a:ea typeface="+mn-ea"/>
                            <a:cs typeface="+mn-cs"/>
                          </a:rPr>
                        </m:ctrlPr>
                      </m:sSubSupPr>
                      <m:e>
                        <m:r>
                          <a:rPr lang="uk-UA" sz="1200" i="1" kern="1200">
                            <a:solidFill>
                              <a:schemeClr val="tx1"/>
                            </a:solidFill>
                            <a:effectLst/>
                            <a:latin typeface="Cambria Math" panose="02040503050406030204" pitchFamily="18" charset="0"/>
                            <a:ea typeface="+mn-ea"/>
                            <a:cs typeface="+mn-cs"/>
                          </a:rPr>
                          <m:t>𝑣</m:t>
                        </m:r>
                      </m:e>
                      <m:sub>
                        <m:r>
                          <a:rPr lang="uk-UA" sz="1200" i="1" kern="1200">
                            <a:solidFill>
                              <a:schemeClr val="tx1"/>
                            </a:solidFill>
                            <a:effectLst/>
                            <a:latin typeface="Cambria Math" panose="02040503050406030204" pitchFamily="18" charset="0"/>
                            <a:ea typeface="+mn-ea"/>
                            <a:cs typeface="+mn-cs"/>
                          </a:rPr>
                          <m:t>𝑖</m:t>
                        </m:r>
                      </m:sub>
                      <m:sup>
                        <m:r>
                          <a:rPr lang="uk-UA" sz="1200" i="1" kern="1200">
                            <a:solidFill>
                              <a:schemeClr val="tx1"/>
                            </a:solidFill>
                            <a:effectLst/>
                            <a:latin typeface="Cambria Math" panose="02040503050406030204" pitchFamily="18" charset="0"/>
                            <a:ea typeface="+mn-ea"/>
                            <a:cs typeface="+mn-cs"/>
                          </a:rPr>
                          <m:t>𝑔𝑡</m:t>
                        </m:r>
                      </m:sup>
                    </m:sSubSup>
                  </m:oMath>
                </a14:m>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AAE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func>
                          <m:funcPr>
                            <m:ctrlPr>
                              <a:rPr lang="en-US" sz="1200" i="1" kern="1200">
                                <a:solidFill>
                                  <a:schemeClr val="tx1"/>
                                </a:solidFill>
                                <a:effectLst/>
                                <a:latin typeface="Cambria Math" panose="02040503050406030204" pitchFamily="18" charset="0"/>
                                <a:ea typeface="+mn-ea"/>
                                <a:cs typeface="+mn-cs"/>
                              </a:rPr>
                            </m:ctrlPr>
                          </m:funcPr>
                          <m:fName>
                            <m:r>
                              <m:rPr>
                                <m:sty m:val="p"/>
                              </m:rPr>
                              <a:rPr lang="uk-UA" sz="1200" kern="1200">
                                <a:solidFill>
                                  <a:schemeClr val="tx1"/>
                                </a:solidFill>
                                <a:effectLst/>
                                <a:latin typeface="Cambria Math" panose="02040503050406030204" pitchFamily="18" charset="0"/>
                                <a:ea typeface="+mn-ea"/>
                                <a:cs typeface="+mn-cs"/>
                              </a:rPr>
                              <m:t>arccos</m:t>
                            </m:r>
                          </m:fName>
                          <m:e>
                            <m:d>
                              <m:dPr>
                                <m:ctrlPr>
                                  <a:rPr lang="en-US" sz="1200" i="1" kern="1200">
                                    <a:solidFill>
                                      <a:schemeClr val="tx1"/>
                                    </a:solidFill>
                                    <a:effectLst/>
                                    <a:latin typeface="Cambria Math" panose="02040503050406030204" pitchFamily="18" charset="0"/>
                                    <a:ea typeface="+mn-ea"/>
                                    <a:cs typeface="+mn-cs"/>
                                  </a:rPr>
                                </m:ctrlPr>
                              </m:dPr>
                              <m:e>
                                <m:f>
                                  <m:fPr>
                                    <m:ctrlPr>
                                      <a:rPr lang="en-US" sz="1200" i="1" kern="1200">
                                        <a:solidFill>
                                          <a:schemeClr val="tx1"/>
                                        </a:solidFill>
                                        <a:effectLst/>
                                        <a:latin typeface="Cambria Math" panose="02040503050406030204" pitchFamily="18" charset="0"/>
                                        <a:ea typeface="+mn-ea"/>
                                        <a:cs typeface="+mn-cs"/>
                                      </a:rPr>
                                    </m:ctrlPr>
                                  </m:fPr>
                                  <m:num>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Sub>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r>
                                      <a:rPr lang="uk-UA" sz="1200"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Sub>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r>
                                      <a:rPr lang="uk-UA" sz="1200" kern="1200">
                                        <a:solidFill>
                                          <a:schemeClr val="tx1"/>
                                        </a:solidFill>
                                        <a:effectLst/>
                                        <a:latin typeface="Cambria Math" panose="02040503050406030204" pitchFamily="18" charset="0"/>
                                        <a:ea typeface="+mn-ea"/>
                                        <a:cs typeface="+mn-cs"/>
                                      </a:rPr>
                                      <m:t>+1</m:t>
                                    </m:r>
                                  </m:num>
                                  <m:den>
                                    <m:rad>
                                      <m:radPr>
                                        <m:degHide m:val="on"/>
                                        <m:ctrlPr>
                                          <a:rPr lang="en-US" sz="1200" i="1" kern="1200">
                                            <a:solidFill>
                                              <a:schemeClr val="tx1"/>
                                            </a:solidFill>
                                            <a:effectLst/>
                                            <a:latin typeface="Cambria Math" panose="02040503050406030204" pitchFamily="18" charset="0"/>
                                            <a:ea typeface="+mn-ea"/>
                                            <a:cs typeface="+mn-cs"/>
                                          </a:rPr>
                                        </m:ctrlPr>
                                      </m:radPr>
                                      <m:deg/>
                                      <m:e>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a:rPr lang="uk-UA" sz="1200" kern="1200">
                                                <a:solidFill>
                                                  <a:schemeClr val="tx1"/>
                                                </a:solidFill>
                                                <a:effectLst/>
                                                <a:latin typeface="Cambria Math" panose="02040503050406030204" pitchFamily="18" charset="0"/>
                                                <a:ea typeface="+mn-ea"/>
                                                <a:cs typeface="+mn-cs"/>
                                              </a:rPr>
                                              <m:t>2</m:t>
                                            </m:r>
                                          </m:sup>
                                        </m:sSubSup>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a:rPr lang="uk-UA" sz="1200" kern="1200">
                                                <a:solidFill>
                                                  <a:schemeClr val="tx1"/>
                                                </a:solidFill>
                                                <a:effectLst/>
                                                <a:latin typeface="Cambria Math" panose="02040503050406030204" pitchFamily="18" charset="0"/>
                                                <a:ea typeface="+mn-ea"/>
                                                <a:cs typeface="+mn-cs"/>
                                              </a:rPr>
                                              <m:t>2</m:t>
                                            </m:r>
                                          </m:sup>
                                        </m:sSubSup>
                                        <m:r>
                                          <a:rPr lang="uk-UA" sz="1200" kern="1200">
                                            <a:solidFill>
                                              <a:schemeClr val="tx1"/>
                                            </a:solidFill>
                                            <a:effectLst/>
                                            <a:latin typeface="Cambria Math" panose="02040503050406030204" pitchFamily="18" charset="0"/>
                                            <a:ea typeface="+mn-ea"/>
                                            <a:cs typeface="+mn-cs"/>
                                          </a:rPr>
                                          <m:t>+1</m:t>
                                        </m:r>
                                      </m:e>
                                    </m:rad>
                                    <m:r>
                                      <a:rPr lang="uk-UA" sz="1200" kern="1200">
                                        <a:solidFill>
                                          <a:schemeClr val="tx1"/>
                                        </a:solidFill>
                                        <a:effectLst/>
                                        <a:latin typeface="Cambria Math" panose="02040503050406030204" pitchFamily="18" charset="0"/>
                                        <a:ea typeface="+mn-ea"/>
                                        <a:cs typeface="+mn-cs"/>
                                      </a:rPr>
                                      <m:t>⋅</m:t>
                                    </m:r>
                                    <m:rad>
                                      <m:radPr>
                                        <m:degHide m:val="on"/>
                                        <m:ctrlPr>
                                          <a:rPr lang="en-US" sz="1200" i="1" kern="1200">
                                            <a:solidFill>
                                              <a:schemeClr val="tx1"/>
                                            </a:solidFill>
                                            <a:effectLst/>
                                            <a:latin typeface="Cambria Math" panose="02040503050406030204" pitchFamily="18" charset="0"/>
                                            <a:ea typeface="+mn-ea"/>
                                            <a:cs typeface="+mn-cs"/>
                                          </a:rPr>
                                        </m:ctrlPr>
                                      </m:radPr>
                                      <m:deg/>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r>
                                          <a:rPr lang="uk-UA" sz="1200" kern="1200">
                                            <a:solidFill>
                                              <a:schemeClr val="tx1"/>
                                            </a:solidFill>
                                            <a:effectLst/>
                                            <a:latin typeface="Cambria Math" panose="02040503050406030204" pitchFamily="18" charset="0"/>
                                            <a:ea typeface="+mn-ea"/>
                                            <a:cs typeface="+mn-cs"/>
                                          </a:rPr>
                                          <m:t>+</m:t>
                                        </m:r>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r>
                                          <a:rPr lang="uk-UA" sz="1200" kern="1200">
                                            <a:solidFill>
                                              <a:schemeClr val="tx1"/>
                                            </a:solidFill>
                                            <a:effectLst/>
                                            <a:latin typeface="Cambria Math" panose="02040503050406030204" pitchFamily="18" charset="0"/>
                                            <a:ea typeface="+mn-ea"/>
                                            <a:cs typeface="+mn-cs"/>
                                          </a:rPr>
                                          <m:t>+1</m:t>
                                        </m:r>
                                      </m:e>
                                    </m:rad>
                                  </m:den>
                                </m:f>
                              </m:e>
                            </m:d>
                          </m:e>
                        </m:func>
                      </m:e>
                    </m:nary>
                  </m:oMath>
                </a14:m>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RMSE</m:t>
                    </m:r>
                    <m:r>
                      <a:rPr lang="uk-UA" sz="1200" kern="1200">
                        <a:solidFill>
                          <a:schemeClr val="tx1"/>
                        </a:solidFill>
                        <a:effectLst/>
                        <a:latin typeface="Cambria Math" panose="02040503050406030204" pitchFamily="18" charset="0"/>
                        <a:ea typeface="+mn-ea"/>
                        <a:cs typeface="+mn-cs"/>
                      </a:rPr>
                      <m:t>=</m:t>
                    </m:r>
                    <m:rad>
                      <m:radPr>
                        <m:degHide m:val="on"/>
                        <m:ctrlPr>
                          <a:rPr lang="en-US" sz="1200" i="1" kern="1200">
                            <a:solidFill>
                              <a:schemeClr val="tx1"/>
                            </a:solidFill>
                            <a:effectLst/>
                            <a:latin typeface="Cambria Math" panose="02040503050406030204" pitchFamily="18" charset="0"/>
                            <a:ea typeface="+mn-ea"/>
                            <a:cs typeface="+mn-cs"/>
                          </a:rPr>
                        </m:ctrlPr>
                      </m:radPr>
                      <m:deg/>
                      <m:e>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e>
                        </m:nary>
                      </m:e>
                    </m:rad>
                  </m:oMath>
                </a14:m>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uk-UA" sz="1200" i="1" kern="1200">
                            <a:solidFill>
                              <a:schemeClr val="tx1"/>
                            </a:solidFill>
                            <a:effectLst/>
                            <a:latin typeface="Cambria Math" panose="02040503050406030204" pitchFamily="18" charset="0"/>
                            <a:ea typeface="+mn-ea"/>
                            <a:cs typeface="+mn-cs"/>
                          </a:rPr>
                          <m:t>𝐷</m:t>
                        </m:r>
                      </m:e>
                      <m:sub>
                        <m:r>
                          <a:rPr lang="uk-UA" sz="1200" i="1" kern="1200">
                            <a:solidFill>
                              <a:schemeClr val="tx1"/>
                            </a:solidFill>
                            <a:effectLst/>
                            <a:latin typeface="Cambria Math" panose="02040503050406030204" pitchFamily="18" charset="0"/>
                            <a:ea typeface="+mn-ea"/>
                            <a:cs typeface="+mn-cs"/>
                          </a:rPr>
                          <m:t>𝑖</m:t>
                        </m:r>
                      </m:sub>
                    </m:sSub>
                  </m:oMath>
                </a14:m>
                <a:r>
                  <a:rPr lang="uk-UA" sz="1200" kern="1200" dirty="0">
                    <a:solidFill>
                      <a:schemeClr val="tx1"/>
                    </a:solidFill>
                    <a:effectLst/>
                    <a:latin typeface="+mn-lt"/>
                    <a:ea typeface="+mn-ea"/>
                    <a:cs typeface="+mn-cs"/>
                  </a:rPr>
                  <a:t> – передбачена глибина (відстань від камери до об'єкта) для </a:t>
                </a:r>
                <a14:m>
                  <m:oMath xmlns:m="http://schemas.openxmlformats.org/officeDocument/2006/math">
                    <m:r>
                      <a:rPr lang="uk-UA" sz="1200" i="1" kern="1200">
                        <a:solidFill>
                          <a:schemeClr val="tx1"/>
                        </a:solidFill>
                        <a:effectLst/>
                        <a:latin typeface="Cambria Math" panose="02040503050406030204" pitchFamily="18" charset="0"/>
                        <a:ea typeface="+mn-ea"/>
                        <a:cs typeface="+mn-cs"/>
                      </a:rPr>
                      <m:t>𝑖</m:t>
                    </m:r>
                  </m:oMath>
                </a14:m>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14:m>
                  <m:oMath xmlns:m="http://schemas.openxmlformats.org/officeDocument/2006/math">
                    <m:sSubSup>
                      <m:sSubSupPr>
                        <m:ctrlPr>
                          <a:rPr lang="en-US" sz="1200" i="1" kern="1200">
                            <a:solidFill>
                              <a:schemeClr val="tx1"/>
                            </a:solidFill>
                            <a:effectLst/>
                            <a:latin typeface="Cambria Math" panose="02040503050406030204" pitchFamily="18" charset="0"/>
                            <a:ea typeface="+mn-ea"/>
                            <a:cs typeface="+mn-cs"/>
                          </a:rPr>
                        </m:ctrlPr>
                      </m:sSubSupPr>
                      <m:e>
                        <m:r>
                          <a:rPr lang="uk-UA" sz="1200" i="1" kern="1200">
                            <a:solidFill>
                              <a:schemeClr val="tx1"/>
                            </a:solidFill>
                            <a:effectLst/>
                            <a:latin typeface="Cambria Math" panose="02040503050406030204" pitchFamily="18" charset="0"/>
                            <a:ea typeface="+mn-ea"/>
                            <a:cs typeface="+mn-cs"/>
                          </a:rPr>
                          <m:t>𝐷</m:t>
                        </m:r>
                      </m:e>
                      <m:sub>
                        <m:r>
                          <a:rPr lang="uk-UA" sz="1200" i="1" kern="1200">
                            <a:solidFill>
                              <a:schemeClr val="tx1"/>
                            </a:solidFill>
                            <a:effectLst/>
                            <a:latin typeface="Cambria Math" panose="02040503050406030204" pitchFamily="18" charset="0"/>
                            <a:ea typeface="+mn-ea"/>
                            <a:cs typeface="+mn-cs"/>
                          </a:rPr>
                          <m:t>𝑖</m:t>
                        </m:r>
                      </m:sub>
                      <m:sup>
                        <m:r>
                          <a:rPr lang="uk-UA" sz="1200" i="1" kern="1200">
                            <a:solidFill>
                              <a:schemeClr val="tx1"/>
                            </a:solidFill>
                            <a:effectLst/>
                            <a:latin typeface="Cambria Math" panose="02040503050406030204" pitchFamily="18" charset="0"/>
                            <a:ea typeface="+mn-ea"/>
                            <a:cs typeface="+mn-cs"/>
                          </a:rPr>
                          <m:t>𝑔𝑡</m:t>
                        </m:r>
                      </m:sup>
                    </m:sSubSup>
                  </m:oMath>
                </a14:m>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MAE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d>
                          <m:dPr>
                            <m:begChr m:val="|"/>
                            <m:endChr m:val="|"/>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nary>
                  </m:oMath>
                </a14:m>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PSNR</m:t>
                    </m:r>
                    <m:r>
                      <a:rPr lang="uk-UA" sz="1200" kern="1200">
                        <a:solidFill>
                          <a:schemeClr val="tx1"/>
                        </a:solidFill>
                        <a:effectLst/>
                        <a:latin typeface="Cambria Math" panose="02040503050406030204" pitchFamily="18" charset="0"/>
                        <a:ea typeface="+mn-ea"/>
                        <a:cs typeface="+mn-cs"/>
                      </a:rPr>
                      <m:t>=10</m:t>
                    </m:r>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log</m:t>
                        </m:r>
                      </m:e>
                      <m:sub>
                        <m:r>
                          <a:rPr lang="uk-UA" sz="1200" kern="1200">
                            <a:solidFill>
                              <a:schemeClr val="tx1"/>
                            </a:solidFill>
                            <a:effectLst/>
                            <a:latin typeface="Cambria Math" panose="02040503050406030204" pitchFamily="18" charset="0"/>
                            <a:ea typeface="+mn-ea"/>
                            <a:cs typeface="+mn-cs"/>
                          </a:rPr>
                          <m:t>10</m:t>
                        </m:r>
                      </m:sub>
                    </m:sSub>
                    <m:d>
                      <m:dPr>
                        <m:ctrlPr>
                          <a:rPr lang="en-US" sz="1200" i="1" kern="1200">
                            <a:solidFill>
                              <a:schemeClr val="tx1"/>
                            </a:solidFill>
                            <a:effectLst/>
                            <a:latin typeface="Cambria Math" panose="02040503050406030204" pitchFamily="18" charset="0"/>
                            <a:ea typeface="+mn-ea"/>
                            <a:cs typeface="+mn-cs"/>
                          </a:rPr>
                        </m:ctrlPr>
                      </m:dPr>
                      <m:e>
                        <m:f>
                          <m:fPr>
                            <m:ctrlPr>
                              <a:rPr lang="en-US" sz="1200" i="1" kern="1200">
                                <a:solidFill>
                                  <a:schemeClr val="tx1"/>
                                </a:solidFill>
                                <a:effectLst/>
                                <a:latin typeface="Cambria Math" panose="02040503050406030204" pitchFamily="18" charset="0"/>
                                <a:ea typeface="+mn-ea"/>
                                <a:cs typeface="+mn-cs"/>
                              </a:rPr>
                            </m:ctrlPr>
                          </m:fPr>
                          <m:num>
                            <m:sSup>
                              <m:sSupPr>
                                <m:ctrlPr>
                                  <a:rPr lang="en-US" sz="1200" i="1" kern="1200">
                                    <a:solidFill>
                                      <a:schemeClr val="tx1"/>
                                    </a:solidFill>
                                    <a:effectLst/>
                                    <a:latin typeface="Cambria Math" panose="02040503050406030204" pitchFamily="18" charset="0"/>
                                    <a:ea typeface="+mn-ea"/>
                                    <a:cs typeface="+mn-cs"/>
                                  </a:rPr>
                                </m:ctrlPr>
                              </m:sSupPr>
                              <m:e>
                                <m:r>
                                  <m:rPr>
                                    <m:sty m:val="p"/>
                                  </m:rPr>
                                  <a:rPr lang="uk-UA" sz="1200" kern="1200">
                                    <a:solidFill>
                                      <a:schemeClr val="tx1"/>
                                    </a:solidFill>
                                    <a:effectLst/>
                                    <a:latin typeface="Cambria Math" panose="02040503050406030204" pitchFamily="18" charset="0"/>
                                    <a:ea typeface="+mn-ea"/>
                                    <a:cs typeface="+mn-cs"/>
                                  </a:rPr>
                                  <m:t>MAX</m:t>
                                </m:r>
                              </m:e>
                              <m:sup>
                                <m:r>
                                  <a:rPr lang="uk-UA" sz="1200" kern="1200">
                                    <a:solidFill>
                                      <a:schemeClr val="tx1"/>
                                    </a:solidFill>
                                    <a:effectLst/>
                                    <a:latin typeface="Cambria Math" panose="02040503050406030204" pitchFamily="18" charset="0"/>
                                    <a:ea typeface="+mn-ea"/>
                                    <a:cs typeface="+mn-cs"/>
                                  </a:rPr>
                                  <m:t>2</m:t>
                                </m:r>
                              </m:sup>
                            </m:sSup>
                          </m:num>
                          <m:den>
                            <m:r>
                              <m:rPr>
                                <m:sty m:val="p"/>
                              </m:rPr>
                              <a:rPr lang="uk-UA" sz="1200" kern="1200">
                                <a:solidFill>
                                  <a:schemeClr val="tx1"/>
                                </a:solidFill>
                                <a:effectLst/>
                                <a:latin typeface="Cambria Math" panose="02040503050406030204" pitchFamily="18" charset="0"/>
                                <a:ea typeface="+mn-ea"/>
                                <a:cs typeface="+mn-cs"/>
                              </a:rPr>
                              <m:t>MSE</m:t>
                            </m:r>
                          </m:den>
                        </m:f>
                      </m:e>
                    </m:d>
                  </m:oMath>
                </a14:m>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MSE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e>
                    </m:nary>
                  </m:oMath>
                </a14:m>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IoU</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m:rPr>
                            <m:sty m:val="p"/>
                          </m:rPr>
                          <a:rPr lang="uk-UA" sz="1200" kern="1200">
                            <a:solidFill>
                              <a:schemeClr val="tx1"/>
                            </a:solidFill>
                            <a:effectLst/>
                            <a:latin typeface="Cambria Math" panose="02040503050406030204" pitchFamily="18" charset="0"/>
                            <a:ea typeface="+mn-ea"/>
                            <a:cs typeface="+mn-cs"/>
                          </a:rPr>
                          <m:t>TP</m:t>
                        </m:r>
                      </m:num>
                      <m:den>
                        <m:r>
                          <m:rPr>
                            <m:sty m:val="p"/>
                          </m:rPr>
                          <a:rPr lang="uk-UA" sz="1200" kern="1200">
                            <a:solidFill>
                              <a:schemeClr val="tx1"/>
                            </a:solidFill>
                            <a:effectLst/>
                            <a:latin typeface="Cambria Math" panose="02040503050406030204" pitchFamily="18" charset="0"/>
                            <a:ea typeface="+mn-ea"/>
                            <a:cs typeface="+mn-cs"/>
                          </a:rPr>
                          <m:t>TP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FN</m:t>
                        </m:r>
                      </m:den>
                    </m:f>
                  </m:oMath>
                </a14:m>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Dice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2</m:t>
                        </m:r>
                        <m:r>
                          <m:rPr>
                            <m:sty m:val="p"/>
                          </m:rPr>
                          <a:rPr lang="uk-UA" sz="1200" kern="1200">
                            <a:solidFill>
                              <a:schemeClr val="tx1"/>
                            </a:solidFill>
                            <a:effectLst/>
                            <a:latin typeface="Cambria Math" panose="02040503050406030204" pitchFamily="18" charset="0"/>
                            <a:ea typeface="+mn-ea"/>
                            <a:cs typeface="+mn-cs"/>
                          </a:rPr>
                          <m:t>TP</m:t>
                        </m:r>
                      </m:num>
                      <m:den>
                        <m:r>
                          <a:rPr lang="uk-UA" sz="1200" kern="1200">
                            <a:solidFill>
                              <a:schemeClr val="tx1"/>
                            </a:solidFill>
                            <a:effectLst/>
                            <a:latin typeface="Cambria Math" panose="02040503050406030204" pitchFamily="18" charset="0"/>
                            <a:ea typeface="+mn-ea"/>
                            <a:cs typeface="+mn-cs"/>
                          </a:rPr>
                          <m:t>2</m:t>
                        </m:r>
                        <m:r>
                          <m:rPr>
                            <m:sty m:val="p"/>
                          </m:rPr>
                          <a:rPr lang="uk-UA" sz="1200" kern="1200">
                            <a:solidFill>
                              <a:schemeClr val="tx1"/>
                            </a:solidFill>
                            <a:effectLst/>
                            <a:latin typeface="Cambria Math" panose="02040503050406030204" pitchFamily="18" charset="0"/>
                            <a:ea typeface="+mn-ea"/>
                            <a:cs typeface="+mn-cs"/>
                          </a:rPr>
                          <m:t>TP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FN</m:t>
                        </m:r>
                      </m:den>
                    </m:f>
                  </m:oMath>
                </a14:m>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uk-UA"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a:r>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r>
                  <a:rPr lang="en-US" sz="1200" b="1"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 його значення </a:t>
                </a:r>
                <a:r>
                  <a:rPr lang="en-US" sz="1200" b="0" i="0" kern="1200" dirty="0">
                    <a:solidFill>
                      <a:schemeClr val="tx1"/>
                    </a:solidFill>
                    <a:effectLst/>
                    <a:latin typeface="+mn-lt"/>
                    <a:ea typeface="+mn-ea"/>
                    <a:cs typeface="+mn-cs"/>
                  </a:rPr>
                  <a:t>EPE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a:t>
                </a:r>
                <a:r>
                  <a:rPr lang="uk-UA" sz="1200" b="0" i="0" kern="1200" dirty="0">
                    <a:solidFill>
                      <a:schemeClr val="tx1"/>
                    </a:solidFill>
                    <a:effectLst/>
                    <a:latin typeface="+mn-lt"/>
                    <a:ea typeface="+mn-ea"/>
                    <a:cs typeface="+mn-cs"/>
                  </a:rPr>
                  <a:t>дорівнюють нулю.</a:t>
                </a:r>
              </a:p>
              <a:p>
                <a:r>
                  <a:rPr lang="en-US" sz="1200" b="1" i="0" kern="1200" dirty="0">
                    <a:solidFill>
                      <a:schemeClr val="tx1"/>
                    </a:solidFill>
                    <a:effectLst/>
                    <a:latin typeface="+mn-lt"/>
                    <a:ea typeface="+mn-ea"/>
                    <a:cs typeface="+mn-cs"/>
                  </a:rPr>
                  <a:t>Lucas-Kanade</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EPE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AAE 0,152 </a:t>
                </a:r>
                <a:r>
                  <a:rPr lang="uk-UA" sz="1200" b="0" i="0" kern="1200" dirty="0">
                    <a:solidFill>
                      <a:schemeClr val="tx1"/>
                    </a:solidFill>
                    <a:effectLst/>
                    <a:latin typeface="+mn-lt"/>
                    <a:ea typeface="+mn-ea"/>
                    <a:cs typeface="+mn-cs"/>
                  </a:rPr>
                  <a:t>радіана. Для об'єкта 0 цей метод дає значно меншу середню швидкість – лише 0,013 пікселя на кадр.</a:t>
                </a:r>
              </a:p>
              <a:p>
                <a:r>
                  <a:rPr lang="en-US" sz="1200" b="1" i="0" kern="1200" dirty="0">
                    <a:solidFill>
                      <a:schemeClr val="tx1"/>
                    </a:solidFill>
                    <a:effectLst/>
                    <a:latin typeface="+mn-lt"/>
                    <a:ea typeface="+mn-ea"/>
                    <a:cs typeface="+mn-cs"/>
                  </a:rPr>
                  <a:t>Horn-Schunck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забезпечує згладжене поле руху. Його похибки – </a:t>
                </a:r>
                <a:r>
                  <a:rPr lang="en-US" sz="1200" b="0" i="0" kern="1200" dirty="0">
                    <a:solidFill>
                      <a:schemeClr val="tx1"/>
                    </a:solidFill>
                    <a:effectLst/>
                    <a:latin typeface="+mn-lt"/>
                    <a:ea typeface="+mn-ea"/>
                    <a:cs typeface="+mn-cs"/>
                  </a:rPr>
                  <a:t>EPE 0,266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0,145.</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a:t>
                </a:r>
              </a:p>
              <a:p>
                <a:endParaRPr lang="en-US" dirty="0"/>
              </a:p>
              <a:p>
                <a:endParaRPr lang="en-US" dirty="0"/>
              </a:p>
              <a:p>
                <a:r>
                  <a:rPr lang="uk-UA" dirty="0"/>
                  <a:t>Порівняння методів оптичного потоку (табл.4.4)</a:t>
                </a:r>
              </a:p>
              <a:p>
                <a:r>
                  <a:rPr lang="uk-UA" dirty="0"/>
                  <a:t>Що казати:</a:t>
                </a:r>
              </a:p>
              <a:p>
                <a:r>
                  <a:rPr lang="uk-UA" dirty="0"/>
                  <a:t>«Таблиця 4.4 містить результати порівняльного аналізу методів оптичного потоку.</a:t>
                </a:r>
              </a:p>
              <a:p>
                <a:endParaRPr lang="uk-UA" dirty="0"/>
              </a:p>
              <a:p>
                <a:r>
                  <a:rPr lang="en-US" dirty="0" err="1"/>
                  <a:t>Farneback</a:t>
                </a:r>
                <a:r>
                  <a:rPr lang="en-US" dirty="0"/>
                  <a:t> </a:t>
                </a:r>
                <a:r>
                  <a:rPr lang="uk-UA" dirty="0"/>
                  <a:t>використано як базовий </a:t>
                </a:r>
                <a:r>
                  <a:rPr lang="uk-UA" dirty="0" err="1"/>
                  <a:t>референсний</a:t>
                </a:r>
                <a:r>
                  <a:rPr lang="uk-UA" dirty="0"/>
                  <a:t> потік, тому його значення </a:t>
                </a:r>
                <a:r>
                  <a:rPr lang="en-US" dirty="0"/>
                  <a:t>EPE </a:t>
                </a:r>
                <a:r>
                  <a:rPr lang="uk-UA" dirty="0"/>
                  <a:t>та </a:t>
                </a:r>
                <a:r>
                  <a:rPr lang="en-US" dirty="0"/>
                  <a:t>AAE </a:t>
                </a:r>
                <a:r>
                  <a:rPr lang="uk-UA" dirty="0"/>
                  <a:t>дорівнюють нулю.</a:t>
                </a:r>
              </a:p>
              <a:p>
                <a:endParaRPr lang="uk-UA" dirty="0"/>
              </a:p>
              <a:p>
                <a:r>
                  <a:rPr lang="en-US" dirty="0"/>
                  <a:t>Lucas-Kanade </a:t>
                </a:r>
                <a:r>
                  <a:rPr lang="uk-UA" dirty="0"/>
                  <a:t>формує розріджене поле за характерними точками. Відносно </a:t>
                </a:r>
                <a:r>
                  <a:rPr lang="uk-UA" dirty="0" err="1"/>
                  <a:t>референсу</a:t>
                </a:r>
                <a:r>
                  <a:rPr lang="uk-UA" dirty="0"/>
                  <a:t> він має </a:t>
                </a:r>
                <a:r>
                  <a:rPr lang="en-US" dirty="0"/>
                  <a:t>EPE 0,273 </a:t>
                </a:r>
                <a:r>
                  <a:rPr lang="uk-UA" dirty="0"/>
                  <a:t>пікселя та </a:t>
                </a:r>
                <a:r>
                  <a:rPr lang="en-US" dirty="0"/>
                  <a:t>AAE 0,152 </a:t>
                </a:r>
                <a:r>
                  <a:rPr lang="uk-UA" dirty="0"/>
                  <a:t>радіана. Для об'єкта 0 цей метод дає значно меншу середню швидкість – лише 0,013 пікселя на кадр замість 6,526.</a:t>
                </a:r>
              </a:p>
              <a:p>
                <a:endParaRPr lang="uk-UA" dirty="0"/>
              </a:p>
              <a:p>
                <a:r>
                  <a:rPr lang="en-US" dirty="0"/>
                  <a:t>Horn-Schunck </a:t>
                </a:r>
                <a:r>
                  <a:rPr lang="uk-UA" dirty="0"/>
                  <a:t>забезпечує згладжене поле руху з </a:t>
                </a:r>
                <a:r>
                  <a:rPr lang="uk-UA" dirty="0" err="1"/>
                  <a:t>регуляризацією</a:t>
                </a:r>
                <a:r>
                  <a:rPr lang="uk-UA" dirty="0"/>
                  <a:t>. Його похибки складають </a:t>
                </a:r>
                <a:r>
                  <a:rPr lang="en-US" dirty="0"/>
                  <a:t>EPE 0,266 </a:t>
                </a:r>
                <a:r>
                  <a:rPr lang="uk-UA" dirty="0"/>
                  <a:t>пікселя та </a:t>
                </a:r>
                <a:r>
                  <a:rPr lang="en-US" dirty="0"/>
                  <a:t>AAE 0,145 </a:t>
                </a:r>
                <a:r>
                  <a:rPr lang="uk-UA" dirty="0"/>
                  <a:t>радіана, а швидкість об'єкта 0 оцінено як 0,325 пікселя на кадр.</a:t>
                </a:r>
              </a:p>
              <a:p>
                <a:endParaRPr lang="uk-UA" dirty="0"/>
              </a:p>
              <a:p>
                <a:r>
                  <a:rPr lang="en-US" dirty="0" err="1"/>
                  <a:t>FlowNet</a:t>
                </a:r>
                <a:r>
                  <a:rPr lang="en-US" dirty="0"/>
                  <a:t> </a:t>
                </a:r>
                <a:r>
                  <a:rPr lang="uk-UA" dirty="0"/>
                  <a:t>та </a:t>
                </a:r>
                <a:r>
                  <a:rPr lang="en-US" dirty="0" err="1"/>
                  <a:t>GeoNet</a:t>
                </a:r>
                <a:r>
                  <a:rPr lang="en-US" dirty="0"/>
                  <a:t> </a:t>
                </a:r>
                <a:r>
                  <a:rPr lang="uk-UA" dirty="0"/>
                  <a:t>у цьому експерименті використано як проксі-оцінки через недоступність оригінальних моделей </a:t>
                </a:r>
                <a:r>
                  <a:rPr lang="en-US" dirty="0"/>
                  <a:t>RAFT. </a:t>
                </a:r>
                <a:r>
                  <a:rPr lang="uk-UA" dirty="0"/>
                  <a:t>Вони фактично повертають резервний варіант потоку на основі </a:t>
                </a:r>
                <a:r>
                  <a:rPr lang="en-US" dirty="0" err="1"/>
                  <a:t>Farneback</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uk-UA" dirty="0"/>
                  <a:t>Нульові значення </a:t>
                </a:r>
                <a:r>
                  <a:rPr lang="en-US" dirty="0"/>
                  <a:t>EPE </a:t>
                </a:r>
                <a:r>
                  <a:rPr lang="uk-UA" dirty="0"/>
                  <a:t>та </a:t>
                </a:r>
                <a:r>
                  <a:rPr lang="en-US" dirty="0"/>
                  <a:t>AAE </a:t>
                </a:r>
                <a:r>
                  <a:rPr lang="uk-UA" dirty="0"/>
                  <a:t>для цих методів не слід трактувати як абсолютну перевагу, це лише відображення того, що </a:t>
                </a:r>
                <a:r>
                  <a:rPr lang="en-US" dirty="0" err="1"/>
                  <a:t>Farneback</a:t>
                </a:r>
                <a:r>
                  <a:rPr lang="en-US" dirty="0"/>
                  <a:t> </a:t>
                </a:r>
                <a:r>
                  <a:rPr lang="uk-UA" dirty="0"/>
                  <a:t>було обрано </a:t>
                </a:r>
                <a:r>
                  <a:rPr lang="uk-UA" dirty="0" err="1"/>
                  <a:t>референсом</a:t>
                </a:r>
                <a:r>
                  <a:rPr lang="uk-UA" dirty="0"/>
                  <a:t> для цього конкретного запуску.»</a:t>
                </a:r>
                <a:r>
                  <a:rPr lang="uk-UA" sz="1200" kern="1200" dirty="0">
                    <a:solidFill>
                      <a:schemeClr val="tx1"/>
                    </a:solidFill>
                    <a:effectLst/>
                    <a:latin typeface="+mn-lt"/>
                    <a:ea typeface="+mn-ea"/>
                    <a:cs typeface="+mn-cs"/>
                  </a:rPr>
                  <a:t> 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dirty="0"/>
                  <a:t>Середня кутова похибка </a:t>
                </a:r>
                <a:r>
                  <a:rPr lang="en-US" dirty="0"/>
                  <a:t>AAE (Angular Average Error) </a:t>
                </a:r>
                <a:r>
                  <a:rPr lang="uk-UA" dirty="0"/>
                  <a:t>вимірює розбіжність між передбаченим та істинним векторами руху за напрямком і визначається за формулою</a:t>
                </a:r>
                <a:endParaRPr lang="en-US" dirty="0"/>
              </a:p>
            </p:txBody>
          </p:sp>
        </mc:Choice>
        <mc:Fallback xmlns="">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Тому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тобто середня кінцева похибка, та </a:t>
                </a:r>
                <a:r>
                  <a:rPr lang="en-US" sz="1200" b="0" i="0" kern="1200" dirty="0">
                    <a:solidFill>
                      <a:schemeClr val="tx1"/>
                    </a:solidFill>
                    <a:effectLst/>
                    <a:latin typeface="+mn-lt"/>
                    <a:ea typeface="+mn-ea"/>
                    <a:cs typeface="+mn-cs"/>
                  </a:rPr>
                  <a:t>Angular Average Error, </a:t>
                </a:r>
                <a:r>
                  <a:rPr lang="uk-UA" sz="1200" b="0" i="0" kern="1200" dirty="0">
                    <a:solidFill>
                      <a:schemeClr val="tx1"/>
                    </a:solidFill>
                    <a:effectLst/>
                    <a:latin typeface="+mn-lt"/>
                    <a:ea typeface="+mn-ea"/>
                    <a:cs typeface="+mn-cs"/>
                  </a:rPr>
                  <a:t>тобто середня кутова похибка, дорівнюють нулю.</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Лукаса-</a:t>
                </a:r>
                <a:r>
                  <a:rPr lang="uk-UA" sz="1200" b="0" i="0" kern="1200" dirty="0" err="1">
                    <a:solidFill>
                      <a:schemeClr val="tx1"/>
                    </a:solidFill>
                    <a:effectLst/>
                    <a:latin typeface="+mn-lt"/>
                    <a:ea typeface="+mn-ea"/>
                    <a:cs typeface="+mn-cs"/>
                  </a:rPr>
                  <a:t>Канаде</a:t>
                </a:r>
                <a:r>
                  <a:rPr lang="uk-UA" sz="1200" b="0" i="0" kern="1200" dirty="0">
                    <a:solidFill>
                      <a:schemeClr val="tx1"/>
                    </a:solidFill>
                    <a:effectLst/>
                    <a:latin typeface="+mn-lt"/>
                    <a:ea typeface="+mn-ea"/>
                    <a:cs typeface="+mn-cs"/>
                  </a:rPr>
                  <a:t> 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End-Point Error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Angular Average Error 0,152 </a:t>
                </a:r>
                <a:r>
                  <a:rPr lang="uk-UA" sz="1200" b="0" i="0" kern="1200" dirty="0">
                    <a:solidFill>
                      <a:schemeClr val="tx1"/>
                    </a:solidFill>
                    <a:effectLst/>
                    <a:latin typeface="+mn-lt"/>
                    <a:ea typeface="+mn-ea"/>
                    <a:cs typeface="+mn-cs"/>
                  </a:rPr>
                  <a:t>радіана. Для об'єкта з ідентифікатором нуль цей метод дає значно меншу середню швидкість – лише 0,013 пікселя на кадр.</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Горна-</a:t>
                </a:r>
                <a:r>
                  <a:rPr lang="uk-UA" sz="1200" b="0" i="0" kern="1200" dirty="0" err="1">
                    <a:solidFill>
                      <a:schemeClr val="tx1"/>
                    </a:solidFill>
                    <a:effectLst/>
                    <a:latin typeface="+mn-lt"/>
                    <a:ea typeface="+mn-ea"/>
                    <a:cs typeface="+mn-cs"/>
                  </a:rPr>
                  <a:t>Шунка</a:t>
                </a:r>
                <a:r>
                  <a:rPr lang="uk-UA" sz="1200" b="0" i="0" kern="1200" dirty="0">
                    <a:solidFill>
                      <a:schemeClr val="tx1"/>
                    </a:solidFill>
                    <a:effectLst/>
                    <a:latin typeface="+mn-lt"/>
                    <a:ea typeface="+mn-ea"/>
                    <a:cs typeface="+mn-cs"/>
                  </a:rPr>
                  <a:t> забезпечує згладжене поле руху.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становить 0,266 пікселя, а </a:t>
                </a:r>
                <a:r>
                  <a:rPr lang="en-US" sz="1200" b="0" i="0" kern="1200" dirty="0">
                    <a:solidFill>
                      <a:schemeClr val="tx1"/>
                    </a:solidFill>
                    <a:effectLst/>
                    <a:latin typeface="+mn-lt"/>
                    <a:ea typeface="+mn-ea"/>
                    <a:cs typeface="+mn-cs"/>
                  </a:rPr>
                  <a:t>Angular Average Error – 0,145 </a:t>
                </a:r>
                <a:r>
                  <a:rPr lang="uk-UA" sz="1200" b="0" i="0" kern="1200" dirty="0">
                    <a:solidFill>
                      <a:schemeClr val="tx1"/>
                    </a:solidFill>
                    <a:effectLst/>
                    <a:latin typeface="+mn-lt"/>
                    <a:ea typeface="+mn-ea"/>
                    <a:cs typeface="+mn-cs"/>
                  </a:rPr>
                  <a:t>радіана.</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ФлоуНет</a:t>
                </a:r>
                <a:r>
                  <a:rPr lang="uk-UA" sz="1200" b="0" i="0" kern="1200" dirty="0">
                    <a:solidFill>
                      <a:schemeClr val="tx1"/>
                    </a:solidFill>
                    <a:effectLst/>
                    <a:latin typeface="+mn-lt"/>
                    <a:ea typeface="+mn-ea"/>
                    <a:cs typeface="+mn-cs"/>
                  </a:rPr>
                  <a:t> та метод </a:t>
                </a:r>
                <a:r>
                  <a:rPr lang="uk-UA" sz="1200" b="0" i="0" kern="1200" dirty="0" err="1">
                    <a:solidFill>
                      <a:schemeClr val="tx1"/>
                    </a:solidFill>
                    <a:effectLst/>
                    <a:latin typeface="+mn-lt"/>
                    <a:ea typeface="+mn-ea"/>
                    <a:cs typeface="+mn-cs"/>
                  </a:rPr>
                  <a:t>ДжіоНет</a:t>
                </a:r>
                <a:r>
                  <a:rPr lang="uk-UA" sz="1200" b="0" i="0" kern="1200" dirty="0">
                    <a:solidFill>
                      <a:schemeClr val="tx1"/>
                    </a:solidFill>
                    <a:effectLst/>
                    <a:latin typeface="+mn-lt"/>
                    <a:ea typeface="+mn-ea"/>
                    <a:cs typeface="+mn-cs"/>
                  </a:rPr>
                  <a:t> 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методу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 для цього експерименту».</a:t>
                </a:r>
              </a:p>
              <a:p>
                <a:r>
                  <a:rPr lang="uk-UA"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EPE=1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 </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r>
                  <a:rPr lang="uk-UA" sz="1200" i="0" kern="1200">
                    <a:solidFill>
                      <a:schemeClr val="tx1"/>
                    </a:solidFill>
                    <a:effectLst/>
                    <a:latin typeface="Cambria Math" panose="02040503050406030204" pitchFamily="18" charset="0"/>
                    <a:ea typeface="+mn-ea"/>
                    <a:cs typeface="+mn-cs"/>
                  </a:rPr>
                  <a:t>𝑢</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𝑣</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r>
                  <a:rPr lang="uk-UA" sz="1200" i="0" kern="1200">
                    <a:solidFill>
                      <a:schemeClr val="tx1"/>
                    </a:solidFill>
                    <a:effectLst/>
                    <a:latin typeface="Cambria Math" panose="02040503050406030204" pitchFamily="18" charset="0"/>
                    <a:ea typeface="+mn-ea"/>
                    <a:cs typeface="+mn-cs"/>
                  </a:rPr>
                  <a:t>𝑢</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𝑖^𝑔𝑡</a:t>
                </a:r>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𝑣</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𝑖^𝑔𝑡</a:t>
                </a:r>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AAE=1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^N▒arccos</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a:t>
                </a:r>
                <a:r>
                  <a:rPr lang="en-US" sz="1200" i="0" kern="1200">
                    <a:solidFill>
                      <a:schemeClr val="tx1"/>
                    </a:solidFill>
                    <a:effectLst/>
                    <a:latin typeface="Cambria Math" panose="02040503050406030204" pitchFamily="18" charset="0"/>
                    <a:ea typeface="+mn-ea"/>
                    <a:cs typeface="+mn-cs"/>
                  </a:rPr>
                  <a:t> </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a:t>
                </a:r>
                <a:r>
                  <a:rPr lang="en-US" sz="1200" i="0" kern="1200">
                    <a:solidFill>
                      <a:schemeClr val="tx1"/>
                    </a:solidFill>
                    <a:effectLst/>
                    <a:latin typeface="Cambria Math" panose="02040503050406030204" pitchFamily="18" charset="0"/>
                    <a:ea typeface="+mn-ea"/>
                    <a:cs typeface="+mn-cs"/>
                  </a:rPr>
                  <a:t> </a:t>
                </a:r>
                <a:r>
                  <a:rPr lang="uk-UA" sz="1200" i="0" kern="1200">
                    <a:solidFill>
                      <a:schemeClr val="tx1"/>
                    </a:solidFill>
                    <a:effectLst/>
                    <a:latin typeface="Cambria Math" panose="02040503050406030204" pitchFamily="18" charset="0"/>
                    <a:ea typeface="+mn-ea"/>
                    <a:cs typeface="+mn-cs"/>
                  </a:rPr>
                  <a: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i^2+v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i^2+1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 </a:t>
                </a:r>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RMSE=</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 </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r>
                  <a:rPr lang="uk-UA" sz="1200" i="0" kern="1200">
                    <a:solidFill>
                      <a:schemeClr val="tx1"/>
                    </a:solidFill>
                    <a:effectLst/>
                    <a:latin typeface="Cambria Math" panose="02040503050406030204" pitchFamily="18" charset="0"/>
                    <a:ea typeface="+mn-ea"/>
                    <a:cs typeface="+mn-cs"/>
                  </a:rPr>
                  <a:t>𝐷</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 – передбачена глибина (відстань від камери до об'єкта) для </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r>
                  <a:rPr lang="uk-UA" sz="1200" i="0" kern="1200">
                    <a:solidFill>
                      <a:schemeClr val="tx1"/>
                    </a:solidFill>
                    <a:effectLst/>
                    <a:latin typeface="Cambria Math" panose="02040503050406030204" pitchFamily="18" charset="0"/>
                    <a:ea typeface="+mn-ea"/>
                    <a:cs typeface="+mn-cs"/>
                  </a:rPr>
                  <a:t>𝐷</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𝑖^𝑔𝑡</a:t>
                </a:r>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MAE=1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 </a:t>
                </a:r>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PSNR=10log</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10</a:t>
                </a:r>
                <a:r>
                  <a:rPr lang="en-US" sz="1200" i="0" kern="1200">
                    <a:solidFill>
                      <a:schemeClr val="tx1"/>
                    </a:solidFill>
                    <a:effectLst/>
                    <a:latin typeface="Cambria Math" panose="02040503050406030204" pitchFamily="18" charset="0"/>
                    <a:ea typeface="+mn-ea"/>
                    <a:cs typeface="+mn-cs"/>
                  </a:rPr>
                  <a:t> (</a:t>
                </a:r>
                <a:r>
                  <a:rPr lang="uk-UA" sz="1200" i="0" kern="1200">
                    <a:solidFill>
                      <a:schemeClr val="tx1"/>
                    </a:solidFill>
                    <a:effectLst/>
                    <a:latin typeface="Cambria Math" panose="02040503050406030204" pitchFamily="18" charset="0"/>
                    <a:ea typeface="+mn-ea"/>
                    <a:cs typeface="+mn-cs"/>
                  </a:rPr>
                  <a:t>MAX</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MSE)</a:t>
                </a:r>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MSE=1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 </a:t>
                </a:r>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IoU=TP</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TP+FP+FN</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Dice=2TP</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2TP+FP+FN</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uk-UA"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a:r>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r>
                  <a:rPr lang="en-US" sz="1200" b="1"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 його значення </a:t>
                </a:r>
                <a:r>
                  <a:rPr lang="en-US" sz="1200" b="0" i="0" kern="1200" dirty="0">
                    <a:solidFill>
                      <a:schemeClr val="tx1"/>
                    </a:solidFill>
                    <a:effectLst/>
                    <a:latin typeface="+mn-lt"/>
                    <a:ea typeface="+mn-ea"/>
                    <a:cs typeface="+mn-cs"/>
                  </a:rPr>
                  <a:t>EPE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a:t>
                </a:r>
                <a:r>
                  <a:rPr lang="uk-UA" sz="1200" b="0" i="0" kern="1200" dirty="0">
                    <a:solidFill>
                      <a:schemeClr val="tx1"/>
                    </a:solidFill>
                    <a:effectLst/>
                    <a:latin typeface="+mn-lt"/>
                    <a:ea typeface="+mn-ea"/>
                    <a:cs typeface="+mn-cs"/>
                  </a:rPr>
                  <a:t>дорівнюють нулю.</a:t>
                </a:r>
              </a:p>
              <a:p>
                <a:r>
                  <a:rPr lang="en-US" sz="1200" b="1" i="0" kern="1200" dirty="0">
                    <a:solidFill>
                      <a:schemeClr val="tx1"/>
                    </a:solidFill>
                    <a:effectLst/>
                    <a:latin typeface="+mn-lt"/>
                    <a:ea typeface="+mn-ea"/>
                    <a:cs typeface="+mn-cs"/>
                  </a:rPr>
                  <a:t>Lucas-Kanade</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EPE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AAE 0,152 </a:t>
                </a:r>
                <a:r>
                  <a:rPr lang="uk-UA" sz="1200" b="0" i="0" kern="1200" dirty="0">
                    <a:solidFill>
                      <a:schemeClr val="tx1"/>
                    </a:solidFill>
                    <a:effectLst/>
                    <a:latin typeface="+mn-lt"/>
                    <a:ea typeface="+mn-ea"/>
                    <a:cs typeface="+mn-cs"/>
                  </a:rPr>
                  <a:t>радіана. Для об'єкта 0 цей метод дає значно меншу середню швидкість – лише 0,013 пікселя на кадр.</a:t>
                </a:r>
              </a:p>
              <a:p>
                <a:r>
                  <a:rPr lang="en-US" sz="1200" b="1" i="0" kern="1200" dirty="0">
                    <a:solidFill>
                      <a:schemeClr val="tx1"/>
                    </a:solidFill>
                    <a:effectLst/>
                    <a:latin typeface="+mn-lt"/>
                    <a:ea typeface="+mn-ea"/>
                    <a:cs typeface="+mn-cs"/>
                  </a:rPr>
                  <a:t>Horn-Schunck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забезпечує згладжене поле руху. Його похибки – </a:t>
                </a:r>
                <a:r>
                  <a:rPr lang="en-US" sz="1200" b="0" i="0" kern="1200" dirty="0">
                    <a:solidFill>
                      <a:schemeClr val="tx1"/>
                    </a:solidFill>
                    <a:effectLst/>
                    <a:latin typeface="+mn-lt"/>
                    <a:ea typeface="+mn-ea"/>
                    <a:cs typeface="+mn-cs"/>
                  </a:rPr>
                  <a:t>EPE 0,266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0,145.</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a:t>
                </a:r>
              </a:p>
              <a:p>
                <a:endParaRPr lang="en-US" dirty="0"/>
              </a:p>
              <a:p>
                <a:endParaRPr lang="en-US" dirty="0"/>
              </a:p>
              <a:p>
                <a:r>
                  <a:rPr lang="uk-UA" dirty="0"/>
                  <a:t>Порівняння методів оптичного потоку (табл.4.4)</a:t>
                </a:r>
              </a:p>
              <a:p>
                <a:r>
                  <a:rPr lang="uk-UA" dirty="0"/>
                  <a:t>Що казати:</a:t>
                </a:r>
              </a:p>
              <a:p>
                <a:r>
                  <a:rPr lang="uk-UA" dirty="0"/>
                  <a:t>«Таблиця 4.4 містить результати порівняльного аналізу методів оптичного потоку.</a:t>
                </a:r>
              </a:p>
              <a:p>
                <a:endParaRPr lang="uk-UA" dirty="0"/>
              </a:p>
              <a:p>
                <a:r>
                  <a:rPr lang="en-US" dirty="0" err="1"/>
                  <a:t>Farneback</a:t>
                </a:r>
                <a:r>
                  <a:rPr lang="en-US" dirty="0"/>
                  <a:t> </a:t>
                </a:r>
                <a:r>
                  <a:rPr lang="uk-UA" dirty="0"/>
                  <a:t>використано як базовий </a:t>
                </a:r>
                <a:r>
                  <a:rPr lang="uk-UA" dirty="0" err="1"/>
                  <a:t>референсний</a:t>
                </a:r>
                <a:r>
                  <a:rPr lang="uk-UA" dirty="0"/>
                  <a:t> потік, тому його значення </a:t>
                </a:r>
                <a:r>
                  <a:rPr lang="en-US" dirty="0"/>
                  <a:t>EPE </a:t>
                </a:r>
                <a:r>
                  <a:rPr lang="uk-UA" dirty="0"/>
                  <a:t>та </a:t>
                </a:r>
                <a:r>
                  <a:rPr lang="en-US" dirty="0"/>
                  <a:t>AAE </a:t>
                </a:r>
                <a:r>
                  <a:rPr lang="uk-UA" dirty="0"/>
                  <a:t>дорівнюють нулю.</a:t>
                </a:r>
              </a:p>
              <a:p>
                <a:endParaRPr lang="uk-UA" dirty="0"/>
              </a:p>
              <a:p>
                <a:r>
                  <a:rPr lang="en-US" dirty="0"/>
                  <a:t>Lucas-Kanade </a:t>
                </a:r>
                <a:r>
                  <a:rPr lang="uk-UA" dirty="0"/>
                  <a:t>формує розріджене поле за характерними точками. Відносно </a:t>
                </a:r>
                <a:r>
                  <a:rPr lang="uk-UA" dirty="0" err="1"/>
                  <a:t>референсу</a:t>
                </a:r>
                <a:r>
                  <a:rPr lang="uk-UA" dirty="0"/>
                  <a:t> він має </a:t>
                </a:r>
                <a:r>
                  <a:rPr lang="en-US" dirty="0"/>
                  <a:t>EPE 0,273 </a:t>
                </a:r>
                <a:r>
                  <a:rPr lang="uk-UA" dirty="0"/>
                  <a:t>пікселя та </a:t>
                </a:r>
                <a:r>
                  <a:rPr lang="en-US" dirty="0"/>
                  <a:t>AAE 0,152 </a:t>
                </a:r>
                <a:r>
                  <a:rPr lang="uk-UA" dirty="0"/>
                  <a:t>радіана. Для об'єкта 0 цей метод дає значно меншу середню швидкість – лише 0,013 пікселя на кадр замість 6,526.</a:t>
                </a:r>
              </a:p>
              <a:p>
                <a:endParaRPr lang="uk-UA" dirty="0"/>
              </a:p>
              <a:p>
                <a:r>
                  <a:rPr lang="en-US" dirty="0"/>
                  <a:t>Horn-Schunck </a:t>
                </a:r>
                <a:r>
                  <a:rPr lang="uk-UA" dirty="0"/>
                  <a:t>забезпечує згладжене поле руху з </a:t>
                </a:r>
                <a:r>
                  <a:rPr lang="uk-UA" dirty="0" err="1"/>
                  <a:t>регуляризацією</a:t>
                </a:r>
                <a:r>
                  <a:rPr lang="uk-UA" dirty="0"/>
                  <a:t>. Його похибки складають </a:t>
                </a:r>
                <a:r>
                  <a:rPr lang="en-US" dirty="0"/>
                  <a:t>EPE 0,266 </a:t>
                </a:r>
                <a:r>
                  <a:rPr lang="uk-UA" dirty="0"/>
                  <a:t>пікселя та </a:t>
                </a:r>
                <a:r>
                  <a:rPr lang="en-US" dirty="0"/>
                  <a:t>AAE 0,145 </a:t>
                </a:r>
                <a:r>
                  <a:rPr lang="uk-UA" dirty="0"/>
                  <a:t>радіана, а швидкість об'єкта 0 оцінено як 0,325 пікселя на кадр.</a:t>
                </a:r>
              </a:p>
              <a:p>
                <a:endParaRPr lang="uk-UA" dirty="0"/>
              </a:p>
              <a:p>
                <a:r>
                  <a:rPr lang="en-US" dirty="0" err="1"/>
                  <a:t>FlowNet</a:t>
                </a:r>
                <a:r>
                  <a:rPr lang="en-US" dirty="0"/>
                  <a:t> </a:t>
                </a:r>
                <a:r>
                  <a:rPr lang="uk-UA" dirty="0"/>
                  <a:t>та </a:t>
                </a:r>
                <a:r>
                  <a:rPr lang="en-US" dirty="0" err="1"/>
                  <a:t>GeoNet</a:t>
                </a:r>
                <a:r>
                  <a:rPr lang="en-US" dirty="0"/>
                  <a:t> </a:t>
                </a:r>
                <a:r>
                  <a:rPr lang="uk-UA" dirty="0"/>
                  <a:t>у цьому експерименті використано як проксі-оцінки через недоступність оригінальних моделей </a:t>
                </a:r>
                <a:r>
                  <a:rPr lang="en-US" dirty="0"/>
                  <a:t>RAFT. </a:t>
                </a:r>
                <a:r>
                  <a:rPr lang="uk-UA" dirty="0"/>
                  <a:t>Вони фактично повертають резервний варіант потоку на основі </a:t>
                </a:r>
                <a:r>
                  <a:rPr lang="en-US" dirty="0" err="1"/>
                  <a:t>Farneback</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uk-UA" dirty="0"/>
                  <a:t>Нульові значення </a:t>
                </a:r>
                <a:r>
                  <a:rPr lang="en-US" dirty="0"/>
                  <a:t>EPE </a:t>
                </a:r>
                <a:r>
                  <a:rPr lang="uk-UA" dirty="0"/>
                  <a:t>та </a:t>
                </a:r>
                <a:r>
                  <a:rPr lang="en-US" dirty="0"/>
                  <a:t>AAE </a:t>
                </a:r>
                <a:r>
                  <a:rPr lang="uk-UA" dirty="0"/>
                  <a:t>для цих методів не слід трактувати як абсолютну перевагу, це лише відображення того, що </a:t>
                </a:r>
                <a:r>
                  <a:rPr lang="en-US" dirty="0" err="1"/>
                  <a:t>Farneback</a:t>
                </a:r>
                <a:r>
                  <a:rPr lang="en-US" dirty="0"/>
                  <a:t> </a:t>
                </a:r>
                <a:r>
                  <a:rPr lang="uk-UA" dirty="0"/>
                  <a:t>було обрано </a:t>
                </a:r>
                <a:r>
                  <a:rPr lang="uk-UA" dirty="0" err="1"/>
                  <a:t>референсом</a:t>
                </a:r>
                <a:r>
                  <a:rPr lang="uk-UA" dirty="0"/>
                  <a:t> для цього конкретного запуску.»</a:t>
                </a:r>
                <a:r>
                  <a:rPr lang="uk-UA" sz="1200" kern="1200" dirty="0">
                    <a:solidFill>
                      <a:schemeClr val="tx1"/>
                    </a:solidFill>
                    <a:effectLst/>
                    <a:latin typeface="+mn-lt"/>
                    <a:ea typeface="+mn-ea"/>
                    <a:cs typeface="+mn-cs"/>
                  </a:rPr>
                  <a:t> 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dirty="0"/>
                  <a:t>Середня кутова похибка </a:t>
                </a:r>
                <a:r>
                  <a:rPr lang="en-US" dirty="0"/>
                  <a:t>AAE (Angular Average Error) </a:t>
                </a:r>
                <a:r>
                  <a:rPr lang="uk-UA" dirty="0"/>
                  <a:t>вимірює розбіжність між передбаченим та істинним векторами руху за напрямком і визначається за формулою</a:t>
                </a:r>
                <a:endParaRPr lang="en-US" dirty="0"/>
              </a:p>
            </p:txBody>
          </p:sp>
        </mc:Fallback>
      </mc:AlternateContent>
      <p:sp>
        <p:nvSpPr>
          <p:cNvPr id="4" name="Місце для номера слайда 3"/>
          <p:cNvSpPr>
            <a:spLocks noGrp="1"/>
          </p:cNvSpPr>
          <p:nvPr>
            <p:ph type="sldNum" sz="quarter" idx="5"/>
          </p:nvPr>
        </p:nvSpPr>
        <p:spPr/>
        <p:txBody>
          <a:bodyPr/>
          <a:lstStyle/>
          <a:p>
            <a:fld id="{22D210FF-A65C-4C43-9EF1-FEAEFF91A41E}" type="slidenum">
              <a:rPr lang="en-US" smtClean="0"/>
              <a:t>23</a:t>
            </a:fld>
            <a:endParaRPr lang="en-US"/>
          </a:p>
        </p:txBody>
      </p:sp>
    </p:spTree>
    <p:extLst>
      <p:ext uri="{BB962C8B-B14F-4D97-AF65-F5344CB8AC3E}">
        <p14:creationId xmlns:p14="http://schemas.microsoft.com/office/powerpoint/2010/main" val="365915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Місце для нотаток 2"/>
              <p:cNvSpPr>
                <a:spLocks noGrp="1"/>
              </p:cNvSpPr>
              <p:nvPr>
                <p:ph type="body" idx="1"/>
              </p:nvPr>
            </p:nvSpPr>
            <p:spPr/>
            <p:txBody>
              <a:bodyPr/>
              <a:lstStyle/>
              <a:p>
                <a:r>
                  <a:rPr lang="uk-UA" dirty="0" err="1"/>
                  <a:t>аблиця</a:t>
                </a:r>
                <a:r>
                  <a:rPr lang="uk-UA" dirty="0"/>
                  <a:t> 4.5 містить результати порівняння методів оцінювання глибини. Модель </a:t>
                </a:r>
                <a:r>
                  <a:rPr lang="uk-UA" dirty="0" err="1"/>
                  <a:t>МіДаС</a:t>
                </a:r>
                <a:r>
                  <a:rPr lang="uk-UA" dirty="0"/>
                  <a:t> 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uk-UA" dirty="0" err="1"/>
                  <a:t>Бегінг</a:t>
                </a:r>
                <a:r>
                  <a:rPr lang="uk-UA" dirty="0"/>
                  <a:t>. Його </a:t>
                </a:r>
                <a:r>
                  <a:rPr lang="en-US" dirty="0"/>
                  <a:t>Root Mean Square Error, </a:t>
                </a:r>
                <a:r>
                  <a:rPr lang="uk-UA" dirty="0"/>
                  <a:t>тобто середньоквадратична похибка, становить 0,713. </a:t>
                </a:r>
                <a:r>
                  <a:rPr lang="en-US" dirty="0"/>
                  <a:t>Mean Absolute Error, </a:t>
                </a:r>
                <a:r>
                  <a:rPr lang="uk-UA" dirty="0"/>
                  <a:t>тобто середня абсолютна похибка, – 0,474. </a:t>
                </a:r>
                <a:r>
                  <a:rPr lang="en-US" dirty="0"/>
                  <a:t>Peak Signal-to-Noise Ratio, </a:t>
                </a:r>
                <a:r>
                  <a:rPr lang="uk-UA" dirty="0"/>
                  <a:t>тобто пікове відношення сигнал-шум, – 51,065 децибела. </a:t>
                </a:r>
                <a:r>
                  <a:rPr lang="en-US" dirty="0"/>
                  <a:t>Intersection over Union, </a:t>
                </a:r>
                <a:r>
                  <a:rPr lang="uk-UA" dirty="0"/>
                  <a:t>тобто перетин над об'єднанням, – 0,996. </a:t>
                </a:r>
                <a:r>
                  <a:rPr lang="en-US" dirty="0"/>
                  <a:t>Dice coefficient, </a:t>
                </a:r>
                <a:r>
                  <a:rPr lang="uk-UA" dirty="0"/>
                  <a:t>тобто коефіцієнт </a:t>
                </a:r>
                <a:r>
                  <a:rPr lang="uk-UA" dirty="0" err="1"/>
                  <a:t>Дайса</a:t>
                </a:r>
                <a:r>
                  <a:rPr lang="uk-UA" dirty="0"/>
                  <a:t>, – 0,998. Це підтверджує ефективність ансамблевого підходу для підвищення точності оцінювання глибини.</a:t>
                </a:r>
              </a:p>
              <a:p>
                <a:endParaRPr lang="uk-UA" dirty="0"/>
              </a:p>
              <a:p>
                <a:r>
                  <a:rPr lang="uk-UA" dirty="0"/>
                  <a:t>Модель </a:t>
                </a:r>
                <a:r>
                  <a:rPr lang="uk-UA" dirty="0" err="1"/>
                  <a:t>ДжіоНет</a:t>
                </a:r>
                <a:r>
                  <a:rPr lang="uk-UA" dirty="0"/>
                  <a:t>, використана як проксі, також показала високі результати: </a:t>
                </a:r>
                <a:r>
                  <a:rPr lang="en-US" dirty="0"/>
                  <a:t>Root Mean Square Error – 1,660, Mean Absolute Error – 0,977, Peak Signal-to-Noise Ratio – 43,727 </a:t>
                </a:r>
                <a:r>
                  <a:rPr lang="uk-UA" dirty="0"/>
                  <a:t>децибела, </a:t>
                </a:r>
                <a:r>
                  <a:rPr lang="en-US" dirty="0"/>
                  <a:t>Intersection over Union – 0,995, Dice coefficient – 0,997.</a:t>
                </a:r>
              </a:p>
              <a:p>
                <a:endParaRPr lang="en-US" dirty="0"/>
              </a:p>
              <a:p>
                <a:r>
                  <a:rPr lang="uk-UA" dirty="0"/>
                  <a:t>Модель </a:t>
                </a:r>
                <a:r>
                  <a:rPr lang="uk-UA" dirty="0" err="1"/>
                  <a:t>ДіПіТі</a:t>
                </a:r>
                <a:r>
                  <a:rPr lang="uk-UA" dirty="0"/>
                  <a:t> </a:t>
                </a:r>
                <a:r>
                  <a:rPr lang="uk-UA" dirty="0" err="1"/>
                  <a:t>Лардж</a:t>
                </a:r>
                <a:r>
                  <a:rPr lang="uk-UA" dirty="0"/>
                  <a:t> демонструє високу структурну узгодженість з </a:t>
                </a:r>
                <a:r>
                  <a:rPr lang="uk-UA" dirty="0" err="1"/>
                  <a:t>референсом</a:t>
                </a:r>
                <a:r>
                  <a:rPr lang="uk-UA" dirty="0"/>
                  <a:t> – </a:t>
                </a:r>
                <a:r>
                  <a:rPr lang="en-US" dirty="0"/>
                  <a:t>Intersection over Union 0,954 </a:t>
                </a:r>
                <a:r>
                  <a:rPr lang="uk-UA" dirty="0"/>
                  <a:t>та </a:t>
                </a:r>
                <a:r>
                  <a:rPr lang="en-US" dirty="0"/>
                  <a:t>Dice coefficient 0,976, </a:t>
                </a:r>
                <a:r>
                  <a:rPr lang="uk-UA" dirty="0"/>
                  <a:t>але має більшу амплітудну відмінність за </a:t>
                </a:r>
                <a:r>
                  <a:rPr lang="en-US" dirty="0"/>
                  <a:t>Root Mean Square Error </a:t>
                </a:r>
                <a:r>
                  <a:rPr lang="uk-UA" dirty="0"/>
                  <a:t>та </a:t>
                </a:r>
                <a:r>
                  <a:rPr lang="en-US" dirty="0"/>
                  <a:t>Mean Absolute Error – </a:t>
                </a:r>
                <a:r>
                  <a:rPr lang="uk-UA" dirty="0"/>
                  <a:t>відповідно 12,593 та 9,057.</a:t>
                </a:r>
              </a:p>
              <a:p>
                <a:endParaRPr lang="uk-UA" dirty="0"/>
              </a:p>
              <a:p>
                <a:r>
                  <a:rPr lang="uk-UA" dirty="0"/>
                  <a:t>Метод </a:t>
                </a:r>
                <a:r>
                  <a:rPr lang="uk-UA" dirty="0" err="1"/>
                  <a:t>Блур</a:t>
                </a:r>
                <a:r>
                  <a:rPr lang="uk-UA" dirty="0"/>
                  <a:t>, тобто оцінювання глибини через розмиття зображення, та метод Ґрадієнт, тобто оцінювання через обчислення градієнтів, які є простими базовими методами, показали незадовільні результати. Їх </a:t>
                </a:r>
                <a:r>
                  <a:rPr lang="en-US" dirty="0"/>
                  <a:t>Root Mean Square Error </a:t>
                </a:r>
                <a:r>
                  <a:rPr lang="uk-UA" dirty="0"/>
                  <a:t>становить 106 та 124 одиниці відповідно, </a:t>
                </a:r>
                <a:r>
                  <a:rPr lang="en-US" dirty="0"/>
                  <a:t>Mean Absolute Error – 95 </a:t>
                </a:r>
                <a:r>
                  <a:rPr lang="uk-UA" dirty="0"/>
                  <a:t>та 100 одиниць, </a:t>
                </a:r>
                <a:r>
                  <a:rPr lang="en-US" dirty="0"/>
                  <a:t>Peak Signal-to-Noise Ratio – </a:t>
                </a:r>
                <a:r>
                  <a:rPr lang="uk-UA" dirty="0"/>
                  <a:t>лише 7,6 та 6,2 децибела, </a:t>
                </a:r>
                <a:r>
                  <a:rPr lang="en-US" dirty="0"/>
                  <a:t>Intersection over Union – 0,117 </a:t>
                </a:r>
                <a:r>
                  <a:rPr lang="uk-UA" dirty="0"/>
                  <a:t>та 0,148, </a:t>
                </a:r>
                <a:r>
                  <a:rPr lang="en-US" dirty="0"/>
                  <a:t>Dice coefficient – 0,209 </a:t>
                </a:r>
                <a:r>
                  <a:rPr lang="uk-UA" dirty="0"/>
                  <a:t>та 0,257. 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uk-UA" dirty="0"/>
                  <a:t>Метод </a:t>
                </a:r>
                <a:r>
                  <a:rPr lang="uk-UA" dirty="0" err="1"/>
                  <a:t>Бустінг</a:t>
                </a:r>
                <a:r>
                  <a:rPr lang="uk-UA" dirty="0"/>
                  <a:t> дав проміжні результати: </a:t>
                </a:r>
                <a:r>
                  <a:rPr lang="en-US" dirty="0"/>
                  <a:t>Root Mean Square Error 5,088, Peak Signal-to-Noise Ratio 34,000 </a:t>
                </a:r>
                <a:r>
                  <a:rPr lang="uk-UA" dirty="0"/>
                  <a:t>децибела, </a:t>
                </a:r>
                <a:r>
                  <a:rPr lang="en-US" dirty="0"/>
                  <a:t>Intersection over Union 0,981».</a:t>
                </a:r>
              </a:p>
              <a:p>
                <a:endParaRPr lang="uk-UA" dirty="0"/>
              </a:p>
              <a:p>
                <a:r>
                  <a:rPr lang="uk-UA" dirty="0"/>
                  <a:t>---------------------------------------------------------------------------------------------</a:t>
                </a:r>
                <a:endParaRPr lang="en-US" dirty="0"/>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EPE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rad>
                          <m:radPr>
                            <m:degHide m:val="on"/>
                            <m:ctrlPr>
                              <a:rPr lang="en-US" sz="1200" i="1" kern="1200">
                                <a:solidFill>
                                  <a:schemeClr val="tx1"/>
                                </a:solidFill>
                                <a:effectLst/>
                                <a:latin typeface="Cambria Math" panose="02040503050406030204" pitchFamily="18" charset="0"/>
                                <a:ea typeface="+mn-ea"/>
                                <a:cs typeface="+mn-cs"/>
                              </a:rPr>
                            </m:ctrlPr>
                          </m:radPr>
                          <m:deg/>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r>
                              <a:rPr lang="uk-UA" sz="1200" kern="1200">
                                <a:solidFill>
                                  <a:schemeClr val="tx1"/>
                                </a:solidFill>
                                <a:effectLst/>
                                <a:latin typeface="Cambria Math" panose="02040503050406030204" pitchFamily="18" charset="0"/>
                                <a:ea typeface="+mn-ea"/>
                                <a:cs typeface="+mn-cs"/>
                              </a:rPr>
                              <m:t>+</m:t>
                            </m:r>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e>
                        </m:rad>
                      </m:e>
                    </m:nary>
                  </m:oMath>
                </a14:m>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uk-UA" sz="1200" i="1" kern="1200">
                            <a:solidFill>
                              <a:schemeClr val="tx1"/>
                            </a:solidFill>
                            <a:effectLst/>
                            <a:latin typeface="Cambria Math" panose="02040503050406030204" pitchFamily="18" charset="0"/>
                            <a:ea typeface="+mn-ea"/>
                            <a:cs typeface="+mn-cs"/>
                          </a:rPr>
                          <m:t>𝑢</m:t>
                        </m:r>
                      </m:e>
                      <m:sub>
                        <m:r>
                          <a:rPr lang="uk-UA" sz="1200" i="1" kern="1200">
                            <a:solidFill>
                              <a:schemeClr val="tx1"/>
                            </a:solidFill>
                            <a:effectLst/>
                            <a:latin typeface="Cambria Math" panose="02040503050406030204" pitchFamily="18" charset="0"/>
                            <a:ea typeface="+mn-ea"/>
                            <a:cs typeface="+mn-cs"/>
                          </a:rPr>
                          <m:t>𝑖</m:t>
                        </m:r>
                      </m:sub>
                    </m:sSub>
                  </m:oMath>
                </a14:m>
                <a:r>
                  <a:rPr lang="uk-UA" sz="1200" kern="1200" dirty="0">
                    <a:solidFill>
                      <a:schemeClr val="tx1"/>
                    </a:solidFill>
                    <a:effectLst/>
                    <a:latin typeface="+mn-lt"/>
                    <a:ea typeface="+mn-ea"/>
                    <a:cs typeface="+mn-cs"/>
                  </a:rPr>
                  <a:t>,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uk-UA" sz="1200" i="1" kern="1200">
                            <a:solidFill>
                              <a:schemeClr val="tx1"/>
                            </a:solidFill>
                            <a:effectLst/>
                            <a:latin typeface="Cambria Math" panose="02040503050406030204" pitchFamily="18" charset="0"/>
                            <a:ea typeface="+mn-ea"/>
                            <a:cs typeface="+mn-cs"/>
                          </a:rPr>
                          <m:t>𝑣</m:t>
                        </m:r>
                      </m:e>
                      <m:sub>
                        <m:r>
                          <a:rPr lang="uk-UA" sz="1200" i="1" kern="1200">
                            <a:solidFill>
                              <a:schemeClr val="tx1"/>
                            </a:solidFill>
                            <a:effectLst/>
                            <a:latin typeface="Cambria Math" panose="02040503050406030204" pitchFamily="18" charset="0"/>
                            <a:ea typeface="+mn-ea"/>
                            <a:cs typeface="+mn-cs"/>
                          </a:rPr>
                          <m:t>𝑖</m:t>
                        </m:r>
                      </m:sub>
                    </m:sSub>
                  </m:oMath>
                </a14:m>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14:m>
                  <m:oMath xmlns:m="http://schemas.openxmlformats.org/officeDocument/2006/math">
                    <m:sSubSup>
                      <m:sSubSupPr>
                        <m:ctrlPr>
                          <a:rPr lang="en-US" sz="1200" i="1" kern="1200">
                            <a:solidFill>
                              <a:schemeClr val="tx1"/>
                            </a:solidFill>
                            <a:effectLst/>
                            <a:latin typeface="Cambria Math" panose="02040503050406030204" pitchFamily="18" charset="0"/>
                            <a:ea typeface="+mn-ea"/>
                            <a:cs typeface="+mn-cs"/>
                          </a:rPr>
                        </m:ctrlPr>
                      </m:sSubSupPr>
                      <m:e>
                        <m:r>
                          <a:rPr lang="uk-UA" sz="1200" i="1" kern="1200">
                            <a:solidFill>
                              <a:schemeClr val="tx1"/>
                            </a:solidFill>
                            <a:effectLst/>
                            <a:latin typeface="Cambria Math" panose="02040503050406030204" pitchFamily="18" charset="0"/>
                            <a:ea typeface="+mn-ea"/>
                            <a:cs typeface="+mn-cs"/>
                          </a:rPr>
                          <m:t>𝑢</m:t>
                        </m:r>
                      </m:e>
                      <m:sub>
                        <m:r>
                          <a:rPr lang="uk-UA" sz="1200" i="1" kern="1200">
                            <a:solidFill>
                              <a:schemeClr val="tx1"/>
                            </a:solidFill>
                            <a:effectLst/>
                            <a:latin typeface="Cambria Math" panose="02040503050406030204" pitchFamily="18" charset="0"/>
                            <a:ea typeface="+mn-ea"/>
                            <a:cs typeface="+mn-cs"/>
                          </a:rPr>
                          <m:t>𝑖</m:t>
                        </m:r>
                      </m:sub>
                      <m:sup>
                        <m:r>
                          <a:rPr lang="uk-UA" sz="1200" i="1" kern="1200">
                            <a:solidFill>
                              <a:schemeClr val="tx1"/>
                            </a:solidFill>
                            <a:effectLst/>
                            <a:latin typeface="Cambria Math" panose="02040503050406030204" pitchFamily="18" charset="0"/>
                            <a:ea typeface="+mn-ea"/>
                            <a:cs typeface="+mn-cs"/>
                          </a:rPr>
                          <m:t>𝑔𝑡</m:t>
                        </m:r>
                      </m:sup>
                    </m:sSubSup>
                  </m:oMath>
                </a14:m>
                <a:r>
                  <a:rPr lang="uk-UA" sz="120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effectLst/>
                            <a:latin typeface="Cambria Math" panose="02040503050406030204" pitchFamily="18" charset="0"/>
                            <a:ea typeface="+mn-ea"/>
                            <a:cs typeface="+mn-cs"/>
                          </a:rPr>
                        </m:ctrlPr>
                      </m:sSubSupPr>
                      <m:e>
                        <m:r>
                          <a:rPr lang="uk-UA" sz="1200" i="1" kern="1200">
                            <a:solidFill>
                              <a:schemeClr val="tx1"/>
                            </a:solidFill>
                            <a:effectLst/>
                            <a:latin typeface="Cambria Math" panose="02040503050406030204" pitchFamily="18" charset="0"/>
                            <a:ea typeface="+mn-ea"/>
                            <a:cs typeface="+mn-cs"/>
                          </a:rPr>
                          <m:t>𝑣</m:t>
                        </m:r>
                      </m:e>
                      <m:sub>
                        <m:r>
                          <a:rPr lang="uk-UA" sz="1200" i="1" kern="1200">
                            <a:solidFill>
                              <a:schemeClr val="tx1"/>
                            </a:solidFill>
                            <a:effectLst/>
                            <a:latin typeface="Cambria Math" panose="02040503050406030204" pitchFamily="18" charset="0"/>
                            <a:ea typeface="+mn-ea"/>
                            <a:cs typeface="+mn-cs"/>
                          </a:rPr>
                          <m:t>𝑖</m:t>
                        </m:r>
                      </m:sub>
                      <m:sup>
                        <m:r>
                          <a:rPr lang="uk-UA" sz="1200" i="1" kern="1200">
                            <a:solidFill>
                              <a:schemeClr val="tx1"/>
                            </a:solidFill>
                            <a:effectLst/>
                            <a:latin typeface="Cambria Math" panose="02040503050406030204" pitchFamily="18" charset="0"/>
                            <a:ea typeface="+mn-ea"/>
                            <a:cs typeface="+mn-cs"/>
                          </a:rPr>
                          <m:t>𝑔𝑡</m:t>
                        </m:r>
                      </m:sup>
                    </m:sSubSup>
                  </m:oMath>
                </a14:m>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AAE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func>
                          <m:funcPr>
                            <m:ctrlPr>
                              <a:rPr lang="en-US" sz="1200" i="1" kern="1200">
                                <a:solidFill>
                                  <a:schemeClr val="tx1"/>
                                </a:solidFill>
                                <a:effectLst/>
                                <a:latin typeface="Cambria Math" panose="02040503050406030204" pitchFamily="18" charset="0"/>
                                <a:ea typeface="+mn-ea"/>
                                <a:cs typeface="+mn-cs"/>
                              </a:rPr>
                            </m:ctrlPr>
                          </m:funcPr>
                          <m:fName>
                            <m:r>
                              <m:rPr>
                                <m:sty m:val="p"/>
                              </m:rPr>
                              <a:rPr lang="uk-UA" sz="1200" kern="1200">
                                <a:solidFill>
                                  <a:schemeClr val="tx1"/>
                                </a:solidFill>
                                <a:effectLst/>
                                <a:latin typeface="Cambria Math" panose="02040503050406030204" pitchFamily="18" charset="0"/>
                                <a:ea typeface="+mn-ea"/>
                                <a:cs typeface="+mn-cs"/>
                              </a:rPr>
                              <m:t>arccos</m:t>
                            </m:r>
                          </m:fName>
                          <m:e>
                            <m:d>
                              <m:dPr>
                                <m:ctrlPr>
                                  <a:rPr lang="en-US" sz="1200" i="1" kern="1200">
                                    <a:solidFill>
                                      <a:schemeClr val="tx1"/>
                                    </a:solidFill>
                                    <a:effectLst/>
                                    <a:latin typeface="Cambria Math" panose="02040503050406030204" pitchFamily="18" charset="0"/>
                                    <a:ea typeface="+mn-ea"/>
                                    <a:cs typeface="+mn-cs"/>
                                  </a:rPr>
                                </m:ctrlPr>
                              </m:dPr>
                              <m:e>
                                <m:f>
                                  <m:fPr>
                                    <m:ctrlPr>
                                      <a:rPr lang="en-US" sz="1200" i="1" kern="1200">
                                        <a:solidFill>
                                          <a:schemeClr val="tx1"/>
                                        </a:solidFill>
                                        <a:effectLst/>
                                        <a:latin typeface="Cambria Math" panose="02040503050406030204" pitchFamily="18" charset="0"/>
                                        <a:ea typeface="+mn-ea"/>
                                        <a:cs typeface="+mn-cs"/>
                                      </a:rPr>
                                    </m:ctrlPr>
                                  </m:fPr>
                                  <m:num>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Sub>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r>
                                      <a:rPr lang="uk-UA" sz="1200"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Sub>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r>
                                      <a:rPr lang="uk-UA" sz="1200" kern="1200">
                                        <a:solidFill>
                                          <a:schemeClr val="tx1"/>
                                        </a:solidFill>
                                        <a:effectLst/>
                                        <a:latin typeface="Cambria Math" panose="02040503050406030204" pitchFamily="18" charset="0"/>
                                        <a:ea typeface="+mn-ea"/>
                                        <a:cs typeface="+mn-cs"/>
                                      </a:rPr>
                                      <m:t>+1</m:t>
                                    </m:r>
                                  </m:num>
                                  <m:den>
                                    <m:rad>
                                      <m:radPr>
                                        <m:degHide m:val="on"/>
                                        <m:ctrlPr>
                                          <a:rPr lang="en-US" sz="1200" i="1" kern="1200">
                                            <a:solidFill>
                                              <a:schemeClr val="tx1"/>
                                            </a:solidFill>
                                            <a:effectLst/>
                                            <a:latin typeface="Cambria Math" panose="02040503050406030204" pitchFamily="18" charset="0"/>
                                            <a:ea typeface="+mn-ea"/>
                                            <a:cs typeface="+mn-cs"/>
                                          </a:rPr>
                                        </m:ctrlPr>
                                      </m:radPr>
                                      <m:deg/>
                                      <m:e>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a:rPr lang="uk-UA" sz="1200" kern="1200">
                                                <a:solidFill>
                                                  <a:schemeClr val="tx1"/>
                                                </a:solidFill>
                                                <a:effectLst/>
                                                <a:latin typeface="Cambria Math" panose="02040503050406030204" pitchFamily="18" charset="0"/>
                                                <a:ea typeface="+mn-ea"/>
                                                <a:cs typeface="+mn-cs"/>
                                              </a:rPr>
                                              <m:t>2</m:t>
                                            </m:r>
                                          </m:sup>
                                        </m:sSubSup>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a:rPr lang="uk-UA" sz="1200" kern="1200">
                                                <a:solidFill>
                                                  <a:schemeClr val="tx1"/>
                                                </a:solidFill>
                                                <a:effectLst/>
                                                <a:latin typeface="Cambria Math" panose="02040503050406030204" pitchFamily="18" charset="0"/>
                                                <a:ea typeface="+mn-ea"/>
                                                <a:cs typeface="+mn-cs"/>
                                              </a:rPr>
                                              <m:t>2</m:t>
                                            </m:r>
                                          </m:sup>
                                        </m:sSubSup>
                                        <m:r>
                                          <a:rPr lang="uk-UA" sz="1200" kern="1200">
                                            <a:solidFill>
                                              <a:schemeClr val="tx1"/>
                                            </a:solidFill>
                                            <a:effectLst/>
                                            <a:latin typeface="Cambria Math" panose="02040503050406030204" pitchFamily="18" charset="0"/>
                                            <a:ea typeface="+mn-ea"/>
                                            <a:cs typeface="+mn-cs"/>
                                          </a:rPr>
                                          <m:t>+1</m:t>
                                        </m:r>
                                      </m:e>
                                    </m:rad>
                                    <m:r>
                                      <a:rPr lang="uk-UA" sz="1200" kern="1200">
                                        <a:solidFill>
                                          <a:schemeClr val="tx1"/>
                                        </a:solidFill>
                                        <a:effectLst/>
                                        <a:latin typeface="Cambria Math" panose="02040503050406030204" pitchFamily="18" charset="0"/>
                                        <a:ea typeface="+mn-ea"/>
                                        <a:cs typeface="+mn-cs"/>
                                      </a:rPr>
                                      <m:t>⋅</m:t>
                                    </m:r>
                                    <m:rad>
                                      <m:radPr>
                                        <m:degHide m:val="on"/>
                                        <m:ctrlPr>
                                          <a:rPr lang="en-US" sz="1200" i="1" kern="1200">
                                            <a:solidFill>
                                              <a:schemeClr val="tx1"/>
                                            </a:solidFill>
                                            <a:effectLst/>
                                            <a:latin typeface="Cambria Math" panose="02040503050406030204" pitchFamily="18" charset="0"/>
                                            <a:ea typeface="+mn-ea"/>
                                            <a:cs typeface="+mn-cs"/>
                                          </a:rPr>
                                        </m:ctrlPr>
                                      </m:radPr>
                                      <m:deg/>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u</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r>
                                          <a:rPr lang="uk-UA" sz="1200" kern="1200">
                                            <a:solidFill>
                                              <a:schemeClr val="tx1"/>
                                            </a:solidFill>
                                            <a:effectLst/>
                                            <a:latin typeface="Cambria Math" panose="02040503050406030204" pitchFamily="18" charset="0"/>
                                            <a:ea typeface="+mn-ea"/>
                                            <a:cs typeface="+mn-cs"/>
                                          </a:rPr>
                                          <m:t>+</m:t>
                                        </m:r>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v</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r>
                                          <a:rPr lang="uk-UA" sz="1200" kern="1200">
                                            <a:solidFill>
                                              <a:schemeClr val="tx1"/>
                                            </a:solidFill>
                                            <a:effectLst/>
                                            <a:latin typeface="Cambria Math" panose="02040503050406030204" pitchFamily="18" charset="0"/>
                                            <a:ea typeface="+mn-ea"/>
                                            <a:cs typeface="+mn-cs"/>
                                          </a:rPr>
                                          <m:t>+1</m:t>
                                        </m:r>
                                      </m:e>
                                    </m:rad>
                                  </m:den>
                                </m:f>
                              </m:e>
                            </m:d>
                          </m:e>
                        </m:func>
                      </m:e>
                    </m:nary>
                  </m:oMath>
                </a14:m>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RMSE</m:t>
                    </m:r>
                    <m:r>
                      <a:rPr lang="uk-UA" sz="1200" kern="1200">
                        <a:solidFill>
                          <a:schemeClr val="tx1"/>
                        </a:solidFill>
                        <a:effectLst/>
                        <a:latin typeface="Cambria Math" panose="02040503050406030204" pitchFamily="18" charset="0"/>
                        <a:ea typeface="+mn-ea"/>
                        <a:cs typeface="+mn-cs"/>
                      </a:rPr>
                      <m:t>=</m:t>
                    </m:r>
                    <m:rad>
                      <m:radPr>
                        <m:degHide m:val="on"/>
                        <m:ctrlPr>
                          <a:rPr lang="en-US" sz="1200" i="1" kern="1200">
                            <a:solidFill>
                              <a:schemeClr val="tx1"/>
                            </a:solidFill>
                            <a:effectLst/>
                            <a:latin typeface="Cambria Math" panose="02040503050406030204" pitchFamily="18" charset="0"/>
                            <a:ea typeface="+mn-ea"/>
                            <a:cs typeface="+mn-cs"/>
                          </a:rPr>
                        </m:ctrlPr>
                      </m:radPr>
                      <m:deg/>
                      <m:e>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e>
                        </m:nary>
                      </m:e>
                    </m:rad>
                  </m:oMath>
                </a14:m>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uk-UA" sz="1200" i="1" kern="1200">
                            <a:solidFill>
                              <a:schemeClr val="tx1"/>
                            </a:solidFill>
                            <a:effectLst/>
                            <a:latin typeface="Cambria Math" panose="02040503050406030204" pitchFamily="18" charset="0"/>
                            <a:ea typeface="+mn-ea"/>
                            <a:cs typeface="+mn-cs"/>
                          </a:rPr>
                          <m:t>𝐷</m:t>
                        </m:r>
                      </m:e>
                      <m:sub>
                        <m:r>
                          <a:rPr lang="uk-UA" sz="1200" i="1" kern="1200">
                            <a:solidFill>
                              <a:schemeClr val="tx1"/>
                            </a:solidFill>
                            <a:effectLst/>
                            <a:latin typeface="Cambria Math" panose="02040503050406030204" pitchFamily="18" charset="0"/>
                            <a:ea typeface="+mn-ea"/>
                            <a:cs typeface="+mn-cs"/>
                          </a:rPr>
                          <m:t>𝑖</m:t>
                        </m:r>
                      </m:sub>
                    </m:sSub>
                  </m:oMath>
                </a14:m>
                <a:r>
                  <a:rPr lang="uk-UA" sz="1200" kern="1200" dirty="0">
                    <a:solidFill>
                      <a:schemeClr val="tx1"/>
                    </a:solidFill>
                    <a:effectLst/>
                    <a:latin typeface="+mn-lt"/>
                    <a:ea typeface="+mn-ea"/>
                    <a:cs typeface="+mn-cs"/>
                  </a:rPr>
                  <a:t> – передбачена глибина (відстань від камери до об'єкта) для </a:t>
                </a:r>
                <a14:m>
                  <m:oMath xmlns:m="http://schemas.openxmlformats.org/officeDocument/2006/math">
                    <m:r>
                      <a:rPr lang="uk-UA" sz="1200" i="1" kern="1200">
                        <a:solidFill>
                          <a:schemeClr val="tx1"/>
                        </a:solidFill>
                        <a:effectLst/>
                        <a:latin typeface="Cambria Math" panose="02040503050406030204" pitchFamily="18" charset="0"/>
                        <a:ea typeface="+mn-ea"/>
                        <a:cs typeface="+mn-cs"/>
                      </a:rPr>
                      <m:t>𝑖</m:t>
                    </m:r>
                  </m:oMath>
                </a14:m>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14:m>
                  <m:oMath xmlns:m="http://schemas.openxmlformats.org/officeDocument/2006/math">
                    <m:sSubSup>
                      <m:sSubSupPr>
                        <m:ctrlPr>
                          <a:rPr lang="en-US" sz="1200" i="1" kern="1200">
                            <a:solidFill>
                              <a:schemeClr val="tx1"/>
                            </a:solidFill>
                            <a:effectLst/>
                            <a:latin typeface="Cambria Math" panose="02040503050406030204" pitchFamily="18" charset="0"/>
                            <a:ea typeface="+mn-ea"/>
                            <a:cs typeface="+mn-cs"/>
                          </a:rPr>
                        </m:ctrlPr>
                      </m:sSubSupPr>
                      <m:e>
                        <m:r>
                          <a:rPr lang="uk-UA" sz="1200" i="1" kern="1200">
                            <a:solidFill>
                              <a:schemeClr val="tx1"/>
                            </a:solidFill>
                            <a:effectLst/>
                            <a:latin typeface="Cambria Math" panose="02040503050406030204" pitchFamily="18" charset="0"/>
                            <a:ea typeface="+mn-ea"/>
                            <a:cs typeface="+mn-cs"/>
                          </a:rPr>
                          <m:t>𝐷</m:t>
                        </m:r>
                      </m:e>
                      <m:sub>
                        <m:r>
                          <a:rPr lang="uk-UA" sz="1200" i="1" kern="1200">
                            <a:solidFill>
                              <a:schemeClr val="tx1"/>
                            </a:solidFill>
                            <a:effectLst/>
                            <a:latin typeface="Cambria Math" panose="02040503050406030204" pitchFamily="18" charset="0"/>
                            <a:ea typeface="+mn-ea"/>
                            <a:cs typeface="+mn-cs"/>
                          </a:rPr>
                          <m:t>𝑖</m:t>
                        </m:r>
                      </m:sub>
                      <m:sup>
                        <m:r>
                          <a:rPr lang="uk-UA" sz="1200" i="1" kern="1200">
                            <a:solidFill>
                              <a:schemeClr val="tx1"/>
                            </a:solidFill>
                            <a:effectLst/>
                            <a:latin typeface="Cambria Math" panose="02040503050406030204" pitchFamily="18" charset="0"/>
                            <a:ea typeface="+mn-ea"/>
                            <a:cs typeface="+mn-cs"/>
                          </a:rPr>
                          <m:t>𝑔𝑡</m:t>
                        </m:r>
                      </m:sup>
                    </m:sSubSup>
                  </m:oMath>
                </a14:m>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MAE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d>
                          <m:dPr>
                            <m:begChr m:val="|"/>
                            <m:endChr m:val="|"/>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nary>
                  </m:oMath>
                </a14:m>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PSNR</m:t>
                    </m:r>
                    <m:r>
                      <a:rPr lang="uk-UA" sz="1200" kern="1200">
                        <a:solidFill>
                          <a:schemeClr val="tx1"/>
                        </a:solidFill>
                        <a:effectLst/>
                        <a:latin typeface="Cambria Math" panose="02040503050406030204" pitchFamily="18" charset="0"/>
                        <a:ea typeface="+mn-ea"/>
                        <a:cs typeface="+mn-cs"/>
                      </a:rPr>
                      <m:t>=10</m:t>
                    </m:r>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log</m:t>
                        </m:r>
                      </m:e>
                      <m:sub>
                        <m:r>
                          <a:rPr lang="uk-UA" sz="1200" kern="1200">
                            <a:solidFill>
                              <a:schemeClr val="tx1"/>
                            </a:solidFill>
                            <a:effectLst/>
                            <a:latin typeface="Cambria Math" panose="02040503050406030204" pitchFamily="18" charset="0"/>
                            <a:ea typeface="+mn-ea"/>
                            <a:cs typeface="+mn-cs"/>
                          </a:rPr>
                          <m:t>10</m:t>
                        </m:r>
                      </m:sub>
                    </m:sSub>
                    <m:d>
                      <m:dPr>
                        <m:ctrlPr>
                          <a:rPr lang="en-US" sz="1200" i="1" kern="1200">
                            <a:solidFill>
                              <a:schemeClr val="tx1"/>
                            </a:solidFill>
                            <a:effectLst/>
                            <a:latin typeface="Cambria Math" panose="02040503050406030204" pitchFamily="18" charset="0"/>
                            <a:ea typeface="+mn-ea"/>
                            <a:cs typeface="+mn-cs"/>
                          </a:rPr>
                        </m:ctrlPr>
                      </m:dPr>
                      <m:e>
                        <m:f>
                          <m:fPr>
                            <m:ctrlPr>
                              <a:rPr lang="en-US" sz="1200" i="1" kern="1200">
                                <a:solidFill>
                                  <a:schemeClr val="tx1"/>
                                </a:solidFill>
                                <a:effectLst/>
                                <a:latin typeface="Cambria Math" panose="02040503050406030204" pitchFamily="18" charset="0"/>
                                <a:ea typeface="+mn-ea"/>
                                <a:cs typeface="+mn-cs"/>
                              </a:rPr>
                            </m:ctrlPr>
                          </m:fPr>
                          <m:num>
                            <m:sSup>
                              <m:sSupPr>
                                <m:ctrlPr>
                                  <a:rPr lang="en-US" sz="1200" i="1" kern="1200">
                                    <a:solidFill>
                                      <a:schemeClr val="tx1"/>
                                    </a:solidFill>
                                    <a:effectLst/>
                                    <a:latin typeface="Cambria Math" panose="02040503050406030204" pitchFamily="18" charset="0"/>
                                    <a:ea typeface="+mn-ea"/>
                                    <a:cs typeface="+mn-cs"/>
                                  </a:rPr>
                                </m:ctrlPr>
                              </m:sSupPr>
                              <m:e>
                                <m:r>
                                  <m:rPr>
                                    <m:sty m:val="p"/>
                                  </m:rPr>
                                  <a:rPr lang="uk-UA" sz="1200" kern="1200">
                                    <a:solidFill>
                                      <a:schemeClr val="tx1"/>
                                    </a:solidFill>
                                    <a:effectLst/>
                                    <a:latin typeface="Cambria Math" panose="02040503050406030204" pitchFamily="18" charset="0"/>
                                    <a:ea typeface="+mn-ea"/>
                                    <a:cs typeface="+mn-cs"/>
                                  </a:rPr>
                                  <m:t>MAX</m:t>
                                </m:r>
                              </m:e>
                              <m:sup>
                                <m:r>
                                  <a:rPr lang="uk-UA" sz="1200" kern="1200">
                                    <a:solidFill>
                                      <a:schemeClr val="tx1"/>
                                    </a:solidFill>
                                    <a:effectLst/>
                                    <a:latin typeface="Cambria Math" panose="02040503050406030204" pitchFamily="18" charset="0"/>
                                    <a:ea typeface="+mn-ea"/>
                                    <a:cs typeface="+mn-cs"/>
                                  </a:rPr>
                                  <m:t>2</m:t>
                                </m:r>
                              </m:sup>
                            </m:sSup>
                          </m:num>
                          <m:den>
                            <m:r>
                              <m:rPr>
                                <m:sty m:val="p"/>
                              </m:rPr>
                              <a:rPr lang="uk-UA" sz="1200" kern="1200">
                                <a:solidFill>
                                  <a:schemeClr val="tx1"/>
                                </a:solidFill>
                                <a:effectLst/>
                                <a:latin typeface="Cambria Math" panose="02040503050406030204" pitchFamily="18" charset="0"/>
                                <a:ea typeface="+mn-ea"/>
                                <a:cs typeface="+mn-cs"/>
                              </a:rPr>
                              <m:t>MSE</m:t>
                            </m:r>
                          </m:den>
                        </m:f>
                      </m:e>
                    </m:d>
                  </m:oMath>
                </a14:m>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MSE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1</m:t>
                        </m:r>
                      </m:num>
                      <m:den>
                        <m:r>
                          <m:rPr>
                            <m:sty m:val="p"/>
                          </m:rPr>
                          <a:rPr lang="uk-UA" sz="1200" kern="1200">
                            <a:solidFill>
                              <a:schemeClr val="tx1"/>
                            </a:solidFill>
                            <a:effectLst/>
                            <a:latin typeface="Cambria Math" panose="02040503050406030204" pitchFamily="18" charset="0"/>
                            <a:ea typeface="+mn-ea"/>
                            <a:cs typeface="+mn-cs"/>
                          </a:rPr>
                          <m:t>N</m:t>
                        </m:r>
                      </m:den>
                    </m:f>
                    <m:nary>
                      <m:naryPr>
                        <m:chr m:val="∑"/>
                        <m:limLoc m:val="undOvr"/>
                        <m:ctrlPr>
                          <a:rPr lang="en-US" sz="1200" i="1" kern="1200">
                            <a:solidFill>
                              <a:schemeClr val="tx1"/>
                            </a:solidFill>
                            <a:effectLst/>
                            <a:latin typeface="Cambria Math" panose="02040503050406030204" pitchFamily="18" charset="0"/>
                            <a:ea typeface="+mn-ea"/>
                            <a:cs typeface="+mn-cs"/>
                          </a:rPr>
                        </m:ctrlPr>
                      </m:naryPr>
                      <m:sub>
                        <m:r>
                          <m:rPr>
                            <m:sty m:val="p"/>
                          </m:rPr>
                          <a:rPr lang="uk-UA" sz="1200" kern="1200">
                            <a:solidFill>
                              <a:schemeClr val="tx1"/>
                            </a:solidFill>
                            <a:effectLst/>
                            <a:latin typeface="Cambria Math" panose="02040503050406030204" pitchFamily="18" charset="0"/>
                            <a:ea typeface="+mn-ea"/>
                            <a:cs typeface="+mn-cs"/>
                          </a:rPr>
                          <m:t>i</m:t>
                        </m:r>
                        <m:r>
                          <a:rPr lang="uk-UA" sz="1200" kern="1200">
                            <a:solidFill>
                              <a:schemeClr val="tx1"/>
                            </a:solidFill>
                            <a:effectLst/>
                            <a:latin typeface="Cambria Math" panose="02040503050406030204" pitchFamily="18" charset="0"/>
                            <a:ea typeface="+mn-ea"/>
                            <a:cs typeface="+mn-cs"/>
                          </a:rPr>
                          <m:t>=1</m:t>
                        </m:r>
                      </m:sub>
                      <m:sup>
                        <m:r>
                          <m:rPr>
                            <m:sty m:val="p"/>
                          </m:rPr>
                          <a:rPr lang="uk-UA" sz="1200" kern="1200">
                            <a:solidFill>
                              <a:schemeClr val="tx1"/>
                            </a:solidFill>
                            <a:effectLst/>
                            <a:latin typeface="Cambria Math" panose="02040503050406030204" pitchFamily="18" charset="0"/>
                            <a:ea typeface="+mn-ea"/>
                            <a:cs typeface="+mn-cs"/>
                          </a:rPr>
                          <m:t>N</m:t>
                        </m:r>
                      </m:sup>
                      <m:e>
                        <m:sSup>
                          <m:sSupPr>
                            <m:ctrlPr>
                              <a:rPr lang="en-US" sz="1200" i="1" kern="1200">
                                <a:solidFill>
                                  <a:schemeClr val="tx1"/>
                                </a:solidFill>
                                <a:effectLst/>
                                <a:latin typeface="Cambria Math" panose="02040503050406030204" pitchFamily="18" charset="0"/>
                                <a:ea typeface="+mn-ea"/>
                                <a:cs typeface="+mn-cs"/>
                              </a:rPr>
                            </m:ctrlPr>
                          </m:sSupPr>
                          <m:e>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Sub>
                                <m:r>
                                  <a:rPr lang="uk-UA" sz="1200"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m:rPr>
                                        <m:sty m:val="p"/>
                                      </m:rPr>
                                      <a:rPr lang="uk-UA" sz="1200" kern="1200">
                                        <a:solidFill>
                                          <a:schemeClr val="tx1"/>
                                        </a:solidFill>
                                        <a:effectLst/>
                                        <a:latin typeface="Cambria Math" panose="02040503050406030204" pitchFamily="18" charset="0"/>
                                        <a:ea typeface="+mn-ea"/>
                                        <a:cs typeface="+mn-cs"/>
                                      </a:rPr>
                                      <m:t>D</m:t>
                                    </m:r>
                                  </m:e>
                                  <m:sub>
                                    <m:r>
                                      <m:rPr>
                                        <m:sty m:val="p"/>
                                      </m:rPr>
                                      <a:rPr lang="uk-UA" sz="1200" kern="1200">
                                        <a:solidFill>
                                          <a:schemeClr val="tx1"/>
                                        </a:solidFill>
                                        <a:effectLst/>
                                        <a:latin typeface="Cambria Math" panose="02040503050406030204" pitchFamily="18" charset="0"/>
                                        <a:ea typeface="+mn-ea"/>
                                        <a:cs typeface="+mn-cs"/>
                                      </a:rPr>
                                      <m:t>i</m:t>
                                    </m:r>
                                  </m:sub>
                                  <m:sup>
                                    <m:r>
                                      <m:rPr>
                                        <m:sty m:val="p"/>
                                      </m:rPr>
                                      <a:rPr lang="uk-UA" sz="1200" kern="1200">
                                        <a:solidFill>
                                          <a:schemeClr val="tx1"/>
                                        </a:solidFill>
                                        <a:effectLst/>
                                        <a:latin typeface="Cambria Math" panose="02040503050406030204" pitchFamily="18" charset="0"/>
                                        <a:ea typeface="+mn-ea"/>
                                        <a:cs typeface="+mn-cs"/>
                                      </a:rPr>
                                      <m:t>qt</m:t>
                                    </m:r>
                                  </m:sup>
                                </m:sSubSup>
                              </m:e>
                            </m:d>
                          </m:e>
                          <m:sup>
                            <m:r>
                              <a:rPr lang="uk-UA" sz="1200" kern="1200">
                                <a:solidFill>
                                  <a:schemeClr val="tx1"/>
                                </a:solidFill>
                                <a:effectLst/>
                                <a:latin typeface="Cambria Math" panose="02040503050406030204" pitchFamily="18" charset="0"/>
                                <a:ea typeface="+mn-ea"/>
                                <a:cs typeface="+mn-cs"/>
                              </a:rPr>
                              <m:t>2</m:t>
                            </m:r>
                          </m:sup>
                        </m:sSup>
                      </m:e>
                    </m:nary>
                  </m:oMath>
                </a14:m>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IoU</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m:rPr>
                            <m:sty m:val="p"/>
                          </m:rPr>
                          <a:rPr lang="uk-UA" sz="1200" kern="1200">
                            <a:solidFill>
                              <a:schemeClr val="tx1"/>
                            </a:solidFill>
                            <a:effectLst/>
                            <a:latin typeface="Cambria Math" panose="02040503050406030204" pitchFamily="18" charset="0"/>
                            <a:ea typeface="+mn-ea"/>
                            <a:cs typeface="+mn-cs"/>
                          </a:rPr>
                          <m:t>TP</m:t>
                        </m:r>
                      </m:num>
                      <m:den>
                        <m:r>
                          <m:rPr>
                            <m:sty m:val="p"/>
                          </m:rPr>
                          <a:rPr lang="uk-UA" sz="1200" kern="1200">
                            <a:solidFill>
                              <a:schemeClr val="tx1"/>
                            </a:solidFill>
                            <a:effectLst/>
                            <a:latin typeface="Cambria Math" panose="02040503050406030204" pitchFamily="18" charset="0"/>
                            <a:ea typeface="+mn-ea"/>
                            <a:cs typeface="+mn-cs"/>
                          </a:rPr>
                          <m:t>TP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FN</m:t>
                        </m:r>
                      </m:den>
                    </m:f>
                  </m:oMath>
                </a14:m>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Cambria Math" panose="02040503050406030204" pitchFamily="18" charset="0"/>
                        <a:ea typeface="+mn-ea"/>
                        <a:cs typeface="+mn-cs"/>
                      </a:rPr>
                      <m:t>Dice</m:t>
                    </m:r>
                    <m:r>
                      <a:rPr lang="uk-UA" sz="1200" kern="1200">
                        <a:solidFill>
                          <a:schemeClr val="tx1"/>
                        </a:solidFill>
                        <a:effectLst/>
                        <a:latin typeface="Cambria Math" panose="02040503050406030204" pitchFamily="18" charset="0"/>
                        <a:ea typeface="+mn-ea"/>
                        <a:cs typeface="+mn-cs"/>
                      </a:rPr>
                      <m:t>=</m:t>
                    </m:r>
                    <m:f>
                      <m:fPr>
                        <m:ctrlPr>
                          <a:rPr lang="en-US" sz="1200" i="1" kern="1200">
                            <a:solidFill>
                              <a:schemeClr val="tx1"/>
                            </a:solidFill>
                            <a:effectLst/>
                            <a:latin typeface="Cambria Math" panose="02040503050406030204" pitchFamily="18" charset="0"/>
                            <a:ea typeface="+mn-ea"/>
                            <a:cs typeface="+mn-cs"/>
                          </a:rPr>
                        </m:ctrlPr>
                      </m:fPr>
                      <m:num>
                        <m:r>
                          <a:rPr lang="uk-UA" sz="1200" kern="1200">
                            <a:solidFill>
                              <a:schemeClr val="tx1"/>
                            </a:solidFill>
                            <a:effectLst/>
                            <a:latin typeface="Cambria Math" panose="02040503050406030204" pitchFamily="18" charset="0"/>
                            <a:ea typeface="+mn-ea"/>
                            <a:cs typeface="+mn-cs"/>
                          </a:rPr>
                          <m:t>2</m:t>
                        </m:r>
                        <m:r>
                          <m:rPr>
                            <m:sty m:val="p"/>
                          </m:rPr>
                          <a:rPr lang="uk-UA" sz="1200" kern="1200">
                            <a:solidFill>
                              <a:schemeClr val="tx1"/>
                            </a:solidFill>
                            <a:effectLst/>
                            <a:latin typeface="Cambria Math" panose="02040503050406030204" pitchFamily="18" charset="0"/>
                            <a:ea typeface="+mn-ea"/>
                            <a:cs typeface="+mn-cs"/>
                          </a:rPr>
                          <m:t>TP</m:t>
                        </m:r>
                      </m:num>
                      <m:den>
                        <m:r>
                          <a:rPr lang="uk-UA" sz="1200" kern="1200">
                            <a:solidFill>
                              <a:schemeClr val="tx1"/>
                            </a:solidFill>
                            <a:effectLst/>
                            <a:latin typeface="Cambria Math" panose="02040503050406030204" pitchFamily="18" charset="0"/>
                            <a:ea typeface="+mn-ea"/>
                            <a:cs typeface="+mn-cs"/>
                          </a:rPr>
                          <m:t>2</m:t>
                        </m:r>
                        <m:r>
                          <m:rPr>
                            <m:sty m:val="p"/>
                          </m:rPr>
                          <a:rPr lang="uk-UA" sz="1200" kern="1200">
                            <a:solidFill>
                              <a:schemeClr val="tx1"/>
                            </a:solidFill>
                            <a:effectLst/>
                            <a:latin typeface="Cambria Math" panose="02040503050406030204" pitchFamily="18" charset="0"/>
                            <a:ea typeface="+mn-ea"/>
                            <a:cs typeface="+mn-cs"/>
                          </a:rPr>
                          <m:t>TP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FP</m:t>
                        </m:r>
                        <m:r>
                          <a:rPr lang="uk-UA" sz="1200" kern="1200">
                            <a:solidFill>
                              <a:schemeClr val="tx1"/>
                            </a:solidFill>
                            <a:effectLst/>
                            <a:latin typeface="Cambria Math" panose="02040503050406030204" pitchFamily="18" charset="0"/>
                            <a:ea typeface="+mn-ea"/>
                            <a:cs typeface="+mn-cs"/>
                          </a:rPr>
                          <m:t>+</m:t>
                        </m:r>
                        <m:r>
                          <m:rPr>
                            <m:sty m:val="p"/>
                          </m:rPr>
                          <a:rPr lang="uk-UA" sz="1200" kern="1200">
                            <a:solidFill>
                              <a:schemeClr val="tx1"/>
                            </a:solidFill>
                            <a:effectLst/>
                            <a:latin typeface="Cambria Math" panose="02040503050406030204" pitchFamily="18" charset="0"/>
                            <a:ea typeface="+mn-ea"/>
                            <a:cs typeface="+mn-cs"/>
                          </a:rPr>
                          <m:t>FN</m:t>
                        </m:r>
                      </m:den>
                    </m:f>
                  </m:oMath>
                </a14:m>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en-US" dirty="0"/>
              </a:p>
              <a:p>
                <a:r>
                  <a:rPr lang="en-US" dirty="0"/>
                  <a:t>-----------------------------------------------------------------------------------------------</a:t>
                </a:r>
                <a:endParaRPr lang="uk-UA" dirty="0"/>
              </a:p>
              <a:p>
                <a:r>
                  <a:rPr lang="uk-UA" dirty="0"/>
                  <a:t>Порівняння методів оцінювання глибини (табл.4.5)</a:t>
                </a:r>
              </a:p>
              <a:p>
                <a:r>
                  <a:rPr lang="uk-UA" dirty="0"/>
                  <a:t>Що казати:</a:t>
                </a:r>
              </a:p>
              <a:p>
                <a:r>
                  <a:rPr lang="uk-UA" dirty="0"/>
                  <a:t>«Таблиця 4.5 містить результати порівняння методів оцінювання глибини. </a:t>
                </a:r>
                <a:r>
                  <a:rPr lang="en-US" dirty="0" err="1"/>
                  <a:t>MiDaS</a:t>
                </a:r>
                <a:r>
                  <a:rPr lang="en-US" dirty="0"/>
                  <a:t> </a:t>
                </a:r>
                <a:r>
                  <a:rPr lang="uk-UA" dirty="0"/>
                  <a:t>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en-US" dirty="0"/>
                  <a:t>Bagging </a:t>
                </a:r>
                <a:r>
                  <a:rPr lang="uk-UA" dirty="0"/>
                  <a:t>з наступними показниками: </a:t>
                </a:r>
                <a:r>
                  <a:rPr lang="en-US" dirty="0"/>
                  <a:t>RMSE – 0,713, MAE – 0,474, PSNR – 51,065 </a:t>
                </a:r>
                <a:r>
                  <a:rPr lang="uk-UA" dirty="0"/>
                  <a:t>децибел, </a:t>
                </a:r>
                <a:r>
                  <a:rPr lang="en-US" dirty="0" err="1"/>
                  <a:t>IoU</a:t>
                </a:r>
                <a:r>
                  <a:rPr lang="en-US" dirty="0"/>
                  <a:t> – 0,996, Dice – 0,998. </a:t>
                </a:r>
                <a:r>
                  <a:rPr lang="uk-UA" dirty="0"/>
                  <a:t>Це підтверджує ефективність ансамблевого підходу для підвищення точності оцінювання глибини.</a:t>
                </a:r>
              </a:p>
              <a:p>
                <a:endParaRPr lang="uk-UA" dirty="0"/>
              </a:p>
              <a:p>
                <a:r>
                  <a:rPr lang="en-US" dirty="0" err="1"/>
                  <a:t>GeoNet</a:t>
                </a:r>
                <a:r>
                  <a:rPr lang="en-US" dirty="0"/>
                  <a:t>-</a:t>
                </a:r>
                <a:r>
                  <a:rPr lang="uk-UA" dirty="0"/>
                  <a:t>проксі також показав високі результати: </a:t>
                </a:r>
                <a:r>
                  <a:rPr lang="en-US" dirty="0"/>
                  <a:t>RMSE – 1,660, MAE – 0,977, PSNR – 43,727 </a:t>
                </a:r>
                <a:r>
                  <a:rPr lang="uk-UA" dirty="0"/>
                  <a:t>децибел, </a:t>
                </a:r>
                <a:r>
                  <a:rPr lang="en-US" dirty="0" err="1"/>
                  <a:t>IoU</a:t>
                </a:r>
                <a:r>
                  <a:rPr lang="en-US" dirty="0"/>
                  <a:t> – 0,995, Dice – 0,997.</a:t>
                </a:r>
              </a:p>
              <a:p>
                <a:endParaRPr lang="en-US" dirty="0"/>
              </a:p>
              <a:p>
                <a:r>
                  <a:rPr lang="en-US" dirty="0" err="1"/>
                  <a:t>DPT_Large</a:t>
                </a:r>
                <a:r>
                  <a:rPr lang="en-US" dirty="0"/>
                  <a:t> </a:t>
                </a:r>
                <a:r>
                  <a:rPr lang="uk-UA" dirty="0"/>
                  <a:t>демонструє високу структурну узгодженість з </a:t>
                </a:r>
                <a:r>
                  <a:rPr lang="uk-UA" dirty="0" err="1"/>
                  <a:t>референсом</a:t>
                </a:r>
                <a:r>
                  <a:rPr lang="uk-UA" dirty="0"/>
                  <a:t> – </a:t>
                </a:r>
                <a:r>
                  <a:rPr lang="en-US" dirty="0" err="1"/>
                  <a:t>IoU</a:t>
                </a:r>
                <a:r>
                  <a:rPr lang="en-US" dirty="0"/>
                  <a:t> 0,954 </a:t>
                </a:r>
                <a:r>
                  <a:rPr lang="uk-UA" dirty="0"/>
                  <a:t>та </a:t>
                </a:r>
                <a:r>
                  <a:rPr lang="en-US" dirty="0"/>
                  <a:t>Dice 0,976, </a:t>
                </a:r>
                <a:r>
                  <a:rPr lang="uk-UA" dirty="0"/>
                  <a:t>але має більшу амплітудну відмінність за </a:t>
                </a:r>
                <a:r>
                  <a:rPr lang="en-US" dirty="0"/>
                  <a:t>RMSE </a:t>
                </a:r>
                <a:r>
                  <a:rPr lang="uk-UA" dirty="0"/>
                  <a:t>та </a:t>
                </a:r>
                <a:r>
                  <a:rPr lang="en-US" dirty="0"/>
                  <a:t>MAE – 12,593 </a:t>
                </a:r>
                <a:r>
                  <a:rPr lang="uk-UA" dirty="0"/>
                  <a:t>та 9,057 відповідно.</a:t>
                </a:r>
              </a:p>
              <a:p>
                <a:endParaRPr lang="uk-UA" dirty="0"/>
              </a:p>
              <a:p>
                <a:r>
                  <a:rPr lang="uk-UA" dirty="0"/>
                  <a:t>Методи </a:t>
                </a:r>
                <a:r>
                  <a:rPr lang="en-US" dirty="0"/>
                  <a:t>Blur </a:t>
                </a:r>
                <a:r>
                  <a:rPr lang="uk-UA" dirty="0"/>
                  <a:t>та </a:t>
                </a:r>
                <a:r>
                  <a:rPr lang="en-US" dirty="0"/>
                  <a:t>Gradient, </a:t>
                </a:r>
                <a:r>
                  <a:rPr lang="uk-UA" dirty="0"/>
                  <a:t>які є простими базовими методами, показали незадовільні результати: великі значення </a:t>
                </a:r>
                <a:r>
                  <a:rPr lang="en-US" dirty="0"/>
                  <a:t>RMSE </a:t>
                </a:r>
                <a:r>
                  <a:rPr lang="uk-UA" dirty="0"/>
                  <a:t>та </a:t>
                </a:r>
                <a:r>
                  <a:rPr lang="en-US" dirty="0"/>
                  <a:t>MAE, </a:t>
                </a:r>
                <a:r>
                  <a:rPr lang="uk-UA" dirty="0"/>
                  <a:t>низькі </a:t>
                </a:r>
                <a:r>
                  <a:rPr lang="en-US" dirty="0"/>
                  <a:t>PSNR, </a:t>
                </a:r>
                <a:r>
                  <a:rPr lang="en-US" dirty="0" err="1"/>
                  <a:t>IoU</a:t>
                </a:r>
                <a:r>
                  <a:rPr lang="en-US" dirty="0"/>
                  <a:t> </a:t>
                </a:r>
                <a:r>
                  <a:rPr lang="uk-UA" dirty="0"/>
                  <a:t>та </a:t>
                </a:r>
                <a:r>
                  <a:rPr lang="en-US" dirty="0"/>
                  <a:t>Dice. </a:t>
                </a:r>
                <a:r>
                  <a:rPr lang="uk-UA" dirty="0"/>
                  <a:t>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en-US" dirty="0"/>
                  <a:t>Boosting </a:t>
                </a:r>
                <a:r>
                  <a:rPr lang="uk-UA" dirty="0"/>
                  <a:t>дав проміжні результати: </a:t>
                </a:r>
                <a:r>
                  <a:rPr lang="en-US" dirty="0"/>
                  <a:t>RMSE 5,088, PSNR 34,000 </a:t>
                </a:r>
                <a:r>
                  <a:rPr lang="uk-UA" dirty="0"/>
                  <a:t>децибел, </a:t>
                </a:r>
                <a:r>
                  <a:rPr lang="en-US" dirty="0" err="1"/>
                  <a:t>IoU</a:t>
                </a:r>
                <a:r>
                  <a:rPr lang="en-US" dirty="0"/>
                  <a:t> 0,981.»</a:t>
                </a:r>
                <a:r>
                  <a:rPr lang="uk-UA" dirty="0"/>
                  <a:t> Середньоквадратична похибка </a:t>
                </a:r>
                <a:r>
                  <a:rPr lang="en-US" dirty="0"/>
                  <a:t>RMSE (Root Mean Square Error) </a:t>
                </a:r>
                <a:r>
                  <a:rPr lang="uk-UA" dirty="0"/>
                  <a:t>є стандартною метрикою для оцінки точності відновлення глибини сцени та обчислюється за </a:t>
                </a:r>
                <a:r>
                  <a:rPr lang="uk-UA" dirty="0" err="1"/>
                  <a:t>формулоюПікове</a:t>
                </a:r>
                <a:r>
                  <a:rPr lang="uk-UA" dirty="0"/>
                  <a:t> відношення сигнал/шум </a:t>
                </a:r>
                <a:r>
                  <a:rPr lang="en-US" dirty="0"/>
                  <a:t>PSNR (Peak Signal-to-Noise Ratio) </a:t>
                </a:r>
                <a:r>
                  <a:rPr lang="uk-UA" dirty="0"/>
                  <a:t>використовується для оцінки якості відновлення карти глибини як зображення та визначається за формулою (4.21)</a:t>
                </a:r>
                <a:r>
                  <a:rPr lang="en-US" dirty="0"/>
                  <a:t> PSNR </a:t>
                </a:r>
                <a:r>
                  <a:rPr lang="uk-UA" dirty="0"/>
                  <a:t>вимірюється в децибелах (</a:t>
                </a:r>
                <a:r>
                  <a:rPr lang="uk-UA" dirty="0" err="1"/>
                  <a:t>дБ</a:t>
                </a:r>
                <a:r>
                  <a:rPr lang="uk-UA" dirty="0"/>
                  <a:t>) і є логарифмічною мірою відношення максимально можливої потужності сигналу до потужності шуму, що спотворює сигнал. Інтерпретація </a:t>
                </a:r>
                <a:r>
                  <a:rPr lang="en-US" dirty="0"/>
                  <a:t>PSNR </a:t>
                </a:r>
                <a:r>
                  <a:rPr lang="uk-UA" dirty="0"/>
                  <a:t>є наступною: чим вище значення, тим менші спотворення вносить алгоритм. Значення </a:t>
                </a:r>
                <a:r>
                  <a:rPr lang="en-US" dirty="0"/>
                  <a:t>PSNR </a:t>
                </a:r>
                <a:r>
                  <a:rPr lang="uk-UA" dirty="0"/>
                  <a:t>вище 30 </a:t>
                </a:r>
                <a:r>
                  <a:rPr lang="uk-UA" dirty="0" err="1"/>
                  <a:t>дБ</a:t>
                </a:r>
                <a:r>
                  <a:rPr lang="uk-UA" dirty="0"/>
                  <a:t> свідчить про високу якість відновлення глибинної карти, при цьому спотворення практично непомітні для подальших алгоритмів аналізу. Значення </a:t>
                </a:r>
                <a:r>
                  <a:rPr lang="en-US" dirty="0"/>
                  <a:t>PSNR </a:t>
                </a:r>
                <a:r>
                  <a:rPr lang="uk-UA" dirty="0"/>
                  <a:t>вище 40 </a:t>
                </a:r>
                <a:r>
                  <a:rPr lang="uk-UA" dirty="0" err="1"/>
                  <a:t>дБ</a:t>
                </a:r>
                <a:r>
                  <a:rPr lang="uk-UA" dirty="0"/>
                  <a:t> вважається відмінним, оскільки відповідає майже ідеальному відновленню.</a:t>
                </a:r>
              </a:p>
              <a:p>
                <a:r>
                  <a:rPr lang="en-US" dirty="0"/>
                  <a:t>Intersection over Union (</a:t>
                </a:r>
                <a:r>
                  <a:rPr lang="en-US" dirty="0" err="1"/>
                  <a:t>IoU</a:t>
                </a:r>
                <a:r>
                  <a:rPr lang="en-US" dirty="0"/>
                  <a:t>) </a:t>
                </a:r>
                <a:r>
                  <a:rPr lang="uk-UA" dirty="0"/>
                  <a:t>є стандартною метрикою для оцінки точності сегментації об'єктів у комп'ютерному зорі та задається формулою (4.23):</a:t>
                </a:r>
              </a:p>
              <a:p>
                <a:r>
                  <a:rPr lang="uk-UA" dirty="0"/>
                  <a:t>	</a:t>
                </a:r>
                <a:r>
                  <a:rPr lang="en-US" dirty="0" err="1"/>
                  <a:t>IoU</a:t>
                </a:r>
                <a:r>
                  <a:rPr lang="en-US" dirty="0"/>
                  <a:t>=TP/(TP+FP+FN),	(4.45)</a:t>
                </a:r>
              </a:p>
              <a:p>
                <a:r>
                  <a:rPr lang="uk-UA" dirty="0"/>
                  <a:t>де </a:t>
                </a:r>
                <a:r>
                  <a:rPr lang="en-US" dirty="0"/>
                  <a:t>TP (True Positive) – </a:t>
                </a:r>
                <a:r>
                  <a:rPr lang="uk-UA" dirty="0"/>
                  <a:t>кількість пікселів, правильно віднесених до об'єкта (істинно позитивні); </a:t>
                </a:r>
                <a:r>
                  <a:rPr lang="en-US" dirty="0"/>
                  <a:t>FP (False Positive) – </a:t>
                </a:r>
                <a:r>
                  <a:rPr lang="uk-UA" dirty="0"/>
                  <a:t>кількість пікселів, хибно віднесених до об'єкта (хибно позитивні, помилкові спрацювання); </a:t>
                </a:r>
                <a:r>
                  <a:rPr lang="en-US" dirty="0"/>
                  <a:t>FN (False Negative) – </a:t>
                </a:r>
                <a:r>
                  <a:rPr lang="uk-UA" dirty="0"/>
                  <a:t>кількість пікселів об'єкта, які модель пропустила (хибно негативні). </a:t>
                </a:r>
              </a:p>
              <a:p>
                <a:r>
                  <a:rPr lang="uk-UA" dirty="0"/>
                  <a:t>Геометричний зміст </a:t>
                </a:r>
                <a:r>
                  <a:rPr lang="en-US" dirty="0" err="1"/>
                  <a:t>IoU</a:t>
                </a:r>
                <a:r>
                  <a:rPr lang="en-US" dirty="0"/>
                  <a:t> – </a:t>
                </a:r>
                <a:r>
                  <a:rPr lang="uk-UA" dirty="0"/>
                  <a:t>це відношення площі перетину передбаченої та істинної масок об'єкта до площі їх об'єднання. </a:t>
                </a:r>
                <a:r>
                  <a:rPr lang="en-US" dirty="0" err="1"/>
                  <a:t>IoU</a:t>
                </a:r>
                <a:r>
                  <a:rPr lang="en-US" dirty="0"/>
                  <a:t> </a:t>
                </a:r>
                <a:r>
                  <a:rPr lang="uk-UA" dirty="0"/>
                  <a:t>приймає значення від 0 (повна невідповідність) до 1 (ідеальний збіг). У практичних задачах значення </a:t>
                </a:r>
                <a:r>
                  <a:rPr lang="en-US" dirty="0" err="1"/>
                  <a:t>IoU</a:t>
                </a:r>
                <a:r>
                  <a:rPr lang="en-US" dirty="0"/>
                  <a:t> </a:t>
                </a:r>
                <a:r>
                  <a:rPr lang="uk-UA" dirty="0"/>
                  <a:t>вище 0.7 вважається хорошим результатом, вище 0.8 – дуже хорошим, а вище 0.9 – відмінним.</a:t>
                </a:r>
              </a:p>
              <a:p>
                <a:r>
                  <a:rPr lang="uk-UA" dirty="0"/>
                  <a:t>Коефіцієнт </a:t>
                </a:r>
                <a:r>
                  <a:rPr lang="uk-UA" dirty="0" err="1"/>
                  <a:t>Дайса</a:t>
                </a:r>
                <a:r>
                  <a:rPr lang="uk-UA" dirty="0"/>
                  <a:t> (</a:t>
                </a:r>
                <a:r>
                  <a:rPr lang="en-US" dirty="0"/>
                  <a:t>Dice) </a:t>
                </a:r>
                <a:r>
                  <a:rPr lang="uk-UA" dirty="0"/>
                  <a:t>є альтернативною метрикою якості сегментації, тісно пов'язаною з </a:t>
                </a:r>
                <a:r>
                  <a:rPr lang="en-US" dirty="0" err="1"/>
                  <a:t>IoU</a:t>
                </a:r>
                <a:r>
                  <a:rPr lang="en-US" dirty="0"/>
                  <a:t>, </a:t>
                </a:r>
                <a:r>
                  <a:rPr lang="uk-UA" dirty="0"/>
                  <a:t>і визначається за формулою </a:t>
                </a:r>
                <a:fld id="{84CC6CB3-BEB6-463D-98C0-0BD5528F190C}" type="slidenum">
                  <a:rPr lang="uk-UA" smtClean="0"/>
                  <a:t>24</a:t>
                </a:fld>
                <a:fld id="{FB321136-7EE8-4EE3-B66F-01D4B3AC101B}" type="slidenum">
                  <a:rPr lang="uk-UA" smtClean="0"/>
                  <a:t>24</a:t>
                </a:fld>
                <a:endParaRPr lang="en-US" dirty="0"/>
              </a:p>
            </p:txBody>
          </p:sp>
        </mc:Choice>
        <mc:Fallback xmlns="">
          <p:sp>
            <p:nvSpPr>
              <p:cNvPr id="3" name="Місце для нотаток 2"/>
              <p:cNvSpPr>
                <a:spLocks noGrp="1"/>
              </p:cNvSpPr>
              <p:nvPr>
                <p:ph type="body" idx="1"/>
              </p:nvPr>
            </p:nvSpPr>
            <p:spPr/>
            <p:txBody>
              <a:bodyPr/>
              <a:lstStyle/>
              <a:p>
                <a:r>
                  <a:rPr lang="uk-UA" dirty="0" err="1"/>
                  <a:t>аблиця</a:t>
                </a:r>
                <a:r>
                  <a:rPr lang="uk-UA" dirty="0"/>
                  <a:t> 4.5 містить результати порівняння методів оцінювання глибини. Модель </a:t>
                </a:r>
                <a:r>
                  <a:rPr lang="uk-UA" dirty="0" err="1"/>
                  <a:t>МіДаС</a:t>
                </a:r>
                <a:r>
                  <a:rPr lang="uk-UA" dirty="0"/>
                  <a:t> 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uk-UA" dirty="0" err="1"/>
                  <a:t>Бегінг</a:t>
                </a:r>
                <a:r>
                  <a:rPr lang="uk-UA" dirty="0"/>
                  <a:t>. Його </a:t>
                </a:r>
                <a:r>
                  <a:rPr lang="en-US" dirty="0"/>
                  <a:t>Root Mean Square Error, </a:t>
                </a:r>
                <a:r>
                  <a:rPr lang="uk-UA" dirty="0"/>
                  <a:t>тобто середньоквадратична похибка, становить 0,713. </a:t>
                </a:r>
                <a:r>
                  <a:rPr lang="en-US" dirty="0"/>
                  <a:t>Mean Absolute Error, </a:t>
                </a:r>
                <a:r>
                  <a:rPr lang="uk-UA" dirty="0"/>
                  <a:t>тобто середня абсолютна похибка, – 0,474. </a:t>
                </a:r>
                <a:r>
                  <a:rPr lang="en-US" dirty="0"/>
                  <a:t>Peak Signal-to-Noise Ratio, </a:t>
                </a:r>
                <a:r>
                  <a:rPr lang="uk-UA" dirty="0"/>
                  <a:t>тобто пікове відношення сигнал-шум, – 51,065 децибела. </a:t>
                </a:r>
                <a:r>
                  <a:rPr lang="en-US" dirty="0"/>
                  <a:t>Intersection over Union, </a:t>
                </a:r>
                <a:r>
                  <a:rPr lang="uk-UA" dirty="0"/>
                  <a:t>тобто перетин над об'єднанням, – 0,996. </a:t>
                </a:r>
                <a:r>
                  <a:rPr lang="en-US" dirty="0"/>
                  <a:t>Dice coefficient, </a:t>
                </a:r>
                <a:r>
                  <a:rPr lang="uk-UA" dirty="0"/>
                  <a:t>тобто коефіцієнт </a:t>
                </a:r>
                <a:r>
                  <a:rPr lang="uk-UA" dirty="0" err="1"/>
                  <a:t>Дайса</a:t>
                </a:r>
                <a:r>
                  <a:rPr lang="uk-UA" dirty="0"/>
                  <a:t>, – 0,998. Це підтверджує ефективність ансамблевого підходу для підвищення точності оцінювання глибини.</a:t>
                </a:r>
              </a:p>
              <a:p>
                <a:endParaRPr lang="uk-UA" dirty="0"/>
              </a:p>
              <a:p>
                <a:r>
                  <a:rPr lang="uk-UA" dirty="0"/>
                  <a:t>Модель </a:t>
                </a:r>
                <a:r>
                  <a:rPr lang="uk-UA" dirty="0" err="1"/>
                  <a:t>ДжіоНет</a:t>
                </a:r>
                <a:r>
                  <a:rPr lang="uk-UA" dirty="0"/>
                  <a:t>, використана як проксі, також показала високі результати: </a:t>
                </a:r>
                <a:r>
                  <a:rPr lang="en-US" dirty="0"/>
                  <a:t>Root Mean Square Error – 1,660, Mean Absolute Error – 0,977, Peak Signal-to-Noise Ratio – 43,727 </a:t>
                </a:r>
                <a:r>
                  <a:rPr lang="uk-UA" dirty="0"/>
                  <a:t>децибела, </a:t>
                </a:r>
                <a:r>
                  <a:rPr lang="en-US" dirty="0"/>
                  <a:t>Intersection over Union – 0,995, Dice coefficient – 0,997.</a:t>
                </a:r>
              </a:p>
              <a:p>
                <a:endParaRPr lang="en-US" dirty="0"/>
              </a:p>
              <a:p>
                <a:r>
                  <a:rPr lang="uk-UA" dirty="0"/>
                  <a:t>Модель </a:t>
                </a:r>
                <a:r>
                  <a:rPr lang="uk-UA" dirty="0" err="1"/>
                  <a:t>ДіПіТі</a:t>
                </a:r>
                <a:r>
                  <a:rPr lang="uk-UA" dirty="0"/>
                  <a:t> </a:t>
                </a:r>
                <a:r>
                  <a:rPr lang="uk-UA" dirty="0" err="1"/>
                  <a:t>Лардж</a:t>
                </a:r>
                <a:r>
                  <a:rPr lang="uk-UA" dirty="0"/>
                  <a:t> демонструє високу структурну узгодженість з </a:t>
                </a:r>
                <a:r>
                  <a:rPr lang="uk-UA" dirty="0" err="1"/>
                  <a:t>референсом</a:t>
                </a:r>
                <a:r>
                  <a:rPr lang="uk-UA" dirty="0"/>
                  <a:t> – </a:t>
                </a:r>
                <a:r>
                  <a:rPr lang="en-US" dirty="0"/>
                  <a:t>Intersection over Union 0,954 </a:t>
                </a:r>
                <a:r>
                  <a:rPr lang="uk-UA" dirty="0"/>
                  <a:t>та </a:t>
                </a:r>
                <a:r>
                  <a:rPr lang="en-US" dirty="0"/>
                  <a:t>Dice coefficient 0,976, </a:t>
                </a:r>
                <a:r>
                  <a:rPr lang="uk-UA" dirty="0"/>
                  <a:t>але має більшу амплітудну відмінність за </a:t>
                </a:r>
                <a:r>
                  <a:rPr lang="en-US" dirty="0"/>
                  <a:t>Root Mean Square Error </a:t>
                </a:r>
                <a:r>
                  <a:rPr lang="uk-UA" dirty="0"/>
                  <a:t>та </a:t>
                </a:r>
                <a:r>
                  <a:rPr lang="en-US" dirty="0"/>
                  <a:t>Mean Absolute Error – </a:t>
                </a:r>
                <a:r>
                  <a:rPr lang="uk-UA" dirty="0"/>
                  <a:t>відповідно 12,593 та 9,057.</a:t>
                </a:r>
              </a:p>
              <a:p>
                <a:endParaRPr lang="uk-UA" dirty="0"/>
              </a:p>
              <a:p>
                <a:r>
                  <a:rPr lang="uk-UA" dirty="0"/>
                  <a:t>Метод </a:t>
                </a:r>
                <a:r>
                  <a:rPr lang="uk-UA" dirty="0" err="1"/>
                  <a:t>Блур</a:t>
                </a:r>
                <a:r>
                  <a:rPr lang="uk-UA" dirty="0"/>
                  <a:t>, тобто оцінювання глибини через розмиття зображення, та метод Ґрадієнт, тобто оцінювання через обчислення градієнтів, які є простими базовими методами, показали незадовільні результати. Їх </a:t>
                </a:r>
                <a:r>
                  <a:rPr lang="en-US" dirty="0"/>
                  <a:t>Root Mean Square Error </a:t>
                </a:r>
                <a:r>
                  <a:rPr lang="uk-UA" dirty="0"/>
                  <a:t>становить 106 та 124 одиниці відповідно, </a:t>
                </a:r>
                <a:r>
                  <a:rPr lang="en-US" dirty="0"/>
                  <a:t>Mean Absolute Error – 95 </a:t>
                </a:r>
                <a:r>
                  <a:rPr lang="uk-UA" dirty="0"/>
                  <a:t>та 100 одиниць, </a:t>
                </a:r>
                <a:r>
                  <a:rPr lang="en-US" dirty="0"/>
                  <a:t>Peak Signal-to-Noise Ratio – </a:t>
                </a:r>
                <a:r>
                  <a:rPr lang="uk-UA" dirty="0"/>
                  <a:t>лише 7,6 та 6,2 децибела, </a:t>
                </a:r>
                <a:r>
                  <a:rPr lang="en-US" dirty="0"/>
                  <a:t>Intersection over Union – 0,117 </a:t>
                </a:r>
                <a:r>
                  <a:rPr lang="uk-UA" dirty="0"/>
                  <a:t>та 0,148, </a:t>
                </a:r>
                <a:r>
                  <a:rPr lang="en-US" dirty="0"/>
                  <a:t>Dice coefficient – 0,209 </a:t>
                </a:r>
                <a:r>
                  <a:rPr lang="uk-UA" dirty="0"/>
                  <a:t>та 0,257. 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uk-UA" dirty="0"/>
                  <a:t>Метод </a:t>
                </a:r>
                <a:r>
                  <a:rPr lang="uk-UA" dirty="0" err="1"/>
                  <a:t>Бустінг</a:t>
                </a:r>
                <a:r>
                  <a:rPr lang="uk-UA" dirty="0"/>
                  <a:t> дав проміжні результати: </a:t>
                </a:r>
                <a:r>
                  <a:rPr lang="en-US" dirty="0"/>
                  <a:t>Root Mean Square Error 5,088, Peak Signal-to-Noise Ratio 34,000 </a:t>
                </a:r>
                <a:r>
                  <a:rPr lang="uk-UA" dirty="0"/>
                  <a:t>децибела, </a:t>
                </a:r>
                <a:r>
                  <a:rPr lang="en-US" dirty="0"/>
                  <a:t>Intersection over Union 0,981».</a:t>
                </a:r>
              </a:p>
              <a:p>
                <a:endParaRPr lang="uk-UA" dirty="0"/>
              </a:p>
              <a:p>
                <a:r>
                  <a:rPr lang="uk-UA" dirty="0"/>
                  <a:t>---------------------------------------------------------------------------------------------</a:t>
                </a:r>
                <a:endParaRPr lang="en-US" dirty="0"/>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EPE=1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 </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r>
                  <a:rPr lang="uk-UA" sz="1200" i="0" kern="1200">
                    <a:solidFill>
                      <a:schemeClr val="tx1"/>
                    </a:solidFill>
                    <a:effectLst/>
                    <a:latin typeface="Cambria Math" panose="02040503050406030204" pitchFamily="18" charset="0"/>
                    <a:ea typeface="+mn-ea"/>
                    <a:cs typeface="+mn-cs"/>
                  </a:rPr>
                  <a:t>𝑢</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𝑣</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r>
                  <a:rPr lang="uk-UA" sz="1200" i="0" kern="1200">
                    <a:solidFill>
                      <a:schemeClr val="tx1"/>
                    </a:solidFill>
                    <a:effectLst/>
                    <a:latin typeface="Cambria Math" panose="02040503050406030204" pitchFamily="18" charset="0"/>
                    <a:ea typeface="+mn-ea"/>
                    <a:cs typeface="+mn-cs"/>
                  </a:rPr>
                  <a:t>𝑢</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𝑖^𝑔𝑡</a:t>
                </a:r>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𝑣</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𝑖^𝑔𝑡</a:t>
                </a:r>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AAE=1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^N▒arccos</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a:t>
                </a:r>
                <a:r>
                  <a:rPr lang="en-US" sz="1200" i="0" kern="1200">
                    <a:solidFill>
                      <a:schemeClr val="tx1"/>
                    </a:solidFill>
                    <a:effectLst/>
                    <a:latin typeface="Cambria Math" panose="02040503050406030204" pitchFamily="18" charset="0"/>
                    <a:ea typeface="+mn-ea"/>
                    <a:cs typeface="+mn-cs"/>
                  </a:rPr>
                  <a:t> </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a:t>
                </a:r>
                <a:r>
                  <a:rPr lang="en-US" sz="1200" i="0" kern="1200">
                    <a:solidFill>
                      <a:schemeClr val="tx1"/>
                    </a:solidFill>
                    <a:effectLst/>
                    <a:latin typeface="Cambria Math" panose="02040503050406030204" pitchFamily="18" charset="0"/>
                    <a:ea typeface="+mn-ea"/>
                    <a:cs typeface="+mn-cs"/>
                  </a:rPr>
                  <a:t> </a:t>
                </a:r>
                <a:r>
                  <a:rPr lang="uk-UA" sz="1200" i="0" kern="1200">
                    <a:solidFill>
                      <a:schemeClr val="tx1"/>
                    </a:solidFill>
                    <a:effectLst/>
                    <a:latin typeface="Cambria Math" panose="02040503050406030204" pitchFamily="18" charset="0"/>
                    <a:ea typeface="+mn-ea"/>
                    <a:cs typeface="+mn-cs"/>
                  </a:rPr>
                  <a: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i^2+v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i^2+1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u</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v</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 </a:t>
                </a:r>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RMSE=</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 </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r>
                  <a:rPr lang="uk-UA" sz="1200" i="0" kern="1200">
                    <a:solidFill>
                      <a:schemeClr val="tx1"/>
                    </a:solidFill>
                    <a:effectLst/>
                    <a:latin typeface="Cambria Math" panose="02040503050406030204" pitchFamily="18" charset="0"/>
                    <a:ea typeface="+mn-ea"/>
                    <a:cs typeface="+mn-cs"/>
                  </a:rPr>
                  <a:t>𝐷</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 – передбачена глибина (відстань від камери до об'єкта) для </a:t>
                </a:r>
                <a:r>
                  <a:rPr lang="uk-UA" sz="1200" i="0" kern="1200">
                    <a:solidFill>
                      <a:schemeClr val="tx1"/>
                    </a:solidFill>
                    <a:effectLst/>
                    <a:latin typeface="Cambria Math" panose="02040503050406030204" pitchFamily="18" charset="0"/>
                    <a:ea typeface="+mn-ea"/>
                    <a:cs typeface="+mn-cs"/>
                  </a:rPr>
                  <a:t>𝑖</a:t>
                </a:r>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r>
                  <a:rPr lang="uk-UA" sz="1200" i="0" kern="1200">
                    <a:solidFill>
                      <a:schemeClr val="tx1"/>
                    </a:solidFill>
                    <a:effectLst/>
                    <a:latin typeface="Cambria Math" panose="02040503050406030204" pitchFamily="18" charset="0"/>
                    <a:ea typeface="+mn-ea"/>
                    <a:cs typeface="+mn-cs"/>
                  </a:rPr>
                  <a:t>𝐷</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𝑖^𝑔𝑡</a:t>
                </a:r>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MAE=1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 </a:t>
                </a:r>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PSNR=10log</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10</a:t>
                </a:r>
                <a:r>
                  <a:rPr lang="en-US" sz="1200" i="0" kern="1200">
                    <a:solidFill>
                      <a:schemeClr val="tx1"/>
                    </a:solidFill>
                    <a:effectLst/>
                    <a:latin typeface="Cambria Math" panose="02040503050406030204" pitchFamily="18" charset="0"/>
                    <a:ea typeface="+mn-ea"/>
                    <a:cs typeface="+mn-cs"/>
                  </a:rPr>
                  <a:t> (</a:t>
                </a:r>
                <a:r>
                  <a:rPr lang="uk-UA" sz="1200" i="0" kern="1200">
                    <a:solidFill>
                      <a:schemeClr val="tx1"/>
                    </a:solidFill>
                    <a:effectLst/>
                    <a:latin typeface="Cambria Math" panose="02040503050406030204" pitchFamily="18" charset="0"/>
                    <a:ea typeface="+mn-ea"/>
                    <a:cs typeface="+mn-cs"/>
                  </a:rPr>
                  <a:t>MAX</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MSE)</a:t>
                </a:r>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MSE=1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 ∑1</a:t>
                </a:r>
                <a:r>
                  <a:rPr lang="uk-UA"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i=1</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^N▒</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i−D</a:t>
                </a:r>
                <a:r>
                  <a:rPr lang="en-US" sz="1200" i="0" kern="1200">
                    <a:solidFill>
                      <a:schemeClr val="tx1"/>
                    </a:solidFill>
                    <a:effectLst/>
                    <a:latin typeface="Cambria Math" panose="02040503050406030204" pitchFamily="18" charset="0"/>
                    <a:ea typeface="+mn-ea"/>
                    <a:cs typeface="+mn-cs"/>
                  </a:rPr>
                  <a:t>_</a:t>
                </a:r>
                <a:r>
                  <a:rPr lang="uk-UA" sz="1200" i="0" kern="1200">
                    <a:solidFill>
                      <a:schemeClr val="tx1"/>
                    </a:solidFill>
                    <a:effectLst/>
                    <a:latin typeface="Cambria Math" panose="02040503050406030204" pitchFamily="18" charset="0"/>
                    <a:ea typeface="+mn-ea"/>
                    <a:cs typeface="+mn-cs"/>
                  </a:rPr>
                  <a:t>i^qt )</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 </a:t>
                </a:r>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IoU=TP</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TP+FP+FN</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Cambria Math" panose="02040503050406030204" pitchFamily="18" charset="0"/>
                    <a:ea typeface="+mn-ea"/>
                    <a:cs typeface="+mn-cs"/>
                  </a:rPr>
                  <a:t>Dice=2TP</a:t>
                </a:r>
                <a:r>
                  <a:rPr lang="en-US" sz="1200" i="0" kern="1200">
                    <a:solidFill>
                      <a:schemeClr val="tx1"/>
                    </a:solidFill>
                    <a:effectLst/>
                    <a:latin typeface="Cambria Math" panose="02040503050406030204" pitchFamily="18" charset="0"/>
                    <a:ea typeface="+mn-ea"/>
                    <a:cs typeface="+mn-cs"/>
                  </a:rPr>
                  <a:t>/(</a:t>
                </a:r>
                <a:r>
                  <a:rPr lang="uk-UA" sz="1200" i="0" kern="1200">
                    <a:solidFill>
                      <a:schemeClr val="tx1"/>
                    </a:solidFill>
                    <a:effectLst/>
                    <a:latin typeface="Cambria Math" panose="02040503050406030204" pitchFamily="18" charset="0"/>
                    <a:ea typeface="+mn-ea"/>
                    <a:cs typeface="+mn-cs"/>
                  </a:rPr>
                  <a:t>2TP+FP+FN</a:t>
                </a:r>
                <a:r>
                  <a:rPr lang="en-US" sz="1200" i="0" kern="1200">
                    <a:solidFill>
                      <a:schemeClr val="tx1"/>
                    </a:solidFill>
                    <a:effectLst/>
                    <a:latin typeface="Cambria Math" panose="02040503050406030204" pitchFamily="18" charset="0"/>
                    <a:ea typeface="+mn-ea"/>
                    <a:cs typeface="+mn-cs"/>
                  </a:rPr>
                  <a:t>)</a:t>
                </a:r>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en-US" dirty="0"/>
              </a:p>
              <a:p>
                <a:r>
                  <a:rPr lang="en-US" dirty="0"/>
                  <a:t>-----------------------------------------------------------------------------------------------</a:t>
                </a:r>
                <a:endParaRPr lang="uk-UA" dirty="0"/>
              </a:p>
              <a:p>
                <a:r>
                  <a:rPr lang="uk-UA" dirty="0"/>
                  <a:t>Порівняння методів оцінювання глибини (табл.4.5)</a:t>
                </a:r>
              </a:p>
              <a:p>
                <a:r>
                  <a:rPr lang="uk-UA" dirty="0"/>
                  <a:t>Що казати:</a:t>
                </a:r>
              </a:p>
              <a:p>
                <a:r>
                  <a:rPr lang="uk-UA" dirty="0"/>
                  <a:t>«Таблиця 4.5 містить результати порівняння методів оцінювання глибини. </a:t>
                </a:r>
                <a:r>
                  <a:rPr lang="en-US" dirty="0" err="1"/>
                  <a:t>MiDaS</a:t>
                </a:r>
                <a:r>
                  <a:rPr lang="en-US" dirty="0"/>
                  <a:t> </a:t>
                </a:r>
                <a:r>
                  <a:rPr lang="uk-UA" dirty="0"/>
                  <a:t>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en-US" dirty="0"/>
                  <a:t>Bagging </a:t>
                </a:r>
                <a:r>
                  <a:rPr lang="uk-UA" dirty="0"/>
                  <a:t>з наступними показниками: </a:t>
                </a:r>
                <a:r>
                  <a:rPr lang="en-US" dirty="0"/>
                  <a:t>RMSE – 0,713, MAE – 0,474, PSNR – 51,065 </a:t>
                </a:r>
                <a:r>
                  <a:rPr lang="uk-UA" dirty="0"/>
                  <a:t>децибел, </a:t>
                </a:r>
                <a:r>
                  <a:rPr lang="en-US" dirty="0" err="1"/>
                  <a:t>IoU</a:t>
                </a:r>
                <a:r>
                  <a:rPr lang="en-US" dirty="0"/>
                  <a:t> – 0,996, Dice – 0,998. </a:t>
                </a:r>
                <a:r>
                  <a:rPr lang="uk-UA" dirty="0"/>
                  <a:t>Це підтверджує ефективність ансамблевого підходу для підвищення точності оцінювання глибини.</a:t>
                </a:r>
              </a:p>
              <a:p>
                <a:endParaRPr lang="uk-UA" dirty="0"/>
              </a:p>
              <a:p>
                <a:r>
                  <a:rPr lang="en-US" dirty="0" err="1"/>
                  <a:t>GeoNet</a:t>
                </a:r>
                <a:r>
                  <a:rPr lang="en-US" dirty="0"/>
                  <a:t>-</a:t>
                </a:r>
                <a:r>
                  <a:rPr lang="uk-UA" dirty="0"/>
                  <a:t>проксі також показав високі результати: </a:t>
                </a:r>
                <a:r>
                  <a:rPr lang="en-US" dirty="0"/>
                  <a:t>RMSE – 1,660, MAE – 0,977, PSNR – 43,727 </a:t>
                </a:r>
                <a:r>
                  <a:rPr lang="uk-UA" dirty="0"/>
                  <a:t>децибел, </a:t>
                </a:r>
                <a:r>
                  <a:rPr lang="en-US" dirty="0" err="1"/>
                  <a:t>IoU</a:t>
                </a:r>
                <a:r>
                  <a:rPr lang="en-US" dirty="0"/>
                  <a:t> – 0,995, Dice – 0,997.</a:t>
                </a:r>
              </a:p>
              <a:p>
                <a:endParaRPr lang="en-US" dirty="0"/>
              </a:p>
              <a:p>
                <a:r>
                  <a:rPr lang="en-US" dirty="0" err="1"/>
                  <a:t>DPT_Large</a:t>
                </a:r>
                <a:r>
                  <a:rPr lang="en-US" dirty="0"/>
                  <a:t> </a:t>
                </a:r>
                <a:r>
                  <a:rPr lang="uk-UA" dirty="0"/>
                  <a:t>демонструє високу структурну узгодженість з </a:t>
                </a:r>
                <a:r>
                  <a:rPr lang="uk-UA" dirty="0" err="1"/>
                  <a:t>референсом</a:t>
                </a:r>
                <a:r>
                  <a:rPr lang="uk-UA" dirty="0"/>
                  <a:t> – </a:t>
                </a:r>
                <a:r>
                  <a:rPr lang="en-US" dirty="0" err="1"/>
                  <a:t>IoU</a:t>
                </a:r>
                <a:r>
                  <a:rPr lang="en-US" dirty="0"/>
                  <a:t> 0,954 </a:t>
                </a:r>
                <a:r>
                  <a:rPr lang="uk-UA" dirty="0"/>
                  <a:t>та </a:t>
                </a:r>
                <a:r>
                  <a:rPr lang="en-US" dirty="0"/>
                  <a:t>Dice 0,976, </a:t>
                </a:r>
                <a:r>
                  <a:rPr lang="uk-UA" dirty="0"/>
                  <a:t>але має більшу амплітудну відмінність за </a:t>
                </a:r>
                <a:r>
                  <a:rPr lang="en-US" dirty="0"/>
                  <a:t>RMSE </a:t>
                </a:r>
                <a:r>
                  <a:rPr lang="uk-UA" dirty="0"/>
                  <a:t>та </a:t>
                </a:r>
                <a:r>
                  <a:rPr lang="en-US" dirty="0"/>
                  <a:t>MAE – 12,593 </a:t>
                </a:r>
                <a:r>
                  <a:rPr lang="uk-UA" dirty="0"/>
                  <a:t>та 9,057 відповідно.</a:t>
                </a:r>
              </a:p>
              <a:p>
                <a:endParaRPr lang="uk-UA" dirty="0"/>
              </a:p>
              <a:p>
                <a:r>
                  <a:rPr lang="uk-UA" dirty="0"/>
                  <a:t>Методи </a:t>
                </a:r>
                <a:r>
                  <a:rPr lang="en-US" dirty="0"/>
                  <a:t>Blur </a:t>
                </a:r>
                <a:r>
                  <a:rPr lang="uk-UA" dirty="0"/>
                  <a:t>та </a:t>
                </a:r>
                <a:r>
                  <a:rPr lang="en-US" dirty="0"/>
                  <a:t>Gradient, </a:t>
                </a:r>
                <a:r>
                  <a:rPr lang="uk-UA" dirty="0"/>
                  <a:t>які є простими базовими методами, показали незадовільні результати: великі значення </a:t>
                </a:r>
                <a:r>
                  <a:rPr lang="en-US" dirty="0"/>
                  <a:t>RMSE </a:t>
                </a:r>
                <a:r>
                  <a:rPr lang="uk-UA" dirty="0"/>
                  <a:t>та </a:t>
                </a:r>
                <a:r>
                  <a:rPr lang="en-US" dirty="0"/>
                  <a:t>MAE, </a:t>
                </a:r>
                <a:r>
                  <a:rPr lang="uk-UA" dirty="0"/>
                  <a:t>низькі </a:t>
                </a:r>
                <a:r>
                  <a:rPr lang="en-US" dirty="0"/>
                  <a:t>PSNR, </a:t>
                </a:r>
                <a:r>
                  <a:rPr lang="en-US" dirty="0" err="1"/>
                  <a:t>IoU</a:t>
                </a:r>
                <a:r>
                  <a:rPr lang="en-US" dirty="0"/>
                  <a:t> </a:t>
                </a:r>
                <a:r>
                  <a:rPr lang="uk-UA" dirty="0"/>
                  <a:t>та </a:t>
                </a:r>
                <a:r>
                  <a:rPr lang="en-US" dirty="0"/>
                  <a:t>Dice. </a:t>
                </a:r>
                <a:r>
                  <a:rPr lang="uk-UA" dirty="0"/>
                  <a:t>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en-US" dirty="0"/>
                  <a:t>Boosting </a:t>
                </a:r>
                <a:r>
                  <a:rPr lang="uk-UA" dirty="0"/>
                  <a:t>дав проміжні результати: </a:t>
                </a:r>
                <a:r>
                  <a:rPr lang="en-US" dirty="0"/>
                  <a:t>RMSE 5,088, PSNR 34,000 </a:t>
                </a:r>
                <a:r>
                  <a:rPr lang="uk-UA" dirty="0"/>
                  <a:t>децибел, </a:t>
                </a:r>
                <a:r>
                  <a:rPr lang="en-US" dirty="0" err="1"/>
                  <a:t>IoU</a:t>
                </a:r>
                <a:r>
                  <a:rPr lang="en-US" dirty="0"/>
                  <a:t> 0,981.»</a:t>
                </a:r>
                <a:r>
                  <a:rPr lang="uk-UA" dirty="0"/>
                  <a:t> Середньоквадратична похибка </a:t>
                </a:r>
                <a:r>
                  <a:rPr lang="en-US" dirty="0"/>
                  <a:t>RMSE (Root Mean Square Error) </a:t>
                </a:r>
                <a:r>
                  <a:rPr lang="uk-UA" dirty="0"/>
                  <a:t>є стандартною метрикою для оцінки точності відновлення глибини сцени та обчислюється за </a:t>
                </a:r>
                <a:r>
                  <a:rPr lang="uk-UA" dirty="0" err="1"/>
                  <a:t>формулоюПікове</a:t>
                </a:r>
                <a:r>
                  <a:rPr lang="uk-UA" dirty="0"/>
                  <a:t> відношення сигнал/шум </a:t>
                </a:r>
                <a:r>
                  <a:rPr lang="en-US" dirty="0"/>
                  <a:t>PSNR (Peak Signal-to-Noise Ratio) </a:t>
                </a:r>
                <a:r>
                  <a:rPr lang="uk-UA" dirty="0"/>
                  <a:t>використовується для оцінки якості відновлення карти глибини як зображення та визначається за формулою (4.21)</a:t>
                </a:r>
                <a:r>
                  <a:rPr lang="en-US" dirty="0"/>
                  <a:t> PSNR </a:t>
                </a:r>
                <a:r>
                  <a:rPr lang="uk-UA" dirty="0"/>
                  <a:t>вимірюється в децибелах (</a:t>
                </a:r>
                <a:r>
                  <a:rPr lang="uk-UA" dirty="0" err="1"/>
                  <a:t>дБ</a:t>
                </a:r>
                <a:r>
                  <a:rPr lang="uk-UA" dirty="0"/>
                  <a:t>) і є логарифмічною мірою відношення максимально можливої потужності сигналу до потужності шуму, що спотворює сигнал. Інтерпретація </a:t>
                </a:r>
                <a:r>
                  <a:rPr lang="en-US" dirty="0"/>
                  <a:t>PSNR </a:t>
                </a:r>
                <a:r>
                  <a:rPr lang="uk-UA" dirty="0"/>
                  <a:t>є наступною: чим вище значення, тим менші спотворення вносить алгоритм. Значення </a:t>
                </a:r>
                <a:r>
                  <a:rPr lang="en-US" dirty="0"/>
                  <a:t>PSNR </a:t>
                </a:r>
                <a:r>
                  <a:rPr lang="uk-UA" dirty="0"/>
                  <a:t>вище 30 </a:t>
                </a:r>
                <a:r>
                  <a:rPr lang="uk-UA" dirty="0" err="1"/>
                  <a:t>дБ</a:t>
                </a:r>
                <a:r>
                  <a:rPr lang="uk-UA" dirty="0"/>
                  <a:t> свідчить про високу якість відновлення глибинної карти, при цьому спотворення практично непомітні для подальших алгоритмів аналізу. Значення </a:t>
                </a:r>
                <a:r>
                  <a:rPr lang="en-US" dirty="0"/>
                  <a:t>PSNR </a:t>
                </a:r>
                <a:r>
                  <a:rPr lang="uk-UA" dirty="0"/>
                  <a:t>вище 40 </a:t>
                </a:r>
                <a:r>
                  <a:rPr lang="uk-UA" dirty="0" err="1"/>
                  <a:t>дБ</a:t>
                </a:r>
                <a:r>
                  <a:rPr lang="uk-UA" dirty="0"/>
                  <a:t> вважається відмінним, оскільки відповідає майже ідеальному відновленню.</a:t>
                </a:r>
              </a:p>
              <a:p>
                <a:r>
                  <a:rPr lang="en-US" dirty="0"/>
                  <a:t>Intersection over Union (</a:t>
                </a:r>
                <a:r>
                  <a:rPr lang="en-US" dirty="0" err="1"/>
                  <a:t>IoU</a:t>
                </a:r>
                <a:r>
                  <a:rPr lang="en-US" dirty="0"/>
                  <a:t>) </a:t>
                </a:r>
                <a:r>
                  <a:rPr lang="uk-UA" dirty="0"/>
                  <a:t>є стандартною метрикою для оцінки точності сегментації об'єктів у комп'ютерному зорі та задається формулою (4.23):</a:t>
                </a:r>
              </a:p>
              <a:p>
                <a:r>
                  <a:rPr lang="uk-UA" dirty="0"/>
                  <a:t>	</a:t>
                </a:r>
                <a:r>
                  <a:rPr lang="en-US" dirty="0" err="1"/>
                  <a:t>IoU</a:t>
                </a:r>
                <a:r>
                  <a:rPr lang="en-US" dirty="0"/>
                  <a:t>=TP/(TP+FP+FN),	(4.45)</a:t>
                </a:r>
              </a:p>
              <a:p>
                <a:r>
                  <a:rPr lang="uk-UA" dirty="0"/>
                  <a:t>де </a:t>
                </a:r>
                <a:r>
                  <a:rPr lang="en-US" dirty="0"/>
                  <a:t>TP (True Positive) – </a:t>
                </a:r>
                <a:r>
                  <a:rPr lang="uk-UA" dirty="0"/>
                  <a:t>кількість пікселів, правильно віднесених до об'єкта (істинно позитивні); </a:t>
                </a:r>
                <a:r>
                  <a:rPr lang="en-US" dirty="0"/>
                  <a:t>FP (False Positive) – </a:t>
                </a:r>
                <a:r>
                  <a:rPr lang="uk-UA" dirty="0"/>
                  <a:t>кількість пікселів, хибно віднесених до об'єкта (хибно позитивні, помилкові спрацювання); </a:t>
                </a:r>
                <a:r>
                  <a:rPr lang="en-US" dirty="0"/>
                  <a:t>FN (False Negative) – </a:t>
                </a:r>
                <a:r>
                  <a:rPr lang="uk-UA" dirty="0"/>
                  <a:t>кількість пікселів об'єкта, які модель пропустила (хибно негативні). </a:t>
                </a:r>
              </a:p>
              <a:p>
                <a:r>
                  <a:rPr lang="uk-UA" dirty="0"/>
                  <a:t>Геометричний зміст </a:t>
                </a:r>
                <a:r>
                  <a:rPr lang="en-US" dirty="0" err="1"/>
                  <a:t>IoU</a:t>
                </a:r>
                <a:r>
                  <a:rPr lang="en-US" dirty="0"/>
                  <a:t> – </a:t>
                </a:r>
                <a:r>
                  <a:rPr lang="uk-UA" dirty="0"/>
                  <a:t>це відношення площі перетину передбаченої та істинної масок об'єкта до площі їх об'єднання. </a:t>
                </a:r>
                <a:r>
                  <a:rPr lang="en-US" dirty="0" err="1"/>
                  <a:t>IoU</a:t>
                </a:r>
                <a:r>
                  <a:rPr lang="en-US" dirty="0"/>
                  <a:t> </a:t>
                </a:r>
                <a:r>
                  <a:rPr lang="uk-UA" dirty="0"/>
                  <a:t>приймає значення від 0 (повна невідповідність) до 1 (ідеальний збіг). У практичних задачах значення </a:t>
                </a:r>
                <a:r>
                  <a:rPr lang="en-US" dirty="0" err="1"/>
                  <a:t>IoU</a:t>
                </a:r>
                <a:r>
                  <a:rPr lang="en-US" dirty="0"/>
                  <a:t> </a:t>
                </a:r>
                <a:r>
                  <a:rPr lang="uk-UA" dirty="0"/>
                  <a:t>вище 0.7 вважається хорошим результатом, вище 0.8 – дуже хорошим, а вище 0.9 – відмінним.</a:t>
                </a:r>
              </a:p>
              <a:p>
                <a:r>
                  <a:rPr lang="uk-UA" dirty="0"/>
                  <a:t>Коефіцієнт </a:t>
                </a:r>
                <a:r>
                  <a:rPr lang="uk-UA" dirty="0" err="1"/>
                  <a:t>Дайса</a:t>
                </a:r>
                <a:r>
                  <a:rPr lang="uk-UA" dirty="0"/>
                  <a:t> (</a:t>
                </a:r>
                <a:r>
                  <a:rPr lang="en-US" dirty="0"/>
                  <a:t>Dice) </a:t>
                </a:r>
                <a:r>
                  <a:rPr lang="uk-UA" dirty="0"/>
                  <a:t>є альтернативною метрикою якості сегментації, тісно пов'язаною з </a:t>
                </a:r>
                <a:r>
                  <a:rPr lang="en-US" dirty="0" err="1"/>
                  <a:t>IoU</a:t>
                </a:r>
                <a:r>
                  <a:rPr lang="en-US" dirty="0"/>
                  <a:t>, </a:t>
                </a:r>
                <a:r>
                  <a:rPr lang="uk-UA" dirty="0"/>
                  <a:t>і визначається за формулою </a:t>
                </a:r>
                <a:fld id="{84CC6CB3-BEB6-463D-98C0-0BD5528F190C}" type="slidenum">
                  <a:rPr lang="uk-UA" smtClean="0"/>
                  <a:t>35</a:t>
                </a:fld>
                <a:fld id="{FB321136-7EE8-4EE3-B66F-01D4B3AC101B}" type="slidenum">
                  <a:rPr lang="uk-UA" smtClean="0"/>
                  <a:t>35</a:t>
                </a:fld>
                <a:endParaRPr lang="en-US" dirty="0"/>
              </a:p>
            </p:txBody>
          </p:sp>
        </mc:Fallback>
      </mc:AlternateContent>
      <p:sp>
        <p:nvSpPr>
          <p:cNvPr id="4" name="Місце для номера слайда 3"/>
          <p:cNvSpPr>
            <a:spLocks noGrp="1"/>
          </p:cNvSpPr>
          <p:nvPr>
            <p:ph type="sldNum" sz="quarter" idx="5"/>
          </p:nvPr>
        </p:nvSpPr>
        <p:spPr/>
        <p:txBody>
          <a:bodyPr/>
          <a:lstStyle/>
          <a:p>
            <a:fld id="{22D210FF-A65C-4C43-9EF1-FEAEFF91A41E}" type="slidenum">
              <a:rPr lang="en-US" smtClean="0"/>
              <a:t>24</a:t>
            </a:fld>
            <a:endParaRPr lang="en-US"/>
          </a:p>
        </p:txBody>
      </p:sp>
    </p:spTree>
    <p:extLst>
      <p:ext uri="{BB962C8B-B14F-4D97-AF65-F5344CB8AC3E}">
        <p14:creationId xmlns:p14="http://schemas.microsoft.com/office/powerpoint/2010/main" val="4069009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Проведений аналіз отриманих результатів дозволяє зробити такі висновки.</a:t>
            </a:r>
          </a:p>
          <a:p>
            <a:endParaRPr lang="uk-UA" dirty="0"/>
          </a:p>
          <a:p>
            <a:r>
              <a:rPr lang="uk-UA" dirty="0"/>
              <a:t>Найкраща точність відновлення глибини забезпечується ансамблевим підходом </a:t>
            </a:r>
            <a:r>
              <a:rPr lang="uk-UA" dirty="0" err="1"/>
              <a:t>Бегінг</a:t>
            </a:r>
            <a:r>
              <a:rPr lang="uk-UA" dirty="0"/>
              <a:t>. Його </a:t>
            </a:r>
            <a:r>
              <a:rPr lang="en-US" dirty="0"/>
              <a:t>Root Mean Square Error </a:t>
            </a:r>
            <a:r>
              <a:rPr lang="uk-UA" dirty="0"/>
              <a:t>становить 0,713, </a:t>
            </a:r>
            <a:r>
              <a:rPr lang="en-US" dirty="0"/>
              <a:t>Peak Signal-to-Noise Ratio – 51,065 </a:t>
            </a:r>
            <a:r>
              <a:rPr lang="uk-UA" dirty="0"/>
              <a:t>децибела, </a:t>
            </a:r>
            <a:r>
              <a:rPr lang="en-US" dirty="0"/>
              <a:t>Intersection over Union – 0,996. </a:t>
            </a:r>
            <a:r>
              <a:rPr lang="uk-UA" dirty="0"/>
              <a:t>Це значно перевершує результати використання окремих моделей, таких як </a:t>
            </a:r>
            <a:r>
              <a:rPr lang="uk-UA" dirty="0" err="1"/>
              <a:t>МіДаС</a:t>
            </a:r>
            <a:r>
              <a:rPr lang="uk-UA" dirty="0"/>
              <a:t> або </a:t>
            </a:r>
            <a:r>
              <a:rPr lang="uk-UA" dirty="0" err="1"/>
              <a:t>ДіПіТі</a:t>
            </a:r>
            <a:r>
              <a:rPr lang="uk-UA" dirty="0"/>
              <a:t> </a:t>
            </a:r>
            <a:r>
              <a:rPr lang="uk-UA" dirty="0" err="1"/>
              <a:t>Лардж</a:t>
            </a:r>
            <a:r>
              <a:rPr lang="uk-UA" dirty="0"/>
              <a:t>.</a:t>
            </a:r>
          </a:p>
          <a:p>
            <a:endParaRPr lang="uk-UA" dirty="0"/>
          </a:p>
          <a:p>
            <a:r>
              <a:rPr lang="uk-UA" dirty="0"/>
              <a:t>Моделі </a:t>
            </a:r>
            <a:r>
              <a:rPr lang="uk-UA" dirty="0" err="1"/>
              <a:t>ДжіоНет</a:t>
            </a:r>
            <a:r>
              <a:rPr lang="uk-UA" dirty="0"/>
              <a:t> та </a:t>
            </a:r>
            <a:r>
              <a:rPr lang="uk-UA" dirty="0" err="1"/>
              <a:t>ДіПіТі</a:t>
            </a:r>
            <a:r>
              <a:rPr lang="uk-UA" dirty="0"/>
              <a:t> </a:t>
            </a:r>
            <a:r>
              <a:rPr lang="uk-UA" dirty="0" err="1"/>
              <a:t>Лардж</a:t>
            </a:r>
            <a:r>
              <a:rPr lang="uk-UA" dirty="0"/>
              <a:t> також показали високі результати, але </a:t>
            </a:r>
            <a:r>
              <a:rPr lang="uk-UA" dirty="0" err="1"/>
              <a:t>Бегінг</a:t>
            </a:r>
            <a:r>
              <a:rPr lang="uk-UA" dirty="0"/>
              <a:t> перевершує їх за рахунок усереднення оцінок на різних підвибірках даних.</a:t>
            </a:r>
          </a:p>
          <a:p>
            <a:endParaRPr lang="uk-UA" dirty="0"/>
          </a:p>
          <a:p>
            <a:r>
              <a:rPr lang="uk-UA" dirty="0"/>
              <a:t>Щільні методи оптичного потоку, такі як </a:t>
            </a:r>
            <a:r>
              <a:rPr lang="uk-UA" dirty="0" err="1"/>
              <a:t>Фарнебек</a:t>
            </a:r>
            <a:r>
              <a:rPr lang="uk-UA" dirty="0"/>
              <a:t> та </a:t>
            </a:r>
            <a:r>
              <a:rPr lang="uk-UA" dirty="0" err="1"/>
              <a:t>ФлоуНет</a:t>
            </a:r>
            <a:r>
              <a:rPr lang="uk-UA" dirty="0"/>
              <a:t>, дають узгоджені оцінки швидкості для рухомих об'єктів. Вони формують повне поле руху для кожного пікселя зображення.</a:t>
            </a:r>
          </a:p>
          <a:p>
            <a:endParaRPr lang="uk-UA" dirty="0"/>
          </a:p>
          <a:p>
            <a:r>
              <a:rPr lang="uk-UA" dirty="0"/>
              <a:t>Метод Лукаса-</a:t>
            </a:r>
            <a:r>
              <a:rPr lang="uk-UA" dirty="0" err="1"/>
              <a:t>Канаде</a:t>
            </a:r>
            <a:r>
              <a:rPr lang="uk-UA" dirty="0"/>
              <a:t> придатний лише для локального супроводу характерних точок через розріджений характер поля руху.</a:t>
            </a:r>
          </a:p>
          <a:p>
            <a:endParaRPr lang="uk-UA" dirty="0"/>
          </a:p>
          <a:p>
            <a:r>
              <a:rPr lang="uk-UA" dirty="0"/>
              <a:t>Метод Горна-</a:t>
            </a:r>
            <a:r>
              <a:rPr lang="uk-UA" dirty="0" err="1"/>
              <a:t>Шунка</a:t>
            </a:r>
            <a:r>
              <a:rPr lang="uk-UA" dirty="0"/>
              <a:t> забезпечує гладке поле руху і може бути використаний як компроміс між щільністю поля та регулярністю оцінки.</a:t>
            </a:r>
          </a:p>
          <a:p>
            <a:endParaRPr lang="uk-UA" dirty="0"/>
          </a:p>
          <a:p>
            <a:r>
              <a:rPr lang="uk-UA" dirty="0"/>
              <a:t>Для сценаріїв реального часу рекомендується використовувати комбінацію </a:t>
            </a:r>
            <a:r>
              <a:rPr lang="uk-UA" dirty="0" err="1"/>
              <a:t>ДіІТіАр</a:t>
            </a:r>
            <a:r>
              <a:rPr lang="uk-UA" dirty="0"/>
              <a:t> у поєднанні з методом </a:t>
            </a:r>
            <a:r>
              <a:rPr lang="uk-UA" dirty="0" err="1"/>
              <a:t>Фарнебек</a:t>
            </a:r>
            <a:r>
              <a:rPr lang="uk-UA" dirty="0"/>
              <a:t> або Горна-</a:t>
            </a:r>
            <a:r>
              <a:rPr lang="uk-UA" dirty="0" err="1"/>
              <a:t>Шунка</a:t>
            </a:r>
            <a:r>
              <a:rPr lang="uk-UA" dirty="0"/>
              <a:t> та моделлю </a:t>
            </a:r>
            <a:r>
              <a:rPr lang="uk-UA" dirty="0" err="1"/>
              <a:t>МіДаС</a:t>
            </a:r>
            <a:r>
              <a:rPr lang="uk-UA" dirty="0"/>
              <a:t> або </a:t>
            </a:r>
            <a:r>
              <a:rPr lang="uk-UA" dirty="0" err="1"/>
              <a:t>Бегінг</a:t>
            </a:r>
            <a:r>
              <a:rPr lang="uk-UA" dirty="0"/>
              <a:t>.</a:t>
            </a:r>
          </a:p>
          <a:p>
            <a:endParaRPr lang="uk-UA" dirty="0"/>
          </a:p>
          <a:p>
            <a:r>
              <a:rPr lang="uk-UA" dirty="0"/>
              <a:t>Для задач підвищеної стійкості до локальних артефактів, таких як шуми або часткові оклюзії, доцільно використовувати ансамблеві карти глибини.</a:t>
            </a:r>
          </a:p>
          <a:p>
            <a:endParaRPr lang="uk-UA" dirty="0"/>
          </a:p>
          <a:p>
            <a:r>
              <a:rPr lang="uk-UA" dirty="0"/>
              <a:t>Остаточне порівняння з моделлю </a:t>
            </a:r>
            <a:r>
              <a:rPr lang="uk-UA" dirty="0" err="1"/>
              <a:t>Йоло</a:t>
            </a:r>
            <a:r>
              <a:rPr lang="uk-UA" dirty="0"/>
              <a:t> потребує повторного запуску середовища з доступними відповідними моделями, оскільки в наведеному експерименті цей детектор був недоступний».</a:t>
            </a:r>
            <a:endParaRPr lang="en-US" dirty="0"/>
          </a:p>
          <a:p>
            <a:r>
              <a:rPr lang="en-US" dirty="0"/>
              <a:t>----------------------------------------------------------------------------</a:t>
            </a:r>
          </a:p>
          <a:p>
            <a:r>
              <a:rPr lang="uk-UA" dirty="0"/>
              <a:t>Аналіз отриманих результатів</a:t>
            </a:r>
          </a:p>
          <a:p>
            <a:r>
              <a:rPr lang="uk-UA" dirty="0"/>
              <a:t>Що казати:</a:t>
            </a:r>
          </a:p>
          <a:p>
            <a:r>
              <a:rPr lang="uk-UA" dirty="0"/>
              <a:t>«Проведений аналіз отриманих результатів дозволяє зробити такі висновки.</a:t>
            </a:r>
          </a:p>
          <a:p>
            <a:endParaRPr lang="uk-UA" dirty="0"/>
          </a:p>
          <a:p>
            <a:r>
              <a:rPr lang="uk-UA" dirty="0"/>
              <a:t>Найкраща точність відновлення глибини забезпечується ансамблевим підходом </a:t>
            </a:r>
            <a:r>
              <a:rPr lang="en-US" dirty="0"/>
              <a:t>Bagging – RMSE = 0,713, PSNR = 51,065 </a:t>
            </a:r>
            <a:r>
              <a:rPr lang="uk-UA" dirty="0"/>
              <a:t>децибел, </a:t>
            </a:r>
            <a:r>
              <a:rPr lang="en-US" dirty="0" err="1"/>
              <a:t>IoU</a:t>
            </a:r>
            <a:r>
              <a:rPr lang="en-US" dirty="0"/>
              <a:t> = 0,996. </a:t>
            </a:r>
            <a:r>
              <a:rPr lang="uk-UA" dirty="0"/>
              <a:t>Це значно перевершує результати використання окремих моделей </a:t>
            </a:r>
            <a:r>
              <a:rPr lang="en-US" dirty="0" err="1"/>
              <a:t>MiDaS</a:t>
            </a:r>
            <a:r>
              <a:rPr lang="en-US" dirty="0"/>
              <a:t> </a:t>
            </a:r>
            <a:r>
              <a:rPr lang="uk-UA" dirty="0"/>
              <a:t>або </a:t>
            </a:r>
            <a:r>
              <a:rPr lang="en-US" dirty="0" err="1"/>
              <a:t>DPT_Large</a:t>
            </a:r>
            <a:r>
              <a:rPr lang="en-US" dirty="0"/>
              <a:t>.</a:t>
            </a:r>
          </a:p>
          <a:p>
            <a:endParaRPr lang="en-US" dirty="0"/>
          </a:p>
          <a:p>
            <a:r>
              <a:rPr lang="en-US" dirty="0" err="1"/>
              <a:t>GeoNet</a:t>
            </a:r>
            <a:r>
              <a:rPr lang="en-US" dirty="0"/>
              <a:t> </a:t>
            </a:r>
            <a:r>
              <a:rPr lang="uk-UA" dirty="0"/>
              <a:t>та </a:t>
            </a:r>
            <a:r>
              <a:rPr lang="en-US" dirty="0" err="1"/>
              <a:t>DPT_Large</a:t>
            </a:r>
            <a:r>
              <a:rPr lang="en-US" dirty="0"/>
              <a:t> </a:t>
            </a:r>
            <a:r>
              <a:rPr lang="uk-UA" dirty="0"/>
              <a:t>також показали високі результати, але </a:t>
            </a:r>
            <a:r>
              <a:rPr lang="en-US" dirty="0"/>
              <a:t>Bagging </a:t>
            </a:r>
            <a:r>
              <a:rPr lang="uk-UA" dirty="0"/>
              <a:t>перевершує їх за рахунок усереднення оцінок на різних підвибірках даних.</a:t>
            </a:r>
          </a:p>
          <a:p>
            <a:endParaRPr lang="uk-UA" dirty="0"/>
          </a:p>
          <a:p>
            <a:r>
              <a:rPr lang="uk-UA" dirty="0"/>
              <a:t>Щільні методи оптичного потоку, такі як </a:t>
            </a:r>
            <a:r>
              <a:rPr lang="en-US" dirty="0" err="1"/>
              <a:t>Farneback</a:t>
            </a:r>
            <a:r>
              <a:rPr lang="en-US" dirty="0"/>
              <a:t> </a:t>
            </a:r>
            <a:r>
              <a:rPr lang="uk-UA" dirty="0"/>
              <a:t>та </a:t>
            </a:r>
            <a:r>
              <a:rPr lang="en-US" dirty="0" err="1"/>
              <a:t>FlowNet</a:t>
            </a:r>
            <a:r>
              <a:rPr lang="en-US" dirty="0"/>
              <a:t>, </a:t>
            </a:r>
            <a:r>
              <a:rPr lang="uk-UA" dirty="0"/>
              <a:t>дають узгоджені оцінки швидкості для рухомих об'єктів, тоді як </a:t>
            </a:r>
            <a:r>
              <a:rPr lang="en-US" dirty="0"/>
              <a:t>Lucas-Kanade </a:t>
            </a:r>
            <a:r>
              <a:rPr lang="uk-UA" dirty="0"/>
              <a:t>придатний лише для локального супроводу характерних точок.</a:t>
            </a:r>
          </a:p>
          <a:p>
            <a:endParaRPr lang="uk-UA" dirty="0"/>
          </a:p>
          <a:p>
            <a:r>
              <a:rPr lang="en-US" dirty="0"/>
              <a:t>Horn-Schunck </a:t>
            </a:r>
            <a:r>
              <a:rPr lang="uk-UA" dirty="0"/>
              <a:t>забезпечує гладке поле руху і може бути використаний як компроміс між щільністю поля та регулярністю оцінки.</a:t>
            </a:r>
          </a:p>
          <a:p>
            <a:endParaRPr lang="uk-UA" dirty="0"/>
          </a:p>
          <a:p>
            <a:r>
              <a:rPr lang="uk-UA" dirty="0"/>
              <a:t>Для сценаріїв реального часу рекомендується використовувати </a:t>
            </a:r>
            <a:r>
              <a:rPr lang="en-US" dirty="0"/>
              <a:t>DETR </a:t>
            </a:r>
            <a:r>
              <a:rPr lang="uk-UA" dirty="0"/>
              <a:t>у поєднанні з </a:t>
            </a:r>
            <a:r>
              <a:rPr lang="en-US" dirty="0" err="1"/>
              <a:t>Farneback</a:t>
            </a:r>
            <a:r>
              <a:rPr lang="en-US" dirty="0"/>
              <a:t> </a:t>
            </a:r>
            <a:r>
              <a:rPr lang="uk-UA" dirty="0"/>
              <a:t>або </a:t>
            </a:r>
            <a:r>
              <a:rPr lang="en-US" dirty="0"/>
              <a:t>Horn-Schunck </a:t>
            </a:r>
            <a:r>
              <a:rPr lang="uk-UA" dirty="0"/>
              <a:t>та </a:t>
            </a:r>
            <a:r>
              <a:rPr lang="en-US" dirty="0" err="1"/>
              <a:t>MiDaS</a:t>
            </a:r>
            <a:r>
              <a:rPr lang="en-US" dirty="0"/>
              <a:t> </a:t>
            </a:r>
            <a:r>
              <a:rPr lang="uk-UA" dirty="0"/>
              <a:t>або </a:t>
            </a:r>
            <a:r>
              <a:rPr lang="en-US" dirty="0"/>
              <a:t>Bagging. </a:t>
            </a:r>
            <a:r>
              <a:rPr lang="uk-UA" dirty="0"/>
              <a:t>Для задач підвищеної стійкості до локальних артефактів доцільні ансамблеві карти глибини.</a:t>
            </a:r>
          </a:p>
          <a:p>
            <a:endParaRPr lang="uk-UA" dirty="0"/>
          </a:p>
          <a:p>
            <a:r>
              <a:rPr lang="uk-UA" dirty="0"/>
              <a:t>Остаточне порівняння з </a:t>
            </a:r>
            <a:r>
              <a:rPr lang="en-US" dirty="0"/>
              <a:t>YOLO </a:t>
            </a:r>
            <a:r>
              <a:rPr lang="uk-UA" dirty="0"/>
              <a:t>потребує повторного запуску середовища з доступними відповідними моделями.»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25</a:t>
            </a:fld>
            <a:endParaRPr lang="en-US"/>
          </a:p>
        </p:txBody>
      </p:sp>
    </p:spTree>
    <p:extLst>
      <p:ext uri="{BB962C8B-B14F-4D97-AF65-F5344CB8AC3E}">
        <p14:creationId xmlns:p14="http://schemas.microsoft.com/office/powerpoint/2010/main" val="5477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наведено кількісне підтвердження досягнення мети роботи. Мета дисертації полягала у підвищенні точності, надійності та адаптивності дистанційної ідентифікації параметрів динамічних об'єктів.</a:t>
            </a:r>
          </a:p>
          <a:p>
            <a:r>
              <a:rPr lang="uk-UA" dirty="0"/>
              <a:t>Точність підтверджено показниками </a:t>
            </a:r>
            <a:r>
              <a:rPr lang="en-US" dirty="0"/>
              <a:t>RMSE (Root Mean Square Error — </a:t>
            </a:r>
            <a:r>
              <a:rPr lang="uk-UA" dirty="0"/>
              <a:t>середньоквадратична похибка) 0,713 та </a:t>
            </a:r>
            <a:r>
              <a:rPr lang="en-US" dirty="0"/>
              <a:t>MAE (Mean Absolute Error — </a:t>
            </a:r>
            <a:r>
              <a:rPr lang="uk-UA" dirty="0"/>
              <a:t>середня абсолютна похибка) 0,474. Якість карти глибини підтверджено показником </a:t>
            </a:r>
            <a:r>
              <a:rPr lang="en-US" dirty="0"/>
              <a:t>PSNR (Peak Signal-to-Noise Ratio — </a:t>
            </a:r>
            <a:r>
              <a:rPr lang="uk-UA" dirty="0"/>
              <a:t>пікове відношення сигналу до шуму) 51,065 </a:t>
            </a:r>
            <a:r>
              <a:rPr lang="uk-UA" dirty="0" err="1"/>
              <a:t>дБ</a:t>
            </a:r>
            <a:r>
              <a:rPr lang="uk-UA" dirty="0"/>
              <a:t>.</a:t>
            </a:r>
          </a:p>
          <a:p>
            <a:r>
              <a:rPr lang="uk-UA" dirty="0"/>
              <a:t>Надійність підтверджено метриками </a:t>
            </a:r>
            <a:r>
              <a:rPr lang="en-US" dirty="0" err="1"/>
              <a:t>IoU</a:t>
            </a:r>
            <a:r>
              <a:rPr lang="en-US" dirty="0"/>
              <a:t> (Intersection over Union — </a:t>
            </a:r>
            <a:r>
              <a:rPr lang="uk-UA" dirty="0"/>
              <a:t>перетин над об'єднанням) 0,996 та </a:t>
            </a:r>
            <a:r>
              <a:rPr lang="en-US" dirty="0"/>
              <a:t>Dice (</a:t>
            </a:r>
            <a:r>
              <a:rPr lang="uk-UA" dirty="0"/>
              <a:t>коефіцієнт подібності </a:t>
            </a:r>
            <a:r>
              <a:rPr lang="uk-UA" dirty="0" err="1"/>
              <a:t>Дайса</a:t>
            </a:r>
            <a:r>
              <a:rPr lang="uk-UA" dirty="0"/>
              <a:t>) 0,998. Адаптивність показано через порівняння 35 комбінацій методів, тобто 5 методів оптичного потоку та 7 методів оцінювання глибини.</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DA9D-3BC1-4FD0-12C1-6FE9FCCA8476}"/>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0530AC2-64BD-96B6-5EB0-9E05C2B16E1C}"/>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9ACB150D-C61A-53D0-644B-B872AF655E84}"/>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a:p>
            <a:endParaRPr lang="en-US" dirty="0"/>
          </a:p>
          <a:p>
            <a:endParaRPr lang="en-US" dirty="0"/>
          </a:p>
          <a:p>
            <a:r>
              <a:rPr lang="en-US" dirty="0"/>
              <a:t>№</a:t>
            </a:r>
          </a:p>
          <a:p>
            <a:r>
              <a:rPr lang="en-US" dirty="0" err="1"/>
              <a:t>Положення</a:t>
            </a:r>
            <a:r>
              <a:rPr lang="en-US" dirty="0"/>
              <a:t> </a:t>
            </a:r>
            <a:r>
              <a:rPr lang="en-US" dirty="0" err="1"/>
              <a:t>наукової</a:t>
            </a:r>
            <a:r>
              <a:rPr lang="en-US" dirty="0"/>
              <a:t> </a:t>
            </a:r>
            <a:r>
              <a:rPr lang="en-US" dirty="0" err="1"/>
              <a:t>новизни</a:t>
            </a:r>
            <a:endParaRPr lang="en-US" dirty="0"/>
          </a:p>
          <a:p>
            <a:r>
              <a:rPr lang="en-US" dirty="0" err="1"/>
              <a:t>Слайди</a:t>
            </a:r>
            <a:r>
              <a:rPr lang="en-US" dirty="0"/>
              <a:t>, </a:t>
            </a:r>
            <a:r>
              <a:rPr lang="en-US" dirty="0" err="1"/>
              <a:t>де</a:t>
            </a:r>
            <a:r>
              <a:rPr lang="en-US" dirty="0"/>
              <a:t> </a:t>
            </a:r>
            <a:r>
              <a:rPr lang="en-US" dirty="0" err="1"/>
              <a:t>підтверджується</a:t>
            </a:r>
            <a:endParaRPr lang="en-US" dirty="0"/>
          </a:p>
          <a:p>
            <a:r>
              <a:rPr lang="en-US" dirty="0" err="1"/>
              <a:t>Що</a:t>
            </a:r>
            <a:r>
              <a:rPr lang="en-US" dirty="0"/>
              <a:t> </a:t>
            </a:r>
            <a:r>
              <a:rPr lang="en-US" dirty="0" err="1"/>
              <a:t>саме</a:t>
            </a:r>
            <a:r>
              <a:rPr lang="en-US" dirty="0"/>
              <a:t> </a:t>
            </a:r>
            <a:r>
              <a:rPr lang="en-US" dirty="0" err="1"/>
              <a:t>показано</a:t>
            </a:r>
            <a:endParaRPr lang="en-US" dirty="0"/>
          </a:p>
          <a:p>
            <a:r>
              <a:rPr lang="en-US" dirty="0"/>
              <a:t>1</a:t>
            </a:r>
            <a:r>
              <a:rPr lang="en-US" b="1" dirty="0"/>
              <a:t>Удосконалено </a:t>
            </a:r>
            <a:r>
              <a:rPr lang="en-US" b="1" dirty="0" err="1"/>
              <a:t>модель</a:t>
            </a:r>
            <a:r>
              <a:rPr lang="en-US" b="1" dirty="0"/>
              <a:t> </a:t>
            </a:r>
            <a:r>
              <a:rPr lang="en-US" b="1" dirty="0" err="1"/>
              <a:t>дистанційної</a:t>
            </a:r>
            <a:r>
              <a:rPr lang="en-US" b="1" dirty="0"/>
              <a:t> </a:t>
            </a:r>
            <a:r>
              <a:rPr lang="en-US" b="1" dirty="0" err="1"/>
              <a:t>ідентифікації</a:t>
            </a:r>
            <a:r>
              <a:rPr lang="en-US" b="1" dirty="0"/>
              <a:t> </a:t>
            </a:r>
            <a:r>
              <a:rPr lang="en-US" b="1" dirty="0" err="1"/>
              <a:t>параметрів</a:t>
            </a:r>
            <a:r>
              <a:rPr lang="en-US" b="1" dirty="0"/>
              <a:t> </a:t>
            </a:r>
            <a:r>
              <a:rPr lang="en-US" b="1" dirty="0" err="1"/>
              <a:t>динамічних</a:t>
            </a:r>
            <a:r>
              <a:rPr lang="en-US" b="1" dirty="0"/>
              <a:t> </a:t>
            </a:r>
            <a:r>
              <a:rPr lang="en-US" b="1" dirty="0" err="1"/>
              <a:t>об'єктів</a:t>
            </a:r>
            <a:r>
              <a:rPr lang="en-US" b="1" dirty="0"/>
              <a:t> </a:t>
            </a:r>
            <a:r>
              <a:rPr lang="en-US" b="1" dirty="0" err="1"/>
              <a:t>шляхом</a:t>
            </a:r>
            <a:r>
              <a:rPr lang="en-US" b="1" dirty="0"/>
              <a:t> </a:t>
            </a:r>
            <a:r>
              <a:rPr lang="en-US" b="1" dirty="0" err="1"/>
              <a:t>інтеграції</a:t>
            </a:r>
            <a:r>
              <a:rPr lang="en-US" b="1" dirty="0"/>
              <a:t> DETR </a:t>
            </a:r>
            <a:r>
              <a:rPr lang="en-US" b="1" dirty="0" err="1"/>
              <a:t>та</a:t>
            </a:r>
            <a:r>
              <a:rPr lang="en-US" b="1" dirty="0"/>
              <a:t> </a:t>
            </a:r>
            <a:r>
              <a:rPr lang="en-US" b="1" dirty="0" err="1"/>
              <a:t>оптичного</a:t>
            </a:r>
            <a:r>
              <a:rPr lang="en-US" b="1" dirty="0"/>
              <a:t> потоку17–18, 20, 22–23</a:t>
            </a:r>
            <a:r>
              <a:rPr lang="en-US" dirty="0"/>
              <a:t>Структуру </a:t>
            </a:r>
            <a:r>
              <a:rPr lang="en-US" dirty="0" err="1"/>
              <a:t>моделей</a:t>
            </a:r>
            <a:r>
              <a:rPr lang="en-US" dirty="0"/>
              <a:t> ДІПДО; </a:t>
            </a:r>
            <a:r>
              <a:rPr lang="en-US" dirty="0" err="1"/>
              <a:t>аналітичну</a:t>
            </a:r>
            <a:r>
              <a:rPr lang="en-US" dirty="0"/>
              <a:t> </a:t>
            </a:r>
            <a:r>
              <a:rPr lang="en-US" dirty="0" err="1"/>
              <a:t>модель</a:t>
            </a:r>
            <a:r>
              <a:rPr lang="en-US" dirty="0"/>
              <a:t> DETR + Optical Flow; </a:t>
            </a:r>
            <a:r>
              <a:rPr lang="en-US" dirty="0" err="1"/>
              <a:t>локалізацію</a:t>
            </a:r>
            <a:r>
              <a:rPr lang="en-US" dirty="0"/>
              <a:t> </a:t>
            </a:r>
            <a:r>
              <a:rPr lang="en-US" dirty="0" err="1"/>
              <a:t>об'єктів</a:t>
            </a:r>
            <a:r>
              <a:rPr lang="en-US" dirty="0"/>
              <a:t>; </a:t>
            </a:r>
            <a:r>
              <a:rPr lang="en-US" dirty="0" err="1"/>
              <a:t>визначення</a:t>
            </a:r>
            <a:r>
              <a:rPr lang="en-US" dirty="0"/>
              <a:t> </a:t>
            </a:r>
            <a:r>
              <a:rPr lang="en-US" dirty="0" err="1"/>
              <a:t>векторів</a:t>
            </a:r>
            <a:r>
              <a:rPr lang="en-US" dirty="0"/>
              <a:t> </a:t>
            </a:r>
            <a:r>
              <a:rPr lang="en-US" dirty="0" err="1"/>
              <a:t>руху</a:t>
            </a:r>
            <a:r>
              <a:rPr lang="en-US" dirty="0"/>
              <a:t>, </a:t>
            </a:r>
            <a:r>
              <a:rPr lang="en-US" dirty="0" err="1"/>
              <a:t>швидкості</a:t>
            </a:r>
            <a:r>
              <a:rPr lang="en-US" dirty="0"/>
              <a:t> </a:t>
            </a:r>
            <a:r>
              <a:rPr lang="en-US" dirty="0" err="1"/>
              <a:t>та</a:t>
            </a:r>
            <a:r>
              <a:rPr lang="en-US" dirty="0"/>
              <a:t> </a:t>
            </a:r>
            <a:r>
              <a:rPr lang="en-US" dirty="0" err="1"/>
              <a:t>напрямку</a:t>
            </a:r>
            <a:endParaRPr lang="en-US" dirty="0"/>
          </a:p>
          <a:p>
            <a:r>
              <a:rPr lang="en-US" dirty="0"/>
              <a:t>2</a:t>
            </a:r>
            <a:r>
              <a:rPr lang="en-US" b="1" dirty="0"/>
              <a:t>Набула </a:t>
            </a:r>
            <a:r>
              <a:rPr lang="en-US" b="1" dirty="0" err="1"/>
              <a:t>подальшого</a:t>
            </a:r>
            <a:r>
              <a:rPr lang="en-US" b="1" dirty="0"/>
              <a:t> </a:t>
            </a:r>
            <a:r>
              <a:rPr lang="en-US" b="1" dirty="0" err="1"/>
              <a:t>розвитку</a:t>
            </a:r>
            <a:r>
              <a:rPr lang="en-US" b="1" dirty="0"/>
              <a:t> </a:t>
            </a:r>
            <a:r>
              <a:rPr lang="en-US" b="1" dirty="0" err="1"/>
              <a:t>просторово-часова</a:t>
            </a:r>
            <a:r>
              <a:rPr lang="en-US" b="1" dirty="0"/>
              <a:t> </a:t>
            </a:r>
            <a:r>
              <a:rPr lang="en-US" b="1" dirty="0" err="1"/>
              <a:t>модель</a:t>
            </a:r>
            <a:r>
              <a:rPr lang="en-US" b="1" dirty="0"/>
              <a:t> </a:t>
            </a:r>
            <a:r>
              <a:rPr lang="en-US" b="1" dirty="0" err="1"/>
              <a:t>опису</a:t>
            </a:r>
            <a:r>
              <a:rPr lang="en-US" b="1" dirty="0"/>
              <a:t> </a:t>
            </a:r>
            <a:r>
              <a:rPr lang="en-US" b="1" dirty="0" err="1"/>
              <a:t>стану</a:t>
            </a:r>
            <a:r>
              <a:rPr lang="en-US" b="1" dirty="0"/>
              <a:t> </a:t>
            </a:r>
            <a:r>
              <a:rPr lang="en-US" b="1" dirty="0" err="1"/>
              <a:t>динамічного</a:t>
            </a:r>
            <a:r>
              <a:rPr lang="en-US" b="1" dirty="0"/>
              <a:t> об'єкта11, 16–18, 23</a:t>
            </a:r>
            <a:r>
              <a:rPr lang="en-US" dirty="0"/>
              <a:t>Об'єднання </a:t>
            </a:r>
            <a:r>
              <a:rPr lang="en-US" dirty="0" err="1"/>
              <a:t>просторових</a:t>
            </a:r>
            <a:r>
              <a:rPr lang="en-US" dirty="0"/>
              <a:t> і </a:t>
            </a:r>
            <a:r>
              <a:rPr lang="en-US" dirty="0" err="1"/>
              <a:t>часових</a:t>
            </a:r>
            <a:r>
              <a:rPr lang="en-US" dirty="0"/>
              <a:t> </a:t>
            </a:r>
            <a:r>
              <a:rPr lang="en-US" dirty="0" err="1"/>
              <a:t>ознак</a:t>
            </a:r>
            <a:r>
              <a:rPr lang="en-US" dirty="0"/>
              <a:t>; </a:t>
            </a:r>
            <a:r>
              <a:rPr lang="en-US" dirty="0" err="1"/>
              <a:t>перехід</a:t>
            </a:r>
            <a:r>
              <a:rPr lang="en-US" dirty="0"/>
              <a:t> </a:t>
            </a:r>
            <a:r>
              <a:rPr lang="en-US" dirty="0" err="1"/>
              <a:t>від</a:t>
            </a:r>
            <a:r>
              <a:rPr lang="en-US" dirty="0"/>
              <a:t> </a:t>
            </a:r>
            <a:r>
              <a:rPr lang="en-US" dirty="0" err="1"/>
              <a:t>покадрового</a:t>
            </a:r>
            <a:r>
              <a:rPr lang="en-US" dirty="0"/>
              <a:t> </a:t>
            </a:r>
            <a:r>
              <a:rPr lang="en-US" dirty="0" err="1"/>
              <a:t>виявлення</a:t>
            </a:r>
            <a:r>
              <a:rPr lang="en-US" dirty="0"/>
              <a:t> </a:t>
            </a:r>
            <a:r>
              <a:rPr lang="en-US" dirty="0" err="1"/>
              <a:t>до</a:t>
            </a:r>
            <a:r>
              <a:rPr lang="en-US" dirty="0"/>
              <a:t> </a:t>
            </a:r>
            <a:r>
              <a:rPr lang="en-US" dirty="0" err="1"/>
              <a:t>визначення</a:t>
            </a:r>
            <a:r>
              <a:rPr lang="en-US" dirty="0"/>
              <a:t> </a:t>
            </a:r>
            <a:r>
              <a:rPr lang="en-US" dirty="0" err="1"/>
              <a:t>положення</a:t>
            </a:r>
            <a:r>
              <a:rPr lang="en-US" dirty="0"/>
              <a:t>, </a:t>
            </a:r>
            <a:r>
              <a:rPr lang="en-US" dirty="0" err="1"/>
              <a:t>швидкості</a:t>
            </a:r>
            <a:r>
              <a:rPr lang="en-US" dirty="0"/>
              <a:t>, </a:t>
            </a:r>
            <a:r>
              <a:rPr lang="en-US" dirty="0" err="1"/>
              <a:t>прискорення</a:t>
            </a:r>
            <a:r>
              <a:rPr lang="en-US" dirty="0"/>
              <a:t>, </a:t>
            </a:r>
            <a:r>
              <a:rPr lang="en-US" dirty="0" err="1"/>
              <a:t>напрямку</a:t>
            </a:r>
            <a:r>
              <a:rPr lang="en-US" dirty="0"/>
              <a:t> і </a:t>
            </a:r>
            <a:r>
              <a:rPr lang="en-US" dirty="0" err="1"/>
              <a:t>траєкторії</a:t>
            </a:r>
            <a:endParaRPr lang="en-US" dirty="0"/>
          </a:p>
          <a:p>
            <a:r>
              <a:rPr lang="en-US" dirty="0"/>
              <a:t>3</a:t>
            </a:r>
            <a:r>
              <a:rPr lang="en-US" b="1" dirty="0"/>
              <a:t>Удосконалено </a:t>
            </a:r>
            <a:r>
              <a:rPr lang="en-US" b="1" dirty="0" err="1"/>
              <a:t>метод</a:t>
            </a:r>
            <a:r>
              <a:rPr lang="en-US" b="1" dirty="0"/>
              <a:t> </a:t>
            </a:r>
            <a:r>
              <a:rPr lang="en-US" b="1" dirty="0" err="1"/>
              <a:t>сумісного</a:t>
            </a:r>
            <a:r>
              <a:rPr lang="en-US" b="1" dirty="0"/>
              <a:t> </a:t>
            </a:r>
            <a:r>
              <a:rPr lang="en-US" b="1" dirty="0" err="1"/>
              <a:t>оцінювання</a:t>
            </a:r>
            <a:r>
              <a:rPr lang="en-US" b="1" dirty="0"/>
              <a:t> </a:t>
            </a:r>
            <a:r>
              <a:rPr lang="en-US" b="1" dirty="0" err="1"/>
              <a:t>руху</a:t>
            </a:r>
            <a:r>
              <a:rPr lang="en-US" b="1" dirty="0"/>
              <a:t> </a:t>
            </a:r>
            <a:r>
              <a:rPr lang="en-US" b="1" dirty="0" err="1"/>
              <a:t>та</a:t>
            </a:r>
            <a:r>
              <a:rPr lang="en-US" b="1" dirty="0"/>
              <a:t> </a:t>
            </a:r>
            <a:r>
              <a:rPr lang="en-US" b="1" dirty="0" err="1"/>
              <a:t>глибини</a:t>
            </a:r>
            <a:r>
              <a:rPr lang="en-US" b="1" dirty="0"/>
              <a:t> відеосцени21, 25–26</a:t>
            </a:r>
            <a:r>
              <a:rPr lang="en-US" dirty="0"/>
              <a:t>Використання </a:t>
            </a:r>
            <a:r>
              <a:rPr lang="en-US" dirty="0" err="1"/>
              <a:t>GeoNet</a:t>
            </a:r>
            <a:r>
              <a:rPr lang="en-US" dirty="0"/>
              <a:t>, </a:t>
            </a:r>
            <a:r>
              <a:rPr lang="en-US" dirty="0" err="1"/>
              <a:t>оптичного</a:t>
            </a:r>
            <a:r>
              <a:rPr lang="en-US" dirty="0"/>
              <a:t> </a:t>
            </a:r>
            <a:r>
              <a:rPr lang="en-US" dirty="0" err="1"/>
              <a:t>потоку</a:t>
            </a:r>
            <a:r>
              <a:rPr lang="en-US" dirty="0"/>
              <a:t>, </a:t>
            </a:r>
            <a:r>
              <a:rPr lang="en-US" dirty="0" err="1"/>
              <a:t>моделей</a:t>
            </a:r>
            <a:r>
              <a:rPr lang="en-US" dirty="0"/>
              <a:t> </a:t>
            </a:r>
            <a:r>
              <a:rPr lang="en-US" dirty="0" err="1"/>
              <a:t>глибини</a:t>
            </a:r>
            <a:r>
              <a:rPr lang="en-US" dirty="0"/>
              <a:t> </a:t>
            </a:r>
            <a:r>
              <a:rPr lang="en-US" dirty="0" err="1"/>
              <a:t>та</a:t>
            </a:r>
            <a:r>
              <a:rPr lang="en-US" dirty="0"/>
              <a:t> </a:t>
            </a:r>
            <a:r>
              <a:rPr lang="en-US" dirty="0" err="1"/>
              <a:t>трансформерної</a:t>
            </a:r>
            <a:r>
              <a:rPr lang="en-US" dirty="0"/>
              <a:t> </a:t>
            </a:r>
            <a:r>
              <a:rPr lang="en-US" dirty="0" err="1"/>
              <a:t>обробки</a:t>
            </a:r>
            <a:r>
              <a:rPr lang="en-US" dirty="0"/>
              <a:t> в </a:t>
            </a:r>
            <a:r>
              <a:rPr lang="en-US" dirty="0" err="1"/>
              <a:t>єдиній</a:t>
            </a:r>
            <a:r>
              <a:rPr lang="en-US" dirty="0"/>
              <a:t> </a:t>
            </a:r>
            <a:r>
              <a:rPr lang="en-US" dirty="0" err="1"/>
              <a:t>інтегральній</a:t>
            </a:r>
            <a:r>
              <a:rPr lang="en-US" dirty="0"/>
              <a:t> </a:t>
            </a:r>
            <a:r>
              <a:rPr lang="en-US" dirty="0" err="1"/>
              <a:t>схемі</a:t>
            </a:r>
            <a:endParaRPr lang="en-US" dirty="0"/>
          </a:p>
          <a:p>
            <a:r>
              <a:rPr lang="en-US" dirty="0"/>
              <a:t>4</a:t>
            </a:r>
            <a:r>
              <a:rPr lang="en-US" b="1" dirty="0"/>
              <a:t>Удосконалено </a:t>
            </a:r>
            <a:r>
              <a:rPr lang="en-US" b="1" dirty="0" err="1"/>
              <a:t>метод</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стійкості</a:t>
            </a:r>
            <a:r>
              <a:rPr lang="en-US" b="1" dirty="0"/>
              <a:t> </a:t>
            </a:r>
            <a:r>
              <a:rPr lang="en-US" b="1" dirty="0" err="1"/>
              <a:t>оцінювання</a:t>
            </a:r>
            <a:r>
              <a:rPr lang="en-US" b="1" dirty="0"/>
              <a:t> </a:t>
            </a:r>
            <a:r>
              <a:rPr lang="en-US" b="1" dirty="0" err="1"/>
              <a:t>глибини</a:t>
            </a:r>
            <a:r>
              <a:rPr lang="en-US" b="1" dirty="0"/>
              <a:t> </a:t>
            </a:r>
            <a:r>
              <a:rPr lang="en-US" b="1" dirty="0" err="1"/>
              <a:t>за</a:t>
            </a:r>
            <a:r>
              <a:rPr lang="en-US" b="1" dirty="0"/>
              <a:t> </a:t>
            </a:r>
            <a:r>
              <a:rPr lang="en-US" b="1" dirty="0" err="1"/>
              <a:t>допомогою</a:t>
            </a:r>
            <a:r>
              <a:rPr lang="en-US" b="1" dirty="0"/>
              <a:t> Bagging і Boosting15, 25–26, 32</a:t>
            </a:r>
            <a:r>
              <a:rPr lang="en-US" dirty="0"/>
              <a:t>Ансамблеве </a:t>
            </a:r>
            <a:r>
              <a:rPr lang="en-US" dirty="0" err="1"/>
              <a:t>об'єднання</a:t>
            </a:r>
            <a:r>
              <a:rPr lang="en-US" dirty="0"/>
              <a:t> </a:t>
            </a:r>
            <a:r>
              <a:rPr lang="en-US" dirty="0" err="1"/>
              <a:t>результатів</a:t>
            </a:r>
            <a:r>
              <a:rPr lang="en-US" dirty="0"/>
              <a:t>; </a:t>
            </a:r>
            <a:r>
              <a:rPr lang="en-US" dirty="0" err="1"/>
              <a:t>паралельна</a:t>
            </a:r>
            <a:r>
              <a:rPr lang="en-US" dirty="0"/>
              <a:t> </a:t>
            </a:r>
            <a:r>
              <a:rPr lang="en-US" dirty="0" err="1"/>
              <a:t>схема</a:t>
            </a:r>
            <a:r>
              <a:rPr lang="en-US" dirty="0"/>
              <a:t> Bagging </a:t>
            </a:r>
            <a:r>
              <a:rPr lang="en-US" dirty="0" err="1"/>
              <a:t>та</a:t>
            </a:r>
            <a:r>
              <a:rPr lang="en-US" dirty="0"/>
              <a:t> </a:t>
            </a:r>
            <a:r>
              <a:rPr lang="en-US" dirty="0" err="1"/>
              <a:t>послідовна</a:t>
            </a:r>
            <a:r>
              <a:rPr lang="en-US" dirty="0"/>
              <a:t> </a:t>
            </a:r>
            <a:r>
              <a:rPr lang="en-US" dirty="0" err="1"/>
              <a:t>корекція</a:t>
            </a:r>
            <a:r>
              <a:rPr lang="en-US" dirty="0"/>
              <a:t> Boosting</a:t>
            </a:r>
          </a:p>
          <a:p>
            <a:r>
              <a:rPr lang="en-US" dirty="0"/>
              <a:t>5</a:t>
            </a:r>
            <a:r>
              <a:rPr lang="en-US" b="1" dirty="0"/>
              <a:t>Вперше </a:t>
            </a:r>
            <a:r>
              <a:rPr lang="en-US" b="1" dirty="0" err="1"/>
              <a:t>або</a:t>
            </a:r>
            <a:r>
              <a:rPr lang="en-US" b="1" dirty="0"/>
              <a:t> </a:t>
            </a:r>
            <a:r>
              <a:rPr lang="en-US" b="1" dirty="0" err="1"/>
              <a:t>комплексно</a:t>
            </a:r>
            <a:r>
              <a:rPr lang="en-US" b="1" dirty="0"/>
              <a:t> </a:t>
            </a:r>
            <a:r>
              <a:rPr lang="en-US" b="1" dirty="0" err="1"/>
              <a:t>запропоновано</a:t>
            </a:r>
            <a:r>
              <a:rPr lang="en-US" b="1" dirty="0"/>
              <a:t> </a:t>
            </a:r>
            <a:r>
              <a:rPr lang="en-US" b="1" dirty="0" err="1"/>
              <a:t>інформаційну</a:t>
            </a:r>
            <a:r>
              <a:rPr lang="en-US" b="1" dirty="0"/>
              <a:t> </a:t>
            </a:r>
            <a:r>
              <a:rPr lang="en-US" b="1" dirty="0" err="1"/>
              <a:t>технологію</a:t>
            </a:r>
            <a:r>
              <a:rPr lang="en-US" b="1" dirty="0"/>
              <a:t>, </a:t>
            </a:r>
            <a:r>
              <a:rPr lang="en-US" b="1" dirty="0" err="1"/>
              <a:t>яка</a:t>
            </a:r>
            <a:r>
              <a:rPr lang="en-US" b="1" dirty="0"/>
              <a:t> </a:t>
            </a:r>
            <a:r>
              <a:rPr lang="en-US" b="1" dirty="0" err="1"/>
              <a:t>поєднує</a:t>
            </a:r>
            <a:r>
              <a:rPr lang="en-US" b="1" dirty="0"/>
              <a:t> </a:t>
            </a:r>
            <a:r>
              <a:rPr lang="en-US" b="1" dirty="0" err="1"/>
              <a:t>детекцію</a:t>
            </a:r>
            <a:r>
              <a:rPr lang="en-US" b="1" dirty="0"/>
              <a:t>, </a:t>
            </a:r>
            <a:r>
              <a:rPr lang="en-US" b="1" dirty="0" err="1"/>
              <a:t>рух</a:t>
            </a:r>
            <a:r>
              <a:rPr lang="en-US" b="1" dirty="0"/>
              <a:t>, </a:t>
            </a:r>
            <a:r>
              <a:rPr lang="en-US" b="1" dirty="0" err="1"/>
              <a:t>глибину</a:t>
            </a:r>
            <a:r>
              <a:rPr lang="en-US" b="1" dirty="0"/>
              <a:t>, </a:t>
            </a:r>
            <a:r>
              <a:rPr lang="en-US" b="1" dirty="0" err="1"/>
              <a:t>ансамблеву</a:t>
            </a:r>
            <a:r>
              <a:rPr lang="en-US" b="1" dirty="0"/>
              <a:t> </a:t>
            </a:r>
            <a:r>
              <a:rPr lang="en-US" b="1" dirty="0" err="1"/>
              <a:t>корекцію</a:t>
            </a:r>
            <a:r>
              <a:rPr lang="en-US" b="1" dirty="0"/>
              <a:t> </a:t>
            </a:r>
            <a:r>
              <a:rPr lang="en-US" b="1" dirty="0" err="1"/>
              <a:t>та</a:t>
            </a:r>
            <a:r>
              <a:rPr lang="en-US" b="1" dirty="0"/>
              <a:t> </a:t>
            </a:r>
            <a:r>
              <a:rPr lang="en-US" b="1" dirty="0" err="1"/>
              <a:t>визначення</a:t>
            </a:r>
            <a:r>
              <a:rPr lang="en-US" b="1" dirty="0"/>
              <a:t> </a:t>
            </a:r>
            <a:r>
              <a:rPr lang="en-US" b="1" dirty="0" err="1"/>
              <a:t>параметрів</a:t>
            </a:r>
            <a:r>
              <a:rPr lang="en-US" b="1" dirty="0"/>
              <a:t> об'єкта25–26, 30, 35</a:t>
            </a:r>
            <a:r>
              <a:rPr lang="en-US" dirty="0"/>
              <a:t>Повний </a:t>
            </a:r>
            <a:r>
              <a:rPr lang="en-US" dirty="0" err="1"/>
              <a:t>цикл</a:t>
            </a:r>
            <a:r>
              <a:rPr lang="en-US" dirty="0"/>
              <a:t> </a:t>
            </a:r>
            <a:r>
              <a:rPr lang="en-US" dirty="0" err="1"/>
              <a:t>обробки</a:t>
            </a:r>
            <a:r>
              <a:rPr lang="en-US" dirty="0"/>
              <a:t>: </a:t>
            </a:r>
            <a:r>
              <a:rPr lang="en-US" dirty="0" err="1"/>
              <a:t>відеопотік</a:t>
            </a:r>
            <a:r>
              <a:rPr lang="en-US" dirty="0"/>
              <a:t> → DETR → </a:t>
            </a:r>
            <a:r>
              <a:rPr lang="en-US" dirty="0" err="1"/>
              <a:t>оптичний</a:t>
            </a:r>
            <a:r>
              <a:rPr lang="en-US" dirty="0"/>
              <a:t> </a:t>
            </a:r>
            <a:r>
              <a:rPr lang="en-US" dirty="0" err="1"/>
              <a:t>потік</a:t>
            </a:r>
            <a:r>
              <a:rPr lang="en-US" dirty="0"/>
              <a:t> → </a:t>
            </a:r>
            <a:r>
              <a:rPr lang="en-US" dirty="0" err="1"/>
              <a:t>карта</a:t>
            </a:r>
            <a:r>
              <a:rPr lang="en-US" dirty="0"/>
              <a:t> </a:t>
            </a:r>
            <a:r>
              <a:rPr lang="en-US" dirty="0" err="1"/>
              <a:t>глибини</a:t>
            </a:r>
            <a:r>
              <a:rPr lang="en-US" dirty="0"/>
              <a:t> → </a:t>
            </a:r>
            <a:r>
              <a:rPr lang="en-US" dirty="0" err="1"/>
              <a:t>ансамбль</a:t>
            </a:r>
            <a:r>
              <a:rPr lang="en-US" dirty="0"/>
              <a:t> → </a:t>
            </a:r>
            <a:r>
              <a:rPr lang="en-US" dirty="0" err="1"/>
              <a:t>параметри</a:t>
            </a:r>
            <a:r>
              <a:rPr lang="en-US" dirty="0"/>
              <a:t> → </a:t>
            </a:r>
            <a:r>
              <a:rPr lang="en-US" dirty="0" err="1"/>
              <a:t>візуалізація</a:t>
            </a:r>
            <a:endParaRPr lang="en-US" dirty="0"/>
          </a:p>
          <a:p>
            <a:r>
              <a:rPr lang="en-US" dirty="0"/>
              <a:t>6</a:t>
            </a:r>
            <a:r>
              <a:rPr lang="en-US" b="1" dirty="0"/>
              <a:t>Підтверджено </a:t>
            </a:r>
            <a:r>
              <a:rPr lang="en-US" b="1" dirty="0" err="1"/>
              <a:t>адаптивність</a:t>
            </a:r>
            <a:r>
              <a:rPr lang="en-US" b="1" dirty="0"/>
              <a:t> </a:t>
            </a:r>
            <a:r>
              <a:rPr lang="en-US" b="1" dirty="0" err="1"/>
              <a:t>запропонованого</a:t>
            </a:r>
            <a:r>
              <a:rPr lang="en-US" b="1" dirty="0"/>
              <a:t> </a:t>
            </a:r>
            <a:r>
              <a:rPr lang="en-US" b="1" dirty="0" err="1"/>
              <a:t>підходу</a:t>
            </a:r>
            <a:r>
              <a:rPr lang="en-US" b="1" dirty="0"/>
              <a:t> </a:t>
            </a:r>
            <a:r>
              <a:rPr lang="en-US" b="1" dirty="0" err="1"/>
              <a:t>завдяки</a:t>
            </a:r>
            <a:r>
              <a:rPr lang="en-US" b="1" dirty="0"/>
              <a:t> </a:t>
            </a:r>
            <a:r>
              <a:rPr lang="en-US" b="1" dirty="0" err="1"/>
              <a:t>можливості</a:t>
            </a:r>
            <a:r>
              <a:rPr lang="en-US" b="1" dirty="0"/>
              <a:t> </a:t>
            </a:r>
            <a:r>
              <a:rPr lang="en-US" b="1" dirty="0" err="1"/>
              <a:t>комбінування</a:t>
            </a:r>
            <a:r>
              <a:rPr lang="en-US" b="1" dirty="0"/>
              <a:t> </a:t>
            </a:r>
            <a:r>
              <a:rPr lang="en-US" b="1" dirty="0" err="1"/>
              <a:t>різних</a:t>
            </a:r>
            <a:r>
              <a:rPr lang="en-US" b="1" dirty="0"/>
              <a:t> </a:t>
            </a:r>
            <a:r>
              <a:rPr lang="en-US" b="1" dirty="0" err="1"/>
              <a:t>моделей</a:t>
            </a:r>
            <a:r>
              <a:rPr lang="en-US" b="1" dirty="0"/>
              <a:t> і методів30, 36–38, 43</a:t>
            </a:r>
            <a:r>
              <a:rPr lang="en-US" dirty="0"/>
              <a:t>Модульність </a:t>
            </a:r>
            <a:r>
              <a:rPr lang="en-US" dirty="0" err="1"/>
              <a:t>технології</a:t>
            </a:r>
            <a:r>
              <a:rPr lang="en-US" dirty="0"/>
              <a:t>; </a:t>
            </a:r>
            <a:r>
              <a:rPr lang="en-US" dirty="0" err="1"/>
              <a:t>заміна</a:t>
            </a:r>
            <a:r>
              <a:rPr lang="en-US" dirty="0"/>
              <a:t> DETR/YOLO, </a:t>
            </a:r>
            <a:r>
              <a:rPr lang="en-US" dirty="0" err="1"/>
              <a:t>Farneback</a:t>
            </a:r>
            <a:r>
              <a:rPr lang="en-US" dirty="0"/>
              <a:t>/</a:t>
            </a:r>
            <a:r>
              <a:rPr lang="en-US" dirty="0" err="1"/>
              <a:t>FlowNet</a:t>
            </a:r>
            <a:r>
              <a:rPr lang="en-US" dirty="0"/>
              <a:t>; </a:t>
            </a:r>
            <a:r>
              <a:rPr lang="en-US" dirty="0" err="1"/>
              <a:t>порівняння</a:t>
            </a:r>
            <a:r>
              <a:rPr lang="en-US" dirty="0"/>
              <a:t> </a:t>
            </a:r>
            <a:r>
              <a:rPr lang="en-US" b="1" dirty="0"/>
              <a:t>35 </a:t>
            </a:r>
            <a:r>
              <a:rPr lang="en-US" b="1" dirty="0" err="1"/>
              <a:t>комбінацій</a:t>
            </a:r>
            <a:r>
              <a:rPr lang="en-US" dirty="0"/>
              <a:t> </a:t>
            </a:r>
            <a:r>
              <a:rPr lang="en-US" dirty="0" err="1"/>
              <a:t>методів</a:t>
            </a:r>
            <a:endParaRPr lang="en-US" dirty="0"/>
          </a:p>
          <a:p>
            <a:r>
              <a:rPr lang="en-US" dirty="0"/>
              <a:t>7</a:t>
            </a:r>
            <a:r>
              <a:rPr lang="en-US" b="1" dirty="0"/>
              <a:t>Експериментально </a:t>
            </a:r>
            <a:r>
              <a:rPr lang="en-US" b="1" dirty="0" err="1"/>
              <a:t>підтверджено</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надійності</a:t>
            </a:r>
            <a:r>
              <a:rPr lang="en-US" b="1" dirty="0"/>
              <a:t> ідентифікації37–39, 43</a:t>
            </a:r>
            <a:r>
              <a:rPr lang="en-US" dirty="0"/>
              <a:t>Результати: RMSE = </a:t>
            </a:r>
            <a:r>
              <a:rPr lang="en-US" b="1" dirty="0"/>
              <a:t>0,713</a:t>
            </a:r>
            <a:r>
              <a:rPr lang="en-US" dirty="0"/>
              <a:t>; MAE = </a:t>
            </a:r>
            <a:r>
              <a:rPr lang="en-US" b="1" dirty="0"/>
              <a:t>0,474</a:t>
            </a:r>
            <a:r>
              <a:rPr lang="en-US" dirty="0"/>
              <a:t>; PSNR = </a:t>
            </a:r>
            <a:r>
              <a:rPr lang="en-US" b="1" dirty="0"/>
              <a:t>51,065 </a:t>
            </a:r>
            <a:r>
              <a:rPr lang="en-US" b="1" dirty="0" err="1"/>
              <a:t>дБ</a:t>
            </a:r>
            <a:r>
              <a:rPr lang="en-US" dirty="0"/>
              <a:t>; </a:t>
            </a:r>
            <a:r>
              <a:rPr lang="en-US" dirty="0" err="1"/>
              <a:t>IoU</a:t>
            </a:r>
            <a:r>
              <a:rPr lang="en-US" dirty="0"/>
              <a:t> = </a:t>
            </a:r>
            <a:r>
              <a:rPr lang="en-US" b="1" dirty="0"/>
              <a:t>0,996</a:t>
            </a:r>
            <a:r>
              <a:rPr lang="en-US" dirty="0"/>
              <a:t>; Dice = </a:t>
            </a:r>
            <a:r>
              <a:rPr lang="en-US" b="1" dirty="0"/>
              <a:t>0,998</a:t>
            </a:r>
            <a:endParaRPr lang="en-US" dirty="0"/>
          </a:p>
          <a:p>
            <a:r>
              <a:rPr lang="en-US" dirty="0"/>
              <a:t>8</a:t>
            </a:r>
            <a:r>
              <a:rPr lang="en-US" b="1" dirty="0"/>
              <a:t>Підтверджено </a:t>
            </a:r>
            <a:r>
              <a:rPr lang="en-US" b="1" dirty="0" err="1"/>
              <a:t>працездатність</a:t>
            </a:r>
            <a:r>
              <a:rPr lang="en-US" b="1" dirty="0"/>
              <a:t> </a:t>
            </a:r>
            <a:r>
              <a:rPr lang="en-US" b="1" dirty="0" err="1"/>
              <a:t>визначення</a:t>
            </a:r>
            <a:r>
              <a:rPr lang="en-US" b="1" dirty="0"/>
              <a:t> </a:t>
            </a:r>
            <a:r>
              <a:rPr lang="en-US" b="1" dirty="0" err="1"/>
              <a:t>кінематичних</a:t>
            </a:r>
            <a:r>
              <a:rPr lang="en-US" b="1" dirty="0"/>
              <a:t> </a:t>
            </a:r>
            <a:r>
              <a:rPr lang="en-US" b="1" dirty="0" err="1"/>
              <a:t>параметрів</a:t>
            </a:r>
            <a:r>
              <a:rPr lang="en-US" b="1" dirty="0"/>
              <a:t> </a:t>
            </a:r>
            <a:r>
              <a:rPr lang="en-US" b="1" dirty="0" err="1"/>
              <a:t>рухомих</a:t>
            </a:r>
            <a:r>
              <a:rPr lang="en-US" b="1" dirty="0"/>
              <a:t> об'єктів34–35, 39, 43</a:t>
            </a:r>
            <a:r>
              <a:rPr lang="en-US" dirty="0"/>
              <a:t>DETR </a:t>
            </a:r>
            <a:r>
              <a:rPr lang="en-US" dirty="0" err="1"/>
              <a:t>виявив</a:t>
            </a:r>
            <a:r>
              <a:rPr lang="en-US" dirty="0"/>
              <a:t> 6 </a:t>
            </a:r>
            <a:r>
              <a:rPr lang="en-US" dirty="0" err="1"/>
              <a:t>об'єктів</a:t>
            </a:r>
            <a:r>
              <a:rPr lang="en-US" dirty="0"/>
              <a:t> </a:t>
            </a:r>
            <a:r>
              <a:rPr lang="en-US" dirty="0" err="1"/>
              <a:t>із</a:t>
            </a:r>
            <a:r>
              <a:rPr lang="en-US" dirty="0"/>
              <a:t> </a:t>
            </a:r>
            <a:r>
              <a:rPr lang="en-US" dirty="0" err="1"/>
              <a:t>довірою</a:t>
            </a:r>
            <a:r>
              <a:rPr lang="en-US" dirty="0"/>
              <a:t> </a:t>
            </a:r>
            <a:r>
              <a:rPr lang="en-US" b="1" dirty="0"/>
              <a:t>0,74–1,00</a:t>
            </a:r>
            <a:r>
              <a:rPr lang="en-US" dirty="0"/>
              <a:t>; </a:t>
            </a:r>
            <a:r>
              <a:rPr lang="en-US" dirty="0" err="1"/>
              <a:t>визначено</a:t>
            </a:r>
            <a:r>
              <a:rPr lang="en-US" dirty="0"/>
              <a:t> </a:t>
            </a:r>
            <a:r>
              <a:rPr lang="en-US" dirty="0" err="1"/>
              <a:t>швидкості</a:t>
            </a:r>
            <a:r>
              <a:rPr lang="en-US" dirty="0"/>
              <a:t> </a:t>
            </a:r>
            <a:r>
              <a:rPr lang="en-US" b="1" dirty="0"/>
              <a:t>6,526</a:t>
            </a:r>
            <a:r>
              <a:rPr lang="en-US" dirty="0"/>
              <a:t> </a:t>
            </a:r>
            <a:r>
              <a:rPr lang="en-US" dirty="0" err="1"/>
              <a:t>та</a:t>
            </a:r>
            <a:r>
              <a:rPr lang="en-US" dirty="0"/>
              <a:t> </a:t>
            </a:r>
            <a:r>
              <a:rPr lang="en-US" b="1" dirty="0"/>
              <a:t>4,592 </a:t>
            </a:r>
            <a:r>
              <a:rPr lang="en-US" b="1" dirty="0" err="1"/>
              <a:t>px</a:t>
            </a:r>
            <a:r>
              <a:rPr lang="en-US" b="1" dirty="0"/>
              <a:t>/</a:t>
            </a:r>
            <a:r>
              <a:rPr lang="en-US" b="1" dirty="0" err="1"/>
              <a:t>кадр</a:t>
            </a:r>
            <a:endParaRPr lang="en-US" dirty="0"/>
          </a:p>
          <a:p>
            <a:r>
              <a:rPr lang="en-US" dirty="0"/>
              <a:t>9</a:t>
            </a:r>
            <a:r>
              <a:rPr lang="en-US" b="1" dirty="0"/>
              <a:t>Показано </a:t>
            </a:r>
            <a:r>
              <a:rPr lang="en-US" b="1" dirty="0" err="1"/>
              <a:t>відмінність</a:t>
            </a:r>
            <a:r>
              <a:rPr lang="en-US" b="1" dirty="0"/>
              <a:t> </a:t>
            </a:r>
            <a:r>
              <a:rPr lang="en-US" b="1" dirty="0" err="1"/>
              <a:t>запропонованої</a:t>
            </a:r>
            <a:r>
              <a:rPr lang="en-US" b="1" dirty="0"/>
              <a:t> </a:t>
            </a:r>
            <a:r>
              <a:rPr lang="en-US" b="1" dirty="0" err="1"/>
              <a:t>технології</a:t>
            </a:r>
            <a:r>
              <a:rPr lang="en-US" b="1" dirty="0"/>
              <a:t> </a:t>
            </a:r>
            <a:r>
              <a:rPr lang="en-US" b="1" dirty="0" err="1"/>
              <a:t>від</a:t>
            </a:r>
            <a:r>
              <a:rPr lang="en-US" b="1" dirty="0"/>
              <a:t> </a:t>
            </a:r>
            <a:r>
              <a:rPr lang="en-US" b="1" dirty="0" err="1"/>
              <a:t>наявних</a:t>
            </a:r>
            <a:r>
              <a:rPr lang="en-US" b="1" dirty="0"/>
              <a:t> аналогів45–46</a:t>
            </a:r>
            <a:r>
              <a:rPr lang="en-US" dirty="0"/>
              <a:t>Аналоги </a:t>
            </a:r>
            <a:r>
              <a:rPr lang="en-US" dirty="0" err="1"/>
              <a:t>виконують</a:t>
            </a:r>
            <a:r>
              <a:rPr lang="en-US" dirty="0"/>
              <a:t> </a:t>
            </a:r>
            <a:r>
              <a:rPr lang="en-US" dirty="0" err="1"/>
              <a:t>окремі</a:t>
            </a:r>
            <a:r>
              <a:rPr lang="en-US" dirty="0"/>
              <a:t> </a:t>
            </a:r>
            <a:r>
              <a:rPr lang="en-US" dirty="0" err="1"/>
              <a:t>операції</a:t>
            </a:r>
            <a:r>
              <a:rPr lang="en-US" dirty="0"/>
              <a:t>, а </a:t>
            </a:r>
            <a:r>
              <a:rPr lang="en-US" dirty="0" err="1"/>
              <a:t>запропонована</a:t>
            </a:r>
            <a:r>
              <a:rPr lang="en-US" dirty="0"/>
              <a:t> ІТ </a:t>
            </a:r>
            <a:r>
              <a:rPr lang="en-US" dirty="0" err="1"/>
              <a:t>забезпечує</a:t>
            </a:r>
            <a:r>
              <a:rPr lang="en-US" dirty="0"/>
              <a:t> </a:t>
            </a:r>
            <a:r>
              <a:rPr lang="en-US" dirty="0" err="1"/>
              <a:t>повний</a:t>
            </a:r>
            <a:r>
              <a:rPr lang="en-US" dirty="0"/>
              <a:t> </a:t>
            </a:r>
            <a:r>
              <a:rPr lang="en-US" dirty="0" err="1"/>
              <a:t>комплекс</a:t>
            </a:r>
            <a:r>
              <a:rPr lang="en-US" dirty="0"/>
              <a:t> </a:t>
            </a:r>
            <a:r>
              <a:rPr lang="en-US" dirty="0" err="1"/>
              <a:t>функцій</a:t>
            </a:r>
            <a:r>
              <a:rPr lang="en-US" dirty="0"/>
              <a:t>; </a:t>
            </a:r>
            <a:r>
              <a:rPr lang="en-US" dirty="0" err="1"/>
              <a:t>результат</a:t>
            </a:r>
            <a:r>
              <a:rPr lang="en-US" dirty="0"/>
              <a:t> </a:t>
            </a:r>
            <a:r>
              <a:rPr lang="en-US" dirty="0" err="1"/>
              <a:t>порівняння</a:t>
            </a:r>
            <a:r>
              <a:rPr lang="en-US" dirty="0"/>
              <a:t> — </a:t>
            </a:r>
            <a:r>
              <a:rPr lang="en-US" b="1" dirty="0"/>
              <a:t>12 </a:t>
            </a:r>
            <a:r>
              <a:rPr lang="en-US" b="1" dirty="0" err="1"/>
              <a:t>балів</a:t>
            </a:r>
            <a:r>
              <a:rPr lang="en-US" dirty="0"/>
              <a:t> </a:t>
            </a:r>
            <a:r>
              <a:rPr lang="en-US" dirty="0" err="1"/>
              <a:t>проти</a:t>
            </a:r>
            <a:r>
              <a:rPr lang="en-US" dirty="0"/>
              <a:t> 3–6 </a:t>
            </a:r>
            <a:r>
              <a:rPr lang="en-US" dirty="0" err="1"/>
              <a:t>балів</a:t>
            </a:r>
            <a:r>
              <a:rPr lang="en-US" dirty="0"/>
              <a:t> у </a:t>
            </a:r>
            <a:r>
              <a:rPr lang="en-US" dirty="0" err="1"/>
              <a:t>аналогів</a:t>
            </a:r>
            <a:endParaRPr lang="en-US" dirty="0"/>
          </a:p>
          <a:p>
            <a:r>
              <a:rPr lang="en-US" dirty="0"/>
              <a:t>10</a:t>
            </a:r>
            <a:r>
              <a:rPr lang="en-US" b="1" dirty="0"/>
              <a:t>Узагальнене </a:t>
            </a:r>
            <a:r>
              <a:rPr lang="en-US" b="1" dirty="0" err="1"/>
              <a:t>підтвердження</a:t>
            </a:r>
            <a:r>
              <a:rPr lang="en-US" b="1" dirty="0"/>
              <a:t> </a:t>
            </a:r>
            <a:r>
              <a:rPr lang="en-US" b="1" dirty="0" err="1"/>
              <a:t>отриманих</a:t>
            </a:r>
            <a:r>
              <a:rPr lang="en-US" b="1" dirty="0"/>
              <a:t> </a:t>
            </a:r>
            <a:r>
              <a:rPr lang="en-US" b="1" dirty="0" err="1"/>
              <a:t>наукових</a:t>
            </a:r>
            <a:r>
              <a:rPr lang="en-US" b="1" dirty="0"/>
              <a:t> результатів50</a:t>
            </a:r>
            <a:r>
              <a:rPr lang="en-US" dirty="0"/>
              <a:t>У </a:t>
            </a:r>
            <a:r>
              <a:rPr lang="en-US" dirty="0" err="1"/>
              <a:t>висновках</a:t>
            </a:r>
            <a:r>
              <a:rPr lang="en-US" dirty="0"/>
              <a:t> </a:t>
            </a:r>
            <a:r>
              <a:rPr lang="en-US" dirty="0" err="1"/>
              <a:t>сформульовано</a:t>
            </a:r>
            <a:r>
              <a:rPr lang="en-US" dirty="0"/>
              <a:t> </a:t>
            </a:r>
            <a:r>
              <a:rPr lang="en-US" dirty="0" err="1"/>
              <a:t>розроблені</a:t>
            </a:r>
            <a:r>
              <a:rPr lang="en-US" dirty="0"/>
              <a:t> </a:t>
            </a:r>
            <a:r>
              <a:rPr lang="en-US" dirty="0" err="1"/>
              <a:t>моделі</a:t>
            </a:r>
            <a:r>
              <a:rPr lang="en-US" dirty="0"/>
              <a:t>, </a:t>
            </a:r>
            <a:r>
              <a:rPr lang="en-US" dirty="0" err="1"/>
              <a:t>методи</a:t>
            </a:r>
            <a:r>
              <a:rPr lang="en-US" dirty="0"/>
              <a:t>, </a:t>
            </a:r>
            <a:r>
              <a:rPr lang="en-US" dirty="0" err="1"/>
              <a:t>інтегральну</a:t>
            </a:r>
            <a:r>
              <a:rPr lang="en-US" dirty="0"/>
              <a:t> </a:t>
            </a:r>
            <a:r>
              <a:rPr lang="en-US" dirty="0" err="1"/>
              <a:t>схему</a:t>
            </a:r>
            <a:r>
              <a:rPr lang="en-US" dirty="0"/>
              <a:t>, </a:t>
            </a:r>
            <a:r>
              <a:rPr lang="en-US" dirty="0" err="1"/>
              <a:t>ансамблеві</a:t>
            </a:r>
            <a:r>
              <a:rPr lang="en-US" dirty="0"/>
              <a:t> </a:t>
            </a:r>
            <a:r>
              <a:rPr lang="en-US" dirty="0" err="1"/>
              <a:t>підходи</a:t>
            </a:r>
            <a:r>
              <a:rPr lang="en-US" dirty="0"/>
              <a:t> </a:t>
            </a:r>
            <a:r>
              <a:rPr lang="en-US" dirty="0" err="1"/>
              <a:t>та</a:t>
            </a:r>
            <a:r>
              <a:rPr lang="en-US" dirty="0"/>
              <a:t> </a:t>
            </a:r>
            <a:r>
              <a:rPr lang="en-US" dirty="0" err="1"/>
              <a:t>результати</a:t>
            </a:r>
            <a:r>
              <a:rPr lang="en-US" dirty="0"/>
              <a:t> </a:t>
            </a:r>
            <a:r>
              <a:rPr lang="en-US" dirty="0" err="1"/>
              <a:t>експериментального</a:t>
            </a:r>
            <a:r>
              <a:rPr lang="en-US" dirty="0"/>
              <a:t> </a:t>
            </a:r>
            <a:r>
              <a:rPr lang="en-US" dirty="0" err="1"/>
              <a:t>дослідження</a:t>
            </a:r>
            <a:endParaRPr lang="en-US" dirty="0"/>
          </a:p>
          <a:p>
            <a:endParaRPr lang="en-US" dirty="0"/>
          </a:p>
        </p:txBody>
      </p:sp>
      <p:sp>
        <p:nvSpPr>
          <p:cNvPr id="4" name="Місце для номера слайда 3">
            <a:extLst>
              <a:ext uri="{FF2B5EF4-FFF2-40B4-BE49-F238E27FC236}">
                <a16:creationId xmlns:a16="http://schemas.microsoft.com/office/drawing/2014/main" id="{6B93D68C-284A-C5CE-C8F6-CFB383C91CF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2974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F8F19-48DE-C8D9-65F4-D4405B9331DF}"/>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41A9E240-2CC4-AA5A-AE85-B48490AE1481}"/>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0C8E7C3B-4C9E-1A80-AC46-56AD9AE68F31}"/>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a:p>
            <a:endParaRPr lang="en-US" dirty="0"/>
          </a:p>
          <a:p>
            <a:endParaRPr lang="en-US" dirty="0"/>
          </a:p>
          <a:p>
            <a:r>
              <a:rPr lang="en-US" dirty="0"/>
              <a:t>№</a:t>
            </a:r>
          </a:p>
          <a:p>
            <a:r>
              <a:rPr lang="en-US" dirty="0" err="1"/>
              <a:t>Положення</a:t>
            </a:r>
            <a:r>
              <a:rPr lang="en-US" dirty="0"/>
              <a:t> </a:t>
            </a:r>
            <a:r>
              <a:rPr lang="en-US" dirty="0" err="1"/>
              <a:t>наукової</a:t>
            </a:r>
            <a:r>
              <a:rPr lang="en-US" dirty="0"/>
              <a:t> </a:t>
            </a:r>
            <a:r>
              <a:rPr lang="en-US" dirty="0" err="1"/>
              <a:t>новизни</a:t>
            </a:r>
            <a:endParaRPr lang="en-US" dirty="0"/>
          </a:p>
          <a:p>
            <a:r>
              <a:rPr lang="en-US" dirty="0" err="1"/>
              <a:t>Слайди</a:t>
            </a:r>
            <a:r>
              <a:rPr lang="en-US" dirty="0"/>
              <a:t>, </a:t>
            </a:r>
            <a:r>
              <a:rPr lang="en-US" dirty="0" err="1"/>
              <a:t>де</a:t>
            </a:r>
            <a:r>
              <a:rPr lang="en-US" dirty="0"/>
              <a:t> </a:t>
            </a:r>
            <a:r>
              <a:rPr lang="en-US" dirty="0" err="1"/>
              <a:t>підтверджується</a:t>
            </a:r>
            <a:endParaRPr lang="en-US" dirty="0"/>
          </a:p>
          <a:p>
            <a:r>
              <a:rPr lang="en-US" dirty="0" err="1"/>
              <a:t>Що</a:t>
            </a:r>
            <a:r>
              <a:rPr lang="en-US" dirty="0"/>
              <a:t> </a:t>
            </a:r>
            <a:r>
              <a:rPr lang="en-US" dirty="0" err="1"/>
              <a:t>саме</a:t>
            </a:r>
            <a:r>
              <a:rPr lang="en-US" dirty="0"/>
              <a:t> </a:t>
            </a:r>
            <a:r>
              <a:rPr lang="en-US" dirty="0" err="1"/>
              <a:t>показано</a:t>
            </a:r>
            <a:endParaRPr lang="en-US" dirty="0"/>
          </a:p>
          <a:p>
            <a:r>
              <a:rPr lang="en-US" dirty="0"/>
              <a:t>1</a:t>
            </a:r>
            <a:r>
              <a:rPr lang="en-US" b="1" dirty="0"/>
              <a:t>Удосконалено </a:t>
            </a:r>
            <a:r>
              <a:rPr lang="en-US" b="1" dirty="0" err="1"/>
              <a:t>модель</a:t>
            </a:r>
            <a:r>
              <a:rPr lang="en-US" b="1" dirty="0"/>
              <a:t> </a:t>
            </a:r>
            <a:r>
              <a:rPr lang="en-US" b="1" dirty="0" err="1"/>
              <a:t>дистанційної</a:t>
            </a:r>
            <a:r>
              <a:rPr lang="en-US" b="1" dirty="0"/>
              <a:t> </a:t>
            </a:r>
            <a:r>
              <a:rPr lang="en-US" b="1" dirty="0" err="1"/>
              <a:t>ідентифікації</a:t>
            </a:r>
            <a:r>
              <a:rPr lang="en-US" b="1" dirty="0"/>
              <a:t> </a:t>
            </a:r>
            <a:r>
              <a:rPr lang="en-US" b="1" dirty="0" err="1"/>
              <a:t>параметрів</a:t>
            </a:r>
            <a:r>
              <a:rPr lang="en-US" b="1" dirty="0"/>
              <a:t> </a:t>
            </a:r>
            <a:r>
              <a:rPr lang="en-US" b="1" dirty="0" err="1"/>
              <a:t>динамічних</a:t>
            </a:r>
            <a:r>
              <a:rPr lang="en-US" b="1" dirty="0"/>
              <a:t> </a:t>
            </a:r>
            <a:r>
              <a:rPr lang="en-US" b="1" dirty="0" err="1"/>
              <a:t>об'єктів</a:t>
            </a:r>
            <a:r>
              <a:rPr lang="en-US" b="1" dirty="0"/>
              <a:t> </a:t>
            </a:r>
            <a:r>
              <a:rPr lang="en-US" b="1" dirty="0" err="1"/>
              <a:t>шляхом</a:t>
            </a:r>
            <a:r>
              <a:rPr lang="en-US" b="1" dirty="0"/>
              <a:t> </a:t>
            </a:r>
            <a:r>
              <a:rPr lang="en-US" b="1" dirty="0" err="1"/>
              <a:t>інтеграції</a:t>
            </a:r>
            <a:r>
              <a:rPr lang="en-US" b="1" dirty="0"/>
              <a:t> DETR </a:t>
            </a:r>
            <a:r>
              <a:rPr lang="en-US" b="1" dirty="0" err="1"/>
              <a:t>та</a:t>
            </a:r>
            <a:r>
              <a:rPr lang="en-US" b="1" dirty="0"/>
              <a:t> </a:t>
            </a:r>
            <a:r>
              <a:rPr lang="en-US" b="1" dirty="0" err="1"/>
              <a:t>оптичного</a:t>
            </a:r>
            <a:r>
              <a:rPr lang="en-US" b="1" dirty="0"/>
              <a:t> потоку17–18, 20, 22–23</a:t>
            </a:r>
            <a:r>
              <a:rPr lang="en-US" dirty="0"/>
              <a:t>Структуру </a:t>
            </a:r>
            <a:r>
              <a:rPr lang="en-US" dirty="0" err="1"/>
              <a:t>моделей</a:t>
            </a:r>
            <a:r>
              <a:rPr lang="en-US" dirty="0"/>
              <a:t> ДІПДО; </a:t>
            </a:r>
            <a:r>
              <a:rPr lang="en-US" dirty="0" err="1"/>
              <a:t>аналітичну</a:t>
            </a:r>
            <a:r>
              <a:rPr lang="en-US" dirty="0"/>
              <a:t> </a:t>
            </a:r>
            <a:r>
              <a:rPr lang="en-US" dirty="0" err="1"/>
              <a:t>модель</a:t>
            </a:r>
            <a:r>
              <a:rPr lang="en-US" dirty="0"/>
              <a:t> DETR + Optical Flow; </a:t>
            </a:r>
            <a:r>
              <a:rPr lang="en-US" dirty="0" err="1"/>
              <a:t>локалізацію</a:t>
            </a:r>
            <a:r>
              <a:rPr lang="en-US" dirty="0"/>
              <a:t> </a:t>
            </a:r>
            <a:r>
              <a:rPr lang="en-US" dirty="0" err="1"/>
              <a:t>об'єктів</a:t>
            </a:r>
            <a:r>
              <a:rPr lang="en-US" dirty="0"/>
              <a:t>; </a:t>
            </a:r>
            <a:r>
              <a:rPr lang="en-US" dirty="0" err="1"/>
              <a:t>визначення</a:t>
            </a:r>
            <a:r>
              <a:rPr lang="en-US" dirty="0"/>
              <a:t> </a:t>
            </a:r>
            <a:r>
              <a:rPr lang="en-US" dirty="0" err="1"/>
              <a:t>векторів</a:t>
            </a:r>
            <a:r>
              <a:rPr lang="en-US" dirty="0"/>
              <a:t> </a:t>
            </a:r>
            <a:r>
              <a:rPr lang="en-US" dirty="0" err="1"/>
              <a:t>руху</a:t>
            </a:r>
            <a:r>
              <a:rPr lang="en-US" dirty="0"/>
              <a:t>, </a:t>
            </a:r>
            <a:r>
              <a:rPr lang="en-US" dirty="0" err="1"/>
              <a:t>швидкості</a:t>
            </a:r>
            <a:r>
              <a:rPr lang="en-US" dirty="0"/>
              <a:t> </a:t>
            </a:r>
            <a:r>
              <a:rPr lang="en-US" dirty="0" err="1"/>
              <a:t>та</a:t>
            </a:r>
            <a:r>
              <a:rPr lang="en-US" dirty="0"/>
              <a:t> </a:t>
            </a:r>
            <a:r>
              <a:rPr lang="en-US" dirty="0" err="1"/>
              <a:t>напрямку</a:t>
            </a:r>
            <a:endParaRPr lang="en-US" dirty="0"/>
          </a:p>
          <a:p>
            <a:r>
              <a:rPr lang="en-US" dirty="0"/>
              <a:t>2</a:t>
            </a:r>
            <a:r>
              <a:rPr lang="en-US" b="1" dirty="0"/>
              <a:t>Набула </a:t>
            </a:r>
            <a:r>
              <a:rPr lang="en-US" b="1" dirty="0" err="1"/>
              <a:t>подальшого</a:t>
            </a:r>
            <a:r>
              <a:rPr lang="en-US" b="1" dirty="0"/>
              <a:t> </a:t>
            </a:r>
            <a:r>
              <a:rPr lang="en-US" b="1" dirty="0" err="1"/>
              <a:t>розвитку</a:t>
            </a:r>
            <a:r>
              <a:rPr lang="en-US" b="1" dirty="0"/>
              <a:t> </a:t>
            </a:r>
            <a:r>
              <a:rPr lang="en-US" b="1" dirty="0" err="1"/>
              <a:t>просторово-часова</a:t>
            </a:r>
            <a:r>
              <a:rPr lang="en-US" b="1" dirty="0"/>
              <a:t> </a:t>
            </a:r>
            <a:r>
              <a:rPr lang="en-US" b="1" dirty="0" err="1"/>
              <a:t>модель</a:t>
            </a:r>
            <a:r>
              <a:rPr lang="en-US" b="1" dirty="0"/>
              <a:t> </a:t>
            </a:r>
            <a:r>
              <a:rPr lang="en-US" b="1" dirty="0" err="1"/>
              <a:t>опису</a:t>
            </a:r>
            <a:r>
              <a:rPr lang="en-US" b="1" dirty="0"/>
              <a:t> </a:t>
            </a:r>
            <a:r>
              <a:rPr lang="en-US" b="1" dirty="0" err="1"/>
              <a:t>стану</a:t>
            </a:r>
            <a:r>
              <a:rPr lang="en-US" b="1" dirty="0"/>
              <a:t> </a:t>
            </a:r>
            <a:r>
              <a:rPr lang="en-US" b="1" dirty="0" err="1"/>
              <a:t>динамічного</a:t>
            </a:r>
            <a:r>
              <a:rPr lang="en-US" b="1" dirty="0"/>
              <a:t> об'єкта11, 16–18, 23</a:t>
            </a:r>
            <a:r>
              <a:rPr lang="en-US" dirty="0"/>
              <a:t>Об'єднання </a:t>
            </a:r>
            <a:r>
              <a:rPr lang="en-US" dirty="0" err="1"/>
              <a:t>просторових</a:t>
            </a:r>
            <a:r>
              <a:rPr lang="en-US" dirty="0"/>
              <a:t> і </a:t>
            </a:r>
            <a:r>
              <a:rPr lang="en-US" dirty="0" err="1"/>
              <a:t>часових</a:t>
            </a:r>
            <a:r>
              <a:rPr lang="en-US" dirty="0"/>
              <a:t> </a:t>
            </a:r>
            <a:r>
              <a:rPr lang="en-US" dirty="0" err="1"/>
              <a:t>ознак</a:t>
            </a:r>
            <a:r>
              <a:rPr lang="en-US" dirty="0"/>
              <a:t>; </a:t>
            </a:r>
            <a:r>
              <a:rPr lang="en-US" dirty="0" err="1"/>
              <a:t>перехід</a:t>
            </a:r>
            <a:r>
              <a:rPr lang="en-US" dirty="0"/>
              <a:t> </a:t>
            </a:r>
            <a:r>
              <a:rPr lang="en-US" dirty="0" err="1"/>
              <a:t>від</a:t>
            </a:r>
            <a:r>
              <a:rPr lang="en-US" dirty="0"/>
              <a:t> </a:t>
            </a:r>
            <a:r>
              <a:rPr lang="en-US" dirty="0" err="1"/>
              <a:t>покадрового</a:t>
            </a:r>
            <a:r>
              <a:rPr lang="en-US" dirty="0"/>
              <a:t> </a:t>
            </a:r>
            <a:r>
              <a:rPr lang="en-US" dirty="0" err="1"/>
              <a:t>виявлення</a:t>
            </a:r>
            <a:r>
              <a:rPr lang="en-US" dirty="0"/>
              <a:t> </a:t>
            </a:r>
            <a:r>
              <a:rPr lang="en-US" dirty="0" err="1"/>
              <a:t>до</a:t>
            </a:r>
            <a:r>
              <a:rPr lang="en-US" dirty="0"/>
              <a:t> </a:t>
            </a:r>
            <a:r>
              <a:rPr lang="en-US" dirty="0" err="1"/>
              <a:t>визначення</a:t>
            </a:r>
            <a:r>
              <a:rPr lang="en-US" dirty="0"/>
              <a:t> </a:t>
            </a:r>
            <a:r>
              <a:rPr lang="en-US" dirty="0" err="1"/>
              <a:t>положення</a:t>
            </a:r>
            <a:r>
              <a:rPr lang="en-US" dirty="0"/>
              <a:t>, </a:t>
            </a:r>
            <a:r>
              <a:rPr lang="en-US" dirty="0" err="1"/>
              <a:t>швидкості</a:t>
            </a:r>
            <a:r>
              <a:rPr lang="en-US" dirty="0"/>
              <a:t>, </a:t>
            </a:r>
            <a:r>
              <a:rPr lang="en-US" dirty="0" err="1"/>
              <a:t>прискорення</a:t>
            </a:r>
            <a:r>
              <a:rPr lang="en-US" dirty="0"/>
              <a:t>, </a:t>
            </a:r>
            <a:r>
              <a:rPr lang="en-US" dirty="0" err="1"/>
              <a:t>напрямку</a:t>
            </a:r>
            <a:r>
              <a:rPr lang="en-US" dirty="0"/>
              <a:t> і </a:t>
            </a:r>
            <a:r>
              <a:rPr lang="en-US" dirty="0" err="1"/>
              <a:t>траєкторії</a:t>
            </a:r>
            <a:endParaRPr lang="en-US" dirty="0"/>
          </a:p>
          <a:p>
            <a:r>
              <a:rPr lang="en-US" dirty="0"/>
              <a:t>3</a:t>
            </a:r>
            <a:r>
              <a:rPr lang="en-US" b="1" dirty="0"/>
              <a:t>Удосконалено </a:t>
            </a:r>
            <a:r>
              <a:rPr lang="en-US" b="1" dirty="0" err="1"/>
              <a:t>метод</a:t>
            </a:r>
            <a:r>
              <a:rPr lang="en-US" b="1" dirty="0"/>
              <a:t> </a:t>
            </a:r>
            <a:r>
              <a:rPr lang="en-US" b="1" dirty="0" err="1"/>
              <a:t>сумісного</a:t>
            </a:r>
            <a:r>
              <a:rPr lang="en-US" b="1" dirty="0"/>
              <a:t> </a:t>
            </a:r>
            <a:r>
              <a:rPr lang="en-US" b="1" dirty="0" err="1"/>
              <a:t>оцінювання</a:t>
            </a:r>
            <a:r>
              <a:rPr lang="en-US" b="1" dirty="0"/>
              <a:t> </a:t>
            </a:r>
            <a:r>
              <a:rPr lang="en-US" b="1" dirty="0" err="1"/>
              <a:t>руху</a:t>
            </a:r>
            <a:r>
              <a:rPr lang="en-US" b="1" dirty="0"/>
              <a:t> </a:t>
            </a:r>
            <a:r>
              <a:rPr lang="en-US" b="1" dirty="0" err="1"/>
              <a:t>та</a:t>
            </a:r>
            <a:r>
              <a:rPr lang="en-US" b="1" dirty="0"/>
              <a:t> </a:t>
            </a:r>
            <a:r>
              <a:rPr lang="en-US" b="1" dirty="0" err="1"/>
              <a:t>глибини</a:t>
            </a:r>
            <a:r>
              <a:rPr lang="en-US" b="1" dirty="0"/>
              <a:t> відеосцени21, 25–26</a:t>
            </a:r>
            <a:r>
              <a:rPr lang="en-US" dirty="0"/>
              <a:t>Використання </a:t>
            </a:r>
            <a:r>
              <a:rPr lang="en-US" dirty="0" err="1"/>
              <a:t>GeoNet</a:t>
            </a:r>
            <a:r>
              <a:rPr lang="en-US" dirty="0"/>
              <a:t>, </a:t>
            </a:r>
            <a:r>
              <a:rPr lang="en-US" dirty="0" err="1"/>
              <a:t>оптичного</a:t>
            </a:r>
            <a:r>
              <a:rPr lang="en-US" dirty="0"/>
              <a:t> </a:t>
            </a:r>
            <a:r>
              <a:rPr lang="en-US" dirty="0" err="1"/>
              <a:t>потоку</a:t>
            </a:r>
            <a:r>
              <a:rPr lang="en-US" dirty="0"/>
              <a:t>, </a:t>
            </a:r>
            <a:r>
              <a:rPr lang="en-US" dirty="0" err="1"/>
              <a:t>моделей</a:t>
            </a:r>
            <a:r>
              <a:rPr lang="en-US" dirty="0"/>
              <a:t> </a:t>
            </a:r>
            <a:r>
              <a:rPr lang="en-US" dirty="0" err="1"/>
              <a:t>глибини</a:t>
            </a:r>
            <a:r>
              <a:rPr lang="en-US" dirty="0"/>
              <a:t> </a:t>
            </a:r>
            <a:r>
              <a:rPr lang="en-US" dirty="0" err="1"/>
              <a:t>та</a:t>
            </a:r>
            <a:r>
              <a:rPr lang="en-US" dirty="0"/>
              <a:t> </a:t>
            </a:r>
            <a:r>
              <a:rPr lang="en-US" dirty="0" err="1"/>
              <a:t>трансформерної</a:t>
            </a:r>
            <a:r>
              <a:rPr lang="en-US" dirty="0"/>
              <a:t> </a:t>
            </a:r>
            <a:r>
              <a:rPr lang="en-US" dirty="0" err="1"/>
              <a:t>обробки</a:t>
            </a:r>
            <a:r>
              <a:rPr lang="en-US" dirty="0"/>
              <a:t> в </a:t>
            </a:r>
            <a:r>
              <a:rPr lang="en-US" dirty="0" err="1"/>
              <a:t>єдиній</a:t>
            </a:r>
            <a:r>
              <a:rPr lang="en-US" dirty="0"/>
              <a:t> </a:t>
            </a:r>
            <a:r>
              <a:rPr lang="en-US" dirty="0" err="1"/>
              <a:t>інтегральній</a:t>
            </a:r>
            <a:r>
              <a:rPr lang="en-US" dirty="0"/>
              <a:t> </a:t>
            </a:r>
            <a:r>
              <a:rPr lang="en-US" dirty="0" err="1"/>
              <a:t>схемі</a:t>
            </a:r>
            <a:endParaRPr lang="en-US" dirty="0"/>
          </a:p>
          <a:p>
            <a:r>
              <a:rPr lang="en-US" dirty="0"/>
              <a:t>4</a:t>
            </a:r>
            <a:r>
              <a:rPr lang="en-US" b="1" dirty="0"/>
              <a:t>Удосконалено </a:t>
            </a:r>
            <a:r>
              <a:rPr lang="en-US" b="1" dirty="0" err="1"/>
              <a:t>метод</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стійкості</a:t>
            </a:r>
            <a:r>
              <a:rPr lang="en-US" b="1" dirty="0"/>
              <a:t> </a:t>
            </a:r>
            <a:r>
              <a:rPr lang="en-US" b="1" dirty="0" err="1"/>
              <a:t>оцінювання</a:t>
            </a:r>
            <a:r>
              <a:rPr lang="en-US" b="1" dirty="0"/>
              <a:t> </a:t>
            </a:r>
            <a:r>
              <a:rPr lang="en-US" b="1" dirty="0" err="1"/>
              <a:t>глибини</a:t>
            </a:r>
            <a:r>
              <a:rPr lang="en-US" b="1" dirty="0"/>
              <a:t> </a:t>
            </a:r>
            <a:r>
              <a:rPr lang="en-US" b="1" dirty="0" err="1"/>
              <a:t>за</a:t>
            </a:r>
            <a:r>
              <a:rPr lang="en-US" b="1" dirty="0"/>
              <a:t> </a:t>
            </a:r>
            <a:r>
              <a:rPr lang="en-US" b="1" dirty="0" err="1"/>
              <a:t>допомогою</a:t>
            </a:r>
            <a:r>
              <a:rPr lang="en-US" b="1" dirty="0"/>
              <a:t> Bagging і Boosting15, 25–26, 32</a:t>
            </a:r>
            <a:r>
              <a:rPr lang="en-US" dirty="0"/>
              <a:t>Ансамблеве </a:t>
            </a:r>
            <a:r>
              <a:rPr lang="en-US" dirty="0" err="1"/>
              <a:t>об'єднання</a:t>
            </a:r>
            <a:r>
              <a:rPr lang="en-US" dirty="0"/>
              <a:t> </a:t>
            </a:r>
            <a:r>
              <a:rPr lang="en-US" dirty="0" err="1"/>
              <a:t>результатів</a:t>
            </a:r>
            <a:r>
              <a:rPr lang="en-US" dirty="0"/>
              <a:t>; </a:t>
            </a:r>
            <a:r>
              <a:rPr lang="en-US" dirty="0" err="1"/>
              <a:t>паралельна</a:t>
            </a:r>
            <a:r>
              <a:rPr lang="en-US" dirty="0"/>
              <a:t> </a:t>
            </a:r>
            <a:r>
              <a:rPr lang="en-US" dirty="0" err="1"/>
              <a:t>схема</a:t>
            </a:r>
            <a:r>
              <a:rPr lang="en-US" dirty="0"/>
              <a:t> Bagging </a:t>
            </a:r>
            <a:r>
              <a:rPr lang="en-US" dirty="0" err="1"/>
              <a:t>та</a:t>
            </a:r>
            <a:r>
              <a:rPr lang="en-US" dirty="0"/>
              <a:t> </a:t>
            </a:r>
            <a:r>
              <a:rPr lang="en-US" dirty="0" err="1"/>
              <a:t>послідовна</a:t>
            </a:r>
            <a:r>
              <a:rPr lang="en-US" dirty="0"/>
              <a:t> </a:t>
            </a:r>
            <a:r>
              <a:rPr lang="en-US" dirty="0" err="1"/>
              <a:t>корекція</a:t>
            </a:r>
            <a:r>
              <a:rPr lang="en-US" dirty="0"/>
              <a:t> Boosting</a:t>
            </a:r>
          </a:p>
          <a:p>
            <a:r>
              <a:rPr lang="en-US" dirty="0"/>
              <a:t>5</a:t>
            </a:r>
            <a:r>
              <a:rPr lang="en-US" b="1" dirty="0"/>
              <a:t>Вперше </a:t>
            </a:r>
            <a:r>
              <a:rPr lang="en-US" b="1" dirty="0" err="1"/>
              <a:t>або</a:t>
            </a:r>
            <a:r>
              <a:rPr lang="en-US" b="1" dirty="0"/>
              <a:t> </a:t>
            </a:r>
            <a:r>
              <a:rPr lang="en-US" b="1" dirty="0" err="1"/>
              <a:t>комплексно</a:t>
            </a:r>
            <a:r>
              <a:rPr lang="en-US" b="1" dirty="0"/>
              <a:t> </a:t>
            </a:r>
            <a:r>
              <a:rPr lang="en-US" b="1" dirty="0" err="1"/>
              <a:t>запропоновано</a:t>
            </a:r>
            <a:r>
              <a:rPr lang="en-US" b="1" dirty="0"/>
              <a:t> </a:t>
            </a:r>
            <a:r>
              <a:rPr lang="en-US" b="1" dirty="0" err="1"/>
              <a:t>інформаційну</a:t>
            </a:r>
            <a:r>
              <a:rPr lang="en-US" b="1" dirty="0"/>
              <a:t> </a:t>
            </a:r>
            <a:r>
              <a:rPr lang="en-US" b="1" dirty="0" err="1"/>
              <a:t>технологію</a:t>
            </a:r>
            <a:r>
              <a:rPr lang="en-US" b="1" dirty="0"/>
              <a:t>, </a:t>
            </a:r>
            <a:r>
              <a:rPr lang="en-US" b="1" dirty="0" err="1"/>
              <a:t>яка</a:t>
            </a:r>
            <a:r>
              <a:rPr lang="en-US" b="1" dirty="0"/>
              <a:t> </a:t>
            </a:r>
            <a:r>
              <a:rPr lang="en-US" b="1" dirty="0" err="1"/>
              <a:t>поєднує</a:t>
            </a:r>
            <a:r>
              <a:rPr lang="en-US" b="1" dirty="0"/>
              <a:t> </a:t>
            </a:r>
            <a:r>
              <a:rPr lang="en-US" b="1" dirty="0" err="1"/>
              <a:t>детекцію</a:t>
            </a:r>
            <a:r>
              <a:rPr lang="en-US" b="1" dirty="0"/>
              <a:t>, </a:t>
            </a:r>
            <a:r>
              <a:rPr lang="en-US" b="1" dirty="0" err="1"/>
              <a:t>рух</a:t>
            </a:r>
            <a:r>
              <a:rPr lang="en-US" b="1" dirty="0"/>
              <a:t>, </a:t>
            </a:r>
            <a:r>
              <a:rPr lang="en-US" b="1" dirty="0" err="1"/>
              <a:t>глибину</a:t>
            </a:r>
            <a:r>
              <a:rPr lang="en-US" b="1" dirty="0"/>
              <a:t>, </a:t>
            </a:r>
            <a:r>
              <a:rPr lang="en-US" b="1" dirty="0" err="1"/>
              <a:t>ансамблеву</a:t>
            </a:r>
            <a:r>
              <a:rPr lang="en-US" b="1" dirty="0"/>
              <a:t> </a:t>
            </a:r>
            <a:r>
              <a:rPr lang="en-US" b="1" dirty="0" err="1"/>
              <a:t>корекцію</a:t>
            </a:r>
            <a:r>
              <a:rPr lang="en-US" b="1" dirty="0"/>
              <a:t> </a:t>
            </a:r>
            <a:r>
              <a:rPr lang="en-US" b="1" dirty="0" err="1"/>
              <a:t>та</a:t>
            </a:r>
            <a:r>
              <a:rPr lang="en-US" b="1" dirty="0"/>
              <a:t> </a:t>
            </a:r>
            <a:r>
              <a:rPr lang="en-US" b="1" dirty="0" err="1"/>
              <a:t>визначення</a:t>
            </a:r>
            <a:r>
              <a:rPr lang="en-US" b="1" dirty="0"/>
              <a:t> </a:t>
            </a:r>
            <a:r>
              <a:rPr lang="en-US" b="1" dirty="0" err="1"/>
              <a:t>параметрів</a:t>
            </a:r>
            <a:r>
              <a:rPr lang="en-US" b="1" dirty="0"/>
              <a:t> об'єкта25–26, 30, 35</a:t>
            </a:r>
            <a:r>
              <a:rPr lang="en-US" dirty="0"/>
              <a:t>Повний </a:t>
            </a:r>
            <a:r>
              <a:rPr lang="en-US" dirty="0" err="1"/>
              <a:t>цикл</a:t>
            </a:r>
            <a:r>
              <a:rPr lang="en-US" dirty="0"/>
              <a:t> </a:t>
            </a:r>
            <a:r>
              <a:rPr lang="en-US" dirty="0" err="1"/>
              <a:t>обробки</a:t>
            </a:r>
            <a:r>
              <a:rPr lang="en-US" dirty="0"/>
              <a:t>: </a:t>
            </a:r>
            <a:r>
              <a:rPr lang="en-US" dirty="0" err="1"/>
              <a:t>відеопотік</a:t>
            </a:r>
            <a:r>
              <a:rPr lang="en-US" dirty="0"/>
              <a:t> → DETR → </a:t>
            </a:r>
            <a:r>
              <a:rPr lang="en-US" dirty="0" err="1"/>
              <a:t>оптичний</a:t>
            </a:r>
            <a:r>
              <a:rPr lang="en-US" dirty="0"/>
              <a:t> </a:t>
            </a:r>
            <a:r>
              <a:rPr lang="en-US" dirty="0" err="1"/>
              <a:t>потік</a:t>
            </a:r>
            <a:r>
              <a:rPr lang="en-US" dirty="0"/>
              <a:t> → </a:t>
            </a:r>
            <a:r>
              <a:rPr lang="en-US" dirty="0" err="1"/>
              <a:t>карта</a:t>
            </a:r>
            <a:r>
              <a:rPr lang="en-US" dirty="0"/>
              <a:t> </a:t>
            </a:r>
            <a:r>
              <a:rPr lang="en-US" dirty="0" err="1"/>
              <a:t>глибини</a:t>
            </a:r>
            <a:r>
              <a:rPr lang="en-US" dirty="0"/>
              <a:t> → </a:t>
            </a:r>
            <a:r>
              <a:rPr lang="en-US" dirty="0" err="1"/>
              <a:t>ансамбль</a:t>
            </a:r>
            <a:r>
              <a:rPr lang="en-US" dirty="0"/>
              <a:t> → </a:t>
            </a:r>
            <a:r>
              <a:rPr lang="en-US" dirty="0" err="1"/>
              <a:t>параметри</a:t>
            </a:r>
            <a:r>
              <a:rPr lang="en-US" dirty="0"/>
              <a:t> → </a:t>
            </a:r>
            <a:r>
              <a:rPr lang="en-US" dirty="0" err="1"/>
              <a:t>візуалізація</a:t>
            </a:r>
            <a:endParaRPr lang="en-US" dirty="0"/>
          </a:p>
          <a:p>
            <a:r>
              <a:rPr lang="en-US" dirty="0"/>
              <a:t>6</a:t>
            </a:r>
            <a:r>
              <a:rPr lang="en-US" b="1" dirty="0"/>
              <a:t>Підтверджено </a:t>
            </a:r>
            <a:r>
              <a:rPr lang="en-US" b="1" dirty="0" err="1"/>
              <a:t>адаптивність</a:t>
            </a:r>
            <a:r>
              <a:rPr lang="en-US" b="1" dirty="0"/>
              <a:t> </a:t>
            </a:r>
            <a:r>
              <a:rPr lang="en-US" b="1" dirty="0" err="1"/>
              <a:t>запропонованого</a:t>
            </a:r>
            <a:r>
              <a:rPr lang="en-US" b="1" dirty="0"/>
              <a:t> </a:t>
            </a:r>
            <a:r>
              <a:rPr lang="en-US" b="1" dirty="0" err="1"/>
              <a:t>підходу</a:t>
            </a:r>
            <a:r>
              <a:rPr lang="en-US" b="1" dirty="0"/>
              <a:t> </a:t>
            </a:r>
            <a:r>
              <a:rPr lang="en-US" b="1" dirty="0" err="1"/>
              <a:t>завдяки</a:t>
            </a:r>
            <a:r>
              <a:rPr lang="en-US" b="1" dirty="0"/>
              <a:t> </a:t>
            </a:r>
            <a:r>
              <a:rPr lang="en-US" b="1" dirty="0" err="1"/>
              <a:t>можливості</a:t>
            </a:r>
            <a:r>
              <a:rPr lang="en-US" b="1" dirty="0"/>
              <a:t> </a:t>
            </a:r>
            <a:r>
              <a:rPr lang="en-US" b="1" dirty="0" err="1"/>
              <a:t>комбінування</a:t>
            </a:r>
            <a:r>
              <a:rPr lang="en-US" b="1" dirty="0"/>
              <a:t> </a:t>
            </a:r>
            <a:r>
              <a:rPr lang="en-US" b="1" dirty="0" err="1"/>
              <a:t>різних</a:t>
            </a:r>
            <a:r>
              <a:rPr lang="en-US" b="1" dirty="0"/>
              <a:t> </a:t>
            </a:r>
            <a:r>
              <a:rPr lang="en-US" b="1" dirty="0" err="1"/>
              <a:t>моделей</a:t>
            </a:r>
            <a:r>
              <a:rPr lang="en-US" b="1" dirty="0"/>
              <a:t> і методів30, 36–38, 43</a:t>
            </a:r>
            <a:r>
              <a:rPr lang="en-US" dirty="0"/>
              <a:t>Модульність </a:t>
            </a:r>
            <a:r>
              <a:rPr lang="en-US" dirty="0" err="1"/>
              <a:t>технології</a:t>
            </a:r>
            <a:r>
              <a:rPr lang="en-US" dirty="0"/>
              <a:t>; </a:t>
            </a:r>
            <a:r>
              <a:rPr lang="en-US" dirty="0" err="1"/>
              <a:t>заміна</a:t>
            </a:r>
            <a:r>
              <a:rPr lang="en-US" dirty="0"/>
              <a:t> DETR/YOLO, </a:t>
            </a:r>
            <a:r>
              <a:rPr lang="en-US" dirty="0" err="1"/>
              <a:t>Farneback</a:t>
            </a:r>
            <a:r>
              <a:rPr lang="en-US" dirty="0"/>
              <a:t>/</a:t>
            </a:r>
            <a:r>
              <a:rPr lang="en-US" dirty="0" err="1"/>
              <a:t>FlowNet</a:t>
            </a:r>
            <a:r>
              <a:rPr lang="en-US" dirty="0"/>
              <a:t>; </a:t>
            </a:r>
            <a:r>
              <a:rPr lang="en-US" dirty="0" err="1"/>
              <a:t>порівняння</a:t>
            </a:r>
            <a:r>
              <a:rPr lang="en-US" dirty="0"/>
              <a:t> </a:t>
            </a:r>
            <a:r>
              <a:rPr lang="en-US" b="1" dirty="0"/>
              <a:t>35 </a:t>
            </a:r>
            <a:r>
              <a:rPr lang="en-US" b="1" dirty="0" err="1"/>
              <a:t>комбінацій</a:t>
            </a:r>
            <a:r>
              <a:rPr lang="en-US" dirty="0"/>
              <a:t> </a:t>
            </a:r>
            <a:r>
              <a:rPr lang="en-US" dirty="0" err="1"/>
              <a:t>методів</a:t>
            </a:r>
            <a:endParaRPr lang="en-US" dirty="0"/>
          </a:p>
          <a:p>
            <a:r>
              <a:rPr lang="en-US" dirty="0"/>
              <a:t>7</a:t>
            </a:r>
            <a:r>
              <a:rPr lang="en-US" b="1" dirty="0"/>
              <a:t>Експериментально </a:t>
            </a:r>
            <a:r>
              <a:rPr lang="en-US" b="1" dirty="0" err="1"/>
              <a:t>підтверджено</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надійності</a:t>
            </a:r>
            <a:r>
              <a:rPr lang="en-US" b="1" dirty="0"/>
              <a:t> ідентифікації37–39, 43</a:t>
            </a:r>
            <a:r>
              <a:rPr lang="en-US" dirty="0"/>
              <a:t>Результати: RMSE = </a:t>
            </a:r>
            <a:r>
              <a:rPr lang="en-US" b="1" dirty="0"/>
              <a:t>0,713</a:t>
            </a:r>
            <a:r>
              <a:rPr lang="en-US" dirty="0"/>
              <a:t>; MAE = </a:t>
            </a:r>
            <a:r>
              <a:rPr lang="en-US" b="1" dirty="0"/>
              <a:t>0,474</a:t>
            </a:r>
            <a:r>
              <a:rPr lang="en-US" dirty="0"/>
              <a:t>; PSNR = </a:t>
            </a:r>
            <a:r>
              <a:rPr lang="en-US" b="1" dirty="0"/>
              <a:t>51,065 </a:t>
            </a:r>
            <a:r>
              <a:rPr lang="en-US" b="1" dirty="0" err="1"/>
              <a:t>дБ</a:t>
            </a:r>
            <a:r>
              <a:rPr lang="en-US" dirty="0"/>
              <a:t>; </a:t>
            </a:r>
            <a:r>
              <a:rPr lang="en-US" dirty="0" err="1"/>
              <a:t>IoU</a:t>
            </a:r>
            <a:r>
              <a:rPr lang="en-US" dirty="0"/>
              <a:t> = </a:t>
            </a:r>
            <a:r>
              <a:rPr lang="en-US" b="1" dirty="0"/>
              <a:t>0,996</a:t>
            </a:r>
            <a:r>
              <a:rPr lang="en-US" dirty="0"/>
              <a:t>; Dice = </a:t>
            </a:r>
            <a:r>
              <a:rPr lang="en-US" b="1" dirty="0"/>
              <a:t>0,998</a:t>
            </a:r>
            <a:endParaRPr lang="en-US" dirty="0"/>
          </a:p>
          <a:p>
            <a:r>
              <a:rPr lang="en-US" dirty="0"/>
              <a:t>8</a:t>
            </a:r>
            <a:r>
              <a:rPr lang="en-US" b="1" dirty="0"/>
              <a:t>Підтверджено </a:t>
            </a:r>
            <a:r>
              <a:rPr lang="en-US" b="1" dirty="0" err="1"/>
              <a:t>працездатність</a:t>
            </a:r>
            <a:r>
              <a:rPr lang="en-US" b="1" dirty="0"/>
              <a:t> </a:t>
            </a:r>
            <a:r>
              <a:rPr lang="en-US" b="1" dirty="0" err="1"/>
              <a:t>визначення</a:t>
            </a:r>
            <a:r>
              <a:rPr lang="en-US" b="1" dirty="0"/>
              <a:t> </a:t>
            </a:r>
            <a:r>
              <a:rPr lang="en-US" b="1" dirty="0" err="1"/>
              <a:t>кінематичних</a:t>
            </a:r>
            <a:r>
              <a:rPr lang="en-US" b="1" dirty="0"/>
              <a:t> </a:t>
            </a:r>
            <a:r>
              <a:rPr lang="en-US" b="1" dirty="0" err="1"/>
              <a:t>параметрів</a:t>
            </a:r>
            <a:r>
              <a:rPr lang="en-US" b="1" dirty="0"/>
              <a:t> </a:t>
            </a:r>
            <a:r>
              <a:rPr lang="en-US" b="1" dirty="0" err="1"/>
              <a:t>рухомих</a:t>
            </a:r>
            <a:r>
              <a:rPr lang="en-US" b="1" dirty="0"/>
              <a:t> об'єктів34–35, 39, 43</a:t>
            </a:r>
            <a:r>
              <a:rPr lang="en-US" dirty="0"/>
              <a:t>DETR </a:t>
            </a:r>
            <a:r>
              <a:rPr lang="en-US" dirty="0" err="1"/>
              <a:t>виявив</a:t>
            </a:r>
            <a:r>
              <a:rPr lang="en-US" dirty="0"/>
              <a:t> 6 </a:t>
            </a:r>
            <a:r>
              <a:rPr lang="en-US" dirty="0" err="1"/>
              <a:t>об'єктів</a:t>
            </a:r>
            <a:r>
              <a:rPr lang="en-US" dirty="0"/>
              <a:t> </a:t>
            </a:r>
            <a:r>
              <a:rPr lang="en-US" dirty="0" err="1"/>
              <a:t>із</a:t>
            </a:r>
            <a:r>
              <a:rPr lang="en-US" dirty="0"/>
              <a:t> </a:t>
            </a:r>
            <a:r>
              <a:rPr lang="en-US" dirty="0" err="1"/>
              <a:t>довірою</a:t>
            </a:r>
            <a:r>
              <a:rPr lang="en-US" dirty="0"/>
              <a:t> </a:t>
            </a:r>
            <a:r>
              <a:rPr lang="en-US" b="1" dirty="0"/>
              <a:t>0,74–1,00</a:t>
            </a:r>
            <a:r>
              <a:rPr lang="en-US" dirty="0"/>
              <a:t>; </a:t>
            </a:r>
            <a:r>
              <a:rPr lang="en-US" dirty="0" err="1"/>
              <a:t>визначено</a:t>
            </a:r>
            <a:r>
              <a:rPr lang="en-US" dirty="0"/>
              <a:t> </a:t>
            </a:r>
            <a:r>
              <a:rPr lang="en-US" dirty="0" err="1"/>
              <a:t>швидкості</a:t>
            </a:r>
            <a:r>
              <a:rPr lang="en-US" dirty="0"/>
              <a:t> </a:t>
            </a:r>
            <a:r>
              <a:rPr lang="en-US" b="1" dirty="0"/>
              <a:t>6,526</a:t>
            </a:r>
            <a:r>
              <a:rPr lang="en-US" dirty="0"/>
              <a:t> </a:t>
            </a:r>
            <a:r>
              <a:rPr lang="en-US" dirty="0" err="1"/>
              <a:t>та</a:t>
            </a:r>
            <a:r>
              <a:rPr lang="en-US" dirty="0"/>
              <a:t> </a:t>
            </a:r>
            <a:r>
              <a:rPr lang="en-US" b="1" dirty="0"/>
              <a:t>4,592 </a:t>
            </a:r>
            <a:r>
              <a:rPr lang="en-US" b="1" dirty="0" err="1"/>
              <a:t>px</a:t>
            </a:r>
            <a:r>
              <a:rPr lang="en-US" b="1" dirty="0"/>
              <a:t>/</a:t>
            </a:r>
            <a:r>
              <a:rPr lang="en-US" b="1" dirty="0" err="1"/>
              <a:t>кадр</a:t>
            </a:r>
            <a:endParaRPr lang="en-US" dirty="0"/>
          </a:p>
          <a:p>
            <a:r>
              <a:rPr lang="en-US" dirty="0"/>
              <a:t>9</a:t>
            </a:r>
            <a:r>
              <a:rPr lang="en-US" b="1" dirty="0"/>
              <a:t>Показано </a:t>
            </a:r>
            <a:r>
              <a:rPr lang="en-US" b="1" dirty="0" err="1"/>
              <a:t>відмінність</a:t>
            </a:r>
            <a:r>
              <a:rPr lang="en-US" b="1" dirty="0"/>
              <a:t> </a:t>
            </a:r>
            <a:r>
              <a:rPr lang="en-US" b="1" dirty="0" err="1"/>
              <a:t>запропонованої</a:t>
            </a:r>
            <a:r>
              <a:rPr lang="en-US" b="1" dirty="0"/>
              <a:t> </a:t>
            </a:r>
            <a:r>
              <a:rPr lang="en-US" b="1" dirty="0" err="1"/>
              <a:t>технології</a:t>
            </a:r>
            <a:r>
              <a:rPr lang="en-US" b="1" dirty="0"/>
              <a:t> </a:t>
            </a:r>
            <a:r>
              <a:rPr lang="en-US" b="1" dirty="0" err="1"/>
              <a:t>від</a:t>
            </a:r>
            <a:r>
              <a:rPr lang="en-US" b="1" dirty="0"/>
              <a:t> </a:t>
            </a:r>
            <a:r>
              <a:rPr lang="en-US" b="1" dirty="0" err="1"/>
              <a:t>наявних</a:t>
            </a:r>
            <a:r>
              <a:rPr lang="en-US" b="1" dirty="0"/>
              <a:t> аналогів45–46</a:t>
            </a:r>
            <a:r>
              <a:rPr lang="en-US" dirty="0"/>
              <a:t>Аналоги </a:t>
            </a:r>
            <a:r>
              <a:rPr lang="en-US" dirty="0" err="1"/>
              <a:t>виконують</a:t>
            </a:r>
            <a:r>
              <a:rPr lang="en-US" dirty="0"/>
              <a:t> </a:t>
            </a:r>
            <a:r>
              <a:rPr lang="en-US" dirty="0" err="1"/>
              <a:t>окремі</a:t>
            </a:r>
            <a:r>
              <a:rPr lang="en-US" dirty="0"/>
              <a:t> </a:t>
            </a:r>
            <a:r>
              <a:rPr lang="en-US" dirty="0" err="1"/>
              <a:t>операції</a:t>
            </a:r>
            <a:r>
              <a:rPr lang="en-US" dirty="0"/>
              <a:t>, а </a:t>
            </a:r>
            <a:r>
              <a:rPr lang="en-US" dirty="0" err="1"/>
              <a:t>запропонована</a:t>
            </a:r>
            <a:r>
              <a:rPr lang="en-US" dirty="0"/>
              <a:t> ІТ </a:t>
            </a:r>
            <a:r>
              <a:rPr lang="en-US" dirty="0" err="1"/>
              <a:t>забезпечує</a:t>
            </a:r>
            <a:r>
              <a:rPr lang="en-US" dirty="0"/>
              <a:t> </a:t>
            </a:r>
            <a:r>
              <a:rPr lang="en-US" dirty="0" err="1"/>
              <a:t>повний</a:t>
            </a:r>
            <a:r>
              <a:rPr lang="en-US" dirty="0"/>
              <a:t> </a:t>
            </a:r>
            <a:r>
              <a:rPr lang="en-US" dirty="0" err="1"/>
              <a:t>комплекс</a:t>
            </a:r>
            <a:r>
              <a:rPr lang="en-US" dirty="0"/>
              <a:t> </a:t>
            </a:r>
            <a:r>
              <a:rPr lang="en-US" dirty="0" err="1"/>
              <a:t>функцій</a:t>
            </a:r>
            <a:r>
              <a:rPr lang="en-US" dirty="0"/>
              <a:t>; </a:t>
            </a:r>
            <a:r>
              <a:rPr lang="en-US" dirty="0" err="1"/>
              <a:t>результат</a:t>
            </a:r>
            <a:r>
              <a:rPr lang="en-US" dirty="0"/>
              <a:t> </a:t>
            </a:r>
            <a:r>
              <a:rPr lang="en-US" dirty="0" err="1"/>
              <a:t>порівняння</a:t>
            </a:r>
            <a:r>
              <a:rPr lang="en-US" dirty="0"/>
              <a:t> — </a:t>
            </a:r>
            <a:r>
              <a:rPr lang="en-US" b="1" dirty="0"/>
              <a:t>12 </a:t>
            </a:r>
            <a:r>
              <a:rPr lang="en-US" b="1" dirty="0" err="1"/>
              <a:t>балів</a:t>
            </a:r>
            <a:r>
              <a:rPr lang="en-US" dirty="0"/>
              <a:t> </a:t>
            </a:r>
            <a:r>
              <a:rPr lang="en-US" dirty="0" err="1"/>
              <a:t>проти</a:t>
            </a:r>
            <a:r>
              <a:rPr lang="en-US" dirty="0"/>
              <a:t> 3–6 </a:t>
            </a:r>
            <a:r>
              <a:rPr lang="en-US" dirty="0" err="1"/>
              <a:t>балів</a:t>
            </a:r>
            <a:r>
              <a:rPr lang="en-US" dirty="0"/>
              <a:t> у </a:t>
            </a:r>
            <a:r>
              <a:rPr lang="en-US" dirty="0" err="1"/>
              <a:t>аналогів</a:t>
            </a:r>
            <a:endParaRPr lang="en-US" dirty="0"/>
          </a:p>
          <a:p>
            <a:r>
              <a:rPr lang="en-US" dirty="0"/>
              <a:t>10</a:t>
            </a:r>
            <a:r>
              <a:rPr lang="en-US" b="1" dirty="0"/>
              <a:t>Узагальнене </a:t>
            </a:r>
            <a:r>
              <a:rPr lang="en-US" b="1" dirty="0" err="1"/>
              <a:t>підтвердження</a:t>
            </a:r>
            <a:r>
              <a:rPr lang="en-US" b="1" dirty="0"/>
              <a:t> </a:t>
            </a:r>
            <a:r>
              <a:rPr lang="en-US" b="1" dirty="0" err="1"/>
              <a:t>отриманих</a:t>
            </a:r>
            <a:r>
              <a:rPr lang="en-US" b="1" dirty="0"/>
              <a:t> </a:t>
            </a:r>
            <a:r>
              <a:rPr lang="en-US" b="1" dirty="0" err="1"/>
              <a:t>наукових</a:t>
            </a:r>
            <a:r>
              <a:rPr lang="en-US" b="1" dirty="0"/>
              <a:t> результатів50</a:t>
            </a:r>
            <a:r>
              <a:rPr lang="en-US" dirty="0"/>
              <a:t>У </a:t>
            </a:r>
            <a:r>
              <a:rPr lang="en-US" dirty="0" err="1"/>
              <a:t>висновках</a:t>
            </a:r>
            <a:r>
              <a:rPr lang="en-US" dirty="0"/>
              <a:t> </a:t>
            </a:r>
            <a:r>
              <a:rPr lang="en-US" dirty="0" err="1"/>
              <a:t>сформульовано</a:t>
            </a:r>
            <a:r>
              <a:rPr lang="en-US" dirty="0"/>
              <a:t> </a:t>
            </a:r>
            <a:r>
              <a:rPr lang="en-US" dirty="0" err="1"/>
              <a:t>розроблені</a:t>
            </a:r>
            <a:r>
              <a:rPr lang="en-US" dirty="0"/>
              <a:t> </a:t>
            </a:r>
            <a:r>
              <a:rPr lang="en-US" dirty="0" err="1"/>
              <a:t>моделі</a:t>
            </a:r>
            <a:r>
              <a:rPr lang="en-US" dirty="0"/>
              <a:t>, </a:t>
            </a:r>
            <a:r>
              <a:rPr lang="en-US" dirty="0" err="1"/>
              <a:t>методи</a:t>
            </a:r>
            <a:r>
              <a:rPr lang="en-US" dirty="0"/>
              <a:t>, </a:t>
            </a:r>
            <a:r>
              <a:rPr lang="en-US" dirty="0" err="1"/>
              <a:t>інтегральну</a:t>
            </a:r>
            <a:r>
              <a:rPr lang="en-US" dirty="0"/>
              <a:t> </a:t>
            </a:r>
            <a:r>
              <a:rPr lang="en-US" dirty="0" err="1"/>
              <a:t>схему</a:t>
            </a:r>
            <a:r>
              <a:rPr lang="en-US" dirty="0"/>
              <a:t>, </a:t>
            </a:r>
            <a:r>
              <a:rPr lang="en-US" dirty="0" err="1"/>
              <a:t>ансамблеві</a:t>
            </a:r>
            <a:r>
              <a:rPr lang="en-US" dirty="0"/>
              <a:t> </a:t>
            </a:r>
            <a:r>
              <a:rPr lang="en-US" dirty="0" err="1"/>
              <a:t>підходи</a:t>
            </a:r>
            <a:r>
              <a:rPr lang="en-US" dirty="0"/>
              <a:t> </a:t>
            </a:r>
            <a:r>
              <a:rPr lang="en-US" dirty="0" err="1"/>
              <a:t>та</a:t>
            </a:r>
            <a:r>
              <a:rPr lang="en-US" dirty="0"/>
              <a:t> </a:t>
            </a:r>
            <a:r>
              <a:rPr lang="en-US" dirty="0" err="1"/>
              <a:t>результати</a:t>
            </a:r>
            <a:r>
              <a:rPr lang="en-US" dirty="0"/>
              <a:t> </a:t>
            </a:r>
            <a:r>
              <a:rPr lang="en-US" dirty="0" err="1"/>
              <a:t>експериментального</a:t>
            </a:r>
            <a:r>
              <a:rPr lang="en-US" dirty="0"/>
              <a:t> </a:t>
            </a:r>
            <a:r>
              <a:rPr lang="en-US" dirty="0" err="1"/>
              <a:t>дослідження</a:t>
            </a:r>
            <a:endParaRPr lang="en-US" dirty="0"/>
          </a:p>
          <a:p>
            <a:endParaRPr lang="en-US" dirty="0"/>
          </a:p>
        </p:txBody>
      </p:sp>
      <p:sp>
        <p:nvSpPr>
          <p:cNvPr id="4" name="Місце для номера слайда 3">
            <a:extLst>
              <a:ext uri="{FF2B5EF4-FFF2-40B4-BE49-F238E27FC236}">
                <a16:creationId xmlns:a16="http://schemas.microsoft.com/office/drawing/2014/main" id="{C520A64E-F70A-B742-15CE-CAC1715E73A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7736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61AF9-973B-DFA0-4C40-C9699D2BE557}"/>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FEF348E-B416-0138-D1AF-070963D30D7D}"/>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8454023E-AEB9-92FB-34A9-0AF701E7CA30}"/>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a:p>
            <a:endParaRPr lang="en-US" dirty="0"/>
          </a:p>
          <a:p>
            <a:endParaRPr lang="en-US" dirty="0"/>
          </a:p>
          <a:p>
            <a:r>
              <a:rPr lang="en-US" dirty="0"/>
              <a:t>№</a:t>
            </a:r>
          </a:p>
          <a:p>
            <a:r>
              <a:rPr lang="en-US" dirty="0" err="1"/>
              <a:t>Положення</a:t>
            </a:r>
            <a:r>
              <a:rPr lang="en-US" dirty="0"/>
              <a:t> </a:t>
            </a:r>
            <a:r>
              <a:rPr lang="en-US" dirty="0" err="1"/>
              <a:t>наукової</a:t>
            </a:r>
            <a:r>
              <a:rPr lang="en-US" dirty="0"/>
              <a:t> </a:t>
            </a:r>
            <a:r>
              <a:rPr lang="en-US" dirty="0" err="1"/>
              <a:t>новизни</a:t>
            </a:r>
            <a:endParaRPr lang="en-US" dirty="0"/>
          </a:p>
          <a:p>
            <a:r>
              <a:rPr lang="en-US" dirty="0" err="1"/>
              <a:t>Слайди</a:t>
            </a:r>
            <a:r>
              <a:rPr lang="en-US" dirty="0"/>
              <a:t>, </a:t>
            </a:r>
            <a:r>
              <a:rPr lang="en-US" dirty="0" err="1"/>
              <a:t>де</a:t>
            </a:r>
            <a:r>
              <a:rPr lang="en-US" dirty="0"/>
              <a:t> </a:t>
            </a:r>
            <a:r>
              <a:rPr lang="en-US" dirty="0" err="1"/>
              <a:t>підтверджується</a:t>
            </a:r>
            <a:endParaRPr lang="en-US" dirty="0"/>
          </a:p>
          <a:p>
            <a:r>
              <a:rPr lang="en-US" dirty="0" err="1"/>
              <a:t>Що</a:t>
            </a:r>
            <a:r>
              <a:rPr lang="en-US" dirty="0"/>
              <a:t> </a:t>
            </a:r>
            <a:r>
              <a:rPr lang="en-US" dirty="0" err="1"/>
              <a:t>саме</a:t>
            </a:r>
            <a:r>
              <a:rPr lang="en-US" dirty="0"/>
              <a:t> </a:t>
            </a:r>
            <a:r>
              <a:rPr lang="en-US" dirty="0" err="1"/>
              <a:t>показано</a:t>
            </a:r>
            <a:endParaRPr lang="en-US" dirty="0"/>
          </a:p>
          <a:p>
            <a:r>
              <a:rPr lang="en-US" dirty="0"/>
              <a:t>1</a:t>
            </a:r>
            <a:r>
              <a:rPr lang="en-US" b="1" dirty="0"/>
              <a:t>Удосконалено </a:t>
            </a:r>
            <a:r>
              <a:rPr lang="en-US" b="1" dirty="0" err="1"/>
              <a:t>модель</a:t>
            </a:r>
            <a:r>
              <a:rPr lang="en-US" b="1" dirty="0"/>
              <a:t> </a:t>
            </a:r>
            <a:r>
              <a:rPr lang="en-US" b="1" dirty="0" err="1"/>
              <a:t>дистанційної</a:t>
            </a:r>
            <a:r>
              <a:rPr lang="en-US" b="1" dirty="0"/>
              <a:t> </a:t>
            </a:r>
            <a:r>
              <a:rPr lang="en-US" b="1" dirty="0" err="1"/>
              <a:t>ідентифікації</a:t>
            </a:r>
            <a:r>
              <a:rPr lang="en-US" b="1" dirty="0"/>
              <a:t> </a:t>
            </a:r>
            <a:r>
              <a:rPr lang="en-US" b="1" dirty="0" err="1"/>
              <a:t>параметрів</a:t>
            </a:r>
            <a:r>
              <a:rPr lang="en-US" b="1" dirty="0"/>
              <a:t> </a:t>
            </a:r>
            <a:r>
              <a:rPr lang="en-US" b="1" dirty="0" err="1"/>
              <a:t>динамічних</a:t>
            </a:r>
            <a:r>
              <a:rPr lang="en-US" b="1" dirty="0"/>
              <a:t> </a:t>
            </a:r>
            <a:r>
              <a:rPr lang="en-US" b="1" dirty="0" err="1"/>
              <a:t>об'єктів</a:t>
            </a:r>
            <a:r>
              <a:rPr lang="en-US" b="1" dirty="0"/>
              <a:t> </a:t>
            </a:r>
            <a:r>
              <a:rPr lang="en-US" b="1" dirty="0" err="1"/>
              <a:t>шляхом</a:t>
            </a:r>
            <a:r>
              <a:rPr lang="en-US" b="1" dirty="0"/>
              <a:t> </a:t>
            </a:r>
            <a:r>
              <a:rPr lang="en-US" b="1" dirty="0" err="1"/>
              <a:t>інтеграції</a:t>
            </a:r>
            <a:r>
              <a:rPr lang="en-US" b="1" dirty="0"/>
              <a:t> DETR </a:t>
            </a:r>
            <a:r>
              <a:rPr lang="en-US" b="1" dirty="0" err="1"/>
              <a:t>та</a:t>
            </a:r>
            <a:r>
              <a:rPr lang="en-US" b="1" dirty="0"/>
              <a:t> </a:t>
            </a:r>
            <a:r>
              <a:rPr lang="en-US" b="1" dirty="0" err="1"/>
              <a:t>оптичного</a:t>
            </a:r>
            <a:r>
              <a:rPr lang="en-US" b="1" dirty="0"/>
              <a:t> потоку17–18, 20, 22–23</a:t>
            </a:r>
            <a:r>
              <a:rPr lang="en-US" dirty="0"/>
              <a:t>Структуру </a:t>
            </a:r>
            <a:r>
              <a:rPr lang="en-US" dirty="0" err="1"/>
              <a:t>моделей</a:t>
            </a:r>
            <a:r>
              <a:rPr lang="en-US" dirty="0"/>
              <a:t> ДІПДО; </a:t>
            </a:r>
            <a:r>
              <a:rPr lang="en-US" dirty="0" err="1"/>
              <a:t>аналітичну</a:t>
            </a:r>
            <a:r>
              <a:rPr lang="en-US" dirty="0"/>
              <a:t> </a:t>
            </a:r>
            <a:r>
              <a:rPr lang="en-US" dirty="0" err="1"/>
              <a:t>модель</a:t>
            </a:r>
            <a:r>
              <a:rPr lang="en-US" dirty="0"/>
              <a:t> DETR + Optical Flow; </a:t>
            </a:r>
            <a:r>
              <a:rPr lang="en-US" dirty="0" err="1"/>
              <a:t>локалізацію</a:t>
            </a:r>
            <a:r>
              <a:rPr lang="en-US" dirty="0"/>
              <a:t> </a:t>
            </a:r>
            <a:r>
              <a:rPr lang="en-US" dirty="0" err="1"/>
              <a:t>об'єктів</a:t>
            </a:r>
            <a:r>
              <a:rPr lang="en-US" dirty="0"/>
              <a:t>; </a:t>
            </a:r>
            <a:r>
              <a:rPr lang="en-US" dirty="0" err="1"/>
              <a:t>визначення</a:t>
            </a:r>
            <a:r>
              <a:rPr lang="en-US" dirty="0"/>
              <a:t> </a:t>
            </a:r>
            <a:r>
              <a:rPr lang="en-US" dirty="0" err="1"/>
              <a:t>векторів</a:t>
            </a:r>
            <a:r>
              <a:rPr lang="en-US" dirty="0"/>
              <a:t> </a:t>
            </a:r>
            <a:r>
              <a:rPr lang="en-US" dirty="0" err="1"/>
              <a:t>руху</a:t>
            </a:r>
            <a:r>
              <a:rPr lang="en-US" dirty="0"/>
              <a:t>, </a:t>
            </a:r>
            <a:r>
              <a:rPr lang="en-US" dirty="0" err="1"/>
              <a:t>швидкості</a:t>
            </a:r>
            <a:r>
              <a:rPr lang="en-US" dirty="0"/>
              <a:t> </a:t>
            </a:r>
            <a:r>
              <a:rPr lang="en-US" dirty="0" err="1"/>
              <a:t>та</a:t>
            </a:r>
            <a:r>
              <a:rPr lang="en-US" dirty="0"/>
              <a:t> </a:t>
            </a:r>
            <a:r>
              <a:rPr lang="en-US" dirty="0" err="1"/>
              <a:t>напрямку</a:t>
            </a:r>
            <a:endParaRPr lang="en-US" dirty="0"/>
          </a:p>
          <a:p>
            <a:r>
              <a:rPr lang="en-US" dirty="0"/>
              <a:t>2</a:t>
            </a:r>
            <a:r>
              <a:rPr lang="en-US" b="1" dirty="0"/>
              <a:t>Набула </a:t>
            </a:r>
            <a:r>
              <a:rPr lang="en-US" b="1" dirty="0" err="1"/>
              <a:t>подальшого</a:t>
            </a:r>
            <a:r>
              <a:rPr lang="en-US" b="1" dirty="0"/>
              <a:t> </a:t>
            </a:r>
            <a:r>
              <a:rPr lang="en-US" b="1" dirty="0" err="1"/>
              <a:t>розвитку</a:t>
            </a:r>
            <a:r>
              <a:rPr lang="en-US" b="1" dirty="0"/>
              <a:t> </a:t>
            </a:r>
            <a:r>
              <a:rPr lang="en-US" b="1" dirty="0" err="1"/>
              <a:t>просторово-часова</a:t>
            </a:r>
            <a:r>
              <a:rPr lang="en-US" b="1" dirty="0"/>
              <a:t> </a:t>
            </a:r>
            <a:r>
              <a:rPr lang="en-US" b="1" dirty="0" err="1"/>
              <a:t>модель</a:t>
            </a:r>
            <a:r>
              <a:rPr lang="en-US" b="1" dirty="0"/>
              <a:t> </a:t>
            </a:r>
            <a:r>
              <a:rPr lang="en-US" b="1" dirty="0" err="1"/>
              <a:t>опису</a:t>
            </a:r>
            <a:r>
              <a:rPr lang="en-US" b="1" dirty="0"/>
              <a:t> </a:t>
            </a:r>
            <a:r>
              <a:rPr lang="en-US" b="1" dirty="0" err="1"/>
              <a:t>стану</a:t>
            </a:r>
            <a:r>
              <a:rPr lang="en-US" b="1" dirty="0"/>
              <a:t> </a:t>
            </a:r>
            <a:r>
              <a:rPr lang="en-US" b="1" dirty="0" err="1"/>
              <a:t>динамічного</a:t>
            </a:r>
            <a:r>
              <a:rPr lang="en-US" b="1" dirty="0"/>
              <a:t> об'єкта11, 16–18, 23</a:t>
            </a:r>
            <a:r>
              <a:rPr lang="en-US" dirty="0"/>
              <a:t>Об'єднання </a:t>
            </a:r>
            <a:r>
              <a:rPr lang="en-US" dirty="0" err="1"/>
              <a:t>просторових</a:t>
            </a:r>
            <a:r>
              <a:rPr lang="en-US" dirty="0"/>
              <a:t> і </a:t>
            </a:r>
            <a:r>
              <a:rPr lang="en-US" dirty="0" err="1"/>
              <a:t>часових</a:t>
            </a:r>
            <a:r>
              <a:rPr lang="en-US" dirty="0"/>
              <a:t> </a:t>
            </a:r>
            <a:r>
              <a:rPr lang="en-US" dirty="0" err="1"/>
              <a:t>ознак</a:t>
            </a:r>
            <a:r>
              <a:rPr lang="en-US" dirty="0"/>
              <a:t>; </a:t>
            </a:r>
            <a:r>
              <a:rPr lang="en-US" dirty="0" err="1"/>
              <a:t>перехід</a:t>
            </a:r>
            <a:r>
              <a:rPr lang="en-US" dirty="0"/>
              <a:t> </a:t>
            </a:r>
            <a:r>
              <a:rPr lang="en-US" dirty="0" err="1"/>
              <a:t>від</a:t>
            </a:r>
            <a:r>
              <a:rPr lang="en-US" dirty="0"/>
              <a:t> </a:t>
            </a:r>
            <a:r>
              <a:rPr lang="en-US" dirty="0" err="1"/>
              <a:t>покадрового</a:t>
            </a:r>
            <a:r>
              <a:rPr lang="en-US" dirty="0"/>
              <a:t> </a:t>
            </a:r>
            <a:r>
              <a:rPr lang="en-US" dirty="0" err="1"/>
              <a:t>виявлення</a:t>
            </a:r>
            <a:r>
              <a:rPr lang="en-US" dirty="0"/>
              <a:t> </a:t>
            </a:r>
            <a:r>
              <a:rPr lang="en-US" dirty="0" err="1"/>
              <a:t>до</a:t>
            </a:r>
            <a:r>
              <a:rPr lang="en-US" dirty="0"/>
              <a:t> </a:t>
            </a:r>
            <a:r>
              <a:rPr lang="en-US" dirty="0" err="1"/>
              <a:t>визначення</a:t>
            </a:r>
            <a:r>
              <a:rPr lang="en-US" dirty="0"/>
              <a:t> </a:t>
            </a:r>
            <a:r>
              <a:rPr lang="en-US" dirty="0" err="1"/>
              <a:t>положення</a:t>
            </a:r>
            <a:r>
              <a:rPr lang="en-US" dirty="0"/>
              <a:t>, </a:t>
            </a:r>
            <a:r>
              <a:rPr lang="en-US" dirty="0" err="1"/>
              <a:t>швидкості</a:t>
            </a:r>
            <a:r>
              <a:rPr lang="en-US" dirty="0"/>
              <a:t>, </a:t>
            </a:r>
            <a:r>
              <a:rPr lang="en-US" dirty="0" err="1"/>
              <a:t>прискорення</a:t>
            </a:r>
            <a:r>
              <a:rPr lang="en-US" dirty="0"/>
              <a:t>, </a:t>
            </a:r>
            <a:r>
              <a:rPr lang="en-US" dirty="0" err="1"/>
              <a:t>напрямку</a:t>
            </a:r>
            <a:r>
              <a:rPr lang="en-US" dirty="0"/>
              <a:t> і </a:t>
            </a:r>
            <a:r>
              <a:rPr lang="en-US" dirty="0" err="1"/>
              <a:t>траєкторії</a:t>
            </a:r>
            <a:endParaRPr lang="en-US" dirty="0"/>
          </a:p>
          <a:p>
            <a:r>
              <a:rPr lang="en-US" dirty="0"/>
              <a:t>3</a:t>
            </a:r>
            <a:r>
              <a:rPr lang="en-US" b="1" dirty="0"/>
              <a:t>Удосконалено </a:t>
            </a:r>
            <a:r>
              <a:rPr lang="en-US" b="1" dirty="0" err="1"/>
              <a:t>метод</a:t>
            </a:r>
            <a:r>
              <a:rPr lang="en-US" b="1" dirty="0"/>
              <a:t> </a:t>
            </a:r>
            <a:r>
              <a:rPr lang="en-US" b="1" dirty="0" err="1"/>
              <a:t>сумісного</a:t>
            </a:r>
            <a:r>
              <a:rPr lang="en-US" b="1" dirty="0"/>
              <a:t> </a:t>
            </a:r>
            <a:r>
              <a:rPr lang="en-US" b="1" dirty="0" err="1"/>
              <a:t>оцінювання</a:t>
            </a:r>
            <a:r>
              <a:rPr lang="en-US" b="1" dirty="0"/>
              <a:t> </a:t>
            </a:r>
            <a:r>
              <a:rPr lang="en-US" b="1" dirty="0" err="1"/>
              <a:t>руху</a:t>
            </a:r>
            <a:r>
              <a:rPr lang="en-US" b="1" dirty="0"/>
              <a:t> </a:t>
            </a:r>
            <a:r>
              <a:rPr lang="en-US" b="1" dirty="0" err="1"/>
              <a:t>та</a:t>
            </a:r>
            <a:r>
              <a:rPr lang="en-US" b="1" dirty="0"/>
              <a:t> </a:t>
            </a:r>
            <a:r>
              <a:rPr lang="en-US" b="1" dirty="0" err="1"/>
              <a:t>глибини</a:t>
            </a:r>
            <a:r>
              <a:rPr lang="en-US" b="1" dirty="0"/>
              <a:t> відеосцени21, 25–26</a:t>
            </a:r>
            <a:r>
              <a:rPr lang="en-US" dirty="0"/>
              <a:t>Використання </a:t>
            </a:r>
            <a:r>
              <a:rPr lang="en-US" dirty="0" err="1"/>
              <a:t>GeoNet</a:t>
            </a:r>
            <a:r>
              <a:rPr lang="en-US" dirty="0"/>
              <a:t>, </a:t>
            </a:r>
            <a:r>
              <a:rPr lang="en-US" dirty="0" err="1"/>
              <a:t>оптичного</a:t>
            </a:r>
            <a:r>
              <a:rPr lang="en-US" dirty="0"/>
              <a:t> </a:t>
            </a:r>
            <a:r>
              <a:rPr lang="en-US" dirty="0" err="1"/>
              <a:t>потоку</a:t>
            </a:r>
            <a:r>
              <a:rPr lang="en-US" dirty="0"/>
              <a:t>, </a:t>
            </a:r>
            <a:r>
              <a:rPr lang="en-US" dirty="0" err="1"/>
              <a:t>моделей</a:t>
            </a:r>
            <a:r>
              <a:rPr lang="en-US" dirty="0"/>
              <a:t> </a:t>
            </a:r>
            <a:r>
              <a:rPr lang="en-US" dirty="0" err="1"/>
              <a:t>глибини</a:t>
            </a:r>
            <a:r>
              <a:rPr lang="en-US" dirty="0"/>
              <a:t> </a:t>
            </a:r>
            <a:r>
              <a:rPr lang="en-US" dirty="0" err="1"/>
              <a:t>та</a:t>
            </a:r>
            <a:r>
              <a:rPr lang="en-US" dirty="0"/>
              <a:t> </a:t>
            </a:r>
            <a:r>
              <a:rPr lang="en-US" dirty="0" err="1"/>
              <a:t>трансформерної</a:t>
            </a:r>
            <a:r>
              <a:rPr lang="en-US" dirty="0"/>
              <a:t> </a:t>
            </a:r>
            <a:r>
              <a:rPr lang="en-US" dirty="0" err="1"/>
              <a:t>обробки</a:t>
            </a:r>
            <a:r>
              <a:rPr lang="en-US" dirty="0"/>
              <a:t> в </a:t>
            </a:r>
            <a:r>
              <a:rPr lang="en-US" dirty="0" err="1"/>
              <a:t>єдиній</a:t>
            </a:r>
            <a:r>
              <a:rPr lang="en-US" dirty="0"/>
              <a:t> </a:t>
            </a:r>
            <a:r>
              <a:rPr lang="en-US" dirty="0" err="1"/>
              <a:t>інтегральній</a:t>
            </a:r>
            <a:r>
              <a:rPr lang="en-US" dirty="0"/>
              <a:t> </a:t>
            </a:r>
            <a:r>
              <a:rPr lang="en-US" dirty="0" err="1"/>
              <a:t>схемі</a:t>
            </a:r>
            <a:endParaRPr lang="en-US" dirty="0"/>
          </a:p>
          <a:p>
            <a:r>
              <a:rPr lang="en-US" dirty="0"/>
              <a:t>4</a:t>
            </a:r>
            <a:r>
              <a:rPr lang="en-US" b="1" dirty="0"/>
              <a:t>Удосконалено </a:t>
            </a:r>
            <a:r>
              <a:rPr lang="en-US" b="1" dirty="0" err="1"/>
              <a:t>метод</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стійкості</a:t>
            </a:r>
            <a:r>
              <a:rPr lang="en-US" b="1" dirty="0"/>
              <a:t> </a:t>
            </a:r>
            <a:r>
              <a:rPr lang="en-US" b="1" dirty="0" err="1"/>
              <a:t>оцінювання</a:t>
            </a:r>
            <a:r>
              <a:rPr lang="en-US" b="1" dirty="0"/>
              <a:t> </a:t>
            </a:r>
            <a:r>
              <a:rPr lang="en-US" b="1" dirty="0" err="1"/>
              <a:t>глибини</a:t>
            </a:r>
            <a:r>
              <a:rPr lang="en-US" b="1" dirty="0"/>
              <a:t> </a:t>
            </a:r>
            <a:r>
              <a:rPr lang="en-US" b="1" dirty="0" err="1"/>
              <a:t>за</a:t>
            </a:r>
            <a:r>
              <a:rPr lang="en-US" b="1" dirty="0"/>
              <a:t> </a:t>
            </a:r>
            <a:r>
              <a:rPr lang="en-US" b="1" dirty="0" err="1"/>
              <a:t>допомогою</a:t>
            </a:r>
            <a:r>
              <a:rPr lang="en-US" b="1" dirty="0"/>
              <a:t> Bagging і Boosting15, 25–26, 32</a:t>
            </a:r>
            <a:r>
              <a:rPr lang="en-US" dirty="0"/>
              <a:t>Ансамблеве </a:t>
            </a:r>
            <a:r>
              <a:rPr lang="en-US" dirty="0" err="1"/>
              <a:t>об'єднання</a:t>
            </a:r>
            <a:r>
              <a:rPr lang="en-US" dirty="0"/>
              <a:t> </a:t>
            </a:r>
            <a:r>
              <a:rPr lang="en-US" dirty="0" err="1"/>
              <a:t>результатів</a:t>
            </a:r>
            <a:r>
              <a:rPr lang="en-US" dirty="0"/>
              <a:t>; </a:t>
            </a:r>
            <a:r>
              <a:rPr lang="en-US" dirty="0" err="1"/>
              <a:t>паралельна</a:t>
            </a:r>
            <a:r>
              <a:rPr lang="en-US" dirty="0"/>
              <a:t> </a:t>
            </a:r>
            <a:r>
              <a:rPr lang="en-US" dirty="0" err="1"/>
              <a:t>схема</a:t>
            </a:r>
            <a:r>
              <a:rPr lang="en-US" dirty="0"/>
              <a:t> Bagging </a:t>
            </a:r>
            <a:r>
              <a:rPr lang="en-US" dirty="0" err="1"/>
              <a:t>та</a:t>
            </a:r>
            <a:r>
              <a:rPr lang="en-US" dirty="0"/>
              <a:t> </a:t>
            </a:r>
            <a:r>
              <a:rPr lang="en-US" dirty="0" err="1"/>
              <a:t>послідовна</a:t>
            </a:r>
            <a:r>
              <a:rPr lang="en-US" dirty="0"/>
              <a:t> </a:t>
            </a:r>
            <a:r>
              <a:rPr lang="en-US" dirty="0" err="1"/>
              <a:t>корекція</a:t>
            </a:r>
            <a:r>
              <a:rPr lang="en-US" dirty="0"/>
              <a:t> Boosting</a:t>
            </a:r>
          </a:p>
          <a:p>
            <a:r>
              <a:rPr lang="en-US" dirty="0"/>
              <a:t>5</a:t>
            </a:r>
            <a:r>
              <a:rPr lang="en-US" b="1" dirty="0"/>
              <a:t>Вперше </a:t>
            </a:r>
            <a:r>
              <a:rPr lang="en-US" b="1" dirty="0" err="1"/>
              <a:t>або</a:t>
            </a:r>
            <a:r>
              <a:rPr lang="en-US" b="1" dirty="0"/>
              <a:t> </a:t>
            </a:r>
            <a:r>
              <a:rPr lang="en-US" b="1" dirty="0" err="1"/>
              <a:t>комплексно</a:t>
            </a:r>
            <a:r>
              <a:rPr lang="en-US" b="1" dirty="0"/>
              <a:t> </a:t>
            </a:r>
            <a:r>
              <a:rPr lang="en-US" b="1" dirty="0" err="1"/>
              <a:t>запропоновано</a:t>
            </a:r>
            <a:r>
              <a:rPr lang="en-US" b="1" dirty="0"/>
              <a:t> </a:t>
            </a:r>
            <a:r>
              <a:rPr lang="en-US" b="1" dirty="0" err="1"/>
              <a:t>інформаційну</a:t>
            </a:r>
            <a:r>
              <a:rPr lang="en-US" b="1" dirty="0"/>
              <a:t> </a:t>
            </a:r>
            <a:r>
              <a:rPr lang="en-US" b="1" dirty="0" err="1"/>
              <a:t>технологію</a:t>
            </a:r>
            <a:r>
              <a:rPr lang="en-US" b="1" dirty="0"/>
              <a:t>, </a:t>
            </a:r>
            <a:r>
              <a:rPr lang="en-US" b="1" dirty="0" err="1"/>
              <a:t>яка</a:t>
            </a:r>
            <a:r>
              <a:rPr lang="en-US" b="1" dirty="0"/>
              <a:t> </a:t>
            </a:r>
            <a:r>
              <a:rPr lang="en-US" b="1" dirty="0" err="1"/>
              <a:t>поєднує</a:t>
            </a:r>
            <a:r>
              <a:rPr lang="en-US" b="1" dirty="0"/>
              <a:t> </a:t>
            </a:r>
            <a:r>
              <a:rPr lang="en-US" b="1" dirty="0" err="1"/>
              <a:t>детекцію</a:t>
            </a:r>
            <a:r>
              <a:rPr lang="en-US" b="1" dirty="0"/>
              <a:t>, </a:t>
            </a:r>
            <a:r>
              <a:rPr lang="en-US" b="1" dirty="0" err="1"/>
              <a:t>рух</a:t>
            </a:r>
            <a:r>
              <a:rPr lang="en-US" b="1" dirty="0"/>
              <a:t>, </a:t>
            </a:r>
            <a:r>
              <a:rPr lang="en-US" b="1" dirty="0" err="1"/>
              <a:t>глибину</a:t>
            </a:r>
            <a:r>
              <a:rPr lang="en-US" b="1" dirty="0"/>
              <a:t>, </a:t>
            </a:r>
            <a:r>
              <a:rPr lang="en-US" b="1" dirty="0" err="1"/>
              <a:t>ансамблеву</a:t>
            </a:r>
            <a:r>
              <a:rPr lang="en-US" b="1" dirty="0"/>
              <a:t> </a:t>
            </a:r>
            <a:r>
              <a:rPr lang="en-US" b="1" dirty="0" err="1"/>
              <a:t>корекцію</a:t>
            </a:r>
            <a:r>
              <a:rPr lang="en-US" b="1" dirty="0"/>
              <a:t> </a:t>
            </a:r>
            <a:r>
              <a:rPr lang="en-US" b="1" dirty="0" err="1"/>
              <a:t>та</a:t>
            </a:r>
            <a:r>
              <a:rPr lang="en-US" b="1" dirty="0"/>
              <a:t> </a:t>
            </a:r>
            <a:r>
              <a:rPr lang="en-US" b="1" dirty="0" err="1"/>
              <a:t>визначення</a:t>
            </a:r>
            <a:r>
              <a:rPr lang="en-US" b="1" dirty="0"/>
              <a:t> </a:t>
            </a:r>
            <a:r>
              <a:rPr lang="en-US" b="1" dirty="0" err="1"/>
              <a:t>параметрів</a:t>
            </a:r>
            <a:r>
              <a:rPr lang="en-US" b="1" dirty="0"/>
              <a:t> об'єкта25–26, 30, 35</a:t>
            </a:r>
            <a:r>
              <a:rPr lang="en-US" dirty="0"/>
              <a:t>Повний </a:t>
            </a:r>
            <a:r>
              <a:rPr lang="en-US" dirty="0" err="1"/>
              <a:t>цикл</a:t>
            </a:r>
            <a:r>
              <a:rPr lang="en-US" dirty="0"/>
              <a:t> </a:t>
            </a:r>
            <a:r>
              <a:rPr lang="en-US" dirty="0" err="1"/>
              <a:t>обробки</a:t>
            </a:r>
            <a:r>
              <a:rPr lang="en-US" dirty="0"/>
              <a:t>: </a:t>
            </a:r>
            <a:r>
              <a:rPr lang="en-US" dirty="0" err="1"/>
              <a:t>відеопотік</a:t>
            </a:r>
            <a:r>
              <a:rPr lang="en-US" dirty="0"/>
              <a:t> → DETR → </a:t>
            </a:r>
            <a:r>
              <a:rPr lang="en-US" dirty="0" err="1"/>
              <a:t>оптичний</a:t>
            </a:r>
            <a:r>
              <a:rPr lang="en-US" dirty="0"/>
              <a:t> </a:t>
            </a:r>
            <a:r>
              <a:rPr lang="en-US" dirty="0" err="1"/>
              <a:t>потік</a:t>
            </a:r>
            <a:r>
              <a:rPr lang="en-US" dirty="0"/>
              <a:t> → </a:t>
            </a:r>
            <a:r>
              <a:rPr lang="en-US" dirty="0" err="1"/>
              <a:t>карта</a:t>
            </a:r>
            <a:r>
              <a:rPr lang="en-US" dirty="0"/>
              <a:t> </a:t>
            </a:r>
            <a:r>
              <a:rPr lang="en-US" dirty="0" err="1"/>
              <a:t>глибини</a:t>
            </a:r>
            <a:r>
              <a:rPr lang="en-US" dirty="0"/>
              <a:t> → </a:t>
            </a:r>
            <a:r>
              <a:rPr lang="en-US" dirty="0" err="1"/>
              <a:t>ансамбль</a:t>
            </a:r>
            <a:r>
              <a:rPr lang="en-US" dirty="0"/>
              <a:t> → </a:t>
            </a:r>
            <a:r>
              <a:rPr lang="en-US" dirty="0" err="1"/>
              <a:t>параметри</a:t>
            </a:r>
            <a:r>
              <a:rPr lang="en-US" dirty="0"/>
              <a:t> → </a:t>
            </a:r>
            <a:r>
              <a:rPr lang="en-US" dirty="0" err="1"/>
              <a:t>візуалізація</a:t>
            </a:r>
            <a:endParaRPr lang="en-US" dirty="0"/>
          </a:p>
          <a:p>
            <a:r>
              <a:rPr lang="en-US" dirty="0"/>
              <a:t>6</a:t>
            </a:r>
            <a:r>
              <a:rPr lang="en-US" b="1" dirty="0"/>
              <a:t>Підтверджено </a:t>
            </a:r>
            <a:r>
              <a:rPr lang="en-US" b="1" dirty="0" err="1"/>
              <a:t>адаптивність</a:t>
            </a:r>
            <a:r>
              <a:rPr lang="en-US" b="1" dirty="0"/>
              <a:t> </a:t>
            </a:r>
            <a:r>
              <a:rPr lang="en-US" b="1" dirty="0" err="1"/>
              <a:t>запропонованого</a:t>
            </a:r>
            <a:r>
              <a:rPr lang="en-US" b="1" dirty="0"/>
              <a:t> </a:t>
            </a:r>
            <a:r>
              <a:rPr lang="en-US" b="1" dirty="0" err="1"/>
              <a:t>підходу</a:t>
            </a:r>
            <a:r>
              <a:rPr lang="en-US" b="1" dirty="0"/>
              <a:t> </a:t>
            </a:r>
            <a:r>
              <a:rPr lang="en-US" b="1" dirty="0" err="1"/>
              <a:t>завдяки</a:t>
            </a:r>
            <a:r>
              <a:rPr lang="en-US" b="1" dirty="0"/>
              <a:t> </a:t>
            </a:r>
            <a:r>
              <a:rPr lang="en-US" b="1" dirty="0" err="1"/>
              <a:t>можливості</a:t>
            </a:r>
            <a:r>
              <a:rPr lang="en-US" b="1" dirty="0"/>
              <a:t> </a:t>
            </a:r>
            <a:r>
              <a:rPr lang="en-US" b="1" dirty="0" err="1"/>
              <a:t>комбінування</a:t>
            </a:r>
            <a:r>
              <a:rPr lang="en-US" b="1" dirty="0"/>
              <a:t> </a:t>
            </a:r>
            <a:r>
              <a:rPr lang="en-US" b="1" dirty="0" err="1"/>
              <a:t>різних</a:t>
            </a:r>
            <a:r>
              <a:rPr lang="en-US" b="1" dirty="0"/>
              <a:t> </a:t>
            </a:r>
            <a:r>
              <a:rPr lang="en-US" b="1" dirty="0" err="1"/>
              <a:t>моделей</a:t>
            </a:r>
            <a:r>
              <a:rPr lang="en-US" b="1" dirty="0"/>
              <a:t> і методів30, 36–38, 43</a:t>
            </a:r>
            <a:r>
              <a:rPr lang="en-US" dirty="0"/>
              <a:t>Модульність </a:t>
            </a:r>
            <a:r>
              <a:rPr lang="en-US" dirty="0" err="1"/>
              <a:t>технології</a:t>
            </a:r>
            <a:r>
              <a:rPr lang="en-US" dirty="0"/>
              <a:t>; </a:t>
            </a:r>
            <a:r>
              <a:rPr lang="en-US" dirty="0" err="1"/>
              <a:t>заміна</a:t>
            </a:r>
            <a:r>
              <a:rPr lang="en-US" dirty="0"/>
              <a:t> DETR/YOLO, </a:t>
            </a:r>
            <a:r>
              <a:rPr lang="en-US" dirty="0" err="1"/>
              <a:t>Farneback</a:t>
            </a:r>
            <a:r>
              <a:rPr lang="en-US" dirty="0"/>
              <a:t>/</a:t>
            </a:r>
            <a:r>
              <a:rPr lang="en-US" dirty="0" err="1"/>
              <a:t>FlowNet</a:t>
            </a:r>
            <a:r>
              <a:rPr lang="en-US" dirty="0"/>
              <a:t>; </a:t>
            </a:r>
            <a:r>
              <a:rPr lang="en-US" dirty="0" err="1"/>
              <a:t>порівняння</a:t>
            </a:r>
            <a:r>
              <a:rPr lang="en-US" dirty="0"/>
              <a:t> </a:t>
            </a:r>
            <a:r>
              <a:rPr lang="en-US" b="1" dirty="0"/>
              <a:t>35 </a:t>
            </a:r>
            <a:r>
              <a:rPr lang="en-US" b="1" dirty="0" err="1"/>
              <a:t>комбінацій</a:t>
            </a:r>
            <a:r>
              <a:rPr lang="en-US" dirty="0"/>
              <a:t> </a:t>
            </a:r>
            <a:r>
              <a:rPr lang="en-US" dirty="0" err="1"/>
              <a:t>методів</a:t>
            </a:r>
            <a:endParaRPr lang="en-US" dirty="0"/>
          </a:p>
          <a:p>
            <a:r>
              <a:rPr lang="en-US" dirty="0"/>
              <a:t>7</a:t>
            </a:r>
            <a:r>
              <a:rPr lang="en-US" b="1" dirty="0"/>
              <a:t>Експериментально </a:t>
            </a:r>
            <a:r>
              <a:rPr lang="en-US" b="1" dirty="0" err="1"/>
              <a:t>підтверджено</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надійності</a:t>
            </a:r>
            <a:r>
              <a:rPr lang="en-US" b="1" dirty="0"/>
              <a:t> ідентифікації37–39, 43</a:t>
            </a:r>
            <a:r>
              <a:rPr lang="en-US" dirty="0"/>
              <a:t>Результати: RMSE = </a:t>
            </a:r>
            <a:r>
              <a:rPr lang="en-US" b="1" dirty="0"/>
              <a:t>0,713</a:t>
            </a:r>
            <a:r>
              <a:rPr lang="en-US" dirty="0"/>
              <a:t>; MAE = </a:t>
            </a:r>
            <a:r>
              <a:rPr lang="en-US" b="1" dirty="0"/>
              <a:t>0,474</a:t>
            </a:r>
            <a:r>
              <a:rPr lang="en-US" dirty="0"/>
              <a:t>; PSNR = </a:t>
            </a:r>
            <a:r>
              <a:rPr lang="en-US" b="1" dirty="0"/>
              <a:t>51,065 </a:t>
            </a:r>
            <a:r>
              <a:rPr lang="en-US" b="1" dirty="0" err="1"/>
              <a:t>дБ</a:t>
            </a:r>
            <a:r>
              <a:rPr lang="en-US" dirty="0"/>
              <a:t>; </a:t>
            </a:r>
            <a:r>
              <a:rPr lang="en-US" dirty="0" err="1"/>
              <a:t>IoU</a:t>
            </a:r>
            <a:r>
              <a:rPr lang="en-US" dirty="0"/>
              <a:t> = </a:t>
            </a:r>
            <a:r>
              <a:rPr lang="en-US" b="1" dirty="0"/>
              <a:t>0,996</a:t>
            </a:r>
            <a:r>
              <a:rPr lang="en-US" dirty="0"/>
              <a:t>; Dice = </a:t>
            </a:r>
            <a:r>
              <a:rPr lang="en-US" b="1" dirty="0"/>
              <a:t>0,998</a:t>
            </a:r>
            <a:endParaRPr lang="en-US" dirty="0"/>
          </a:p>
          <a:p>
            <a:r>
              <a:rPr lang="en-US" dirty="0"/>
              <a:t>8</a:t>
            </a:r>
            <a:r>
              <a:rPr lang="en-US" b="1" dirty="0"/>
              <a:t>Підтверджено </a:t>
            </a:r>
            <a:r>
              <a:rPr lang="en-US" b="1" dirty="0" err="1"/>
              <a:t>працездатність</a:t>
            </a:r>
            <a:r>
              <a:rPr lang="en-US" b="1" dirty="0"/>
              <a:t> </a:t>
            </a:r>
            <a:r>
              <a:rPr lang="en-US" b="1" dirty="0" err="1"/>
              <a:t>визначення</a:t>
            </a:r>
            <a:r>
              <a:rPr lang="en-US" b="1" dirty="0"/>
              <a:t> </a:t>
            </a:r>
            <a:r>
              <a:rPr lang="en-US" b="1" dirty="0" err="1"/>
              <a:t>кінематичних</a:t>
            </a:r>
            <a:r>
              <a:rPr lang="en-US" b="1" dirty="0"/>
              <a:t> </a:t>
            </a:r>
            <a:r>
              <a:rPr lang="en-US" b="1" dirty="0" err="1"/>
              <a:t>параметрів</a:t>
            </a:r>
            <a:r>
              <a:rPr lang="en-US" b="1" dirty="0"/>
              <a:t> </a:t>
            </a:r>
            <a:r>
              <a:rPr lang="en-US" b="1" dirty="0" err="1"/>
              <a:t>рухомих</a:t>
            </a:r>
            <a:r>
              <a:rPr lang="en-US" b="1" dirty="0"/>
              <a:t> об'єктів34–35, 39, 43</a:t>
            </a:r>
            <a:r>
              <a:rPr lang="en-US" dirty="0"/>
              <a:t>DETR </a:t>
            </a:r>
            <a:r>
              <a:rPr lang="en-US" dirty="0" err="1"/>
              <a:t>виявив</a:t>
            </a:r>
            <a:r>
              <a:rPr lang="en-US" dirty="0"/>
              <a:t> 6 </a:t>
            </a:r>
            <a:r>
              <a:rPr lang="en-US" dirty="0" err="1"/>
              <a:t>об'єктів</a:t>
            </a:r>
            <a:r>
              <a:rPr lang="en-US" dirty="0"/>
              <a:t> </a:t>
            </a:r>
            <a:r>
              <a:rPr lang="en-US" dirty="0" err="1"/>
              <a:t>із</a:t>
            </a:r>
            <a:r>
              <a:rPr lang="en-US" dirty="0"/>
              <a:t> </a:t>
            </a:r>
            <a:r>
              <a:rPr lang="en-US" dirty="0" err="1"/>
              <a:t>довірою</a:t>
            </a:r>
            <a:r>
              <a:rPr lang="en-US" dirty="0"/>
              <a:t> </a:t>
            </a:r>
            <a:r>
              <a:rPr lang="en-US" b="1" dirty="0"/>
              <a:t>0,74–1,00</a:t>
            </a:r>
            <a:r>
              <a:rPr lang="en-US" dirty="0"/>
              <a:t>; </a:t>
            </a:r>
            <a:r>
              <a:rPr lang="en-US" dirty="0" err="1"/>
              <a:t>визначено</a:t>
            </a:r>
            <a:r>
              <a:rPr lang="en-US" dirty="0"/>
              <a:t> </a:t>
            </a:r>
            <a:r>
              <a:rPr lang="en-US" dirty="0" err="1"/>
              <a:t>швидкості</a:t>
            </a:r>
            <a:r>
              <a:rPr lang="en-US" dirty="0"/>
              <a:t> </a:t>
            </a:r>
            <a:r>
              <a:rPr lang="en-US" b="1" dirty="0"/>
              <a:t>6,526</a:t>
            </a:r>
            <a:r>
              <a:rPr lang="en-US" dirty="0"/>
              <a:t> </a:t>
            </a:r>
            <a:r>
              <a:rPr lang="en-US" dirty="0" err="1"/>
              <a:t>та</a:t>
            </a:r>
            <a:r>
              <a:rPr lang="en-US" dirty="0"/>
              <a:t> </a:t>
            </a:r>
            <a:r>
              <a:rPr lang="en-US" b="1" dirty="0"/>
              <a:t>4,592 </a:t>
            </a:r>
            <a:r>
              <a:rPr lang="en-US" b="1" dirty="0" err="1"/>
              <a:t>px</a:t>
            </a:r>
            <a:r>
              <a:rPr lang="en-US" b="1" dirty="0"/>
              <a:t>/</a:t>
            </a:r>
            <a:r>
              <a:rPr lang="en-US" b="1" dirty="0" err="1"/>
              <a:t>кадр</a:t>
            </a:r>
            <a:endParaRPr lang="en-US" dirty="0"/>
          </a:p>
          <a:p>
            <a:r>
              <a:rPr lang="en-US" dirty="0"/>
              <a:t>9</a:t>
            </a:r>
            <a:r>
              <a:rPr lang="en-US" b="1" dirty="0"/>
              <a:t>Показано </a:t>
            </a:r>
            <a:r>
              <a:rPr lang="en-US" b="1" dirty="0" err="1"/>
              <a:t>відмінність</a:t>
            </a:r>
            <a:r>
              <a:rPr lang="en-US" b="1" dirty="0"/>
              <a:t> </a:t>
            </a:r>
            <a:r>
              <a:rPr lang="en-US" b="1" dirty="0" err="1"/>
              <a:t>запропонованої</a:t>
            </a:r>
            <a:r>
              <a:rPr lang="en-US" b="1" dirty="0"/>
              <a:t> </a:t>
            </a:r>
            <a:r>
              <a:rPr lang="en-US" b="1" dirty="0" err="1"/>
              <a:t>технології</a:t>
            </a:r>
            <a:r>
              <a:rPr lang="en-US" b="1" dirty="0"/>
              <a:t> </a:t>
            </a:r>
            <a:r>
              <a:rPr lang="en-US" b="1" dirty="0" err="1"/>
              <a:t>від</a:t>
            </a:r>
            <a:r>
              <a:rPr lang="en-US" b="1" dirty="0"/>
              <a:t> </a:t>
            </a:r>
            <a:r>
              <a:rPr lang="en-US" b="1" dirty="0" err="1"/>
              <a:t>наявних</a:t>
            </a:r>
            <a:r>
              <a:rPr lang="en-US" b="1" dirty="0"/>
              <a:t> аналогів45–46</a:t>
            </a:r>
            <a:r>
              <a:rPr lang="en-US" dirty="0"/>
              <a:t>Аналоги </a:t>
            </a:r>
            <a:r>
              <a:rPr lang="en-US" dirty="0" err="1"/>
              <a:t>виконують</a:t>
            </a:r>
            <a:r>
              <a:rPr lang="en-US" dirty="0"/>
              <a:t> </a:t>
            </a:r>
            <a:r>
              <a:rPr lang="en-US" dirty="0" err="1"/>
              <a:t>окремі</a:t>
            </a:r>
            <a:r>
              <a:rPr lang="en-US" dirty="0"/>
              <a:t> </a:t>
            </a:r>
            <a:r>
              <a:rPr lang="en-US" dirty="0" err="1"/>
              <a:t>операції</a:t>
            </a:r>
            <a:r>
              <a:rPr lang="en-US" dirty="0"/>
              <a:t>, а </a:t>
            </a:r>
            <a:r>
              <a:rPr lang="en-US" dirty="0" err="1"/>
              <a:t>запропонована</a:t>
            </a:r>
            <a:r>
              <a:rPr lang="en-US" dirty="0"/>
              <a:t> ІТ </a:t>
            </a:r>
            <a:r>
              <a:rPr lang="en-US" dirty="0" err="1"/>
              <a:t>забезпечує</a:t>
            </a:r>
            <a:r>
              <a:rPr lang="en-US" dirty="0"/>
              <a:t> </a:t>
            </a:r>
            <a:r>
              <a:rPr lang="en-US" dirty="0" err="1"/>
              <a:t>повний</a:t>
            </a:r>
            <a:r>
              <a:rPr lang="en-US" dirty="0"/>
              <a:t> </a:t>
            </a:r>
            <a:r>
              <a:rPr lang="en-US" dirty="0" err="1"/>
              <a:t>комплекс</a:t>
            </a:r>
            <a:r>
              <a:rPr lang="en-US" dirty="0"/>
              <a:t> </a:t>
            </a:r>
            <a:r>
              <a:rPr lang="en-US" dirty="0" err="1"/>
              <a:t>функцій</a:t>
            </a:r>
            <a:r>
              <a:rPr lang="en-US" dirty="0"/>
              <a:t>; </a:t>
            </a:r>
            <a:r>
              <a:rPr lang="en-US" dirty="0" err="1"/>
              <a:t>результат</a:t>
            </a:r>
            <a:r>
              <a:rPr lang="en-US" dirty="0"/>
              <a:t> </a:t>
            </a:r>
            <a:r>
              <a:rPr lang="en-US" dirty="0" err="1"/>
              <a:t>порівняння</a:t>
            </a:r>
            <a:r>
              <a:rPr lang="en-US" dirty="0"/>
              <a:t> — </a:t>
            </a:r>
            <a:r>
              <a:rPr lang="en-US" b="1" dirty="0"/>
              <a:t>12 </a:t>
            </a:r>
            <a:r>
              <a:rPr lang="en-US" b="1" dirty="0" err="1"/>
              <a:t>балів</a:t>
            </a:r>
            <a:r>
              <a:rPr lang="en-US" dirty="0"/>
              <a:t> </a:t>
            </a:r>
            <a:r>
              <a:rPr lang="en-US" dirty="0" err="1"/>
              <a:t>проти</a:t>
            </a:r>
            <a:r>
              <a:rPr lang="en-US" dirty="0"/>
              <a:t> 3–6 </a:t>
            </a:r>
            <a:r>
              <a:rPr lang="en-US" dirty="0" err="1"/>
              <a:t>балів</a:t>
            </a:r>
            <a:r>
              <a:rPr lang="en-US" dirty="0"/>
              <a:t> у </a:t>
            </a:r>
            <a:r>
              <a:rPr lang="en-US" dirty="0" err="1"/>
              <a:t>аналогів</a:t>
            </a:r>
            <a:endParaRPr lang="en-US" dirty="0"/>
          </a:p>
          <a:p>
            <a:r>
              <a:rPr lang="en-US" dirty="0"/>
              <a:t>10</a:t>
            </a:r>
            <a:r>
              <a:rPr lang="en-US" b="1" dirty="0"/>
              <a:t>Узагальнене </a:t>
            </a:r>
            <a:r>
              <a:rPr lang="en-US" b="1" dirty="0" err="1"/>
              <a:t>підтвердження</a:t>
            </a:r>
            <a:r>
              <a:rPr lang="en-US" b="1" dirty="0"/>
              <a:t> </a:t>
            </a:r>
            <a:r>
              <a:rPr lang="en-US" b="1" dirty="0" err="1"/>
              <a:t>отриманих</a:t>
            </a:r>
            <a:r>
              <a:rPr lang="en-US" b="1" dirty="0"/>
              <a:t> </a:t>
            </a:r>
            <a:r>
              <a:rPr lang="en-US" b="1" dirty="0" err="1"/>
              <a:t>наукових</a:t>
            </a:r>
            <a:r>
              <a:rPr lang="en-US" b="1" dirty="0"/>
              <a:t> результатів50</a:t>
            </a:r>
            <a:r>
              <a:rPr lang="en-US" dirty="0"/>
              <a:t>У </a:t>
            </a:r>
            <a:r>
              <a:rPr lang="en-US" dirty="0" err="1"/>
              <a:t>висновках</a:t>
            </a:r>
            <a:r>
              <a:rPr lang="en-US" dirty="0"/>
              <a:t> </a:t>
            </a:r>
            <a:r>
              <a:rPr lang="en-US" dirty="0" err="1"/>
              <a:t>сформульовано</a:t>
            </a:r>
            <a:r>
              <a:rPr lang="en-US" dirty="0"/>
              <a:t> </a:t>
            </a:r>
            <a:r>
              <a:rPr lang="en-US" dirty="0" err="1"/>
              <a:t>розроблені</a:t>
            </a:r>
            <a:r>
              <a:rPr lang="en-US" dirty="0"/>
              <a:t> </a:t>
            </a:r>
            <a:r>
              <a:rPr lang="en-US" dirty="0" err="1"/>
              <a:t>моделі</a:t>
            </a:r>
            <a:r>
              <a:rPr lang="en-US" dirty="0"/>
              <a:t>, </a:t>
            </a:r>
            <a:r>
              <a:rPr lang="en-US" dirty="0" err="1"/>
              <a:t>методи</a:t>
            </a:r>
            <a:r>
              <a:rPr lang="en-US" dirty="0"/>
              <a:t>, </a:t>
            </a:r>
            <a:r>
              <a:rPr lang="en-US" dirty="0" err="1"/>
              <a:t>інтегральну</a:t>
            </a:r>
            <a:r>
              <a:rPr lang="en-US" dirty="0"/>
              <a:t> </a:t>
            </a:r>
            <a:r>
              <a:rPr lang="en-US" dirty="0" err="1"/>
              <a:t>схему</a:t>
            </a:r>
            <a:r>
              <a:rPr lang="en-US" dirty="0"/>
              <a:t>, </a:t>
            </a:r>
            <a:r>
              <a:rPr lang="en-US" dirty="0" err="1"/>
              <a:t>ансамблеві</a:t>
            </a:r>
            <a:r>
              <a:rPr lang="en-US" dirty="0"/>
              <a:t> </a:t>
            </a:r>
            <a:r>
              <a:rPr lang="en-US" dirty="0" err="1"/>
              <a:t>підходи</a:t>
            </a:r>
            <a:r>
              <a:rPr lang="en-US" dirty="0"/>
              <a:t> </a:t>
            </a:r>
            <a:r>
              <a:rPr lang="en-US" dirty="0" err="1"/>
              <a:t>та</a:t>
            </a:r>
            <a:r>
              <a:rPr lang="en-US" dirty="0"/>
              <a:t> </a:t>
            </a:r>
            <a:r>
              <a:rPr lang="en-US" dirty="0" err="1"/>
              <a:t>результати</a:t>
            </a:r>
            <a:r>
              <a:rPr lang="en-US" dirty="0"/>
              <a:t> </a:t>
            </a:r>
            <a:r>
              <a:rPr lang="en-US" dirty="0" err="1"/>
              <a:t>експериментального</a:t>
            </a:r>
            <a:r>
              <a:rPr lang="en-US" dirty="0"/>
              <a:t> </a:t>
            </a:r>
            <a:r>
              <a:rPr lang="en-US" dirty="0" err="1"/>
              <a:t>дослідження</a:t>
            </a:r>
            <a:endParaRPr lang="en-US" dirty="0"/>
          </a:p>
          <a:p>
            <a:endParaRPr lang="en-US" dirty="0"/>
          </a:p>
        </p:txBody>
      </p:sp>
      <p:sp>
        <p:nvSpPr>
          <p:cNvPr id="4" name="Місце для номера слайда 3">
            <a:extLst>
              <a:ext uri="{FF2B5EF4-FFF2-40B4-BE49-F238E27FC236}">
                <a16:creationId xmlns:a16="http://schemas.microsoft.com/office/drawing/2014/main" id="{7D6EFFFD-85F3-DAEA-64E5-9C643EBBC94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17404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8BFB7-CA9B-C14B-E463-1F3C27795C3C}"/>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F49B4545-9259-727B-3E0D-BD17DA0AF59E}"/>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CE3A10F9-4384-66A0-FBEE-085188D37589}"/>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a:p>
            <a:endParaRPr lang="en-US" dirty="0"/>
          </a:p>
          <a:p>
            <a:endParaRPr lang="en-US" dirty="0"/>
          </a:p>
          <a:p>
            <a:r>
              <a:rPr lang="en-US" dirty="0"/>
              <a:t>№</a:t>
            </a:r>
          </a:p>
          <a:p>
            <a:r>
              <a:rPr lang="en-US" dirty="0" err="1"/>
              <a:t>Положення</a:t>
            </a:r>
            <a:r>
              <a:rPr lang="en-US" dirty="0"/>
              <a:t> </a:t>
            </a:r>
            <a:r>
              <a:rPr lang="en-US" dirty="0" err="1"/>
              <a:t>наукової</a:t>
            </a:r>
            <a:r>
              <a:rPr lang="en-US" dirty="0"/>
              <a:t> </a:t>
            </a:r>
            <a:r>
              <a:rPr lang="en-US" dirty="0" err="1"/>
              <a:t>новизни</a:t>
            </a:r>
            <a:endParaRPr lang="en-US" dirty="0"/>
          </a:p>
          <a:p>
            <a:r>
              <a:rPr lang="en-US" dirty="0" err="1"/>
              <a:t>Слайди</a:t>
            </a:r>
            <a:r>
              <a:rPr lang="en-US" dirty="0"/>
              <a:t>, </a:t>
            </a:r>
            <a:r>
              <a:rPr lang="en-US" dirty="0" err="1"/>
              <a:t>де</a:t>
            </a:r>
            <a:r>
              <a:rPr lang="en-US" dirty="0"/>
              <a:t> </a:t>
            </a:r>
            <a:r>
              <a:rPr lang="en-US" dirty="0" err="1"/>
              <a:t>підтверджується</a:t>
            </a:r>
            <a:endParaRPr lang="en-US" dirty="0"/>
          </a:p>
          <a:p>
            <a:r>
              <a:rPr lang="en-US" dirty="0" err="1"/>
              <a:t>Що</a:t>
            </a:r>
            <a:r>
              <a:rPr lang="en-US" dirty="0"/>
              <a:t> </a:t>
            </a:r>
            <a:r>
              <a:rPr lang="en-US" dirty="0" err="1"/>
              <a:t>саме</a:t>
            </a:r>
            <a:r>
              <a:rPr lang="en-US" dirty="0"/>
              <a:t> </a:t>
            </a:r>
            <a:r>
              <a:rPr lang="en-US" dirty="0" err="1"/>
              <a:t>показано</a:t>
            </a:r>
            <a:endParaRPr lang="en-US" dirty="0"/>
          </a:p>
          <a:p>
            <a:r>
              <a:rPr lang="en-US" dirty="0"/>
              <a:t>1</a:t>
            </a:r>
            <a:r>
              <a:rPr lang="en-US" b="1" dirty="0"/>
              <a:t>Удосконалено </a:t>
            </a:r>
            <a:r>
              <a:rPr lang="en-US" b="1" dirty="0" err="1"/>
              <a:t>модель</a:t>
            </a:r>
            <a:r>
              <a:rPr lang="en-US" b="1" dirty="0"/>
              <a:t> </a:t>
            </a:r>
            <a:r>
              <a:rPr lang="en-US" b="1" dirty="0" err="1"/>
              <a:t>дистанційної</a:t>
            </a:r>
            <a:r>
              <a:rPr lang="en-US" b="1" dirty="0"/>
              <a:t> </a:t>
            </a:r>
            <a:r>
              <a:rPr lang="en-US" b="1" dirty="0" err="1"/>
              <a:t>ідентифікації</a:t>
            </a:r>
            <a:r>
              <a:rPr lang="en-US" b="1" dirty="0"/>
              <a:t> </a:t>
            </a:r>
            <a:r>
              <a:rPr lang="en-US" b="1" dirty="0" err="1"/>
              <a:t>параметрів</a:t>
            </a:r>
            <a:r>
              <a:rPr lang="en-US" b="1" dirty="0"/>
              <a:t> </a:t>
            </a:r>
            <a:r>
              <a:rPr lang="en-US" b="1" dirty="0" err="1"/>
              <a:t>динамічних</a:t>
            </a:r>
            <a:r>
              <a:rPr lang="en-US" b="1" dirty="0"/>
              <a:t> </a:t>
            </a:r>
            <a:r>
              <a:rPr lang="en-US" b="1" dirty="0" err="1"/>
              <a:t>об'єктів</a:t>
            </a:r>
            <a:r>
              <a:rPr lang="en-US" b="1" dirty="0"/>
              <a:t> </a:t>
            </a:r>
            <a:r>
              <a:rPr lang="en-US" b="1" dirty="0" err="1"/>
              <a:t>шляхом</a:t>
            </a:r>
            <a:r>
              <a:rPr lang="en-US" b="1" dirty="0"/>
              <a:t> </a:t>
            </a:r>
            <a:r>
              <a:rPr lang="en-US" b="1" dirty="0" err="1"/>
              <a:t>інтеграції</a:t>
            </a:r>
            <a:r>
              <a:rPr lang="en-US" b="1" dirty="0"/>
              <a:t> DETR </a:t>
            </a:r>
            <a:r>
              <a:rPr lang="en-US" b="1" dirty="0" err="1"/>
              <a:t>та</a:t>
            </a:r>
            <a:r>
              <a:rPr lang="en-US" b="1" dirty="0"/>
              <a:t> </a:t>
            </a:r>
            <a:r>
              <a:rPr lang="en-US" b="1" dirty="0" err="1"/>
              <a:t>оптичного</a:t>
            </a:r>
            <a:r>
              <a:rPr lang="en-US" b="1" dirty="0"/>
              <a:t> потоку17–18, 20, 22–23</a:t>
            </a:r>
            <a:r>
              <a:rPr lang="en-US" dirty="0"/>
              <a:t>Структуру </a:t>
            </a:r>
            <a:r>
              <a:rPr lang="en-US" dirty="0" err="1"/>
              <a:t>моделей</a:t>
            </a:r>
            <a:r>
              <a:rPr lang="en-US" dirty="0"/>
              <a:t> ДІПДО; </a:t>
            </a:r>
            <a:r>
              <a:rPr lang="en-US" dirty="0" err="1"/>
              <a:t>аналітичну</a:t>
            </a:r>
            <a:r>
              <a:rPr lang="en-US" dirty="0"/>
              <a:t> </a:t>
            </a:r>
            <a:r>
              <a:rPr lang="en-US" dirty="0" err="1"/>
              <a:t>модель</a:t>
            </a:r>
            <a:r>
              <a:rPr lang="en-US" dirty="0"/>
              <a:t> DETR + Optical Flow; </a:t>
            </a:r>
            <a:r>
              <a:rPr lang="en-US" dirty="0" err="1"/>
              <a:t>локалізацію</a:t>
            </a:r>
            <a:r>
              <a:rPr lang="en-US" dirty="0"/>
              <a:t> </a:t>
            </a:r>
            <a:r>
              <a:rPr lang="en-US" dirty="0" err="1"/>
              <a:t>об'єктів</a:t>
            </a:r>
            <a:r>
              <a:rPr lang="en-US" dirty="0"/>
              <a:t>; </a:t>
            </a:r>
            <a:r>
              <a:rPr lang="en-US" dirty="0" err="1"/>
              <a:t>визначення</a:t>
            </a:r>
            <a:r>
              <a:rPr lang="en-US" dirty="0"/>
              <a:t> </a:t>
            </a:r>
            <a:r>
              <a:rPr lang="en-US" dirty="0" err="1"/>
              <a:t>векторів</a:t>
            </a:r>
            <a:r>
              <a:rPr lang="en-US" dirty="0"/>
              <a:t> </a:t>
            </a:r>
            <a:r>
              <a:rPr lang="en-US" dirty="0" err="1"/>
              <a:t>руху</a:t>
            </a:r>
            <a:r>
              <a:rPr lang="en-US" dirty="0"/>
              <a:t>, </a:t>
            </a:r>
            <a:r>
              <a:rPr lang="en-US" dirty="0" err="1"/>
              <a:t>швидкості</a:t>
            </a:r>
            <a:r>
              <a:rPr lang="en-US" dirty="0"/>
              <a:t> </a:t>
            </a:r>
            <a:r>
              <a:rPr lang="en-US" dirty="0" err="1"/>
              <a:t>та</a:t>
            </a:r>
            <a:r>
              <a:rPr lang="en-US" dirty="0"/>
              <a:t> </a:t>
            </a:r>
            <a:r>
              <a:rPr lang="en-US" dirty="0" err="1"/>
              <a:t>напрямку</a:t>
            </a:r>
            <a:endParaRPr lang="en-US" dirty="0"/>
          </a:p>
          <a:p>
            <a:r>
              <a:rPr lang="en-US" dirty="0"/>
              <a:t>2</a:t>
            </a:r>
            <a:r>
              <a:rPr lang="en-US" b="1" dirty="0"/>
              <a:t>Набула </a:t>
            </a:r>
            <a:r>
              <a:rPr lang="en-US" b="1" dirty="0" err="1"/>
              <a:t>подальшого</a:t>
            </a:r>
            <a:r>
              <a:rPr lang="en-US" b="1" dirty="0"/>
              <a:t> </a:t>
            </a:r>
            <a:r>
              <a:rPr lang="en-US" b="1" dirty="0" err="1"/>
              <a:t>розвитку</a:t>
            </a:r>
            <a:r>
              <a:rPr lang="en-US" b="1" dirty="0"/>
              <a:t> </a:t>
            </a:r>
            <a:r>
              <a:rPr lang="en-US" b="1" dirty="0" err="1"/>
              <a:t>просторово-часова</a:t>
            </a:r>
            <a:r>
              <a:rPr lang="en-US" b="1" dirty="0"/>
              <a:t> </a:t>
            </a:r>
            <a:r>
              <a:rPr lang="en-US" b="1" dirty="0" err="1"/>
              <a:t>модель</a:t>
            </a:r>
            <a:r>
              <a:rPr lang="en-US" b="1" dirty="0"/>
              <a:t> </a:t>
            </a:r>
            <a:r>
              <a:rPr lang="en-US" b="1" dirty="0" err="1"/>
              <a:t>опису</a:t>
            </a:r>
            <a:r>
              <a:rPr lang="en-US" b="1" dirty="0"/>
              <a:t> </a:t>
            </a:r>
            <a:r>
              <a:rPr lang="en-US" b="1" dirty="0" err="1"/>
              <a:t>стану</a:t>
            </a:r>
            <a:r>
              <a:rPr lang="en-US" b="1" dirty="0"/>
              <a:t> </a:t>
            </a:r>
            <a:r>
              <a:rPr lang="en-US" b="1" dirty="0" err="1"/>
              <a:t>динамічного</a:t>
            </a:r>
            <a:r>
              <a:rPr lang="en-US" b="1" dirty="0"/>
              <a:t> об'єкта11, 16–18, 23</a:t>
            </a:r>
            <a:r>
              <a:rPr lang="en-US" dirty="0"/>
              <a:t>Об'єднання </a:t>
            </a:r>
            <a:r>
              <a:rPr lang="en-US" dirty="0" err="1"/>
              <a:t>просторових</a:t>
            </a:r>
            <a:r>
              <a:rPr lang="en-US" dirty="0"/>
              <a:t> і </a:t>
            </a:r>
            <a:r>
              <a:rPr lang="en-US" dirty="0" err="1"/>
              <a:t>часових</a:t>
            </a:r>
            <a:r>
              <a:rPr lang="en-US" dirty="0"/>
              <a:t> </a:t>
            </a:r>
            <a:r>
              <a:rPr lang="en-US" dirty="0" err="1"/>
              <a:t>ознак</a:t>
            </a:r>
            <a:r>
              <a:rPr lang="en-US" dirty="0"/>
              <a:t>; </a:t>
            </a:r>
            <a:r>
              <a:rPr lang="en-US" dirty="0" err="1"/>
              <a:t>перехід</a:t>
            </a:r>
            <a:r>
              <a:rPr lang="en-US" dirty="0"/>
              <a:t> </a:t>
            </a:r>
            <a:r>
              <a:rPr lang="en-US" dirty="0" err="1"/>
              <a:t>від</a:t>
            </a:r>
            <a:r>
              <a:rPr lang="en-US" dirty="0"/>
              <a:t> </a:t>
            </a:r>
            <a:r>
              <a:rPr lang="en-US" dirty="0" err="1"/>
              <a:t>покадрового</a:t>
            </a:r>
            <a:r>
              <a:rPr lang="en-US" dirty="0"/>
              <a:t> </a:t>
            </a:r>
            <a:r>
              <a:rPr lang="en-US" dirty="0" err="1"/>
              <a:t>виявлення</a:t>
            </a:r>
            <a:r>
              <a:rPr lang="en-US" dirty="0"/>
              <a:t> </a:t>
            </a:r>
            <a:r>
              <a:rPr lang="en-US" dirty="0" err="1"/>
              <a:t>до</a:t>
            </a:r>
            <a:r>
              <a:rPr lang="en-US" dirty="0"/>
              <a:t> </a:t>
            </a:r>
            <a:r>
              <a:rPr lang="en-US" dirty="0" err="1"/>
              <a:t>визначення</a:t>
            </a:r>
            <a:r>
              <a:rPr lang="en-US" dirty="0"/>
              <a:t> </a:t>
            </a:r>
            <a:r>
              <a:rPr lang="en-US" dirty="0" err="1"/>
              <a:t>положення</a:t>
            </a:r>
            <a:r>
              <a:rPr lang="en-US" dirty="0"/>
              <a:t>, </a:t>
            </a:r>
            <a:r>
              <a:rPr lang="en-US" dirty="0" err="1"/>
              <a:t>швидкості</a:t>
            </a:r>
            <a:r>
              <a:rPr lang="en-US" dirty="0"/>
              <a:t>, </a:t>
            </a:r>
            <a:r>
              <a:rPr lang="en-US" dirty="0" err="1"/>
              <a:t>прискорення</a:t>
            </a:r>
            <a:r>
              <a:rPr lang="en-US" dirty="0"/>
              <a:t>, </a:t>
            </a:r>
            <a:r>
              <a:rPr lang="en-US" dirty="0" err="1"/>
              <a:t>напрямку</a:t>
            </a:r>
            <a:r>
              <a:rPr lang="en-US" dirty="0"/>
              <a:t> і </a:t>
            </a:r>
            <a:r>
              <a:rPr lang="en-US" dirty="0" err="1"/>
              <a:t>траєкторії</a:t>
            </a:r>
            <a:endParaRPr lang="en-US" dirty="0"/>
          </a:p>
          <a:p>
            <a:r>
              <a:rPr lang="en-US" dirty="0"/>
              <a:t>3</a:t>
            </a:r>
            <a:r>
              <a:rPr lang="en-US" b="1" dirty="0"/>
              <a:t>Удосконалено </a:t>
            </a:r>
            <a:r>
              <a:rPr lang="en-US" b="1" dirty="0" err="1"/>
              <a:t>метод</a:t>
            </a:r>
            <a:r>
              <a:rPr lang="en-US" b="1" dirty="0"/>
              <a:t> </a:t>
            </a:r>
            <a:r>
              <a:rPr lang="en-US" b="1" dirty="0" err="1"/>
              <a:t>сумісного</a:t>
            </a:r>
            <a:r>
              <a:rPr lang="en-US" b="1" dirty="0"/>
              <a:t> </a:t>
            </a:r>
            <a:r>
              <a:rPr lang="en-US" b="1" dirty="0" err="1"/>
              <a:t>оцінювання</a:t>
            </a:r>
            <a:r>
              <a:rPr lang="en-US" b="1" dirty="0"/>
              <a:t> </a:t>
            </a:r>
            <a:r>
              <a:rPr lang="en-US" b="1" dirty="0" err="1"/>
              <a:t>руху</a:t>
            </a:r>
            <a:r>
              <a:rPr lang="en-US" b="1" dirty="0"/>
              <a:t> </a:t>
            </a:r>
            <a:r>
              <a:rPr lang="en-US" b="1" dirty="0" err="1"/>
              <a:t>та</a:t>
            </a:r>
            <a:r>
              <a:rPr lang="en-US" b="1" dirty="0"/>
              <a:t> </a:t>
            </a:r>
            <a:r>
              <a:rPr lang="en-US" b="1" dirty="0" err="1"/>
              <a:t>глибини</a:t>
            </a:r>
            <a:r>
              <a:rPr lang="en-US" b="1" dirty="0"/>
              <a:t> відеосцени21, 25–26</a:t>
            </a:r>
            <a:r>
              <a:rPr lang="en-US" dirty="0"/>
              <a:t>Використання </a:t>
            </a:r>
            <a:r>
              <a:rPr lang="en-US" dirty="0" err="1"/>
              <a:t>GeoNet</a:t>
            </a:r>
            <a:r>
              <a:rPr lang="en-US" dirty="0"/>
              <a:t>, </a:t>
            </a:r>
            <a:r>
              <a:rPr lang="en-US" dirty="0" err="1"/>
              <a:t>оптичного</a:t>
            </a:r>
            <a:r>
              <a:rPr lang="en-US" dirty="0"/>
              <a:t> </a:t>
            </a:r>
            <a:r>
              <a:rPr lang="en-US" dirty="0" err="1"/>
              <a:t>потоку</a:t>
            </a:r>
            <a:r>
              <a:rPr lang="en-US" dirty="0"/>
              <a:t>, </a:t>
            </a:r>
            <a:r>
              <a:rPr lang="en-US" dirty="0" err="1"/>
              <a:t>моделей</a:t>
            </a:r>
            <a:r>
              <a:rPr lang="en-US" dirty="0"/>
              <a:t> </a:t>
            </a:r>
            <a:r>
              <a:rPr lang="en-US" dirty="0" err="1"/>
              <a:t>глибини</a:t>
            </a:r>
            <a:r>
              <a:rPr lang="en-US" dirty="0"/>
              <a:t> </a:t>
            </a:r>
            <a:r>
              <a:rPr lang="en-US" dirty="0" err="1"/>
              <a:t>та</a:t>
            </a:r>
            <a:r>
              <a:rPr lang="en-US" dirty="0"/>
              <a:t> </a:t>
            </a:r>
            <a:r>
              <a:rPr lang="en-US" dirty="0" err="1"/>
              <a:t>трансформерної</a:t>
            </a:r>
            <a:r>
              <a:rPr lang="en-US" dirty="0"/>
              <a:t> </a:t>
            </a:r>
            <a:r>
              <a:rPr lang="en-US" dirty="0" err="1"/>
              <a:t>обробки</a:t>
            </a:r>
            <a:r>
              <a:rPr lang="en-US" dirty="0"/>
              <a:t> в </a:t>
            </a:r>
            <a:r>
              <a:rPr lang="en-US" dirty="0" err="1"/>
              <a:t>єдиній</a:t>
            </a:r>
            <a:r>
              <a:rPr lang="en-US" dirty="0"/>
              <a:t> </a:t>
            </a:r>
            <a:r>
              <a:rPr lang="en-US" dirty="0" err="1"/>
              <a:t>інтегральній</a:t>
            </a:r>
            <a:r>
              <a:rPr lang="en-US" dirty="0"/>
              <a:t> </a:t>
            </a:r>
            <a:r>
              <a:rPr lang="en-US" dirty="0" err="1"/>
              <a:t>схемі</a:t>
            </a:r>
            <a:endParaRPr lang="en-US" dirty="0"/>
          </a:p>
          <a:p>
            <a:r>
              <a:rPr lang="en-US" dirty="0"/>
              <a:t>4</a:t>
            </a:r>
            <a:r>
              <a:rPr lang="en-US" b="1" dirty="0"/>
              <a:t>Удосконалено </a:t>
            </a:r>
            <a:r>
              <a:rPr lang="en-US" b="1" dirty="0" err="1"/>
              <a:t>метод</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стійкості</a:t>
            </a:r>
            <a:r>
              <a:rPr lang="en-US" b="1" dirty="0"/>
              <a:t> </a:t>
            </a:r>
            <a:r>
              <a:rPr lang="en-US" b="1" dirty="0" err="1"/>
              <a:t>оцінювання</a:t>
            </a:r>
            <a:r>
              <a:rPr lang="en-US" b="1" dirty="0"/>
              <a:t> </a:t>
            </a:r>
            <a:r>
              <a:rPr lang="en-US" b="1" dirty="0" err="1"/>
              <a:t>глибини</a:t>
            </a:r>
            <a:r>
              <a:rPr lang="en-US" b="1" dirty="0"/>
              <a:t> </a:t>
            </a:r>
            <a:r>
              <a:rPr lang="en-US" b="1" dirty="0" err="1"/>
              <a:t>за</a:t>
            </a:r>
            <a:r>
              <a:rPr lang="en-US" b="1" dirty="0"/>
              <a:t> </a:t>
            </a:r>
            <a:r>
              <a:rPr lang="en-US" b="1" dirty="0" err="1"/>
              <a:t>допомогою</a:t>
            </a:r>
            <a:r>
              <a:rPr lang="en-US" b="1" dirty="0"/>
              <a:t> Bagging і Boosting15, 25–26, 32</a:t>
            </a:r>
            <a:r>
              <a:rPr lang="en-US" dirty="0"/>
              <a:t>Ансамблеве </a:t>
            </a:r>
            <a:r>
              <a:rPr lang="en-US" dirty="0" err="1"/>
              <a:t>об'єднання</a:t>
            </a:r>
            <a:r>
              <a:rPr lang="en-US" dirty="0"/>
              <a:t> </a:t>
            </a:r>
            <a:r>
              <a:rPr lang="en-US" dirty="0" err="1"/>
              <a:t>результатів</a:t>
            </a:r>
            <a:r>
              <a:rPr lang="en-US" dirty="0"/>
              <a:t>; </a:t>
            </a:r>
            <a:r>
              <a:rPr lang="en-US" dirty="0" err="1"/>
              <a:t>паралельна</a:t>
            </a:r>
            <a:r>
              <a:rPr lang="en-US" dirty="0"/>
              <a:t> </a:t>
            </a:r>
            <a:r>
              <a:rPr lang="en-US" dirty="0" err="1"/>
              <a:t>схема</a:t>
            </a:r>
            <a:r>
              <a:rPr lang="en-US" dirty="0"/>
              <a:t> Bagging </a:t>
            </a:r>
            <a:r>
              <a:rPr lang="en-US" dirty="0" err="1"/>
              <a:t>та</a:t>
            </a:r>
            <a:r>
              <a:rPr lang="en-US" dirty="0"/>
              <a:t> </a:t>
            </a:r>
            <a:r>
              <a:rPr lang="en-US" dirty="0" err="1"/>
              <a:t>послідовна</a:t>
            </a:r>
            <a:r>
              <a:rPr lang="en-US" dirty="0"/>
              <a:t> </a:t>
            </a:r>
            <a:r>
              <a:rPr lang="en-US" dirty="0" err="1"/>
              <a:t>корекція</a:t>
            </a:r>
            <a:r>
              <a:rPr lang="en-US" dirty="0"/>
              <a:t> Boosting</a:t>
            </a:r>
          </a:p>
          <a:p>
            <a:r>
              <a:rPr lang="en-US" dirty="0"/>
              <a:t>5</a:t>
            </a:r>
            <a:r>
              <a:rPr lang="en-US" b="1" dirty="0"/>
              <a:t>Вперше </a:t>
            </a:r>
            <a:r>
              <a:rPr lang="en-US" b="1" dirty="0" err="1"/>
              <a:t>або</a:t>
            </a:r>
            <a:r>
              <a:rPr lang="en-US" b="1" dirty="0"/>
              <a:t> </a:t>
            </a:r>
            <a:r>
              <a:rPr lang="en-US" b="1" dirty="0" err="1"/>
              <a:t>комплексно</a:t>
            </a:r>
            <a:r>
              <a:rPr lang="en-US" b="1" dirty="0"/>
              <a:t> </a:t>
            </a:r>
            <a:r>
              <a:rPr lang="en-US" b="1" dirty="0" err="1"/>
              <a:t>запропоновано</a:t>
            </a:r>
            <a:r>
              <a:rPr lang="en-US" b="1" dirty="0"/>
              <a:t> </a:t>
            </a:r>
            <a:r>
              <a:rPr lang="en-US" b="1" dirty="0" err="1"/>
              <a:t>інформаційну</a:t>
            </a:r>
            <a:r>
              <a:rPr lang="en-US" b="1" dirty="0"/>
              <a:t> </a:t>
            </a:r>
            <a:r>
              <a:rPr lang="en-US" b="1" dirty="0" err="1"/>
              <a:t>технологію</a:t>
            </a:r>
            <a:r>
              <a:rPr lang="en-US" b="1" dirty="0"/>
              <a:t>, </a:t>
            </a:r>
            <a:r>
              <a:rPr lang="en-US" b="1" dirty="0" err="1"/>
              <a:t>яка</a:t>
            </a:r>
            <a:r>
              <a:rPr lang="en-US" b="1" dirty="0"/>
              <a:t> </a:t>
            </a:r>
            <a:r>
              <a:rPr lang="en-US" b="1" dirty="0" err="1"/>
              <a:t>поєднує</a:t>
            </a:r>
            <a:r>
              <a:rPr lang="en-US" b="1" dirty="0"/>
              <a:t> </a:t>
            </a:r>
            <a:r>
              <a:rPr lang="en-US" b="1" dirty="0" err="1"/>
              <a:t>детекцію</a:t>
            </a:r>
            <a:r>
              <a:rPr lang="en-US" b="1" dirty="0"/>
              <a:t>, </a:t>
            </a:r>
            <a:r>
              <a:rPr lang="en-US" b="1" dirty="0" err="1"/>
              <a:t>рух</a:t>
            </a:r>
            <a:r>
              <a:rPr lang="en-US" b="1" dirty="0"/>
              <a:t>, </a:t>
            </a:r>
            <a:r>
              <a:rPr lang="en-US" b="1" dirty="0" err="1"/>
              <a:t>глибину</a:t>
            </a:r>
            <a:r>
              <a:rPr lang="en-US" b="1" dirty="0"/>
              <a:t>, </a:t>
            </a:r>
            <a:r>
              <a:rPr lang="en-US" b="1" dirty="0" err="1"/>
              <a:t>ансамблеву</a:t>
            </a:r>
            <a:r>
              <a:rPr lang="en-US" b="1" dirty="0"/>
              <a:t> </a:t>
            </a:r>
            <a:r>
              <a:rPr lang="en-US" b="1" dirty="0" err="1"/>
              <a:t>корекцію</a:t>
            </a:r>
            <a:r>
              <a:rPr lang="en-US" b="1" dirty="0"/>
              <a:t> </a:t>
            </a:r>
            <a:r>
              <a:rPr lang="en-US" b="1" dirty="0" err="1"/>
              <a:t>та</a:t>
            </a:r>
            <a:r>
              <a:rPr lang="en-US" b="1" dirty="0"/>
              <a:t> </a:t>
            </a:r>
            <a:r>
              <a:rPr lang="en-US" b="1" dirty="0" err="1"/>
              <a:t>визначення</a:t>
            </a:r>
            <a:r>
              <a:rPr lang="en-US" b="1" dirty="0"/>
              <a:t> </a:t>
            </a:r>
            <a:r>
              <a:rPr lang="en-US" b="1" dirty="0" err="1"/>
              <a:t>параметрів</a:t>
            </a:r>
            <a:r>
              <a:rPr lang="en-US" b="1" dirty="0"/>
              <a:t> об'єкта25–26, 30, 35</a:t>
            </a:r>
            <a:r>
              <a:rPr lang="en-US" dirty="0"/>
              <a:t>Повний </a:t>
            </a:r>
            <a:r>
              <a:rPr lang="en-US" dirty="0" err="1"/>
              <a:t>цикл</a:t>
            </a:r>
            <a:r>
              <a:rPr lang="en-US" dirty="0"/>
              <a:t> </a:t>
            </a:r>
            <a:r>
              <a:rPr lang="en-US" dirty="0" err="1"/>
              <a:t>обробки</a:t>
            </a:r>
            <a:r>
              <a:rPr lang="en-US" dirty="0"/>
              <a:t>: </a:t>
            </a:r>
            <a:r>
              <a:rPr lang="en-US" dirty="0" err="1"/>
              <a:t>відеопотік</a:t>
            </a:r>
            <a:r>
              <a:rPr lang="en-US" dirty="0"/>
              <a:t> → DETR → </a:t>
            </a:r>
            <a:r>
              <a:rPr lang="en-US" dirty="0" err="1"/>
              <a:t>оптичний</a:t>
            </a:r>
            <a:r>
              <a:rPr lang="en-US" dirty="0"/>
              <a:t> </a:t>
            </a:r>
            <a:r>
              <a:rPr lang="en-US" dirty="0" err="1"/>
              <a:t>потік</a:t>
            </a:r>
            <a:r>
              <a:rPr lang="en-US" dirty="0"/>
              <a:t> → </a:t>
            </a:r>
            <a:r>
              <a:rPr lang="en-US" dirty="0" err="1"/>
              <a:t>карта</a:t>
            </a:r>
            <a:r>
              <a:rPr lang="en-US" dirty="0"/>
              <a:t> </a:t>
            </a:r>
            <a:r>
              <a:rPr lang="en-US" dirty="0" err="1"/>
              <a:t>глибини</a:t>
            </a:r>
            <a:r>
              <a:rPr lang="en-US" dirty="0"/>
              <a:t> → </a:t>
            </a:r>
            <a:r>
              <a:rPr lang="en-US" dirty="0" err="1"/>
              <a:t>ансамбль</a:t>
            </a:r>
            <a:r>
              <a:rPr lang="en-US" dirty="0"/>
              <a:t> → </a:t>
            </a:r>
            <a:r>
              <a:rPr lang="en-US" dirty="0" err="1"/>
              <a:t>параметри</a:t>
            </a:r>
            <a:r>
              <a:rPr lang="en-US" dirty="0"/>
              <a:t> → </a:t>
            </a:r>
            <a:r>
              <a:rPr lang="en-US" dirty="0" err="1"/>
              <a:t>візуалізація</a:t>
            </a:r>
            <a:endParaRPr lang="en-US" dirty="0"/>
          </a:p>
          <a:p>
            <a:r>
              <a:rPr lang="en-US" dirty="0"/>
              <a:t>6</a:t>
            </a:r>
            <a:r>
              <a:rPr lang="en-US" b="1" dirty="0"/>
              <a:t>Підтверджено </a:t>
            </a:r>
            <a:r>
              <a:rPr lang="en-US" b="1" dirty="0" err="1"/>
              <a:t>адаптивність</a:t>
            </a:r>
            <a:r>
              <a:rPr lang="en-US" b="1" dirty="0"/>
              <a:t> </a:t>
            </a:r>
            <a:r>
              <a:rPr lang="en-US" b="1" dirty="0" err="1"/>
              <a:t>запропонованого</a:t>
            </a:r>
            <a:r>
              <a:rPr lang="en-US" b="1" dirty="0"/>
              <a:t> </a:t>
            </a:r>
            <a:r>
              <a:rPr lang="en-US" b="1" dirty="0" err="1"/>
              <a:t>підходу</a:t>
            </a:r>
            <a:r>
              <a:rPr lang="en-US" b="1" dirty="0"/>
              <a:t> </a:t>
            </a:r>
            <a:r>
              <a:rPr lang="en-US" b="1" dirty="0" err="1"/>
              <a:t>завдяки</a:t>
            </a:r>
            <a:r>
              <a:rPr lang="en-US" b="1" dirty="0"/>
              <a:t> </a:t>
            </a:r>
            <a:r>
              <a:rPr lang="en-US" b="1" dirty="0" err="1"/>
              <a:t>можливості</a:t>
            </a:r>
            <a:r>
              <a:rPr lang="en-US" b="1" dirty="0"/>
              <a:t> </a:t>
            </a:r>
            <a:r>
              <a:rPr lang="en-US" b="1" dirty="0" err="1"/>
              <a:t>комбінування</a:t>
            </a:r>
            <a:r>
              <a:rPr lang="en-US" b="1" dirty="0"/>
              <a:t> </a:t>
            </a:r>
            <a:r>
              <a:rPr lang="en-US" b="1" dirty="0" err="1"/>
              <a:t>різних</a:t>
            </a:r>
            <a:r>
              <a:rPr lang="en-US" b="1" dirty="0"/>
              <a:t> </a:t>
            </a:r>
            <a:r>
              <a:rPr lang="en-US" b="1" dirty="0" err="1"/>
              <a:t>моделей</a:t>
            </a:r>
            <a:r>
              <a:rPr lang="en-US" b="1" dirty="0"/>
              <a:t> і методів30, 36–38, 43</a:t>
            </a:r>
            <a:r>
              <a:rPr lang="en-US" dirty="0"/>
              <a:t>Модульність </a:t>
            </a:r>
            <a:r>
              <a:rPr lang="en-US" dirty="0" err="1"/>
              <a:t>технології</a:t>
            </a:r>
            <a:r>
              <a:rPr lang="en-US" dirty="0"/>
              <a:t>; </a:t>
            </a:r>
            <a:r>
              <a:rPr lang="en-US" dirty="0" err="1"/>
              <a:t>заміна</a:t>
            </a:r>
            <a:r>
              <a:rPr lang="en-US" dirty="0"/>
              <a:t> DETR/YOLO, </a:t>
            </a:r>
            <a:r>
              <a:rPr lang="en-US" dirty="0" err="1"/>
              <a:t>Farneback</a:t>
            </a:r>
            <a:r>
              <a:rPr lang="en-US" dirty="0"/>
              <a:t>/</a:t>
            </a:r>
            <a:r>
              <a:rPr lang="en-US" dirty="0" err="1"/>
              <a:t>FlowNet</a:t>
            </a:r>
            <a:r>
              <a:rPr lang="en-US" dirty="0"/>
              <a:t>; </a:t>
            </a:r>
            <a:r>
              <a:rPr lang="en-US" dirty="0" err="1"/>
              <a:t>порівняння</a:t>
            </a:r>
            <a:r>
              <a:rPr lang="en-US" dirty="0"/>
              <a:t> </a:t>
            </a:r>
            <a:r>
              <a:rPr lang="en-US" b="1" dirty="0"/>
              <a:t>35 </a:t>
            </a:r>
            <a:r>
              <a:rPr lang="en-US" b="1" dirty="0" err="1"/>
              <a:t>комбінацій</a:t>
            </a:r>
            <a:r>
              <a:rPr lang="en-US" dirty="0"/>
              <a:t> </a:t>
            </a:r>
            <a:r>
              <a:rPr lang="en-US" dirty="0" err="1"/>
              <a:t>методів</a:t>
            </a:r>
            <a:endParaRPr lang="en-US" dirty="0"/>
          </a:p>
          <a:p>
            <a:r>
              <a:rPr lang="en-US" dirty="0"/>
              <a:t>7</a:t>
            </a:r>
            <a:r>
              <a:rPr lang="en-US" b="1" dirty="0"/>
              <a:t>Експериментально </a:t>
            </a:r>
            <a:r>
              <a:rPr lang="en-US" b="1" dirty="0" err="1"/>
              <a:t>підтверджено</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надійності</a:t>
            </a:r>
            <a:r>
              <a:rPr lang="en-US" b="1" dirty="0"/>
              <a:t> ідентифікації37–39, 43</a:t>
            </a:r>
            <a:r>
              <a:rPr lang="en-US" dirty="0"/>
              <a:t>Результати: RMSE = </a:t>
            </a:r>
            <a:r>
              <a:rPr lang="en-US" b="1" dirty="0"/>
              <a:t>0,713</a:t>
            </a:r>
            <a:r>
              <a:rPr lang="en-US" dirty="0"/>
              <a:t>; MAE = </a:t>
            </a:r>
            <a:r>
              <a:rPr lang="en-US" b="1" dirty="0"/>
              <a:t>0,474</a:t>
            </a:r>
            <a:r>
              <a:rPr lang="en-US" dirty="0"/>
              <a:t>; PSNR = </a:t>
            </a:r>
            <a:r>
              <a:rPr lang="en-US" b="1" dirty="0"/>
              <a:t>51,065 </a:t>
            </a:r>
            <a:r>
              <a:rPr lang="en-US" b="1" dirty="0" err="1"/>
              <a:t>дБ</a:t>
            </a:r>
            <a:r>
              <a:rPr lang="en-US" dirty="0"/>
              <a:t>; </a:t>
            </a:r>
            <a:r>
              <a:rPr lang="en-US" dirty="0" err="1"/>
              <a:t>IoU</a:t>
            </a:r>
            <a:r>
              <a:rPr lang="en-US" dirty="0"/>
              <a:t> = </a:t>
            </a:r>
            <a:r>
              <a:rPr lang="en-US" b="1" dirty="0"/>
              <a:t>0,996</a:t>
            </a:r>
            <a:r>
              <a:rPr lang="en-US" dirty="0"/>
              <a:t>; Dice = </a:t>
            </a:r>
            <a:r>
              <a:rPr lang="en-US" b="1" dirty="0"/>
              <a:t>0,998</a:t>
            </a:r>
            <a:endParaRPr lang="en-US" dirty="0"/>
          </a:p>
          <a:p>
            <a:r>
              <a:rPr lang="en-US" dirty="0"/>
              <a:t>8</a:t>
            </a:r>
            <a:r>
              <a:rPr lang="en-US" b="1" dirty="0"/>
              <a:t>Підтверджено </a:t>
            </a:r>
            <a:r>
              <a:rPr lang="en-US" b="1" dirty="0" err="1"/>
              <a:t>працездатність</a:t>
            </a:r>
            <a:r>
              <a:rPr lang="en-US" b="1" dirty="0"/>
              <a:t> </a:t>
            </a:r>
            <a:r>
              <a:rPr lang="en-US" b="1" dirty="0" err="1"/>
              <a:t>визначення</a:t>
            </a:r>
            <a:r>
              <a:rPr lang="en-US" b="1" dirty="0"/>
              <a:t> </a:t>
            </a:r>
            <a:r>
              <a:rPr lang="en-US" b="1" dirty="0" err="1"/>
              <a:t>кінематичних</a:t>
            </a:r>
            <a:r>
              <a:rPr lang="en-US" b="1" dirty="0"/>
              <a:t> </a:t>
            </a:r>
            <a:r>
              <a:rPr lang="en-US" b="1" dirty="0" err="1"/>
              <a:t>параметрів</a:t>
            </a:r>
            <a:r>
              <a:rPr lang="en-US" b="1" dirty="0"/>
              <a:t> </a:t>
            </a:r>
            <a:r>
              <a:rPr lang="en-US" b="1" dirty="0" err="1"/>
              <a:t>рухомих</a:t>
            </a:r>
            <a:r>
              <a:rPr lang="en-US" b="1" dirty="0"/>
              <a:t> об'єктів34–35, 39, 43</a:t>
            </a:r>
            <a:r>
              <a:rPr lang="en-US" dirty="0"/>
              <a:t>DETR </a:t>
            </a:r>
            <a:r>
              <a:rPr lang="en-US" dirty="0" err="1"/>
              <a:t>виявив</a:t>
            </a:r>
            <a:r>
              <a:rPr lang="en-US" dirty="0"/>
              <a:t> 6 </a:t>
            </a:r>
            <a:r>
              <a:rPr lang="en-US" dirty="0" err="1"/>
              <a:t>об'єктів</a:t>
            </a:r>
            <a:r>
              <a:rPr lang="en-US" dirty="0"/>
              <a:t> </a:t>
            </a:r>
            <a:r>
              <a:rPr lang="en-US" dirty="0" err="1"/>
              <a:t>із</a:t>
            </a:r>
            <a:r>
              <a:rPr lang="en-US" dirty="0"/>
              <a:t> </a:t>
            </a:r>
            <a:r>
              <a:rPr lang="en-US" dirty="0" err="1"/>
              <a:t>довірою</a:t>
            </a:r>
            <a:r>
              <a:rPr lang="en-US" dirty="0"/>
              <a:t> </a:t>
            </a:r>
            <a:r>
              <a:rPr lang="en-US" b="1" dirty="0"/>
              <a:t>0,74–1,00</a:t>
            </a:r>
            <a:r>
              <a:rPr lang="en-US" dirty="0"/>
              <a:t>; </a:t>
            </a:r>
            <a:r>
              <a:rPr lang="en-US" dirty="0" err="1"/>
              <a:t>визначено</a:t>
            </a:r>
            <a:r>
              <a:rPr lang="en-US" dirty="0"/>
              <a:t> </a:t>
            </a:r>
            <a:r>
              <a:rPr lang="en-US" dirty="0" err="1"/>
              <a:t>швидкості</a:t>
            </a:r>
            <a:r>
              <a:rPr lang="en-US" dirty="0"/>
              <a:t> </a:t>
            </a:r>
            <a:r>
              <a:rPr lang="en-US" b="1" dirty="0"/>
              <a:t>6,526</a:t>
            </a:r>
            <a:r>
              <a:rPr lang="en-US" dirty="0"/>
              <a:t> </a:t>
            </a:r>
            <a:r>
              <a:rPr lang="en-US" dirty="0" err="1"/>
              <a:t>та</a:t>
            </a:r>
            <a:r>
              <a:rPr lang="en-US" dirty="0"/>
              <a:t> </a:t>
            </a:r>
            <a:r>
              <a:rPr lang="en-US" b="1" dirty="0"/>
              <a:t>4,592 </a:t>
            </a:r>
            <a:r>
              <a:rPr lang="en-US" b="1" dirty="0" err="1"/>
              <a:t>px</a:t>
            </a:r>
            <a:r>
              <a:rPr lang="en-US" b="1" dirty="0"/>
              <a:t>/</a:t>
            </a:r>
            <a:r>
              <a:rPr lang="en-US" b="1" dirty="0" err="1"/>
              <a:t>кадр</a:t>
            </a:r>
            <a:endParaRPr lang="en-US" dirty="0"/>
          </a:p>
          <a:p>
            <a:r>
              <a:rPr lang="en-US" dirty="0"/>
              <a:t>9</a:t>
            </a:r>
            <a:r>
              <a:rPr lang="en-US" b="1" dirty="0"/>
              <a:t>Показано </a:t>
            </a:r>
            <a:r>
              <a:rPr lang="en-US" b="1" dirty="0" err="1"/>
              <a:t>відмінність</a:t>
            </a:r>
            <a:r>
              <a:rPr lang="en-US" b="1" dirty="0"/>
              <a:t> </a:t>
            </a:r>
            <a:r>
              <a:rPr lang="en-US" b="1" dirty="0" err="1"/>
              <a:t>запропонованої</a:t>
            </a:r>
            <a:r>
              <a:rPr lang="en-US" b="1" dirty="0"/>
              <a:t> </a:t>
            </a:r>
            <a:r>
              <a:rPr lang="en-US" b="1" dirty="0" err="1"/>
              <a:t>технології</a:t>
            </a:r>
            <a:r>
              <a:rPr lang="en-US" b="1" dirty="0"/>
              <a:t> </a:t>
            </a:r>
            <a:r>
              <a:rPr lang="en-US" b="1" dirty="0" err="1"/>
              <a:t>від</a:t>
            </a:r>
            <a:r>
              <a:rPr lang="en-US" b="1" dirty="0"/>
              <a:t> </a:t>
            </a:r>
            <a:r>
              <a:rPr lang="en-US" b="1" dirty="0" err="1"/>
              <a:t>наявних</a:t>
            </a:r>
            <a:r>
              <a:rPr lang="en-US" b="1" dirty="0"/>
              <a:t> аналогів45–46</a:t>
            </a:r>
            <a:r>
              <a:rPr lang="en-US" dirty="0"/>
              <a:t>Аналоги </a:t>
            </a:r>
            <a:r>
              <a:rPr lang="en-US" dirty="0" err="1"/>
              <a:t>виконують</a:t>
            </a:r>
            <a:r>
              <a:rPr lang="en-US" dirty="0"/>
              <a:t> </a:t>
            </a:r>
            <a:r>
              <a:rPr lang="en-US" dirty="0" err="1"/>
              <a:t>окремі</a:t>
            </a:r>
            <a:r>
              <a:rPr lang="en-US" dirty="0"/>
              <a:t> </a:t>
            </a:r>
            <a:r>
              <a:rPr lang="en-US" dirty="0" err="1"/>
              <a:t>операції</a:t>
            </a:r>
            <a:r>
              <a:rPr lang="en-US" dirty="0"/>
              <a:t>, а </a:t>
            </a:r>
            <a:r>
              <a:rPr lang="en-US" dirty="0" err="1"/>
              <a:t>запропонована</a:t>
            </a:r>
            <a:r>
              <a:rPr lang="en-US" dirty="0"/>
              <a:t> ІТ </a:t>
            </a:r>
            <a:r>
              <a:rPr lang="en-US" dirty="0" err="1"/>
              <a:t>забезпечує</a:t>
            </a:r>
            <a:r>
              <a:rPr lang="en-US" dirty="0"/>
              <a:t> </a:t>
            </a:r>
            <a:r>
              <a:rPr lang="en-US" dirty="0" err="1"/>
              <a:t>повний</a:t>
            </a:r>
            <a:r>
              <a:rPr lang="en-US" dirty="0"/>
              <a:t> </a:t>
            </a:r>
            <a:r>
              <a:rPr lang="en-US" dirty="0" err="1"/>
              <a:t>комплекс</a:t>
            </a:r>
            <a:r>
              <a:rPr lang="en-US" dirty="0"/>
              <a:t> </a:t>
            </a:r>
            <a:r>
              <a:rPr lang="en-US" dirty="0" err="1"/>
              <a:t>функцій</a:t>
            </a:r>
            <a:r>
              <a:rPr lang="en-US" dirty="0"/>
              <a:t>; </a:t>
            </a:r>
            <a:r>
              <a:rPr lang="en-US" dirty="0" err="1"/>
              <a:t>результат</a:t>
            </a:r>
            <a:r>
              <a:rPr lang="en-US" dirty="0"/>
              <a:t> </a:t>
            </a:r>
            <a:r>
              <a:rPr lang="en-US" dirty="0" err="1"/>
              <a:t>порівняння</a:t>
            </a:r>
            <a:r>
              <a:rPr lang="en-US" dirty="0"/>
              <a:t> — </a:t>
            </a:r>
            <a:r>
              <a:rPr lang="en-US" b="1" dirty="0"/>
              <a:t>12 </a:t>
            </a:r>
            <a:r>
              <a:rPr lang="en-US" b="1" dirty="0" err="1"/>
              <a:t>балів</a:t>
            </a:r>
            <a:r>
              <a:rPr lang="en-US" dirty="0"/>
              <a:t> </a:t>
            </a:r>
            <a:r>
              <a:rPr lang="en-US" dirty="0" err="1"/>
              <a:t>проти</a:t>
            </a:r>
            <a:r>
              <a:rPr lang="en-US" dirty="0"/>
              <a:t> 3–6 </a:t>
            </a:r>
            <a:r>
              <a:rPr lang="en-US" dirty="0" err="1"/>
              <a:t>балів</a:t>
            </a:r>
            <a:r>
              <a:rPr lang="en-US" dirty="0"/>
              <a:t> у </a:t>
            </a:r>
            <a:r>
              <a:rPr lang="en-US" dirty="0" err="1"/>
              <a:t>аналогів</a:t>
            </a:r>
            <a:endParaRPr lang="en-US" dirty="0"/>
          </a:p>
          <a:p>
            <a:r>
              <a:rPr lang="en-US" dirty="0"/>
              <a:t>10</a:t>
            </a:r>
            <a:r>
              <a:rPr lang="en-US" b="1" dirty="0"/>
              <a:t>Узагальнене </a:t>
            </a:r>
            <a:r>
              <a:rPr lang="en-US" b="1" dirty="0" err="1"/>
              <a:t>підтвердження</a:t>
            </a:r>
            <a:r>
              <a:rPr lang="en-US" b="1" dirty="0"/>
              <a:t> </a:t>
            </a:r>
            <a:r>
              <a:rPr lang="en-US" b="1" dirty="0" err="1"/>
              <a:t>отриманих</a:t>
            </a:r>
            <a:r>
              <a:rPr lang="en-US" b="1" dirty="0"/>
              <a:t> </a:t>
            </a:r>
            <a:r>
              <a:rPr lang="en-US" b="1" dirty="0" err="1"/>
              <a:t>наукових</a:t>
            </a:r>
            <a:r>
              <a:rPr lang="en-US" b="1" dirty="0"/>
              <a:t> результатів50</a:t>
            </a:r>
            <a:r>
              <a:rPr lang="en-US" dirty="0"/>
              <a:t>У </a:t>
            </a:r>
            <a:r>
              <a:rPr lang="en-US" dirty="0" err="1"/>
              <a:t>висновках</a:t>
            </a:r>
            <a:r>
              <a:rPr lang="en-US" dirty="0"/>
              <a:t> </a:t>
            </a:r>
            <a:r>
              <a:rPr lang="en-US" dirty="0" err="1"/>
              <a:t>сформульовано</a:t>
            </a:r>
            <a:r>
              <a:rPr lang="en-US" dirty="0"/>
              <a:t> </a:t>
            </a:r>
            <a:r>
              <a:rPr lang="en-US" dirty="0" err="1"/>
              <a:t>розроблені</a:t>
            </a:r>
            <a:r>
              <a:rPr lang="en-US" dirty="0"/>
              <a:t> </a:t>
            </a:r>
            <a:r>
              <a:rPr lang="en-US" dirty="0" err="1"/>
              <a:t>моделі</a:t>
            </a:r>
            <a:r>
              <a:rPr lang="en-US" dirty="0"/>
              <a:t>, </a:t>
            </a:r>
            <a:r>
              <a:rPr lang="en-US" dirty="0" err="1"/>
              <a:t>методи</a:t>
            </a:r>
            <a:r>
              <a:rPr lang="en-US" dirty="0"/>
              <a:t>, </a:t>
            </a:r>
            <a:r>
              <a:rPr lang="en-US" dirty="0" err="1"/>
              <a:t>інтегральну</a:t>
            </a:r>
            <a:r>
              <a:rPr lang="en-US" dirty="0"/>
              <a:t> </a:t>
            </a:r>
            <a:r>
              <a:rPr lang="en-US" dirty="0" err="1"/>
              <a:t>схему</a:t>
            </a:r>
            <a:r>
              <a:rPr lang="en-US" dirty="0"/>
              <a:t>, </a:t>
            </a:r>
            <a:r>
              <a:rPr lang="en-US" dirty="0" err="1"/>
              <a:t>ансамблеві</a:t>
            </a:r>
            <a:r>
              <a:rPr lang="en-US" dirty="0"/>
              <a:t> </a:t>
            </a:r>
            <a:r>
              <a:rPr lang="en-US" dirty="0" err="1"/>
              <a:t>підходи</a:t>
            </a:r>
            <a:r>
              <a:rPr lang="en-US" dirty="0"/>
              <a:t> </a:t>
            </a:r>
            <a:r>
              <a:rPr lang="en-US" dirty="0" err="1"/>
              <a:t>та</a:t>
            </a:r>
            <a:r>
              <a:rPr lang="en-US" dirty="0"/>
              <a:t> </a:t>
            </a:r>
            <a:r>
              <a:rPr lang="en-US" dirty="0" err="1"/>
              <a:t>результати</a:t>
            </a:r>
            <a:r>
              <a:rPr lang="en-US" dirty="0"/>
              <a:t> </a:t>
            </a:r>
            <a:r>
              <a:rPr lang="en-US" dirty="0" err="1"/>
              <a:t>експериментального</a:t>
            </a:r>
            <a:r>
              <a:rPr lang="en-US" dirty="0"/>
              <a:t> </a:t>
            </a:r>
            <a:r>
              <a:rPr lang="en-US" dirty="0" err="1"/>
              <a:t>дослідження</a:t>
            </a:r>
            <a:endParaRPr lang="en-US" dirty="0"/>
          </a:p>
          <a:p>
            <a:endParaRPr lang="en-US" dirty="0"/>
          </a:p>
        </p:txBody>
      </p:sp>
      <p:sp>
        <p:nvSpPr>
          <p:cNvPr id="4" name="Місце для номера слайда 3">
            <a:extLst>
              <a:ext uri="{FF2B5EF4-FFF2-40B4-BE49-F238E27FC236}">
                <a16:creationId xmlns:a16="http://schemas.microsoft.com/office/drawing/2014/main" id="{85AB9FA4-0D68-83E7-9587-62C8C2564C0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1202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93D78-0169-F870-3B5C-3AF28DCED6CE}"/>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E567FD34-F329-35D3-3367-FDACD6814A94}"/>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EB9AA167-931C-B495-8448-1537EB7E6771}"/>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a:p>
            <a:endParaRPr lang="en-US" dirty="0"/>
          </a:p>
          <a:p>
            <a:endParaRPr lang="en-US" dirty="0"/>
          </a:p>
          <a:p>
            <a:r>
              <a:rPr lang="en-US" dirty="0"/>
              <a:t>№</a:t>
            </a:r>
          </a:p>
          <a:p>
            <a:r>
              <a:rPr lang="en-US" dirty="0" err="1"/>
              <a:t>Положення</a:t>
            </a:r>
            <a:r>
              <a:rPr lang="en-US" dirty="0"/>
              <a:t> </a:t>
            </a:r>
            <a:r>
              <a:rPr lang="en-US" dirty="0" err="1"/>
              <a:t>наукової</a:t>
            </a:r>
            <a:r>
              <a:rPr lang="en-US" dirty="0"/>
              <a:t> </a:t>
            </a:r>
            <a:r>
              <a:rPr lang="en-US" dirty="0" err="1"/>
              <a:t>новизни</a:t>
            </a:r>
            <a:endParaRPr lang="en-US" dirty="0"/>
          </a:p>
          <a:p>
            <a:r>
              <a:rPr lang="en-US" dirty="0" err="1"/>
              <a:t>Слайди</a:t>
            </a:r>
            <a:r>
              <a:rPr lang="en-US" dirty="0"/>
              <a:t>, </a:t>
            </a:r>
            <a:r>
              <a:rPr lang="en-US" dirty="0" err="1"/>
              <a:t>де</a:t>
            </a:r>
            <a:r>
              <a:rPr lang="en-US" dirty="0"/>
              <a:t> </a:t>
            </a:r>
            <a:r>
              <a:rPr lang="en-US" dirty="0" err="1"/>
              <a:t>підтверджується</a:t>
            </a:r>
            <a:endParaRPr lang="en-US" dirty="0"/>
          </a:p>
          <a:p>
            <a:r>
              <a:rPr lang="en-US" dirty="0" err="1"/>
              <a:t>Що</a:t>
            </a:r>
            <a:r>
              <a:rPr lang="en-US" dirty="0"/>
              <a:t> </a:t>
            </a:r>
            <a:r>
              <a:rPr lang="en-US" dirty="0" err="1"/>
              <a:t>саме</a:t>
            </a:r>
            <a:r>
              <a:rPr lang="en-US" dirty="0"/>
              <a:t> </a:t>
            </a:r>
            <a:r>
              <a:rPr lang="en-US" dirty="0" err="1"/>
              <a:t>показано</a:t>
            </a:r>
            <a:endParaRPr lang="en-US" dirty="0"/>
          </a:p>
          <a:p>
            <a:r>
              <a:rPr lang="en-US" dirty="0"/>
              <a:t>1</a:t>
            </a:r>
            <a:r>
              <a:rPr lang="en-US" b="1" dirty="0"/>
              <a:t>Удосконалено </a:t>
            </a:r>
            <a:r>
              <a:rPr lang="en-US" b="1" dirty="0" err="1"/>
              <a:t>модель</a:t>
            </a:r>
            <a:r>
              <a:rPr lang="en-US" b="1" dirty="0"/>
              <a:t> </a:t>
            </a:r>
            <a:r>
              <a:rPr lang="en-US" b="1" dirty="0" err="1"/>
              <a:t>дистанційної</a:t>
            </a:r>
            <a:r>
              <a:rPr lang="en-US" b="1" dirty="0"/>
              <a:t> </a:t>
            </a:r>
            <a:r>
              <a:rPr lang="en-US" b="1" dirty="0" err="1"/>
              <a:t>ідентифікації</a:t>
            </a:r>
            <a:r>
              <a:rPr lang="en-US" b="1" dirty="0"/>
              <a:t> </a:t>
            </a:r>
            <a:r>
              <a:rPr lang="en-US" b="1" dirty="0" err="1"/>
              <a:t>параметрів</a:t>
            </a:r>
            <a:r>
              <a:rPr lang="en-US" b="1" dirty="0"/>
              <a:t> </a:t>
            </a:r>
            <a:r>
              <a:rPr lang="en-US" b="1" dirty="0" err="1"/>
              <a:t>динамічних</a:t>
            </a:r>
            <a:r>
              <a:rPr lang="en-US" b="1" dirty="0"/>
              <a:t> </a:t>
            </a:r>
            <a:r>
              <a:rPr lang="en-US" b="1" dirty="0" err="1"/>
              <a:t>об'єктів</a:t>
            </a:r>
            <a:r>
              <a:rPr lang="en-US" b="1" dirty="0"/>
              <a:t> </a:t>
            </a:r>
            <a:r>
              <a:rPr lang="en-US" b="1" dirty="0" err="1"/>
              <a:t>шляхом</a:t>
            </a:r>
            <a:r>
              <a:rPr lang="en-US" b="1" dirty="0"/>
              <a:t> </a:t>
            </a:r>
            <a:r>
              <a:rPr lang="en-US" b="1" dirty="0" err="1"/>
              <a:t>інтеграції</a:t>
            </a:r>
            <a:r>
              <a:rPr lang="en-US" b="1" dirty="0"/>
              <a:t> DETR </a:t>
            </a:r>
            <a:r>
              <a:rPr lang="en-US" b="1" dirty="0" err="1"/>
              <a:t>та</a:t>
            </a:r>
            <a:r>
              <a:rPr lang="en-US" b="1" dirty="0"/>
              <a:t> </a:t>
            </a:r>
            <a:r>
              <a:rPr lang="en-US" b="1" dirty="0" err="1"/>
              <a:t>оптичного</a:t>
            </a:r>
            <a:r>
              <a:rPr lang="en-US" b="1" dirty="0"/>
              <a:t> потоку17–18, 20, 22–23</a:t>
            </a:r>
            <a:r>
              <a:rPr lang="en-US" dirty="0"/>
              <a:t>Структуру </a:t>
            </a:r>
            <a:r>
              <a:rPr lang="en-US" dirty="0" err="1"/>
              <a:t>моделей</a:t>
            </a:r>
            <a:r>
              <a:rPr lang="en-US" dirty="0"/>
              <a:t> ДІПДО; </a:t>
            </a:r>
            <a:r>
              <a:rPr lang="en-US" dirty="0" err="1"/>
              <a:t>аналітичну</a:t>
            </a:r>
            <a:r>
              <a:rPr lang="en-US" dirty="0"/>
              <a:t> </a:t>
            </a:r>
            <a:r>
              <a:rPr lang="en-US" dirty="0" err="1"/>
              <a:t>модель</a:t>
            </a:r>
            <a:r>
              <a:rPr lang="en-US" dirty="0"/>
              <a:t> DETR + Optical Flow; </a:t>
            </a:r>
            <a:r>
              <a:rPr lang="en-US" dirty="0" err="1"/>
              <a:t>локалізацію</a:t>
            </a:r>
            <a:r>
              <a:rPr lang="en-US" dirty="0"/>
              <a:t> </a:t>
            </a:r>
            <a:r>
              <a:rPr lang="en-US" dirty="0" err="1"/>
              <a:t>об'єктів</a:t>
            </a:r>
            <a:r>
              <a:rPr lang="en-US" dirty="0"/>
              <a:t>; </a:t>
            </a:r>
            <a:r>
              <a:rPr lang="en-US" dirty="0" err="1"/>
              <a:t>визначення</a:t>
            </a:r>
            <a:r>
              <a:rPr lang="en-US" dirty="0"/>
              <a:t> </a:t>
            </a:r>
            <a:r>
              <a:rPr lang="en-US" dirty="0" err="1"/>
              <a:t>векторів</a:t>
            </a:r>
            <a:r>
              <a:rPr lang="en-US" dirty="0"/>
              <a:t> </a:t>
            </a:r>
            <a:r>
              <a:rPr lang="en-US" dirty="0" err="1"/>
              <a:t>руху</a:t>
            </a:r>
            <a:r>
              <a:rPr lang="en-US" dirty="0"/>
              <a:t>, </a:t>
            </a:r>
            <a:r>
              <a:rPr lang="en-US" dirty="0" err="1"/>
              <a:t>швидкості</a:t>
            </a:r>
            <a:r>
              <a:rPr lang="en-US" dirty="0"/>
              <a:t> </a:t>
            </a:r>
            <a:r>
              <a:rPr lang="en-US" dirty="0" err="1"/>
              <a:t>та</a:t>
            </a:r>
            <a:r>
              <a:rPr lang="en-US" dirty="0"/>
              <a:t> </a:t>
            </a:r>
            <a:r>
              <a:rPr lang="en-US" dirty="0" err="1"/>
              <a:t>напрямку</a:t>
            </a:r>
            <a:endParaRPr lang="en-US" dirty="0"/>
          </a:p>
          <a:p>
            <a:r>
              <a:rPr lang="en-US" dirty="0"/>
              <a:t>2</a:t>
            </a:r>
            <a:r>
              <a:rPr lang="en-US" b="1" dirty="0"/>
              <a:t>Набула </a:t>
            </a:r>
            <a:r>
              <a:rPr lang="en-US" b="1" dirty="0" err="1"/>
              <a:t>подальшого</a:t>
            </a:r>
            <a:r>
              <a:rPr lang="en-US" b="1" dirty="0"/>
              <a:t> </a:t>
            </a:r>
            <a:r>
              <a:rPr lang="en-US" b="1" dirty="0" err="1"/>
              <a:t>розвитку</a:t>
            </a:r>
            <a:r>
              <a:rPr lang="en-US" b="1" dirty="0"/>
              <a:t> </a:t>
            </a:r>
            <a:r>
              <a:rPr lang="en-US" b="1" dirty="0" err="1"/>
              <a:t>просторово-часова</a:t>
            </a:r>
            <a:r>
              <a:rPr lang="en-US" b="1" dirty="0"/>
              <a:t> </a:t>
            </a:r>
            <a:r>
              <a:rPr lang="en-US" b="1" dirty="0" err="1"/>
              <a:t>модель</a:t>
            </a:r>
            <a:r>
              <a:rPr lang="en-US" b="1" dirty="0"/>
              <a:t> </a:t>
            </a:r>
            <a:r>
              <a:rPr lang="en-US" b="1" dirty="0" err="1"/>
              <a:t>опису</a:t>
            </a:r>
            <a:r>
              <a:rPr lang="en-US" b="1" dirty="0"/>
              <a:t> </a:t>
            </a:r>
            <a:r>
              <a:rPr lang="en-US" b="1" dirty="0" err="1"/>
              <a:t>стану</a:t>
            </a:r>
            <a:r>
              <a:rPr lang="en-US" b="1" dirty="0"/>
              <a:t> </a:t>
            </a:r>
            <a:r>
              <a:rPr lang="en-US" b="1" dirty="0" err="1"/>
              <a:t>динамічного</a:t>
            </a:r>
            <a:r>
              <a:rPr lang="en-US" b="1" dirty="0"/>
              <a:t> об'єкта11, 16–18, 23</a:t>
            </a:r>
            <a:r>
              <a:rPr lang="en-US" dirty="0"/>
              <a:t>Об'єднання </a:t>
            </a:r>
            <a:r>
              <a:rPr lang="en-US" dirty="0" err="1"/>
              <a:t>просторових</a:t>
            </a:r>
            <a:r>
              <a:rPr lang="en-US" dirty="0"/>
              <a:t> і </a:t>
            </a:r>
            <a:r>
              <a:rPr lang="en-US" dirty="0" err="1"/>
              <a:t>часових</a:t>
            </a:r>
            <a:r>
              <a:rPr lang="en-US" dirty="0"/>
              <a:t> </a:t>
            </a:r>
            <a:r>
              <a:rPr lang="en-US" dirty="0" err="1"/>
              <a:t>ознак</a:t>
            </a:r>
            <a:r>
              <a:rPr lang="en-US" dirty="0"/>
              <a:t>; </a:t>
            </a:r>
            <a:r>
              <a:rPr lang="en-US" dirty="0" err="1"/>
              <a:t>перехід</a:t>
            </a:r>
            <a:r>
              <a:rPr lang="en-US" dirty="0"/>
              <a:t> </a:t>
            </a:r>
            <a:r>
              <a:rPr lang="en-US" dirty="0" err="1"/>
              <a:t>від</a:t>
            </a:r>
            <a:r>
              <a:rPr lang="en-US" dirty="0"/>
              <a:t> </a:t>
            </a:r>
            <a:r>
              <a:rPr lang="en-US" dirty="0" err="1"/>
              <a:t>покадрового</a:t>
            </a:r>
            <a:r>
              <a:rPr lang="en-US" dirty="0"/>
              <a:t> </a:t>
            </a:r>
            <a:r>
              <a:rPr lang="en-US" dirty="0" err="1"/>
              <a:t>виявлення</a:t>
            </a:r>
            <a:r>
              <a:rPr lang="en-US" dirty="0"/>
              <a:t> </a:t>
            </a:r>
            <a:r>
              <a:rPr lang="en-US" dirty="0" err="1"/>
              <a:t>до</a:t>
            </a:r>
            <a:r>
              <a:rPr lang="en-US" dirty="0"/>
              <a:t> </a:t>
            </a:r>
            <a:r>
              <a:rPr lang="en-US" dirty="0" err="1"/>
              <a:t>визначення</a:t>
            </a:r>
            <a:r>
              <a:rPr lang="en-US" dirty="0"/>
              <a:t> </a:t>
            </a:r>
            <a:r>
              <a:rPr lang="en-US" dirty="0" err="1"/>
              <a:t>положення</a:t>
            </a:r>
            <a:r>
              <a:rPr lang="en-US" dirty="0"/>
              <a:t>, </a:t>
            </a:r>
            <a:r>
              <a:rPr lang="en-US" dirty="0" err="1"/>
              <a:t>швидкості</a:t>
            </a:r>
            <a:r>
              <a:rPr lang="en-US" dirty="0"/>
              <a:t>, </a:t>
            </a:r>
            <a:r>
              <a:rPr lang="en-US" dirty="0" err="1"/>
              <a:t>прискорення</a:t>
            </a:r>
            <a:r>
              <a:rPr lang="en-US" dirty="0"/>
              <a:t>, </a:t>
            </a:r>
            <a:r>
              <a:rPr lang="en-US" dirty="0" err="1"/>
              <a:t>напрямку</a:t>
            </a:r>
            <a:r>
              <a:rPr lang="en-US" dirty="0"/>
              <a:t> і </a:t>
            </a:r>
            <a:r>
              <a:rPr lang="en-US" dirty="0" err="1"/>
              <a:t>траєкторії</a:t>
            </a:r>
            <a:endParaRPr lang="en-US" dirty="0"/>
          </a:p>
          <a:p>
            <a:r>
              <a:rPr lang="en-US" dirty="0"/>
              <a:t>3</a:t>
            </a:r>
            <a:r>
              <a:rPr lang="en-US" b="1" dirty="0"/>
              <a:t>Удосконалено </a:t>
            </a:r>
            <a:r>
              <a:rPr lang="en-US" b="1" dirty="0" err="1"/>
              <a:t>метод</a:t>
            </a:r>
            <a:r>
              <a:rPr lang="en-US" b="1" dirty="0"/>
              <a:t> </a:t>
            </a:r>
            <a:r>
              <a:rPr lang="en-US" b="1" dirty="0" err="1"/>
              <a:t>сумісного</a:t>
            </a:r>
            <a:r>
              <a:rPr lang="en-US" b="1" dirty="0"/>
              <a:t> </a:t>
            </a:r>
            <a:r>
              <a:rPr lang="en-US" b="1" dirty="0" err="1"/>
              <a:t>оцінювання</a:t>
            </a:r>
            <a:r>
              <a:rPr lang="en-US" b="1" dirty="0"/>
              <a:t> </a:t>
            </a:r>
            <a:r>
              <a:rPr lang="en-US" b="1" dirty="0" err="1"/>
              <a:t>руху</a:t>
            </a:r>
            <a:r>
              <a:rPr lang="en-US" b="1" dirty="0"/>
              <a:t> </a:t>
            </a:r>
            <a:r>
              <a:rPr lang="en-US" b="1" dirty="0" err="1"/>
              <a:t>та</a:t>
            </a:r>
            <a:r>
              <a:rPr lang="en-US" b="1" dirty="0"/>
              <a:t> </a:t>
            </a:r>
            <a:r>
              <a:rPr lang="en-US" b="1" dirty="0" err="1"/>
              <a:t>глибини</a:t>
            </a:r>
            <a:r>
              <a:rPr lang="en-US" b="1" dirty="0"/>
              <a:t> відеосцени21, 25–26</a:t>
            </a:r>
            <a:r>
              <a:rPr lang="en-US" dirty="0"/>
              <a:t>Використання </a:t>
            </a:r>
            <a:r>
              <a:rPr lang="en-US" dirty="0" err="1"/>
              <a:t>GeoNet</a:t>
            </a:r>
            <a:r>
              <a:rPr lang="en-US" dirty="0"/>
              <a:t>, </a:t>
            </a:r>
            <a:r>
              <a:rPr lang="en-US" dirty="0" err="1"/>
              <a:t>оптичного</a:t>
            </a:r>
            <a:r>
              <a:rPr lang="en-US" dirty="0"/>
              <a:t> </a:t>
            </a:r>
            <a:r>
              <a:rPr lang="en-US" dirty="0" err="1"/>
              <a:t>потоку</a:t>
            </a:r>
            <a:r>
              <a:rPr lang="en-US" dirty="0"/>
              <a:t>, </a:t>
            </a:r>
            <a:r>
              <a:rPr lang="en-US" dirty="0" err="1"/>
              <a:t>моделей</a:t>
            </a:r>
            <a:r>
              <a:rPr lang="en-US" dirty="0"/>
              <a:t> </a:t>
            </a:r>
            <a:r>
              <a:rPr lang="en-US" dirty="0" err="1"/>
              <a:t>глибини</a:t>
            </a:r>
            <a:r>
              <a:rPr lang="en-US" dirty="0"/>
              <a:t> </a:t>
            </a:r>
            <a:r>
              <a:rPr lang="en-US" dirty="0" err="1"/>
              <a:t>та</a:t>
            </a:r>
            <a:r>
              <a:rPr lang="en-US" dirty="0"/>
              <a:t> </a:t>
            </a:r>
            <a:r>
              <a:rPr lang="en-US" dirty="0" err="1"/>
              <a:t>трансформерної</a:t>
            </a:r>
            <a:r>
              <a:rPr lang="en-US" dirty="0"/>
              <a:t> </a:t>
            </a:r>
            <a:r>
              <a:rPr lang="en-US" dirty="0" err="1"/>
              <a:t>обробки</a:t>
            </a:r>
            <a:r>
              <a:rPr lang="en-US" dirty="0"/>
              <a:t> в </a:t>
            </a:r>
            <a:r>
              <a:rPr lang="en-US" dirty="0" err="1"/>
              <a:t>єдиній</a:t>
            </a:r>
            <a:r>
              <a:rPr lang="en-US" dirty="0"/>
              <a:t> </a:t>
            </a:r>
            <a:r>
              <a:rPr lang="en-US" dirty="0" err="1"/>
              <a:t>інтегральній</a:t>
            </a:r>
            <a:r>
              <a:rPr lang="en-US" dirty="0"/>
              <a:t> </a:t>
            </a:r>
            <a:r>
              <a:rPr lang="en-US" dirty="0" err="1"/>
              <a:t>схемі</a:t>
            </a:r>
            <a:endParaRPr lang="en-US" dirty="0"/>
          </a:p>
          <a:p>
            <a:r>
              <a:rPr lang="en-US" dirty="0"/>
              <a:t>4</a:t>
            </a:r>
            <a:r>
              <a:rPr lang="en-US" b="1" dirty="0"/>
              <a:t>Удосконалено </a:t>
            </a:r>
            <a:r>
              <a:rPr lang="en-US" b="1" dirty="0" err="1"/>
              <a:t>метод</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стійкості</a:t>
            </a:r>
            <a:r>
              <a:rPr lang="en-US" b="1" dirty="0"/>
              <a:t> </a:t>
            </a:r>
            <a:r>
              <a:rPr lang="en-US" b="1" dirty="0" err="1"/>
              <a:t>оцінювання</a:t>
            </a:r>
            <a:r>
              <a:rPr lang="en-US" b="1" dirty="0"/>
              <a:t> </a:t>
            </a:r>
            <a:r>
              <a:rPr lang="en-US" b="1" dirty="0" err="1"/>
              <a:t>глибини</a:t>
            </a:r>
            <a:r>
              <a:rPr lang="en-US" b="1" dirty="0"/>
              <a:t> </a:t>
            </a:r>
            <a:r>
              <a:rPr lang="en-US" b="1" dirty="0" err="1"/>
              <a:t>за</a:t>
            </a:r>
            <a:r>
              <a:rPr lang="en-US" b="1" dirty="0"/>
              <a:t> </a:t>
            </a:r>
            <a:r>
              <a:rPr lang="en-US" b="1" dirty="0" err="1"/>
              <a:t>допомогою</a:t>
            </a:r>
            <a:r>
              <a:rPr lang="en-US" b="1" dirty="0"/>
              <a:t> Bagging і Boosting15, 25–26, 32</a:t>
            </a:r>
            <a:r>
              <a:rPr lang="en-US" dirty="0"/>
              <a:t>Ансамблеве </a:t>
            </a:r>
            <a:r>
              <a:rPr lang="en-US" dirty="0" err="1"/>
              <a:t>об'єднання</a:t>
            </a:r>
            <a:r>
              <a:rPr lang="en-US" dirty="0"/>
              <a:t> </a:t>
            </a:r>
            <a:r>
              <a:rPr lang="en-US" dirty="0" err="1"/>
              <a:t>результатів</a:t>
            </a:r>
            <a:r>
              <a:rPr lang="en-US" dirty="0"/>
              <a:t>; </a:t>
            </a:r>
            <a:r>
              <a:rPr lang="en-US" dirty="0" err="1"/>
              <a:t>паралельна</a:t>
            </a:r>
            <a:r>
              <a:rPr lang="en-US" dirty="0"/>
              <a:t> </a:t>
            </a:r>
            <a:r>
              <a:rPr lang="en-US" dirty="0" err="1"/>
              <a:t>схема</a:t>
            </a:r>
            <a:r>
              <a:rPr lang="en-US" dirty="0"/>
              <a:t> Bagging </a:t>
            </a:r>
            <a:r>
              <a:rPr lang="en-US" dirty="0" err="1"/>
              <a:t>та</a:t>
            </a:r>
            <a:r>
              <a:rPr lang="en-US" dirty="0"/>
              <a:t> </a:t>
            </a:r>
            <a:r>
              <a:rPr lang="en-US" dirty="0" err="1"/>
              <a:t>послідовна</a:t>
            </a:r>
            <a:r>
              <a:rPr lang="en-US" dirty="0"/>
              <a:t> </a:t>
            </a:r>
            <a:r>
              <a:rPr lang="en-US" dirty="0" err="1"/>
              <a:t>корекція</a:t>
            </a:r>
            <a:r>
              <a:rPr lang="en-US" dirty="0"/>
              <a:t> Boosting</a:t>
            </a:r>
          </a:p>
          <a:p>
            <a:r>
              <a:rPr lang="en-US" dirty="0"/>
              <a:t>5</a:t>
            </a:r>
            <a:r>
              <a:rPr lang="en-US" b="1" dirty="0"/>
              <a:t>Вперше </a:t>
            </a:r>
            <a:r>
              <a:rPr lang="en-US" b="1" dirty="0" err="1"/>
              <a:t>або</a:t>
            </a:r>
            <a:r>
              <a:rPr lang="en-US" b="1" dirty="0"/>
              <a:t> </a:t>
            </a:r>
            <a:r>
              <a:rPr lang="en-US" b="1" dirty="0" err="1"/>
              <a:t>комплексно</a:t>
            </a:r>
            <a:r>
              <a:rPr lang="en-US" b="1" dirty="0"/>
              <a:t> </a:t>
            </a:r>
            <a:r>
              <a:rPr lang="en-US" b="1" dirty="0" err="1"/>
              <a:t>запропоновано</a:t>
            </a:r>
            <a:r>
              <a:rPr lang="en-US" b="1" dirty="0"/>
              <a:t> </a:t>
            </a:r>
            <a:r>
              <a:rPr lang="en-US" b="1" dirty="0" err="1"/>
              <a:t>інформаційну</a:t>
            </a:r>
            <a:r>
              <a:rPr lang="en-US" b="1" dirty="0"/>
              <a:t> </a:t>
            </a:r>
            <a:r>
              <a:rPr lang="en-US" b="1" dirty="0" err="1"/>
              <a:t>технологію</a:t>
            </a:r>
            <a:r>
              <a:rPr lang="en-US" b="1" dirty="0"/>
              <a:t>, </a:t>
            </a:r>
            <a:r>
              <a:rPr lang="en-US" b="1" dirty="0" err="1"/>
              <a:t>яка</a:t>
            </a:r>
            <a:r>
              <a:rPr lang="en-US" b="1" dirty="0"/>
              <a:t> </a:t>
            </a:r>
            <a:r>
              <a:rPr lang="en-US" b="1" dirty="0" err="1"/>
              <a:t>поєднує</a:t>
            </a:r>
            <a:r>
              <a:rPr lang="en-US" b="1" dirty="0"/>
              <a:t> </a:t>
            </a:r>
            <a:r>
              <a:rPr lang="en-US" b="1" dirty="0" err="1"/>
              <a:t>детекцію</a:t>
            </a:r>
            <a:r>
              <a:rPr lang="en-US" b="1" dirty="0"/>
              <a:t>, </a:t>
            </a:r>
            <a:r>
              <a:rPr lang="en-US" b="1" dirty="0" err="1"/>
              <a:t>рух</a:t>
            </a:r>
            <a:r>
              <a:rPr lang="en-US" b="1" dirty="0"/>
              <a:t>, </a:t>
            </a:r>
            <a:r>
              <a:rPr lang="en-US" b="1" dirty="0" err="1"/>
              <a:t>глибину</a:t>
            </a:r>
            <a:r>
              <a:rPr lang="en-US" b="1" dirty="0"/>
              <a:t>, </a:t>
            </a:r>
            <a:r>
              <a:rPr lang="en-US" b="1" dirty="0" err="1"/>
              <a:t>ансамблеву</a:t>
            </a:r>
            <a:r>
              <a:rPr lang="en-US" b="1" dirty="0"/>
              <a:t> </a:t>
            </a:r>
            <a:r>
              <a:rPr lang="en-US" b="1" dirty="0" err="1"/>
              <a:t>корекцію</a:t>
            </a:r>
            <a:r>
              <a:rPr lang="en-US" b="1" dirty="0"/>
              <a:t> </a:t>
            </a:r>
            <a:r>
              <a:rPr lang="en-US" b="1" dirty="0" err="1"/>
              <a:t>та</a:t>
            </a:r>
            <a:r>
              <a:rPr lang="en-US" b="1" dirty="0"/>
              <a:t> </a:t>
            </a:r>
            <a:r>
              <a:rPr lang="en-US" b="1" dirty="0" err="1"/>
              <a:t>визначення</a:t>
            </a:r>
            <a:r>
              <a:rPr lang="en-US" b="1" dirty="0"/>
              <a:t> </a:t>
            </a:r>
            <a:r>
              <a:rPr lang="en-US" b="1" dirty="0" err="1"/>
              <a:t>параметрів</a:t>
            </a:r>
            <a:r>
              <a:rPr lang="en-US" b="1" dirty="0"/>
              <a:t> об'єкта25–26, 30, 35</a:t>
            </a:r>
            <a:r>
              <a:rPr lang="en-US" dirty="0"/>
              <a:t>Повний </a:t>
            </a:r>
            <a:r>
              <a:rPr lang="en-US" dirty="0" err="1"/>
              <a:t>цикл</a:t>
            </a:r>
            <a:r>
              <a:rPr lang="en-US" dirty="0"/>
              <a:t> </a:t>
            </a:r>
            <a:r>
              <a:rPr lang="en-US" dirty="0" err="1"/>
              <a:t>обробки</a:t>
            </a:r>
            <a:r>
              <a:rPr lang="en-US" dirty="0"/>
              <a:t>: </a:t>
            </a:r>
            <a:r>
              <a:rPr lang="en-US" dirty="0" err="1"/>
              <a:t>відеопотік</a:t>
            </a:r>
            <a:r>
              <a:rPr lang="en-US" dirty="0"/>
              <a:t> → DETR → </a:t>
            </a:r>
            <a:r>
              <a:rPr lang="en-US" dirty="0" err="1"/>
              <a:t>оптичний</a:t>
            </a:r>
            <a:r>
              <a:rPr lang="en-US" dirty="0"/>
              <a:t> </a:t>
            </a:r>
            <a:r>
              <a:rPr lang="en-US" dirty="0" err="1"/>
              <a:t>потік</a:t>
            </a:r>
            <a:r>
              <a:rPr lang="en-US" dirty="0"/>
              <a:t> → </a:t>
            </a:r>
            <a:r>
              <a:rPr lang="en-US" dirty="0" err="1"/>
              <a:t>карта</a:t>
            </a:r>
            <a:r>
              <a:rPr lang="en-US" dirty="0"/>
              <a:t> </a:t>
            </a:r>
            <a:r>
              <a:rPr lang="en-US" dirty="0" err="1"/>
              <a:t>глибини</a:t>
            </a:r>
            <a:r>
              <a:rPr lang="en-US" dirty="0"/>
              <a:t> → </a:t>
            </a:r>
            <a:r>
              <a:rPr lang="en-US" dirty="0" err="1"/>
              <a:t>ансамбль</a:t>
            </a:r>
            <a:r>
              <a:rPr lang="en-US" dirty="0"/>
              <a:t> → </a:t>
            </a:r>
            <a:r>
              <a:rPr lang="en-US" dirty="0" err="1"/>
              <a:t>параметри</a:t>
            </a:r>
            <a:r>
              <a:rPr lang="en-US" dirty="0"/>
              <a:t> → </a:t>
            </a:r>
            <a:r>
              <a:rPr lang="en-US" dirty="0" err="1"/>
              <a:t>візуалізація</a:t>
            </a:r>
            <a:endParaRPr lang="en-US" dirty="0"/>
          </a:p>
          <a:p>
            <a:r>
              <a:rPr lang="en-US" dirty="0"/>
              <a:t>6</a:t>
            </a:r>
            <a:r>
              <a:rPr lang="en-US" b="1" dirty="0"/>
              <a:t>Підтверджено </a:t>
            </a:r>
            <a:r>
              <a:rPr lang="en-US" b="1" dirty="0" err="1"/>
              <a:t>адаптивність</a:t>
            </a:r>
            <a:r>
              <a:rPr lang="en-US" b="1" dirty="0"/>
              <a:t> </a:t>
            </a:r>
            <a:r>
              <a:rPr lang="en-US" b="1" dirty="0" err="1"/>
              <a:t>запропонованого</a:t>
            </a:r>
            <a:r>
              <a:rPr lang="en-US" b="1" dirty="0"/>
              <a:t> </a:t>
            </a:r>
            <a:r>
              <a:rPr lang="en-US" b="1" dirty="0" err="1"/>
              <a:t>підходу</a:t>
            </a:r>
            <a:r>
              <a:rPr lang="en-US" b="1" dirty="0"/>
              <a:t> </a:t>
            </a:r>
            <a:r>
              <a:rPr lang="en-US" b="1" dirty="0" err="1"/>
              <a:t>завдяки</a:t>
            </a:r>
            <a:r>
              <a:rPr lang="en-US" b="1" dirty="0"/>
              <a:t> </a:t>
            </a:r>
            <a:r>
              <a:rPr lang="en-US" b="1" dirty="0" err="1"/>
              <a:t>можливості</a:t>
            </a:r>
            <a:r>
              <a:rPr lang="en-US" b="1" dirty="0"/>
              <a:t> </a:t>
            </a:r>
            <a:r>
              <a:rPr lang="en-US" b="1" dirty="0" err="1"/>
              <a:t>комбінування</a:t>
            </a:r>
            <a:r>
              <a:rPr lang="en-US" b="1" dirty="0"/>
              <a:t> </a:t>
            </a:r>
            <a:r>
              <a:rPr lang="en-US" b="1" dirty="0" err="1"/>
              <a:t>різних</a:t>
            </a:r>
            <a:r>
              <a:rPr lang="en-US" b="1" dirty="0"/>
              <a:t> </a:t>
            </a:r>
            <a:r>
              <a:rPr lang="en-US" b="1" dirty="0" err="1"/>
              <a:t>моделей</a:t>
            </a:r>
            <a:r>
              <a:rPr lang="en-US" b="1" dirty="0"/>
              <a:t> і методів30, 36–38, 43</a:t>
            </a:r>
            <a:r>
              <a:rPr lang="en-US" dirty="0"/>
              <a:t>Модульність </a:t>
            </a:r>
            <a:r>
              <a:rPr lang="en-US" dirty="0" err="1"/>
              <a:t>технології</a:t>
            </a:r>
            <a:r>
              <a:rPr lang="en-US" dirty="0"/>
              <a:t>; </a:t>
            </a:r>
            <a:r>
              <a:rPr lang="en-US" dirty="0" err="1"/>
              <a:t>заміна</a:t>
            </a:r>
            <a:r>
              <a:rPr lang="en-US" dirty="0"/>
              <a:t> DETR/YOLO, </a:t>
            </a:r>
            <a:r>
              <a:rPr lang="en-US" dirty="0" err="1"/>
              <a:t>Farneback</a:t>
            </a:r>
            <a:r>
              <a:rPr lang="en-US" dirty="0"/>
              <a:t>/</a:t>
            </a:r>
            <a:r>
              <a:rPr lang="en-US" dirty="0" err="1"/>
              <a:t>FlowNet</a:t>
            </a:r>
            <a:r>
              <a:rPr lang="en-US" dirty="0"/>
              <a:t>; </a:t>
            </a:r>
            <a:r>
              <a:rPr lang="en-US" dirty="0" err="1"/>
              <a:t>порівняння</a:t>
            </a:r>
            <a:r>
              <a:rPr lang="en-US" dirty="0"/>
              <a:t> </a:t>
            </a:r>
            <a:r>
              <a:rPr lang="en-US" b="1" dirty="0"/>
              <a:t>35 </a:t>
            </a:r>
            <a:r>
              <a:rPr lang="en-US" b="1" dirty="0" err="1"/>
              <a:t>комбінацій</a:t>
            </a:r>
            <a:r>
              <a:rPr lang="en-US" dirty="0"/>
              <a:t> </a:t>
            </a:r>
            <a:r>
              <a:rPr lang="en-US" dirty="0" err="1"/>
              <a:t>методів</a:t>
            </a:r>
            <a:endParaRPr lang="en-US" dirty="0"/>
          </a:p>
          <a:p>
            <a:r>
              <a:rPr lang="en-US" dirty="0"/>
              <a:t>7</a:t>
            </a:r>
            <a:r>
              <a:rPr lang="en-US" b="1" dirty="0"/>
              <a:t>Експериментально </a:t>
            </a:r>
            <a:r>
              <a:rPr lang="en-US" b="1" dirty="0" err="1"/>
              <a:t>підтверджено</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надійності</a:t>
            </a:r>
            <a:r>
              <a:rPr lang="en-US" b="1" dirty="0"/>
              <a:t> ідентифікації37–39, 43</a:t>
            </a:r>
            <a:r>
              <a:rPr lang="en-US" dirty="0"/>
              <a:t>Результати: RMSE = </a:t>
            </a:r>
            <a:r>
              <a:rPr lang="en-US" b="1" dirty="0"/>
              <a:t>0,713</a:t>
            </a:r>
            <a:r>
              <a:rPr lang="en-US" dirty="0"/>
              <a:t>; MAE = </a:t>
            </a:r>
            <a:r>
              <a:rPr lang="en-US" b="1" dirty="0"/>
              <a:t>0,474</a:t>
            </a:r>
            <a:r>
              <a:rPr lang="en-US" dirty="0"/>
              <a:t>; PSNR = </a:t>
            </a:r>
            <a:r>
              <a:rPr lang="en-US" b="1" dirty="0"/>
              <a:t>51,065 </a:t>
            </a:r>
            <a:r>
              <a:rPr lang="en-US" b="1" dirty="0" err="1"/>
              <a:t>дБ</a:t>
            </a:r>
            <a:r>
              <a:rPr lang="en-US" dirty="0"/>
              <a:t>; </a:t>
            </a:r>
            <a:r>
              <a:rPr lang="en-US" dirty="0" err="1"/>
              <a:t>IoU</a:t>
            </a:r>
            <a:r>
              <a:rPr lang="en-US" dirty="0"/>
              <a:t> = </a:t>
            </a:r>
            <a:r>
              <a:rPr lang="en-US" b="1" dirty="0"/>
              <a:t>0,996</a:t>
            </a:r>
            <a:r>
              <a:rPr lang="en-US" dirty="0"/>
              <a:t>; Dice = </a:t>
            </a:r>
            <a:r>
              <a:rPr lang="en-US" b="1" dirty="0"/>
              <a:t>0,998</a:t>
            </a:r>
            <a:endParaRPr lang="en-US" dirty="0"/>
          </a:p>
          <a:p>
            <a:r>
              <a:rPr lang="en-US" dirty="0"/>
              <a:t>8</a:t>
            </a:r>
            <a:r>
              <a:rPr lang="en-US" b="1" dirty="0"/>
              <a:t>Підтверджено </a:t>
            </a:r>
            <a:r>
              <a:rPr lang="en-US" b="1" dirty="0" err="1"/>
              <a:t>працездатність</a:t>
            </a:r>
            <a:r>
              <a:rPr lang="en-US" b="1" dirty="0"/>
              <a:t> </a:t>
            </a:r>
            <a:r>
              <a:rPr lang="en-US" b="1" dirty="0" err="1"/>
              <a:t>визначення</a:t>
            </a:r>
            <a:r>
              <a:rPr lang="en-US" b="1" dirty="0"/>
              <a:t> </a:t>
            </a:r>
            <a:r>
              <a:rPr lang="en-US" b="1" dirty="0" err="1"/>
              <a:t>кінематичних</a:t>
            </a:r>
            <a:r>
              <a:rPr lang="en-US" b="1" dirty="0"/>
              <a:t> </a:t>
            </a:r>
            <a:r>
              <a:rPr lang="en-US" b="1" dirty="0" err="1"/>
              <a:t>параметрів</a:t>
            </a:r>
            <a:r>
              <a:rPr lang="en-US" b="1" dirty="0"/>
              <a:t> </a:t>
            </a:r>
            <a:r>
              <a:rPr lang="en-US" b="1" dirty="0" err="1"/>
              <a:t>рухомих</a:t>
            </a:r>
            <a:r>
              <a:rPr lang="en-US" b="1" dirty="0"/>
              <a:t> об'єктів34–35, 39, 43</a:t>
            </a:r>
            <a:r>
              <a:rPr lang="en-US" dirty="0"/>
              <a:t>DETR </a:t>
            </a:r>
            <a:r>
              <a:rPr lang="en-US" dirty="0" err="1"/>
              <a:t>виявив</a:t>
            </a:r>
            <a:r>
              <a:rPr lang="en-US" dirty="0"/>
              <a:t> 6 </a:t>
            </a:r>
            <a:r>
              <a:rPr lang="en-US" dirty="0" err="1"/>
              <a:t>об'єктів</a:t>
            </a:r>
            <a:r>
              <a:rPr lang="en-US" dirty="0"/>
              <a:t> </a:t>
            </a:r>
            <a:r>
              <a:rPr lang="en-US" dirty="0" err="1"/>
              <a:t>із</a:t>
            </a:r>
            <a:r>
              <a:rPr lang="en-US" dirty="0"/>
              <a:t> </a:t>
            </a:r>
            <a:r>
              <a:rPr lang="en-US" dirty="0" err="1"/>
              <a:t>довірою</a:t>
            </a:r>
            <a:r>
              <a:rPr lang="en-US" dirty="0"/>
              <a:t> </a:t>
            </a:r>
            <a:r>
              <a:rPr lang="en-US" b="1" dirty="0"/>
              <a:t>0,74–1,00</a:t>
            </a:r>
            <a:r>
              <a:rPr lang="en-US" dirty="0"/>
              <a:t>; </a:t>
            </a:r>
            <a:r>
              <a:rPr lang="en-US" dirty="0" err="1"/>
              <a:t>визначено</a:t>
            </a:r>
            <a:r>
              <a:rPr lang="en-US" dirty="0"/>
              <a:t> </a:t>
            </a:r>
            <a:r>
              <a:rPr lang="en-US" dirty="0" err="1"/>
              <a:t>швидкості</a:t>
            </a:r>
            <a:r>
              <a:rPr lang="en-US" dirty="0"/>
              <a:t> </a:t>
            </a:r>
            <a:r>
              <a:rPr lang="en-US" b="1" dirty="0"/>
              <a:t>6,526</a:t>
            </a:r>
            <a:r>
              <a:rPr lang="en-US" dirty="0"/>
              <a:t> </a:t>
            </a:r>
            <a:r>
              <a:rPr lang="en-US" dirty="0" err="1"/>
              <a:t>та</a:t>
            </a:r>
            <a:r>
              <a:rPr lang="en-US" dirty="0"/>
              <a:t> </a:t>
            </a:r>
            <a:r>
              <a:rPr lang="en-US" b="1" dirty="0"/>
              <a:t>4,592 </a:t>
            </a:r>
            <a:r>
              <a:rPr lang="en-US" b="1" dirty="0" err="1"/>
              <a:t>px</a:t>
            </a:r>
            <a:r>
              <a:rPr lang="en-US" b="1" dirty="0"/>
              <a:t>/</a:t>
            </a:r>
            <a:r>
              <a:rPr lang="en-US" b="1" dirty="0" err="1"/>
              <a:t>кадр</a:t>
            </a:r>
            <a:endParaRPr lang="en-US" dirty="0"/>
          </a:p>
          <a:p>
            <a:r>
              <a:rPr lang="en-US" dirty="0"/>
              <a:t>9</a:t>
            </a:r>
            <a:r>
              <a:rPr lang="en-US" b="1" dirty="0"/>
              <a:t>Показано </a:t>
            </a:r>
            <a:r>
              <a:rPr lang="en-US" b="1" dirty="0" err="1"/>
              <a:t>відмінність</a:t>
            </a:r>
            <a:r>
              <a:rPr lang="en-US" b="1" dirty="0"/>
              <a:t> </a:t>
            </a:r>
            <a:r>
              <a:rPr lang="en-US" b="1" dirty="0" err="1"/>
              <a:t>запропонованої</a:t>
            </a:r>
            <a:r>
              <a:rPr lang="en-US" b="1" dirty="0"/>
              <a:t> </a:t>
            </a:r>
            <a:r>
              <a:rPr lang="en-US" b="1" dirty="0" err="1"/>
              <a:t>технології</a:t>
            </a:r>
            <a:r>
              <a:rPr lang="en-US" b="1" dirty="0"/>
              <a:t> </a:t>
            </a:r>
            <a:r>
              <a:rPr lang="en-US" b="1" dirty="0" err="1"/>
              <a:t>від</a:t>
            </a:r>
            <a:r>
              <a:rPr lang="en-US" b="1" dirty="0"/>
              <a:t> </a:t>
            </a:r>
            <a:r>
              <a:rPr lang="en-US" b="1" dirty="0" err="1"/>
              <a:t>наявних</a:t>
            </a:r>
            <a:r>
              <a:rPr lang="en-US" b="1" dirty="0"/>
              <a:t> аналогів45–46</a:t>
            </a:r>
            <a:r>
              <a:rPr lang="en-US" dirty="0"/>
              <a:t>Аналоги </a:t>
            </a:r>
            <a:r>
              <a:rPr lang="en-US" dirty="0" err="1"/>
              <a:t>виконують</a:t>
            </a:r>
            <a:r>
              <a:rPr lang="en-US" dirty="0"/>
              <a:t> </a:t>
            </a:r>
            <a:r>
              <a:rPr lang="en-US" dirty="0" err="1"/>
              <a:t>окремі</a:t>
            </a:r>
            <a:r>
              <a:rPr lang="en-US" dirty="0"/>
              <a:t> </a:t>
            </a:r>
            <a:r>
              <a:rPr lang="en-US" dirty="0" err="1"/>
              <a:t>операції</a:t>
            </a:r>
            <a:r>
              <a:rPr lang="en-US" dirty="0"/>
              <a:t>, а </a:t>
            </a:r>
            <a:r>
              <a:rPr lang="en-US" dirty="0" err="1"/>
              <a:t>запропонована</a:t>
            </a:r>
            <a:r>
              <a:rPr lang="en-US" dirty="0"/>
              <a:t> ІТ </a:t>
            </a:r>
            <a:r>
              <a:rPr lang="en-US" dirty="0" err="1"/>
              <a:t>забезпечує</a:t>
            </a:r>
            <a:r>
              <a:rPr lang="en-US" dirty="0"/>
              <a:t> </a:t>
            </a:r>
            <a:r>
              <a:rPr lang="en-US" dirty="0" err="1"/>
              <a:t>повний</a:t>
            </a:r>
            <a:r>
              <a:rPr lang="en-US" dirty="0"/>
              <a:t> </a:t>
            </a:r>
            <a:r>
              <a:rPr lang="en-US" dirty="0" err="1"/>
              <a:t>комплекс</a:t>
            </a:r>
            <a:r>
              <a:rPr lang="en-US" dirty="0"/>
              <a:t> </a:t>
            </a:r>
            <a:r>
              <a:rPr lang="en-US" dirty="0" err="1"/>
              <a:t>функцій</a:t>
            </a:r>
            <a:r>
              <a:rPr lang="en-US" dirty="0"/>
              <a:t>; </a:t>
            </a:r>
            <a:r>
              <a:rPr lang="en-US" dirty="0" err="1"/>
              <a:t>результат</a:t>
            </a:r>
            <a:r>
              <a:rPr lang="en-US" dirty="0"/>
              <a:t> </a:t>
            </a:r>
            <a:r>
              <a:rPr lang="en-US" dirty="0" err="1"/>
              <a:t>порівняння</a:t>
            </a:r>
            <a:r>
              <a:rPr lang="en-US" dirty="0"/>
              <a:t> — </a:t>
            </a:r>
            <a:r>
              <a:rPr lang="en-US" b="1" dirty="0"/>
              <a:t>12 </a:t>
            </a:r>
            <a:r>
              <a:rPr lang="en-US" b="1" dirty="0" err="1"/>
              <a:t>балів</a:t>
            </a:r>
            <a:r>
              <a:rPr lang="en-US" dirty="0"/>
              <a:t> </a:t>
            </a:r>
            <a:r>
              <a:rPr lang="en-US" dirty="0" err="1"/>
              <a:t>проти</a:t>
            </a:r>
            <a:r>
              <a:rPr lang="en-US" dirty="0"/>
              <a:t> 3–6 </a:t>
            </a:r>
            <a:r>
              <a:rPr lang="en-US" dirty="0" err="1"/>
              <a:t>балів</a:t>
            </a:r>
            <a:r>
              <a:rPr lang="en-US" dirty="0"/>
              <a:t> у </a:t>
            </a:r>
            <a:r>
              <a:rPr lang="en-US" dirty="0" err="1"/>
              <a:t>аналогів</a:t>
            </a:r>
            <a:endParaRPr lang="en-US" dirty="0"/>
          </a:p>
          <a:p>
            <a:r>
              <a:rPr lang="en-US" dirty="0"/>
              <a:t>10</a:t>
            </a:r>
            <a:r>
              <a:rPr lang="en-US" b="1" dirty="0"/>
              <a:t>Узагальнене </a:t>
            </a:r>
            <a:r>
              <a:rPr lang="en-US" b="1" dirty="0" err="1"/>
              <a:t>підтвердження</a:t>
            </a:r>
            <a:r>
              <a:rPr lang="en-US" b="1" dirty="0"/>
              <a:t> </a:t>
            </a:r>
            <a:r>
              <a:rPr lang="en-US" b="1" dirty="0" err="1"/>
              <a:t>отриманих</a:t>
            </a:r>
            <a:r>
              <a:rPr lang="en-US" b="1" dirty="0"/>
              <a:t> </a:t>
            </a:r>
            <a:r>
              <a:rPr lang="en-US" b="1" dirty="0" err="1"/>
              <a:t>наукових</a:t>
            </a:r>
            <a:r>
              <a:rPr lang="en-US" b="1" dirty="0"/>
              <a:t> результатів50</a:t>
            </a:r>
            <a:r>
              <a:rPr lang="en-US" dirty="0"/>
              <a:t>У </a:t>
            </a:r>
            <a:r>
              <a:rPr lang="en-US" dirty="0" err="1"/>
              <a:t>висновках</a:t>
            </a:r>
            <a:r>
              <a:rPr lang="en-US" dirty="0"/>
              <a:t> </a:t>
            </a:r>
            <a:r>
              <a:rPr lang="en-US" dirty="0" err="1"/>
              <a:t>сформульовано</a:t>
            </a:r>
            <a:r>
              <a:rPr lang="en-US" dirty="0"/>
              <a:t> </a:t>
            </a:r>
            <a:r>
              <a:rPr lang="en-US" dirty="0" err="1"/>
              <a:t>розроблені</a:t>
            </a:r>
            <a:r>
              <a:rPr lang="en-US" dirty="0"/>
              <a:t> </a:t>
            </a:r>
            <a:r>
              <a:rPr lang="en-US" dirty="0" err="1"/>
              <a:t>моделі</a:t>
            </a:r>
            <a:r>
              <a:rPr lang="en-US" dirty="0"/>
              <a:t>, </a:t>
            </a:r>
            <a:r>
              <a:rPr lang="en-US" dirty="0" err="1"/>
              <a:t>методи</a:t>
            </a:r>
            <a:r>
              <a:rPr lang="en-US" dirty="0"/>
              <a:t>, </a:t>
            </a:r>
            <a:r>
              <a:rPr lang="en-US" dirty="0" err="1"/>
              <a:t>інтегральну</a:t>
            </a:r>
            <a:r>
              <a:rPr lang="en-US" dirty="0"/>
              <a:t> </a:t>
            </a:r>
            <a:r>
              <a:rPr lang="en-US" dirty="0" err="1"/>
              <a:t>схему</a:t>
            </a:r>
            <a:r>
              <a:rPr lang="en-US" dirty="0"/>
              <a:t>, </a:t>
            </a:r>
            <a:r>
              <a:rPr lang="en-US" dirty="0" err="1"/>
              <a:t>ансамблеві</a:t>
            </a:r>
            <a:r>
              <a:rPr lang="en-US" dirty="0"/>
              <a:t> </a:t>
            </a:r>
            <a:r>
              <a:rPr lang="en-US" dirty="0" err="1"/>
              <a:t>підходи</a:t>
            </a:r>
            <a:r>
              <a:rPr lang="en-US" dirty="0"/>
              <a:t> </a:t>
            </a:r>
            <a:r>
              <a:rPr lang="en-US" dirty="0" err="1"/>
              <a:t>та</a:t>
            </a:r>
            <a:r>
              <a:rPr lang="en-US" dirty="0"/>
              <a:t> </a:t>
            </a:r>
            <a:r>
              <a:rPr lang="en-US" dirty="0" err="1"/>
              <a:t>результати</a:t>
            </a:r>
            <a:r>
              <a:rPr lang="en-US" dirty="0"/>
              <a:t> </a:t>
            </a:r>
            <a:r>
              <a:rPr lang="en-US" dirty="0" err="1"/>
              <a:t>експериментального</a:t>
            </a:r>
            <a:r>
              <a:rPr lang="en-US" dirty="0"/>
              <a:t> </a:t>
            </a:r>
            <a:r>
              <a:rPr lang="en-US" dirty="0" err="1"/>
              <a:t>дослідження</a:t>
            </a:r>
            <a:endParaRPr lang="en-US" dirty="0"/>
          </a:p>
          <a:p>
            <a:endParaRPr lang="en-US" dirty="0"/>
          </a:p>
        </p:txBody>
      </p:sp>
      <p:sp>
        <p:nvSpPr>
          <p:cNvPr id="4" name="Місце для номера слайда 3">
            <a:extLst>
              <a:ext uri="{FF2B5EF4-FFF2-40B4-BE49-F238E27FC236}">
                <a16:creationId xmlns:a16="http://schemas.microsoft.com/office/drawing/2014/main" id="{9A656DC6-764B-E5B3-77C0-AEB8EE2057D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53810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17B8-55FA-83FE-B6AC-61F89EB92C93}"/>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0E3D7B0-66A7-9A43-8561-85482225910A}"/>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8F731135-B00C-4FB9-9912-8A0F04CB6FCF}"/>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a:p>
            <a:endParaRPr lang="en-US" dirty="0"/>
          </a:p>
          <a:p>
            <a:endParaRPr lang="en-US" dirty="0"/>
          </a:p>
          <a:p>
            <a:r>
              <a:rPr lang="en-US" dirty="0"/>
              <a:t>№</a:t>
            </a:r>
          </a:p>
          <a:p>
            <a:r>
              <a:rPr lang="en-US" dirty="0" err="1"/>
              <a:t>Положення</a:t>
            </a:r>
            <a:r>
              <a:rPr lang="en-US" dirty="0"/>
              <a:t> </a:t>
            </a:r>
            <a:r>
              <a:rPr lang="en-US" dirty="0" err="1"/>
              <a:t>наукової</a:t>
            </a:r>
            <a:r>
              <a:rPr lang="en-US" dirty="0"/>
              <a:t> </a:t>
            </a:r>
            <a:r>
              <a:rPr lang="en-US" dirty="0" err="1"/>
              <a:t>новизни</a:t>
            </a:r>
            <a:endParaRPr lang="en-US" dirty="0"/>
          </a:p>
          <a:p>
            <a:r>
              <a:rPr lang="en-US" dirty="0" err="1"/>
              <a:t>Слайди</a:t>
            </a:r>
            <a:r>
              <a:rPr lang="en-US" dirty="0"/>
              <a:t>, </a:t>
            </a:r>
            <a:r>
              <a:rPr lang="en-US" dirty="0" err="1"/>
              <a:t>де</a:t>
            </a:r>
            <a:r>
              <a:rPr lang="en-US" dirty="0"/>
              <a:t> </a:t>
            </a:r>
            <a:r>
              <a:rPr lang="en-US" dirty="0" err="1"/>
              <a:t>підтверджується</a:t>
            </a:r>
            <a:endParaRPr lang="en-US" dirty="0"/>
          </a:p>
          <a:p>
            <a:r>
              <a:rPr lang="en-US" dirty="0" err="1"/>
              <a:t>Що</a:t>
            </a:r>
            <a:r>
              <a:rPr lang="en-US" dirty="0"/>
              <a:t> </a:t>
            </a:r>
            <a:r>
              <a:rPr lang="en-US" dirty="0" err="1"/>
              <a:t>саме</a:t>
            </a:r>
            <a:r>
              <a:rPr lang="en-US" dirty="0"/>
              <a:t> </a:t>
            </a:r>
            <a:r>
              <a:rPr lang="en-US" dirty="0" err="1"/>
              <a:t>показано</a:t>
            </a:r>
            <a:endParaRPr lang="en-US" dirty="0"/>
          </a:p>
          <a:p>
            <a:r>
              <a:rPr lang="en-US" dirty="0"/>
              <a:t>1</a:t>
            </a:r>
            <a:r>
              <a:rPr lang="en-US" b="1" dirty="0"/>
              <a:t>Удосконалено </a:t>
            </a:r>
            <a:r>
              <a:rPr lang="en-US" b="1" dirty="0" err="1"/>
              <a:t>модель</a:t>
            </a:r>
            <a:r>
              <a:rPr lang="en-US" b="1" dirty="0"/>
              <a:t> </a:t>
            </a:r>
            <a:r>
              <a:rPr lang="en-US" b="1" dirty="0" err="1"/>
              <a:t>дистанційної</a:t>
            </a:r>
            <a:r>
              <a:rPr lang="en-US" b="1" dirty="0"/>
              <a:t> </a:t>
            </a:r>
            <a:r>
              <a:rPr lang="en-US" b="1" dirty="0" err="1"/>
              <a:t>ідентифікації</a:t>
            </a:r>
            <a:r>
              <a:rPr lang="en-US" b="1" dirty="0"/>
              <a:t> </a:t>
            </a:r>
            <a:r>
              <a:rPr lang="en-US" b="1" dirty="0" err="1"/>
              <a:t>параметрів</a:t>
            </a:r>
            <a:r>
              <a:rPr lang="en-US" b="1" dirty="0"/>
              <a:t> </a:t>
            </a:r>
            <a:r>
              <a:rPr lang="en-US" b="1" dirty="0" err="1"/>
              <a:t>динамічних</a:t>
            </a:r>
            <a:r>
              <a:rPr lang="en-US" b="1" dirty="0"/>
              <a:t> </a:t>
            </a:r>
            <a:r>
              <a:rPr lang="en-US" b="1" dirty="0" err="1"/>
              <a:t>об'єктів</a:t>
            </a:r>
            <a:r>
              <a:rPr lang="en-US" b="1" dirty="0"/>
              <a:t> </a:t>
            </a:r>
            <a:r>
              <a:rPr lang="en-US" b="1" dirty="0" err="1"/>
              <a:t>шляхом</a:t>
            </a:r>
            <a:r>
              <a:rPr lang="en-US" b="1" dirty="0"/>
              <a:t> </a:t>
            </a:r>
            <a:r>
              <a:rPr lang="en-US" b="1" dirty="0" err="1"/>
              <a:t>інтеграції</a:t>
            </a:r>
            <a:r>
              <a:rPr lang="en-US" b="1" dirty="0"/>
              <a:t> DETR </a:t>
            </a:r>
            <a:r>
              <a:rPr lang="en-US" b="1" dirty="0" err="1"/>
              <a:t>та</a:t>
            </a:r>
            <a:r>
              <a:rPr lang="en-US" b="1" dirty="0"/>
              <a:t> </a:t>
            </a:r>
            <a:r>
              <a:rPr lang="en-US" b="1" dirty="0" err="1"/>
              <a:t>оптичного</a:t>
            </a:r>
            <a:r>
              <a:rPr lang="en-US" b="1" dirty="0"/>
              <a:t> потоку17–18, 20, 22–23</a:t>
            </a:r>
            <a:r>
              <a:rPr lang="en-US" dirty="0"/>
              <a:t>Структуру </a:t>
            </a:r>
            <a:r>
              <a:rPr lang="en-US" dirty="0" err="1"/>
              <a:t>моделей</a:t>
            </a:r>
            <a:r>
              <a:rPr lang="en-US" dirty="0"/>
              <a:t> ДІПДО; </a:t>
            </a:r>
            <a:r>
              <a:rPr lang="en-US" dirty="0" err="1"/>
              <a:t>аналітичну</a:t>
            </a:r>
            <a:r>
              <a:rPr lang="en-US" dirty="0"/>
              <a:t> </a:t>
            </a:r>
            <a:r>
              <a:rPr lang="en-US" dirty="0" err="1"/>
              <a:t>модель</a:t>
            </a:r>
            <a:r>
              <a:rPr lang="en-US" dirty="0"/>
              <a:t> DETR + Optical Flow; </a:t>
            </a:r>
            <a:r>
              <a:rPr lang="en-US" dirty="0" err="1"/>
              <a:t>локалізацію</a:t>
            </a:r>
            <a:r>
              <a:rPr lang="en-US" dirty="0"/>
              <a:t> </a:t>
            </a:r>
            <a:r>
              <a:rPr lang="en-US" dirty="0" err="1"/>
              <a:t>об'єктів</a:t>
            </a:r>
            <a:r>
              <a:rPr lang="en-US" dirty="0"/>
              <a:t>; </a:t>
            </a:r>
            <a:r>
              <a:rPr lang="en-US" dirty="0" err="1"/>
              <a:t>визначення</a:t>
            </a:r>
            <a:r>
              <a:rPr lang="en-US" dirty="0"/>
              <a:t> </a:t>
            </a:r>
            <a:r>
              <a:rPr lang="en-US" dirty="0" err="1"/>
              <a:t>векторів</a:t>
            </a:r>
            <a:r>
              <a:rPr lang="en-US" dirty="0"/>
              <a:t> </a:t>
            </a:r>
            <a:r>
              <a:rPr lang="en-US" dirty="0" err="1"/>
              <a:t>руху</a:t>
            </a:r>
            <a:r>
              <a:rPr lang="en-US" dirty="0"/>
              <a:t>, </a:t>
            </a:r>
            <a:r>
              <a:rPr lang="en-US" dirty="0" err="1"/>
              <a:t>швидкості</a:t>
            </a:r>
            <a:r>
              <a:rPr lang="en-US" dirty="0"/>
              <a:t> </a:t>
            </a:r>
            <a:r>
              <a:rPr lang="en-US" dirty="0" err="1"/>
              <a:t>та</a:t>
            </a:r>
            <a:r>
              <a:rPr lang="en-US" dirty="0"/>
              <a:t> </a:t>
            </a:r>
            <a:r>
              <a:rPr lang="en-US" dirty="0" err="1"/>
              <a:t>напрямку</a:t>
            </a:r>
            <a:endParaRPr lang="en-US" dirty="0"/>
          </a:p>
          <a:p>
            <a:r>
              <a:rPr lang="en-US" dirty="0"/>
              <a:t>2</a:t>
            </a:r>
            <a:r>
              <a:rPr lang="en-US" b="1" dirty="0"/>
              <a:t>Набула </a:t>
            </a:r>
            <a:r>
              <a:rPr lang="en-US" b="1" dirty="0" err="1"/>
              <a:t>подальшого</a:t>
            </a:r>
            <a:r>
              <a:rPr lang="en-US" b="1" dirty="0"/>
              <a:t> </a:t>
            </a:r>
            <a:r>
              <a:rPr lang="en-US" b="1" dirty="0" err="1"/>
              <a:t>розвитку</a:t>
            </a:r>
            <a:r>
              <a:rPr lang="en-US" b="1" dirty="0"/>
              <a:t> </a:t>
            </a:r>
            <a:r>
              <a:rPr lang="en-US" b="1" dirty="0" err="1"/>
              <a:t>просторово-часова</a:t>
            </a:r>
            <a:r>
              <a:rPr lang="en-US" b="1" dirty="0"/>
              <a:t> </a:t>
            </a:r>
            <a:r>
              <a:rPr lang="en-US" b="1" dirty="0" err="1"/>
              <a:t>модель</a:t>
            </a:r>
            <a:r>
              <a:rPr lang="en-US" b="1" dirty="0"/>
              <a:t> </a:t>
            </a:r>
            <a:r>
              <a:rPr lang="en-US" b="1" dirty="0" err="1"/>
              <a:t>опису</a:t>
            </a:r>
            <a:r>
              <a:rPr lang="en-US" b="1" dirty="0"/>
              <a:t> </a:t>
            </a:r>
            <a:r>
              <a:rPr lang="en-US" b="1" dirty="0" err="1"/>
              <a:t>стану</a:t>
            </a:r>
            <a:r>
              <a:rPr lang="en-US" b="1" dirty="0"/>
              <a:t> </a:t>
            </a:r>
            <a:r>
              <a:rPr lang="en-US" b="1" dirty="0" err="1"/>
              <a:t>динамічного</a:t>
            </a:r>
            <a:r>
              <a:rPr lang="en-US" b="1" dirty="0"/>
              <a:t> об'єкта11, 16–18, 23</a:t>
            </a:r>
            <a:r>
              <a:rPr lang="en-US" dirty="0"/>
              <a:t>Об'єднання </a:t>
            </a:r>
            <a:r>
              <a:rPr lang="en-US" dirty="0" err="1"/>
              <a:t>просторових</a:t>
            </a:r>
            <a:r>
              <a:rPr lang="en-US" dirty="0"/>
              <a:t> і </a:t>
            </a:r>
            <a:r>
              <a:rPr lang="en-US" dirty="0" err="1"/>
              <a:t>часових</a:t>
            </a:r>
            <a:r>
              <a:rPr lang="en-US" dirty="0"/>
              <a:t> </a:t>
            </a:r>
            <a:r>
              <a:rPr lang="en-US" dirty="0" err="1"/>
              <a:t>ознак</a:t>
            </a:r>
            <a:r>
              <a:rPr lang="en-US" dirty="0"/>
              <a:t>; </a:t>
            </a:r>
            <a:r>
              <a:rPr lang="en-US" dirty="0" err="1"/>
              <a:t>перехід</a:t>
            </a:r>
            <a:r>
              <a:rPr lang="en-US" dirty="0"/>
              <a:t> </a:t>
            </a:r>
            <a:r>
              <a:rPr lang="en-US" dirty="0" err="1"/>
              <a:t>від</a:t>
            </a:r>
            <a:r>
              <a:rPr lang="en-US" dirty="0"/>
              <a:t> </a:t>
            </a:r>
            <a:r>
              <a:rPr lang="en-US" dirty="0" err="1"/>
              <a:t>покадрового</a:t>
            </a:r>
            <a:r>
              <a:rPr lang="en-US" dirty="0"/>
              <a:t> </a:t>
            </a:r>
            <a:r>
              <a:rPr lang="en-US" dirty="0" err="1"/>
              <a:t>виявлення</a:t>
            </a:r>
            <a:r>
              <a:rPr lang="en-US" dirty="0"/>
              <a:t> </a:t>
            </a:r>
            <a:r>
              <a:rPr lang="en-US" dirty="0" err="1"/>
              <a:t>до</a:t>
            </a:r>
            <a:r>
              <a:rPr lang="en-US" dirty="0"/>
              <a:t> </a:t>
            </a:r>
            <a:r>
              <a:rPr lang="en-US" dirty="0" err="1"/>
              <a:t>визначення</a:t>
            </a:r>
            <a:r>
              <a:rPr lang="en-US" dirty="0"/>
              <a:t> </a:t>
            </a:r>
            <a:r>
              <a:rPr lang="en-US" dirty="0" err="1"/>
              <a:t>положення</a:t>
            </a:r>
            <a:r>
              <a:rPr lang="en-US" dirty="0"/>
              <a:t>, </a:t>
            </a:r>
            <a:r>
              <a:rPr lang="en-US" dirty="0" err="1"/>
              <a:t>швидкості</a:t>
            </a:r>
            <a:r>
              <a:rPr lang="en-US" dirty="0"/>
              <a:t>, </a:t>
            </a:r>
            <a:r>
              <a:rPr lang="en-US" dirty="0" err="1"/>
              <a:t>прискорення</a:t>
            </a:r>
            <a:r>
              <a:rPr lang="en-US" dirty="0"/>
              <a:t>, </a:t>
            </a:r>
            <a:r>
              <a:rPr lang="en-US" dirty="0" err="1"/>
              <a:t>напрямку</a:t>
            </a:r>
            <a:r>
              <a:rPr lang="en-US" dirty="0"/>
              <a:t> і </a:t>
            </a:r>
            <a:r>
              <a:rPr lang="en-US" dirty="0" err="1"/>
              <a:t>траєкторії</a:t>
            </a:r>
            <a:endParaRPr lang="en-US" dirty="0"/>
          </a:p>
          <a:p>
            <a:r>
              <a:rPr lang="en-US" dirty="0"/>
              <a:t>3</a:t>
            </a:r>
            <a:r>
              <a:rPr lang="en-US" b="1" dirty="0"/>
              <a:t>Удосконалено </a:t>
            </a:r>
            <a:r>
              <a:rPr lang="en-US" b="1" dirty="0" err="1"/>
              <a:t>метод</a:t>
            </a:r>
            <a:r>
              <a:rPr lang="en-US" b="1" dirty="0"/>
              <a:t> </a:t>
            </a:r>
            <a:r>
              <a:rPr lang="en-US" b="1" dirty="0" err="1"/>
              <a:t>сумісного</a:t>
            </a:r>
            <a:r>
              <a:rPr lang="en-US" b="1" dirty="0"/>
              <a:t> </a:t>
            </a:r>
            <a:r>
              <a:rPr lang="en-US" b="1" dirty="0" err="1"/>
              <a:t>оцінювання</a:t>
            </a:r>
            <a:r>
              <a:rPr lang="en-US" b="1" dirty="0"/>
              <a:t> </a:t>
            </a:r>
            <a:r>
              <a:rPr lang="en-US" b="1" dirty="0" err="1"/>
              <a:t>руху</a:t>
            </a:r>
            <a:r>
              <a:rPr lang="en-US" b="1" dirty="0"/>
              <a:t> </a:t>
            </a:r>
            <a:r>
              <a:rPr lang="en-US" b="1" dirty="0" err="1"/>
              <a:t>та</a:t>
            </a:r>
            <a:r>
              <a:rPr lang="en-US" b="1" dirty="0"/>
              <a:t> </a:t>
            </a:r>
            <a:r>
              <a:rPr lang="en-US" b="1" dirty="0" err="1"/>
              <a:t>глибини</a:t>
            </a:r>
            <a:r>
              <a:rPr lang="en-US" b="1" dirty="0"/>
              <a:t> відеосцени21, 25–26</a:t>
            </a:r>
            <a:r>
              <a:rPr lang="en-US" dirty="0"/>
              <a:t>Використання </a:t>
            </a:r>
            <a:r>
              <a:rPr lang="en-US" dirty="0" err="1"/>
              <a:t>GeoNet</a:t>
            </a:r>
            <a:r>
              <a:rPr lang="en-US" dirty="0"/>
              <a:t>, </a:t>
            </a:r>
            <a:r>
              <a:rPr lang="en-US" dirty="0" err="1"/>
              <a:t>оптичного</a:t>
            </a:r>
            <a:r>
              <a:rPr lang="en-US" dirty="0"/>
              <a:t> </a:t>
            </a:r>
            <a:r>
              <a:rPr lang="en-US" dirty="0" err="1"/>
              <a:t>потоку</a:t>
            </a:r>
            <a:r>
              <a:rPr lang="en-US" dirty="0"/>
              <a:t>, </a:t>
            </a:r>
            <a:r>
              <a:rPr lang="en-US" dirty="0" err="1"/>
              <a:t>моделей</a:t>
            </a:r>
            <a:r>
              <a:rPr lang="en-US" dirty="0"/>
              <a:t> </a:t>
            </a:r>
            <a:r>
              <a:rPr lang="en-US" dirty="0" err="1"/>
              <a:t>глибини</a:t>
            </a:r>
            <a:r>
              <a:rPr lang="en-US" dirty="0"/>
              <a:t> </a:t>
            </a:r>
            <a:r>
              <a:rPr lang="en-US" dirty="0" err="1"/>
              <a:t>та</a:t>
            </a:r>
            <a:r>
              <a:rPr lang="en-US" dirty="0"/>
              <a:t> </a:t>
            </a:r>
            <a:r>
              <a:rPr lang="en-US" dirty="0" err="1"/>
              <a:t>трансформерної</a:t>
            </a:r>
            <a:r>
              <a:rPr lang="en-US" dirty="0"/>
              <a:t> </a:t>
            </a:r>
            <a:r>
              <a:rPr lang="en-US" dirty="0" err="1"/>
              <a:t>обробки</a:t>
            </a:r>
            <a:r>
              <a:rPr lang="en-US" dirty="0"/>
              <a:t> в </a:t>
            </a:r>
            <a:r>
              <a:rPr lang="en-US" dirty="0" err="1"/>
              <a:t>єдиній</a:t>
            </a:r>
            <a:r>
              <a:rPr lang="en-US" dirty="0"/>
              <a:t> </a:t>
            </a:r>
            <a:r>
              <a:rPr lang="en-US" dirty="0" err="1"/>
              <a:t>інтегральній</a:t>
            </a:r>
            <a:r>
              <a:rPr lang="en-US" dirty="0"/>
              <a:t> </a:t>
            </a:r>
            <a:r>
              <a:rPr lang="en-US" dirty="0" err="1"/>
              <a:t>схемі</a:t>
            </a:r>
            <a:endParaRPr lang="en-US" dirty="0"/>
          </a:p>
          <a:p>
            <a:r>
              <a:rPr lang="en-US" dirty="0"/>
              <a:t>4</a:t>
            </a:r>
            <a:r>
              <a:rPr lang="en-US" b="1" dirty="0"/>
              <a:t>Удосконалено </a:t>
            </a:r>
            <a:r>
              <a:rPr lang="en-US" b="1" dirty="0" err="1"/>
              <a:t>метод</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стійкості</a:t>
            </a:r>
            <a:r>
              <a:rPr lang="en-US" b="1" dirty="0"/>
              <a:t> </a:t>
            </a:r>
            <a:r>
              <a:rPr lang="en-US" b="1" dirty="0" err="1"/>
              <a:t>оцінювання</a:t>
            </a:r>
            <a:r>
              <a:rPr lang="en-US" b="1" dirty="0"/>
              <a:t> </a:t>
            </a:r>
            <a:r>
              <a:rPr lang="en-US" b="1" dirty="0" err="1"/>
              <a:t>глибини</a:t>
            </a:r>
            <a:r>
              <a:rPr lang="en-US" b="1" dirty="0"/>
              <a:t> </a:t>
            </a:r>
            <a:r>
              <a:rPr lang="en-US" b="1" dirty="0" err="1"/>
              <a:t>за</a:t>
            </a:r>
            <a:r>
              <a:rPr lang="en-US" b="1" dirty="0"/>
              <a:t> </a:t>
            </a:r>
            <a:r>
              <a:rPr lang="en-US" b="1" dirty="0" err="1"/>
              <a:t>допомогою</a:t>
            </a:r>
            <a:r>
              <a:rPr lang="en-US" b="1" dirty="0"/>
              <a:t> Bagging і Boosting15, 25–26, 32</a:t>
            </a:r>
            <a:r>
              <a:rPr lang="en-US" dirty="0"/>
              <a:t>Ансамблеве </a:t>
            </a:r>
            <a:r>
              <a:rPr lang="en-US" dirty="0" err="1"/>
              <a:t>об'єднання</a:t>
            </a:r>
            <a:r>
              <a:rPr lang="en-US" dirty="0"/>
              <a:t> </a:t>
            </a:r>
            <a:r>
              <a:rPr lang="en-US" dirty="0" err="1"/>
              <a:t>результатів</a:t>
            </a:r>
            <a:r>
              <a:rPr lang="en-US" dirty="0"/>
              <a:t>; </a:t>
            </a:r>
            <a:r>
              <a:rPr lang="en-US" dirty="0" err="1"/>
              <a:t>паралельна</a:t>
            </a:r>
            <a:r>
              <a:rPr lang="en-US" dirty="0"/>
              <a:t> </a:t>
            </a:r>
            <a:r>
              <a:rPr lang="en-US" dirty="0" err="1"/>
              <a:t>схема</a:t>
            </a:r>
            <a:r>
              <a:rPr lang="en-US" dirty="0"/>
              <a:t> Bagging </a:t>
            </a:r>
            <a:r>
              <a:rPr lang="en-US" dirty="0" err="1"/>
              <a:t>та</a:t>
            </a:r>
            <a:r>
              <a:rPr lang="en-US" dirty="0"/>
              <a:t> </a:t>
            </a:r>
            <a:r>
              <a:rPr lang="en-US" dirty="0" err="1"/>
              <a:t>послідовна</a:t>
            </a:r>
            <a:r>
              <a:rPr lang="en-US" dirty="0"/>
              <a:t> </a:t>
            </a:r>
            <a:r>
              <a:rPr lang="en-US" dirty="0" err="1"/>
              <a:t>корекція</a:t>
            </a:r>
            <a:r>
              <a:rPr lang="en-US" dirty="0"/>
              <a:t> Boosting</a:t>
            </a:r>
          </a:p>
          <a:p>
            <a:r>
              <a:rPr lang="en-US" dirty="0"/>
              <a:t>5</a:t>
            </a:r>
            <a:r>
              <a:rPr lang="en-US" b="1" dirty="0"/>
              <a:t>Вперше </a:t>
            </a:r>
            <a:r>
              <a:rPr lang="en-US" b="1" dirty="0" err="1"/>
              <a:t>або</a:t>
            </a:r>
            <a:r>
              <a:rPr lang="en-US" b="1" dirty="0"/>
              <a:t> </a:t>
            </a:r>
            <a:r>
              <a:rPr lang="en-US" b="1" dirty="0" err="1"/>
              <a:t>комплексно</a:t>
            </a:r>
            <a:r>
              <a:rPr lang="en-US" b="1" dirty="0"/>
              <a:t> </a:t>
            </a:r>
            <a:r>
              <a:rPr lang="en-US" b="1" dirty="0" err="1"/>
              <a:t>запропоновано</a:t>
            </a:r>
            <a:r>
              <a:rPr lang="en-US" b="1" dirty="0"/>
              <a:t> </a:t>
            </a:r>
            <a:r>
              <a:rPr lang="en-US" b="1" dirty="0" err="1"/>
              <a:t>інформаційну</a:t>
            </a:r>
            <a:r>
              <a:rPr lang="en-US" b="1" dirty="0"/>
              <a:t> </a:t>
            </a:r>
            <a:r>
              <a:rPr lang="en-US" b="1" dirty="0" err="1"/>
              <a:t>технологію</a:t>
            </a:r>
            <a:r>
              <a:rPr lang="en-US" b="1" dirty="0"/>
              <a:t>, </a:t>
            </a:r>
            <a:r>
              <a:rPr lang="en-US" b="1" dirty="0" err="1"/>
              <a:t>яка</a:t>
            </a:r>
            <a:r>
              <a:rPr lang="en-US" b="1" dirty="0"/>
              <a:t> </a:t>
            </a:r>
            <a:r>
              <a:rPr lang="en-US" b="1" dirty="0" err="1"/>
              <a:t>поєднує</a:t>
            </a:r>
            <a:r>
              <a:rPr lang="en-US" b="1" dirty="0"/>
              <a:t> </a:t>
            </a:r>
            <a:r>
              <a:rPr lang="en-US" b="1" dirty="0" err="1"/>
              <a:t>детекцію</a:t>
            </a:r>
            <a:r>
              <a:rPr lang="en-US" b="1" dirty="0"/>
              <a:t>, </a:t>
            </a:r>
            <a:r>
              <a:rPr lang="en-US" b="1" dirty="0" err="1"/>
              <a:t>рух</a:t>
            </a:r>
            <a:r>
              <a:rPr lang="en-US" b="1" dirty="0"/>
              <a:t>, </a:t>
            </a:r>
            <a:r>
              <a:rPr lang="en-US" b="1" dirty="0" err="1"/>
              <a:t>глибину</a:t>
            </a:r>
            <a:r>
              <a:rPr lang="en-US" b="1" dirty="0"/>
              <a:t>, </a:t>
            </a:r>
            <a:r>
              <a:rPr lang="en-US" b="1" dirty="0" err="1"/>
              <a:t>ансамблеву</a:t>
            </a:r>
            <a:r>
              <a:rPr lang="en-US" b="1" dirty="0"/>
              <a:t> </a:t>
            </a:r>
            <a:r>
              <a:rPr lang="en-US" b="1" dirty="0" err="1"/>
              <a:t>корекцію</a:t>
            </a:r>
            <a:r>
              <a:rPr lang="en-US" b="1" dirty="0"/>
              <a:t> </a:t>
            </a:r>
            <a:r>
              <a:rPr lang="en-US" b="1" dirty="0" err="1"/>
              <a:t>та</a:t>
            </a:r>
            <a:r>
              <a:rPr lang="en-US" b="1" dirty="0"/>
              <a:t> </a:t>
            </a:r>
            <a:r>
              <a:rPr lang="en-US" b="1" dirty="0" err="1"/>
              <a:t>визначення</a:t>
            </a:r>
            <a:r>
              <a:rPr lang="en-US" b="1" dirty="0"/>
              <a:t> </a:t>
            </a:r>
            <a:r>
              <a:rPr lang="en-US" b="1" dirty="0" err="1"/>
              <a:t>параметрів</a:t>
            </a:r>
            <a:r>
              <a:rPr lang="en-US" b="1" dirty="0"/>
              <a:t> об'єкта25–26, 30, 35</a:t>
            </a:r>
            <a:r>
              <a:rPr lang="en-US" dirty="0"/>
              <a:t>Повний </a:t>
            </a:r>
            <a:r>
              <a:rPr lang="en-US" dirty="0" err="1"/>
              <a:t>цикл</a:t>
            </a:r>
            <a:r>
              <a:rPr lang="en-US" dirty="0"/>
              <a:t> </a:t>
            </a:r>
            <a:r>
              <a:rPr lang="en-US" dirty="0" err="1"/>
              <a:t>обробки</a:t>
            </a:r>
            <a:r>
              <a:rPr lang="en-US" dirty="0"/>
              <a:t>: </a:t>
            </a:r>
            <a:r>
              <a:rPr lang="en-US" dirty="0" err="1"/>
              <a:t>відеопотік</a:t>
            </a:r>
            <a:r>
              <a:rPr lang="en-US" dirty="0"/>
              <a:t> → DETR → </a:t>
            </a:r>
            <a:r>
              <a:rPr lang="en-US" dirty="0" err="1"/>
              <a:t>оптичний</a:t>
            </a:r>
            <a:r>
              <a:rPr lang="en-US" dirty="0"/>
              <a:t> </a:t>
            </a:r>
            <a:r>
              <a:rPr lang="en-US" dirty="0" err="1"/>
              <a:t>потік</a:t>
            </a:r>
            <a:r>
              <a:rPr lang="en-US" dirty="0"/>
              <a:t> → </a:t>
            </a:r>
            <a:r>
              <a:rPr lang="en-US" dirty="0" err="1"/>
              <a:t>карта</a:t>
            </a:r>
            <a:r>
              <a:rPr lang="en-US" dirty="0"/>
              <a:t> </a:t>
            </a:r>
            <a:r>
              <a:rPr lang="en-US" dirty="0" err="1"/>
              <a:t>глибини</a:t>
            </a:r>
            <a:r>
              <a:rPr lang="en-US" dirty="0"/>
              <a:t> → </a:t>
            </a:r>
            <a:r>
              <a:rPr lang="en-US" dirty="0" err="1"/>
              <a:t>ансамбль</a:t>
            </a:r>
            <a:r>
              <a:rPr lang="en-US" dirty="0"/>
              <a:t> → </a:t>
            </a:r>
            <a:r>
              <a:rPr lang="en-US" dirty="0" err="1"/>
              <a:t>параметри</a:t>
            </a:r>
            <a:r>
              <a:rPr lang="en-US" dirty="0"/>
              <a:t> → </a:t>
            </a:r>
            <a:r>
              <a:rPr lang="en-US" dirty="0" err="1"/>
              <a:t>візуалізація</a:t>
            </a:r>
            <a:endParaRPr lang="en-US" dirty="0"/>
          </a:p>
          <a:p>
            <a:r>
              <a:rPr lang="en-US" dirty="0"/>
              <a:t>6</a:t>
            </a:r>
            <a:r>
              <a:rPr lang="en-US" b="1" dirty="0"/>
              <a:t>Підтверджено </a:t>
            </a:r>
            <a:r>
              <a:rPr lang="en-US" b="1" dirty="0" err="1"/>
              <a:t>адаптивність</a:t>
            </a:r>
            <a:r>
              <a:rPr lang="en-US" b="1" dirty="0"/>
              <a:t> </a:t>
            </a:r>
            <a:r>
              <a:rPr lang="en-US" b="1" dirty="0" err="1"/>
              <a:t>запропонованого</a:t>
            </a:r>
            <a:r>
              <a:rPr lang="en-US" b="1" dirty="0"/>
              <a:t> </a:t>
            </a:r>
            <a:r>
              <a:rPr lang="en-US" b="1" dirty="0" err="1"/>
              <a:t>підходу</a:t>
            </a:r>
            <a:r>
              <a:rPr lang="en-US" b="1" dirty="0"/>
              <a:t> </a:t>
            </a:r>
            <a:r>
              <a:rPr lang="en-US" b="1" dirty="0" err="1"/>
              <a:t>завдяки</a:t>
            </a:r>
            <a:r>
              <a:rPr lang="en-US" b="1" dirty="0"/>
              <a:t> </a:t>
            </a:r>
            <a:r>
              <a:rPr lang="en-US" b="1" dirty="0" err="1"/>
              <a:t>можливості</a:t>
            </a:r>
            <a:r>
              <a:rPr lang="en-US" b="1" dirty="0"/>
              <a:t> </a:t>
            </a:r>
            <a:r>
              <a:rPr lang="en-US" b="1" dirty="0" err="1"/>
              <a:t>комбінування</a:t>
            </a:r>
            <a:r>
              <a:rPr lang="en-US" b="1" dirty="0"/>
              <a:t> </a:t>
            </a:r>
            <a:r>
              <a:rPr lang="en-US" b="1" dirty="0" err="1"/>
              <a:t>різних</a:t>
            </a:r>
            <a:r>
              <a:rPr lang="en-US" b="1" dirty="0"/>
              <a:t> </a:t>
            </a:r>
            <a:r>
              <a:rPr lang="en-US" b="1" dirty="0" err="1"/>
              <a:t>моделей</a:t>
            </a:r>
            <a:r>
              <a:rPr lang="en-US" b="1" dirty="0"/>
              <a:t> і методів30, 36–38, 43</a:t>
            </a:r>
            <a:r>
              <a:rPr lang="en-US" dirty="0"/>
              <a:t>Модульність </a:t>
            </a:r>
            <a:r>
              <a:rPr lang="en-US" dirty="0" err="1"/>
              <a:t>технології</a:t>
            </a:r>
            <a:r>
              <a:rPr lang="en-US" dirty="0"/>
              <a:t>; </a:t>
            </a:r>
            <a:r>
              <a:rPr lang="en-US" dirty="0" err="1"/>
              <a:t>заміна</a:t>
            </a:r>
            <a:r>
              <a:rPr lang="en-US" dirty="0"/>
              <a:t> DETR/YOLO, </a:t>
            </a:r>
            <a:r>
              <a:rPr lang="en-US" dirty="0" err="1"/>
              <a:t>Farneback</a:t>
            </a:r>
            <a:r>
              <a:rPr lang="en-US" dirty="0"/>
              <a:t>/</a:t>
            </a:r>
            <a:r>
              <a:rPr lang="en-US" dirty="0" err="1"/>
              <a:t>FlowNet</a:t>
            </a:r>
            <a:r>
              <a:rPr lang="en-US" dirty="0"/>
              <a:t>; </a:t>
            </a:r>
            <a:r>
              <a:rPr lang="en-US" dirty="0" err="1"/>
              <a:t>порівняння</a:t>
            </a:r>
            <a:r>
              <a:rPr lang="en-US" dirty="0"/>
              <a:t> </a:t>
            </a:r>
            <a:r>
              <a:rPr lang="en-US" b="1" dirty="0"/>
              <a:t>35 </a:t>
            </a:r>
            <a:r>
              <a:rPr lang="en-US" b="1" dirty="0" err="1"/>
              <a:t>комбінацій</a:t>
            </a:r>
            <a:r>
              <a:rPr lang="en-US" dirty="0"/>
              <a:t> </a:t>
            </a:r>
            <a:r>
              <a:rPr lang="en-US" dirty="0" err="1"/>
              <a:t>методів</a:t>
            </a:r>
            <a:endParaRPr lang="en-US" dirty="0"/>
          </a:p>
          <a:p>
            <a:r>
              <a:rPr lang="en-US" dirty="0"/>
              <a:t>7</a:t>
            </a:r>
            <a:r>
              <a:rPr lang="en-US" b="1" dirty="0"/>
              <a:t>Експериментально </a:t>
            </a:r>
            <a:r>
              <a:rPr lang="en-US" b="1" dirty="0" err="1"/>
              <a:t>підтверджено</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надійності</a:t>
            </a:r>
            <a:r>
              <a:rPr lang="en-US" b="1" dirty="0"/>
              <a:t> ідентифікації37–39, 43</a:t>
            </a:r>
            <a:r>
              <a:rPr lang="en-US" dirty="0"/>
              <a:t>Результати: RMSE = </a:t>
            </a:r>
            <a:r>
              <a:rPr lang="en-US" b="1" dirty="0"/>
              <a:t>0,713</a:t>
            </a:r>
            <a:r>
              <a:rPr lang="en-US" dirty="0"/>
              <a:t>; MAE = </a:t>
            </a:r>
            <a:r>
              <a:rPr lang="en-US" b="1" dirty="0"/>
              <a:t>0,474</a:t>
            </a:r>
            <a:r>
              <a:rPr lang="en-US" dirty="0"/>
              <a:t>; PSNR = </a:t>
            </a:r>
            <a:r>
              <a:rPr lang="en-US" b="1" dirty="0"/>
              <a:t>51,065 </a:t>
            </a:r>
            <a:r>
              <a:rPr lang="en-US" b="1" dirty="0" err="1"/>
              <a:t>дБ</a:t>
            </a:r>
            <a:r>
              <a:rPr lang="en-US" dirty="0"/>
              <a:t>; </a:t>
            </a:r>
            <a:r>
              <a:rPr lang="en-US" dirty="0" err="1"/>
              <a:t>IoU</a:t>
            </a:r>
            <a:r>
              <a:rPr lang="en-US" dirty="0"/>
              <a:t> = </a:t>
            </a:r>
            <a:r>
              <a:rPr lang="en-US" b="1" dirty="0"/>
              <a:t>0,996</a:t>
            </a:r>
            <a:r>
              <a:rPr lang="en-US" dirty="0"/>
              <a:t>; Dice = </a:t>
            </a:r>
            <a:r>
              <a:rPr lang="en-US" b="1" dirty="0"/>
              <a:t>0,998</a:t>
            </a:r>
            <a:endParaRPr lang="en-US" dirty="0"/>
          </a:p>
          <a:p>
            <a:r>
              <a:rPr lang="en-US" dirty="0"/>
              <a:t>8</a:t>
            </a:r>
            <a:r>
              <a:rPr lang="en-US" b="1" dirty="0"/>
              <a:t>Підтверджено </a:t>
            </a:r>
            <a:r>
              <a:rPr lang="en-US" b="1" dirty="0" err="1"/>
              <a:t>працездатність</a:t>
            </a:r>
            <a:r>
              <a:rPr lang="en-US" b="1" dirty="0"/>
              <a:t> </a:t>
            </a:r>
            <a:r>
              <a:rPr lang="en-US" b="1" dirty="0" err="1"/>
              <a:t>визначення</a:t>
            </a:r>
            <a:r>
              <a:rPr lang="en-US" b="1" dirty="0"/>
              <a:t> </a:t>
            </a:r>
            <a:r>
              <a:rPr lang="en-US" b="1" dirty="0" err="1"/>
              <a:t>кінематичних</a:t>
            </a:r>
            <a:r>
              <a:rPr lang="en-US" b="1" dirty="0"/>
              <a:t> </a:t>
            </a:r>
            <a:r>
              <a:rPr lang="en-US" b="1" dirty="0" err="1"/>
              <a:t>параметрів</a:t>
            </a:r>
            <a:r>
              <a:rPr lang="en-US" b="1" dirty="0"/>
              <a:t> </a:t>
            </a:r>
            <a:r>
              <a:rPr lang="en-US" b="1" dirty="0" err="1"/>
              <a:t>рухомих</a:t>
            </a:r>
            <a:r>
              <a:rPr lang="en-US" b="1" dirty="0"/>
              <a:t> об'єктів34–35, 39, 43</a:t>
            </a:r>
            <a:r>
              <a:rPr lang="en-US" dirty="0"/>
              <a:t>DETR </a:t>
            </a:r>
            <a:r>
              <a:rPr lang="en-US" dirty="0" err="1"/>
              <a:t>виявив</a:t>
            </a:r>
            <a:r>
              <a:rPr lang="en-US" dirty="0"/>
              <a:t> 6 </a:t>
            </a:r>
            <a:r>
              <a:rPr lang="en-US" dirty="0" err="1"/>
              <a:t>об'єктів</a:t>
            </a:r>
            <a:r>
              <a:rPr lang="en-US" dirty="0"/>
              <a:t> </a:t>
            </a:r>
            <a:r>
              <a:rPr lang="en-US" dirty="0" err="1"/>
              <a:t>із</a:t>
            </a:r>
            <a:r>
              <a:rPr lang="en-US" dirty="0"/>
              <a:t> </a:t>
            </a:r>
            <a:r>
              <a:rPr lang="en-US" dirty="0" err="1"/>
              <a:t>довірою</a:t>
            </a:r>
            <a:r>
              <a:rPr lang="en-US" dirty="0"/>
              <a:t> </a:t>
            </a:r>
            <a:r>
              <a:rPr lang="en-US" b="1" dirty="0"/>
              <a:t>0,74–1,00</a:t>
            </a:r>
            <a:r>
              <a:rPr lang="en-US" dirty="0"/>
              <a:t>; </a:t>
            </a:r>
            <a:r>
              <a:rPr lang="en-US" dirty="0" err="1"/>
              <a:t>визначено</a:t>
            </a:r>
            <a:r>
              <a:rPr lang="en-US" dirty="0"/>
              <a:t> </a:t>
            </a:r>
            <a:r>
              <a:rPr lang="en-US" dirty="0" err="1"/>
              <a:t>швидкості</a:t>
            </a:r>
            <a:r>
              <a:rPr lang="en-US" dirty="0"/>
              <a:t> </a:t>
            </a:r>
            <a:r>
              <a:rPr lang="en-US" b="1" dirty="0"/>
              <a:t>6,526</a:t>
            </a:r>
            <a:r>
              <a:rPr lang="en-US" dirty="0"/>
              <a:t> </a:t>
            </a:r>
            <a:r>
              <a:rPr lang="en-US" dirty="0" err="1"/>
              <a:t>та</a:t>
            </a:r>
            <a:r>
              <a:rPr lang="en-US" dirty="0"/>
              <a:t> </a:t>
            </a:r>
            <a:r>
              <a:rPr lang="en-US" b="1" dirty="0"/>
              <a:t>4,592 </a:t>
            </a:r>
            <a:r>
              <a:rPr lang="en-US" b="1" dirty="0" err="1"/>
              <a:t>px</a:t>
            </a:r>
            <a:r>
              <a:rPr lang="en-US" b="1" dirty="0"/>
              <a:t>/</a:t>
            </a:r>
            <a:r>
              <a:rPr lang="en-US" b="1" dirty="0" err="1"/>
              <a:t>кадр</a:t>
            </a:r>
            <a:endParaRPr lang="en-US" dirty="0"/>
          </a:p>
          <a:p>
            <a:r>
              <a:rPr lang="en-US" dirty="0"/>
              <a:t>9</a:t>
            </a:r>
            <a:r>
              <a:rPr lang="en-US" b="1" dirty="0"/>
              <a:t>Показано </a:t>
            </a:r>
            <a:r>
              <a:rPr lang="en-US" b="1" dirty="0" err="1"/>
              <a:t>відмінність</a:t>
            </a:r>
            <a:r>
              <a:rPr lang="en-US" b="1" dirty="0"/>
              <a:t> </a:t>
            </a:r>
            <a:r>
              <a:rPr lang="en-US" b="1" dirty="0" err="1"/>
              <a:t>запропонованої</a:t>
            </a:r>
            <a:r>
              <a:rPr lang="en-US" b="1" dirty="0"/>
              <a:t> </a:t>
            </a:r>
            <a:r>
              <a:rPr lang="en-US" b="1" dirty="0" err="1"/>
              <a:t>технології</a:t>
            </a:r>
            <a:r>
              <a:rPr lang="en-US" b="1" dirty="0"/>
              <a:t> </a:t>
            </a:r>
            <a:r>
              <a:rPr lang="en-US" b="1" dirty="0" err="1"/>
              <a:t>від</a:t>
            </a:r>
            <a:r>
              <a:rPr lang="en-US" b="1" dirty="0"/>
              <a:t> </a:t>
            </a:r>
            <a:r>
              <a:rPr lang="en-US" b="1" dirty="0" err="1"/>
              <a:t>наявних</a:t>
            </a:r>
            <a:r>
              <a:rPr lang="en-US" b="1" dirty="0"/>
              <a:t> аналогів45–46</a:t>
            </a:r>
            <a:r>
              <a:rPr lang="en-US" dirty="0"/>
              <a:t>Аналоги </a:t>
            </a:r>
            <a:r>
              <a:rPr lang="en-US" dirty="0" err="1"/>
              <a:t>виконують</a:t>
            </a:r>
            <a:r>
              <a:rPr lang="en-US" dirty="0"/>
              <a:t> </a:t>
            </a:r>
            <a:r>
              <a:rPr lang="en-US" dirty="0" err="1"/>
              <a:t>окремі</a:t>
            </a:r>
            <a:r>
              <a:rPr lang="en-US" dirty="0"/>
              <a:t> </a:t>
            </a:r>
            <a:r>
              <a:rPr lang="en-US" dirty="0" err="1"/>
              <a:t>операції</a:t>
            </a:r>
            <a:r>
              <a:rPr lang="en-US" dirty="0"/>
              <a:t>, а </a:t>
            </a:r>
            <a:r>
              <a:rPr lang="en-US" dirty="0" err="1"/>
              <a:t>запропонована</a:t>
            </a:r>
            <a:r>
              <a:rPr lang="en-US" dirty="0"/>
              <a:t> ІТ </a:t>
            </a:r>
            <a:r>
              <a:rPr lang="en-US" dirty="0" err="1"/>
              <a:t>забезпечує</a:t>
            </a:r>
            <a:r>
              <a:rPr lang="en-US" dirty="0"/>
              <a:t> </a:t>
            </a:r>
            <a:r>
              <a:rPr lang="en-US" dirty="0" err="1"/>
              <a:t>повний</a:t>
            </a:r>
            <a:r>
              <a:rPr lang="en-US" dirty="0"/>
              <a:t> </a:t>
            </a:r>
            <a:r>
              <a:rPr lang="en-US" dirty="0" err="1"/>
              <a:t>комплекс</a:t>
            </a:r>
            <a:r>
              <a:rPr lang="en-US" dirty="0"/>
              <a:t> </a:t>
            </a:r>
            <a:r>
              <a:rPr lang="en-US" dirty="0" err="1"/>
              <a:t>функцій</a:t>
            </a:r>
            <a:r>
              <a:rPr lang="en-US" dirty="0"/>
              <a:t>; </a:t>
            </a:r>
            <a:r>
              <a:rPr lang="en-US" dirty="0" err="1"/>
              <a:t>результат</a:t>
            </a:r>
            <a:r>
              <a:rPr lang="en-US" dirty="0"/>
              <a:t> </a:t>
            </a:r>
            <a:r>
              <a:rPr lang="en-US" dirty="0" err="1"/>
              <a:t>порівняння</a:t>
            </a:r>
            <a:r>
              <a:rPr lang="en-US" dirty="0"/>
              <a:t> — </a:t>
            </a:r>
            <a:r>
              <a:rPr lang="en-US" b="1" dirty="0"/>
              <a:t>12 </a:t>
            </a:r>
            <a:r>
              <a:rPr lang="en-US" b="1" dirty="0" err="1"/>
              <a:t>балів</a:t>
            </a:r>
            <a:r>
              <a:rPr lang="en-US" dirty="0"/>
              <a:t> </a:t>
            </a:r>
            <a:r>
              <a:rPr lang="en-US" dirty="0" err="1"/>
              <a:t>проти</a:t>
            </a:r>
            <a:r>
              <a:rPr lang="en-US" dirty="0"/>
              <a:t> 3–6 </a:t>
            </a:r>
            <a:r>
              <a:rPr lang="en-US" dirty="0" err="1"/>
              <a:t>балів</a:t>
            </a:r>
            <a:r>
              <a:rPr lang="en-US" dirty="0"/>
              <a:t> у </a:t>
            </a:r>
            <a:r>
              <a:rPr lang="en-US" dirty="0" err="1"/>
              <a:t>аналогів</a:t>
            </a:r>
            <a:endParaRPr lang="en-US" dirty="0"/>
          </a:p>
          <a:p>
            <a:r>
              <a:rPr lang="en-US" dirty="0"/>
              <a:t>10</a:t>
            </a:r>
            <a:r>
              <a:rPr lang="en-US" b="1" dirty="0"/>
              <a:t>Узагальнене </a:t>
            </a:r>
            <a:r>
              <a:rPr lang="en-US" b="1" dirty="0" err="1"/>
              <a:t>підтвердження</a:t>
            </a:r>
            <a:r>
              <a:rPr lang="en-US" b="1" dirty="0"/>
              <a:t> </a:t>
            </a:r>
            <a:r>
              <a:rPr lang="en-US" b="1" dirty="0" err="1"/>
              <a:t>отриманих</a:t>
            </a:r>
            <a:r>
              <a:rPr lang="en-US" b="1" dirty="0"/>
              <a:t> </a:t>
            </a:r>
            <a:r>
              <a:rPr lang="en-US" b="1" dirty="0" err="1"/>
              <a:t>наукових</a:t>
            </a:r>
            <a:r>
              <a:rPr lang="en-US" b="1" dirty="0"/>
              <a:t> результатів50</a:t>
            </a:r>
            <a:r>
              <a:rPr lang="en-US" dirty="0"/>
              <a:t>У </a:t>
            </a:r>
            <a:r>
              <a:rPr lang="en-US" dirty="0" err="1"/>
              <a:t>висновках</a:t>
            </a:r>
            <a:r>
              <a:rPr lang="en-US" dirty="0"/>
              <a:t> </a:t>
            </a:r>
            <a:r>
              <a:rPr lang="en-US" dirty="0" err="1"/>
              <a:t>сформульовано</a:t>
            </a:r>
            <a:r>
              <a:rPr lang="en-US" dirty="0"/>
              <a:t> </a:t>
            </a:r>
            <a:r>
              <a:rPr lang="en-US" dirty="0" err="1"/>
              <a:t>розроблені</a:t>
            </a:r>
            <a:r>
              <a:rPr lang="en-US" dirty="0"/>
              <a:t> </a:t>
            </a:r>
            <a:r>
              <a:rPr lang="en-US" dirty="0" err="1"/>
              <a:t>моделі</a:t>
            </a:r>
            <a:r>
              <a:rPr lang="en-US" dirty="0"/>
              <a:t>, </a:t>
            </a:r>
            <a:r>
              <a:rPr lang="en-US" dirty="0" err="1"/>
              <a:t>методи</a:t>
            </a:r>
            <a:r>
              <a:rPr lang="en-US" dirty="0"/>
              <a:t>, </a:t>
            </a:r>
            <a:r>
              <a:rPr lang="en-US" dirty="0" err="1"/>
              <a:t>інтегральну</a:t>
            </a:r>
            <a:r>
              <a:rPr lang="en-US" dirty="0"/>
              <a:t> </a:t>
            </a:r>
            <a:r>
              <a:rPr lang="en-US" dirty="0" err="1"/>
              <a:t>схему</a:t>
            </a:r>
            <a:r>
              <a:rPr lang="en-US" dirty="0"/>
              <a:t>, </a:t>
            </a:r>
            <a:r>
              <a:rPr lang="en-US" dirty="0" err="1"/>
              <a:t>ансамблеві</a:t>
            </a:r>
            <a:r>
              <a:rPr lang="en-US" dirty="0"/>
              <a:t> </a:t>
            </a:r>
            <a:r>
              <a:rPr lang="en-US" dirty="0" err="1"/>
              <a:t>підходи</a:t>
            </a:r>
            <a:r>
              <a:rPr lang="en-US" dirty="0"/>
              <a:t> </a:t>
            </a:r>
            <a:r>
              <a:rPr lang="en-US" dirty="0" err="1"/>
              <a:t>та</a:t>
            </a:r>
            <a:r>
              <a:rPr lang="en-US" dirty="0"/>
              <a:t> </a:t>
            </a:r>
            <a:r>
              <a:rPr lang="en-US" dirty="0" err="1"/>
              <a:t>результати</a:t>
            </a:r>
            <a:r>
              <a:rPr lang="en-US" dirty="0"/>
              <a:t> </a:t>
            </a:r>
            <a:r>
              <a:rPr lang="en-US" dirty="0" err="1"/>
              <a:t>експериментального</a:t>
            </a:r>
            <a:r>
              <a:rPr lang="en-US" dirty="0"/>
              <a:t> </a:t>
            </a:r>
            <a:r>
              <a:rPr lang="en-US" dirty="0" err="1"/>
              <a:t>дослідження</a:t>
            </a:r>
            <a:endParaRPr lang="en-US" dirty="0"/>
          </a:p>
          <a:p>
            <a:endParaRPr lang="en-US" dirty="0"/>
          </a:p>
        </p:txBody>
      </p:sp>
      <p:sp>
        <p:nvSpPr>
          <p:cNvPr id="4" name="Місце для номера слайда 3">
            <a:extLst>
              <a:ext uri="{FF2B5EF4-FFF2-40B4-BE49-F238E27FC236}">
                <a16:creationId xmlns:a16="http://schemas.microsoft.com/office/drawing/2014/main" id="{5910FFD0-6C5F-7DA8-1DBA-63ABB6457FD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03849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F7E3D-33B4-BBA9-B423-C1EBB88983D5}"/>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84D9CAF-2D03-F6AC-8EAD-4EC39C4AE116}"/>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466DCE68-331F-C81A-12DC-6D37B87910A4}"/>
              </a:ext>
            </a:extLst>
          </p:cNvPr>
          <p:cNvSpPr>
            <a:spLocks noGrp="1"/>
          </p:cNvSpPr>
          <p:nvPr>
            <p:ph type="body" idx="1"/>
          </p:nvPr>
        </p:nvSpPr>
        <p:spPr/>
        <p:txBody>
          <a:bodyPr/>
          <a:lstStyle/>
          <a:p>
            <a:r>
              <a:rPr lang="uk-UA" dirty="0"/>
              <a:t>Практичне значення отриманих результатів реалізується в чотирьох ключових галузях української економіки.</a:t>
            </a:r>
          </a:p>
          <a:p>
            <a:endParaRPr lang="uk-UA" dirty="0"/>
          </a:p>
          <a:p>
            <a:r>
              <a:rPr lang="uk-UA" dirty="0"/>
              <a:t>Перша галузь – безпека та оборона. Розроблена технологія забезпечує високу точність відстеження об'єктів у реальному часі для систем відеоспостереження, охорони периметра та навігації безпілотних літальних апаратів.</a:t>
            </a:r>
          </a:p>
          <a:p>
            <a:endParaRPr lang="uk-UA" dirty="0"/>
          </a:p>
          <a:p>
            <a:r>
              <a:rPr lang="uk-UA" dirty="0"/>
              <a:t>Друга галузь – автономний транспорт та логістика. Методи ідентифікації швидкості, траєкторії та глибини дозволяють створювати надійні системи уникнення зіткнень для автономних транспортних засобів та </a:t>
            </a:r>
            <a:r>
              <a:rPr lang="uk-UA" dirty="0" err="1"/>
              <a:t>роботизованих</a:t>
            </a:r>
            <a:r>
              <a:rPr lang="uk-UA" dirty="0"/>
              <a:t> платформ.</a:t>
            </a:r>
          </a:p>
          <a:p>
            <a:endParaRPr lang="uk-UA" dirty="0"/>
          </a:p>
          <a:p>
            <a:r>
              <a:rPr lang="uk-UA" dirty="0"/>
              <a:t>Третя галузь – </a:t>
            </a:r>
            <a:r>
              <a:rPr lang="uk-UA" dirty="0" err="1"/>
              <a:t>цифровізація</a:t>
            </a:r>
            <a:r>
              <a:rPr lang="uk-UA" dirty="0"/>
              <a:t> та економіка. Оптимізація обчислювальних процесів дозволяє розгортати інтелектуальні системи на мобільних пристроях та вбудованих платформах, що знижує витрати на автоматизацію виробництва та логістики.</a:t>
            </a:r>
          </a:p>
          <a:p>
            <a:endParaRPr lang="uk-UA" dirty="0"/>
          </a:p>
          <a:p>
            <a:r>
              <a:rPr lang="uk-UA" dirty="0"/>
              <a:t>Четверта галузь – медицина. Методи аналізу руху адаптовані для </a:t>
            </a:r>
            <a:r>
              <a:rPr lang="uk-UA" dirty="0" err="1"/>
              <a:t>неінвазивної</a:t>
            </a:r>
            <a:r>
              <a:rPr lang="uk-UA" dirty="0"/>
              <a:t> діагностики внутрішніх органів – швидкості кровотоку та руху серця, що сприяє ранньому виявленню захворювань».</a:t>
            </a:r>
          </a:p>
          <a:p>
            <a:endParaRPr lang="uk-UA" dirty="0"/>
          </a:p>
          <a:p>
            <a:r>
              <a:rPr lang="uk-UA" dirty="0"/>
              <a:t>------------------</a:t>
            </a:r>
          </a:p>
          <a:p>
            <a:r>
              <a:rPr lang="uk-UA" dirty="0"/>
              <a:t>Практичне значення</a:t>
            </a:r>
          </a:p>
          <a:p>
            <a:r>
              <a:rPr lang="uk-UA" dirty="0"/>
              <a:t>Що казати:</a:t>
            </a:r>
          </a:p>
          <a:p>
            <a:r>
              <a:rPr lang="uk-UA" dirty="0"/>
              <a:t>«Практичне значення отриманих результатів реалізується в чотирьох ключових галузях української економіки.</a:t>
            </a:r>
          </a:p>
          <a:p>
            <a:endParaRPr lang="uk-UA" dirty="0"/>
          </a:p>
          <a:p>
            <a:r>
              <a:rPr lang="uk-UA" dirty="0"/>
              <a:t>Перша галузь – безпека та оборона, де розроблена технологія забезпечує високу точність відстеження об'єктів у реальному часі для систем відеоспостереження, охорони периметра та навігації безпілотних літальних апаратів.</a:t>
            </a:r>
          </a:p>
          <a:p>
            <a:endParaRPr lang="uk-UA" dirty="0"/>
          </a:p>
          <a:p>
            <a:r>
              <a:rPr lang="uk-UA" dirty="0"/>
              <a:t>Друга галузь – автономний транспорт та логістика, де методи ідентифікації швидкості, траєкторії та глибини дозволяють створювати надійні системи уникнення зіткнень.</a:t>
            </a:r>
          </a:p>
          <a:p>
            <a:endParaRPr lang="uk-UA" dirty="0"/>
          </a:p>
          <a:p>
            <a:r>
              <a:rPr lang="uk-UA" dirty="0"/>
              <a:t>Третя галузь – </a:t>
            </a:r>
            <a:r>
              <a:rPr lang="uk-UA" dirty="0" err="1"/>
              <a:t>цифровізація</a:t>
            </a:r>
            <a:r>
              <a:rPr lang="uk-UA" dirty="0"/>
              <a:t> та економіка, де оптимізація обчислювальних процесів дозволяє розгортати інтелектуальні системи на мобільних пристроях та вбудованих платформах.</a:t>
            </a:r>
          </a:p>
          <a:p>
            <a:endParaRPr lang="uk-UA" dirty="0"/>
          </a:p>
          <a:p>
            <a:r>
              <a:rPr lang="uk-UA" dirty="0"/>
              <a:t>Четверта галузь – медицина, де методи аналізу руху можуть бути адаптовані для </a:t>
            </a:r>
            <a:r>
              <a:rPr lang="uk-UA" dirty="0" err="1"/>
              <a:t>неінвазивної</a:t>
            </a:r>
            <a:r>
              <a:rPr lang="uk-UA" dirty="0"/>
              <a:t> діагностики внутрішніх органів.» Практичне значення отриманих результатів полягає в безпосередньому використанні запропонованих моделей, методів та програмних засобів при впровадженні інтелектуальних систем відеоспостереження, </a:t>
            </a:r>
            <a:r>
              <a:rPr lang="uk-UA" dirty="0" err="1"/>
              <a:t>робототехнічних</a:t>
            </a:r>
            <a:r>
              <a:rPr lang="uk-UA" dirty="0"/>
              <a:t> комплексів та систем підтримки прийняття рішень, ідентифікації параметрів </a:t>
            </a:r>
            <a:r>
              <a:rPr lang="uk-UA" dirty="0" err="1"/>
              <a:t>радіосплесків</a:t>
            </a:r>
            <a:r>
              <a:rPr lang="uk-UA" dirty="0"/>
              <a:t>, завдяки чому досягається підвищення точності, надійності, можливості та адаптивності дистанційної ідентифікації динамічних об'єктів.</a:t>
            </a:r>
          </a:p>
          <a:p>
            <a:r>
              <a:rPr lang="uk-UA" dirty="0"/>
              <a:t>Практична цінність отриманих результатів дослідження полягає у можливості їх впровадження у таких важливих галузях української економіки:</a:t>
            </a:r>
          </a:p>
          <a:p>
            <a:r>
              <a:rPr lang="uk-UA" dirty="0"/>
              <a:t>– безпека та оборона, де технології дистанційної ідентифікації забезпечують високу точність відстеження об'єктів у реальному часі за складних умов, що має пряме застосування для систем відеоспостереження, охорони периметра та навігації безпілотних літальних апаратів (БПЛА);</a:t>
            </a:r>
          </a:p>
          <a:p>
            <a:r>
              <a:rPr lang="uk-UA" dirty="0"/>
              <a:t>– автономний транспорт та логістика, де методи ідентифікації швидкості, траєкторії та глибини дозволяють створювати надійні системи уникнення зіткнень для автономних транспортних засобів та </a:t>
            </a:r>
            <a:r>
              <a:rPr lang="uk-UA" dirty="0" err="1"/>
              <a:t>роботизованих</a:t>
            </a:r>
            <a:r>
              <a:rPr lang="uk-UA" dirty="0"/>
              <a:t> платформ;</a:t>
            </a:r>
          </a:p>
          <a:p>
            <a:r>
              <a:rPr lang="uk-UA" dirty="0"/>
              <a:t>– </a:t>
            </a:r>
            <a:r>
              <a:rPr lang="uk-UA" dirty="0" err="1"/>
              <a:t>цифровізація</a:t>
            </a:r>
            <a:r>
              <a:rPr lang="uk-UA" dirty="0"/>
              <a:t> та економіка, де оптимізація обчислювальних процесів дозволяє розгортати інтелектуальні системи на мобільних пристроях та вбудованих платформах, що знижує витрати на автоматизацію виробництва та логістики;</a:t>
            </a:r>
          </a:p>
          <a:p>
            <a:r>
              <a:rPr lang="uk-UA" dirty="0"/>
              <a:t>– медицина, де методи аналізу руху можуть бути адаптовані для </a:t>
            </a:r>
            <a:r>
              <a:rPr lang="uk-UA" dirty="0" err="1"/>
              <a:t>неінвазивної</a:t>
            </a:r>
            <a:r>
              <a:rPr lang="uk-UA" dirty="0"/>
              <a:t> діагностики внутрішніх органів (швидкість кровотоку, рух серця), що сприяє ранньому виявленню захворювань. </a:t>
            </a:r>
          </a:p>
          <a:p>
            <a:r>
              <a:rPr lang="uk-UA" dirty="0"/>
              <a:t>Результати роботи (Додаток Г) впроваджені  у навчальному процесі кафедри інформаційних систем та технологій НТУ «ХПІ» в дисциплінах «Інтелектуальні системи», «Інтелектуальний аналіз даних», «Дослідження операцій». У навчальному процесі кафедри цифрових технологій та програмно-аналітичних рішень ТОВ «Технічний університет «Метінвест Політехніка» в дисциплінах «Продуктивність офісних систем», «Основи </a:t>
            </a:r>
            <a:r>
              <a:rPr lang="uk-UA" dirty="0" err="1"/>
              <a:t>кібербезпеки</a:t>
            </a:r>
            <a:r>
              <a:rPr lang="uk-UA" dirty="0"/>
              <a:t> та захисту інформації», «Розробка </a:t>
            </a:r>
            <a:r>
              <a:rPr lang="en-US" dirty="0"/>
              <a:t>GUI», «</a:t>
            </a:r>
            <a:r>
              <a:rPr lang="uk-UA" dirty="0"/>
              <a:t>Технології захисту даних та інформаційної безпеки». У Радіоастрономічному інституті НАН України в частині дослідження та аналізу динамічних процесів у сонячній атмосфері за даними дистанційних радіоспостережень, зокрема для виявлення та ідентифікації сонячних </a:t>
            </a:r>
            <a:r>
              <a:rPr lang="uk-UA" dirty="0" err="1"/>
              <a:t>радіосплесків</a:t>
            </a:r>
            <a:r>
              <a:rPr lang="uk-UA" dirty="0"/>
              <a:t> </a:t>
            </a:r>
            <a:endParaRPr lang="en-US" dirty="0"/>
          </a:p>
        </p:txBody>
      </p:sp>
      <p:sp>
        <p:nvSpPr>
          <p:cNvPr id="4" name="Місце для номера слайда 3">
            <a:extLst>
              <a:ext uri="{FF2B5EF4-FFF2-40B4-BE49-F238E27FC236}">
                <a16:creationId xmlns:a16="http://schemas.microsoft.com/office/drawing/2014/main" id="{21A64F6E-3BC4-5627-BC46-FADCAE6820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59489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FB068-B0E8-6B35-2DA4-45D70379039A}"/>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1BB03CD-4F9A-333C-6690-5B566A809CD7}"/>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D5B616AA-513B-FF7F-F219-BD43F6CFE89F}"/>
              </a:ext>
            </a:extLst>
          </p:cNvPr>
          <p:cNvSpPr>
            <a:spLocks noGrp="1"/>
          </p:cNvSpPr>
          <p:nvPr>
            <p:ph type="body" idx="1"/>
          </p:nvPr>
        </p:nvSpPr>
        <p:spPr/>
        <p:txBody>
          <a:bodyPr/>
          <a:lstStyle/>
          <a:p>
            <a:r>
              <a:rPr lang="uk-UA" dirty="0"/>
              <a:t>Результати дисертаційної роботи опубліковано у п'ятнадцяти наукових працях.</a:t>
            </a:r>
          </a:p>
          <a:p>
            <a:endParaRPr lang="uk-UA" dirty="0"/>
          </a:p>
          <a:p>
            <a:r>
              <a:rPr lang="uk-UA" dirty="0"/>
              <a:t>З них:</a:t>
            </a:r>
          </a:p>
          <a:p>
            <a:endParaRPr lang="uk-UA" dirty="0"/>
          </a:p>
          <a:p>
            <a:r>
              <a:rPr lang="uk-UA" dirty="0"/>
              <a:t>одна стаття у виданні, що індексується </a:t>
            </a:r>
            <a:r>
              <a:rPr lang="uk-UA" dirty="0" err="1"/>
              <a:t>наукометричною</a:t>
            </a:r>
            <a:r>
              <a:rPr lang="uk-UA" dirty="0"/>
              <a:t> базою </a:t>
            </a:r>
            <a:r>
              <a:rPr lang="uk-UA" dirty="0" err="1"/>
              <a:t>Скопус</a:t>
            </a:r>
            <a:r>
              <a:rPr lang="uk-UA" dirty="0"/>
              <a:t>,</a:t>
            </a:r>
          </a:p>
          <a:p>
            <a:endParaRPr lang="uk-UA" dirty="0"/>
          </a:p>
          <a:p>
            <a:r>
              <a:rPr lang="uk-UA" dirty="0"/>
              <a:t>сім статей у фахових виданнях України категорії Б,</a:t>
            </a:r>
          </a:p>
          <a:p>
            <a:endParaRPr lang="uk-UA" dirty="0"/>
          </a:p>
          <a:p>
            <a:r>
              <a:rPr lang="uk-UA" dirty="0"/>
              <a:t>вісім матеріалів апробаційного характеру.</a:t>
            </a:r>
          </a:p>
          <a:p>
            <a:endParaRPr lang="uk-UA" dirty="0"/>
          </a:p>
          <a:p>
            <a:r>
              <a:rPr lang="uk-UA" dirty="0"/>
              <a:t>Апробація результатів відбувалася на:</a:t>
            </a:r>
          </a:p>
          <a:p>
            <a:endParaRPr lang="uk-UA" dirty="0"/>
          </a:p>
          <a:p>
            <a:r>
              <a:rPr lang="uk-UA" dirty="0"/>
              <a:t>міжнародних конференціях </a:t>
            </a:r>
            <a:r>
              <a:rPr lang="uk-UA" dirty="0" err="1"/>
              <a:t>МайкроКАД</a:t>
            </a:r>
            <a:r>
              <a:rPr lang="uk-UA" dirty="0"/>
              <a:t> у 2023, 2024 та 2025 роках,</a:t>
            </a:r>
          </a:p>
          <a:p>
            <a:endParaRPr lang="uk-UA" dirty="0"/>
          </a:p>
          <a:p>
            <a:r>
              <a:rPr lang="uk-UA" dirty="0"/>
              <a:t>конференції Харківського політехнічного інституту Вік он </a:t>
            </a:r>
            <a:r>
              <a:rPr lang="uk-UA" dirty="0" err="1"/>
              <a:t>Едванст</a:t>
            </a:r>
            <a:r>
              <a:rPr lang="uk-UA" dirty="0"/>
              <a:t> </a:t>
            </a:r>
            <a:r>
              <a:rPr lang="uk-UA" dirty="0" err="1"/>
              <a:t>Текнолоджі</a:t>
            </a:r>
            <a:r>
              <a:rPr lang="uk-UA" dirty="0"/>
              <a:t> у 2025 році,</a:t>
            </a:r>
          </a:p>
          <a:p>
            <a:endParaRPr lang="uk-UA" dirty="0"/>
          </a:p>
          <a:p>
            <a:r>
              <a:rPr lang="uk-UA" dirty="0"/>
              <a:t>конференціях магістрантів та аспірантів Національного технічного університету «Харківський політехнічний інститут» у 2024 та 2025 роках.</a:t>
            </a:r>
          </a:p>
          <a:p>
            <a:endParaRPr lang="uk-UA" dirty="0"/>
          </a:p>
          <a:p>
            <a:r>
              <a:rPr lang="uk-UA" dirty="0"/>
              <a:t>Впровадження результатів здійснено в навчальний процес:</a:t>
            </a:r>
          </a:p>
          <a:p>
            <a:endParaRPr lang="uk-UA" dirty="0"/>
          </a:p>
          <a:p>
            <a:r>
              <a:rPr lang="uk-UA" dirty="0"/>
              <a:t>Національного технічного університету «Харківський політехнічний інститут»,</a:t>
            </a:r>
          </a:p>
          <a:p>
            <a:endParaRPr lang="uk-UA" dirty="0"/>
          </a:p>
          <a:p>
            <a:r>
              <a:rPr lang="uk-UA" dirty="0"/>
              <a:t>Товариства з обмеженою відповідальністю «Технічний університет «Метінвест Політехніка»,</a:t>
            </a:r>
          </a:p>
          <a:p>
            <a:endParaRPr lang="uk-UA" dirty="0"/>
          </a:p>
          <a:p>
            <a:r>
              <a:rPr lang="uk-UA" dirty="0"/>
              <a:t>а також у Радіоастрономічному інституті Національної академії наук України».</a:t>
            </a:r>
          </a:p>
          <a:p>
            <a:endParaRPr lang="uk-UA" dirty="0"/>
          </a:p>
          <a:p>
            <a:r>
              <a:rPr lang="uk-UA" dirty="0"/>
              <a:t>-----------------------------------------</a:t>
            </a:r>
          </a:p>
          <a:p>
            <a:endParaRPr lang="uk-UA" dirty="0"/>
          </a:p>
          <a:p>
            <a:r>
              <a:rPr lang="uk-UA" dirty="0"/>
              <a:t>«Результати дисертаційної роботи опубліковано у п'ятнадцяти наукових працях, з яких одна стаття входить до </a:t>
            </a:r>
            <a:r>
              <a:rPr lang="uk-UA" dirty="0" err="1"/>
              <a:t>наукометричної</a:t>
            </a:r>
            <a:r>
              <a:rPr lang="uk-UA" dirty="0"/>
              <a:t> бази </a:t>
            </a:r>
            <a:r>
              <a:rPr lang="en-US" dirty="0"/>
              <a:t>Scopus, </a:t>
            </a:r>
            <a:r>
              <a:rPr lang="uk-UA" dirty="0"/>
              <a:t>сім статей опубліковано у фахових виданнях України категорії Б, а також сім робіт апробаційного характеру.</a:t>
            </a:r>
          </a:p>
          <a:p>
            <a:endParaRPr lang="uk-UA" dirty="0"/>
          </a:p>
          <a:p>
            <a:r>
              <a:rPr lang="uk-UA" dirty="0"/>
              <a:t>Апробація результатів відбувалася на міжнародних конференціях </a:t>
            </a:r>
            <a:r>
              <a:rPr lang="en-US" dirty="0" err="1"/>
              <a:t>MicroCAD</a:t>
            </a:r>
            <a:r>
              <a:rPr lang="en-US" dirty="0"/>
              <a:t> </a:t>
            </a:r>
            <a:r>
              <a:rPr lang="uk-UA" dirty="0"/>
              <a:t>у 2023, 2024 та 2025 роках, на конференції </a:t>
            </a:r>
            <a:r>
              <a:rPr lang="en-US" dirty="0" err="1"/>
              <a:t>KhPI</a:t>
            </a:r>
            <a:r>
              <a:rPr lang="en-US" dirty="0"/>
              <a:t> Week on Advanced Technology </a:t>
            </a:r>
            <a:r>
              <a:rPr lang="uk-UA" dirty="0"/>
              <a:t>у 2025 році, а також на конференціях магістрантів та аспірантів НТУ «ХПІ».</a:t>
            </a:r>
          </a:p>
          <a:p>
            <a:endParaRPr lang="uk-UA" dirty="0"/>
          </a:p>
          <a:p>
            <a:r>
              <a:rPr lang="uk-UA" dirty="0"/>
              <a:t>Результати впроваджено у навчальний процес НТУ «ХПІ» та ТОВ «Метінвест Політехніка», а також у Радіоастрономічному інституті НАН України.»</a:t>
            </a:r>
            <a:endParaRPr lang="en-US" dirty="0"/>
          </a:p>
        </p:txBody>
      </p:sp>
      <p:sp>
        <p:nvSpPr>
          <p:cNvPr id="4" name="Місце для номера слайда 3">
            <a:extLst>
              <a:ext uri="{FF2B5EF4-FFF2-40B4-BE49-F238E27FC236}">
                <a16:creationId xmlns:a16="http://schemas.microsoft.com/office/drawing/2014/main" id="{96035ED2-B11D-B532-C797-7ADF4FB2221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0714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Доповідь завершена, Дякую за увагу.</a:t>
            </a:r>
          </a:p>
          <a:p>
            <a:r>
              <a:rPr lang="uk-UA" dirty="0"/>
              <a:t>Узагальнюючи результати дисертаційного дослідження, можна зробити такі висновки відповідно до поставлених задач.</a:t>
            </a:r>
          </a:p>
          <a:p>
            <a:endParaRPr lang="uk-UA" dirty="0"/>
          </a:p>
          <a:p>
            <a:r>
              <a:rPr lang="uk-UA" dirty="0"/>
              <a:t>Перший висновок – відповідає першій задачі дослідження. Проведено аналіз сучасних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і структурних параметрів, а також урахування шумів, оклюзій, зміни освітлення та неповноти даних. Обґрунтовано, що найперспективнішим напрямом є інтеграція </a:t>
            </a:r>
            <a:r>
              <a:rPr lang="uk-UA" dirty="0" err="1"/>
              <a:t>трансформерного</a:t>
            </a:r>
            <a:r>
              <a:rPr lang="uk-UA" dirty="0"/>
              <a:t> виявлення, оптичного потоку, оцінювання глибини та ансамблевих методів.</a:t>
            </a:r>
          </a:p>
          <a:p>
            <a:endParaRPr lang="uk-UA" dirty="0"/>
          </a:p>
          <a:p>
            <a:r>
              <a:rPr lang="uk-UA" dirty="0"/>
              <a:t>Другий висновок – відповідає другій задачі дослідження.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систему метрик для оцінювання якості ідентифікації,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Розроблено модель інформаційної технології дистанційної ідентифікації.</a:t>
            </a:r>
          </a:p>
          <a:p>
            <a:endParaRPr lang="uk-UA" dirty="0"/>
          </a:p>
          <a:p>
            <a:r>
              <a:rPr lang="uk-UA" dirty="0"/>
              <a:t>Третій висновок – відповідає третій задачі дослідження. Розроблено моделі та методи інтеграції </a:t>
            </a:r>
            <a:r>
              <a:rPr lang="uk-UA" dirty="0" err="1"/>
              <a:t>трансформерного</a:t>
            </a:r>
            <a:r>
              <a:rPr lang="uk-UA" dirty="0"/>
              <a:t> детектора об'єктів </a:t>
            </a:r>
            <a:r>
              <a:rPr lang="en-US" dirty="0" err="1"/>
              <a:t>DEtection</a:t>
            </a:r>
            <a:r>
              <a:rPr lang="en-US" dirty="0"/>
              <a:t> </a:t>
            </a:r>
            <a:r>
              <a:rPr lang="en-US" dirty="0" err="1"/>
              <a:t>TRansformer</a:t>
            </a:r>
            <a:r>
              <a:rPr lang="en-US" dirty="0"/>
              <a:t> </a:t>
            </a:r>
            <a:r>
              <a:rPr lang="uk-UA" dirty="0"/>
              <a:t>з алгоритмами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нейромережевим</a:t>
            </a:r>
            <a:r>
              <a:rPr lang="uk-UA" dirty="0"/>
              <a:t> оцінюванням глибини – </a:t>
            </a:r>
            <a:r>
              <a:rPr lang="en-US" dirty="0"/>
              <a:t>Mixed Dataset of Scenes, Dense Prediction Transformer Large, </a:t>
            </a:r>
            <a:r>
              <a:rPr lang="en-US" dirty="0" err="1"/>
              <a:t>GeoNet</a:t>
            </a:r>
            <a:r>
              <a:rPr lang="en-US" dirty="0"/>
              <a:t>. </a:t>
            </a:r>
            <a:r>
              <a:rPr lang="uk-UA" dirty="0"/>
              <a:t>Запропоновано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Четвертий висновок – відповідає четвертій задачі дослідження. Реалізовано інформаційну технологію дистанційної ідентифікації параметрів динамічних об'єктів. Проведено експериментальне тестування та порівняльний аналіз ефективності запропонованих рішень для тридцяти п'яти комбінацій методів оптичного потоку та оцінювання глибини. Підтверджено, що ансамблевий підхід </a:t>
            </a:r>
            <a:r>
              <a:rPr lang="en-US" dirty="0"/>
              <a:t>Bagging </a:t>
            </a:r>
            <a:r>
              <a:rPr lang="uk-UA" dirty="0"/>
              <a:t>забезпечує найкращу точність відновлення глибини. Система здатна працювати в реальному часі та є стійкою до шумів, оклюзій та зміни освітлення».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35</a:t>
            </a:fld>
            <a:endParaRPr lang="en-US"/>
          </a:p>
        </p:txBody>
      </p:sp>
    </p:spTree>
    <p:extLst>
      <p:ext uri="{BB962C8B-B14F-4D97-AF65-F5344CB8AC3E}">
        <p14:creationId xmlns:p14="http://schemas.microsoft.com/office/powerpoint/2010/main" val="22756790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9F86B-A7C4-4766-9678-3775C55D8C84}"/>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78D135A-347D-840D-2AB6-D6E8BC043148}"/>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2DC0D71D-49BE-94BB-C2A4-EC3904FAAD21}"/>
              </a:ext>
            </a:extLst>
          </p:cNvPr>
          <p:cNvSpPr>
            <a:spLocks noGrp="1"/>
          </p:cNvSpPr>
          <p:nvPr>
            <p:ph type="body" idx="1"/>
          </p:nvPr>
        </p:nvSpPr>
        <p:spPr/>
        <p:txBody>
          <a:bodyPr/>
          <a:lstStyle/>
          <a:p>
            <a:r>
              <a:rPr lang="uk-UA" dirty="0"/>
              <a:t>Доповідь завершена, Дякую за увагу.</a:t>
            </a:r>
          </a:p>
          <a:p>
            <a:r>
              <a:rPr lang="uk-UA" dirty="0"/>
              <a:t>Узагальнюючи результати дисертаційного дослідження, можна зробити такі висновки відповідно до поставлених задач.</a:t>
            </a:r>
          </a:p>
          <a:p>
            <a:endParaRPr lang="uk-UA" dirty="0"/>
          </a:p>
          <a:p>
            <a:r>
              <a:rPr lang="uk-UA" dirty="0"/>
              <a:t>Перший висновок – відповідає першій задачі дослідження. Проведено аналіз сучасних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і структурних параметрів, а також урахування шумів, оклюзій, зміни освітлення та неповноти даних. Обґрунтовано, що найперспективнішим напрямом є інтеграція </a:t>
            </a:r>
            <a:r>
              <a:rPr lang="uk-UA" dirty="0" err="1"/>
              <a:t>трансформерного</a:t>
            </a:r>
            <a:r>
              <a:rPr lang="uk-UA" dirty="0"/>
              <a:t> виявлення, оптичного потоку, оцінювання глибини та ансамблевих методів.</a:t>
            </a:r>
          </a:p>
          <a:p>
            <a:endParaRPr lang="uk-UA" dirty="0"/>
          </a:p>
          <a:p>
            <a:r>
              <a:rPr lang="uk-UA" dirty="0"/>
              <a:t>Другий висновок – відповідає другій задачі дослідження.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систему метрик для оцінювання якості ідентифікації,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Розроблено модель інформаційної технології дистанційної ідентифікації.</a:t>
            </a:r>
          </a:p>
          <a:p>
            <a:endParaRPr lang="uk-UA" dirty="0"/>
          </a:p>
          <a:p>
            <a:r>
              <a:rPr lang="uk-UA" dirty="0"/>
              <a:t>Третій висновок – відповідає третій задачі дослідження. Розроблено моделі та методи інтеграції </a:t>
            </a:r>
            <a:r>
              <a:rPr lang="uk-UA" dirty="0" err="1"/>
              <a:t>трансформерного</a:t>
            </a:r>
            <a:r>
              <a:rPr lang="uk-UA" dirty="0"/>
              <a:t> детектора об'єктів </a:t>
            </a:r>
            <a:r>
              <a:rPr lang="en-US" dirty="0" err="1"/>
              <a:t>DEtection</a:t>
            </a:r>
            <a:r>
              <a:rPr lang="en-US" dirty="0"/>
              <a:t> </a:t>
            </a:r>
            <a:r>
              <a:rPr lang="en-US" dirty="0" err="1"/>
              <a:t>TRansformer</a:t>
            </a:r>
            <a:r>
              <a:rPr lang="en-US" dirty="0"/>
              <a:t> </a:t>
            </a:r>
            <a:r>
              <a:rPr lang="uk-UA" dirty="0"/>
              <a:t>з алгоритмами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нейромережевим</a:t>
            </a:r>
            <a:r>
              <a:rPr lang="uk-UA" dirty="0"/>
              <a:t> оцінюванням глибини – </a:t>
            </a:r>
            <a:r>
              <a:rPr lang="en-US" dirty="0"/>
              <a:t>Mixed Dataset of Scenes, Dense Prediction Transformer Large, </a:t>
            </a:r>
            <a:r>
              <a:rPr lang="en-US" dirty="0" err="1"/>
              <a:t>GeoNet</a:t>
            </a:r>
            <a:r>
              <a:rPr lang="en-US" dirty="0"/>
              <a:t>. </a:t>
            </a:r>
            <a:r>
              <a:rPr lang="uk-UA" dirty="0"/>
              <a:t>Запропоновано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Четвертий висновок – відповідає четвертій задачі дослідження. Реалізовано інформаційну технологію дистанційної ідентифікації параметрів динамічних об'єктів. Проведено експериментальне тестування та порівняльний аналіз ефективності запропонованих рішень для тридцяти п'яти комбінацій методів оптичного потоку та оцінювання глибини. Підтверджено, що ансамблевий підхід </a:t>
            </a:r>
            <a:r>
              <a:rPr lang="en-US" dirty="0"/>
              <a:t>Bagging </a:t>
            </a:r>
            <a:r>
              <a:rPr lang="uk-UA" dirty="0"/>
              <a:t>забезпечує найкращу точність відновлення глибини. Система здатна працювати в реальному часі та є стійкою до шумів, оклюзій та зміни освітлення».</a:t>
            </a:r>
            <a:endParaRPr lang="en-US" dirty="0"/>
          </a:p>
        </p:txBody>
      </p:sp>
      <p:sp>
        <p:nvSpPr>
          <p:cNvPr id="4" name="Місце для номера слайда 3">
            <a:extLst>
              <a:ext uri="{FF2B5EF4-FFF2-40B4-BE49-F238E27FC236}">
                <a16:creationId xmlns:a16="http://schemas.microsoft.com/office/drawing/2014/main" id="{3D9B87CC-17BE-9A0A-6F2E-2F0E100EDE75}"/>
              </a:ext>
            </a:extLst>
          </p:cNvPr>
          <p:cNvSpPr>
            <a:spLocks noGrp="1"/>
          </p:cNvSpPr>
          <p:nvPr>
            <p:ph type="sldNum" sz="quarter" idx="5"/>
          </p:nvPr>
        </p:nvSpPr>
        <p:spPr/>
        <p:txBody>
          <a:bodyPr/>
          <a:lstStyle/>
          <a:p>
            <a:fld id="{22D210FF-A65C-4C43-9EF1-FEAEFF91A41E}" type="slidenum">
              <a:rPr lang="en-US" smtClean="0"/>
              <a:t>36</a:t>
            </a:fld>
            <a:endParaRPr lang="en-US"/>
          </a:p>
        </p:txBody>
      </p:sp>
    </p:spTree>
    <p:extLst>
      <p:ext uri="{BB962C8B-B14F-4D97-AF65-F5344CB8AC3E}">
        <p14:creationId xmlns:p14="http://schemas.microsoft.com/office/powerpoint/2010/main" val="3181670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54B6-1DC2-09FD-6005-C8AB130DB684}"/>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11248CA-AF26-3AED-0C80-3842AE059FE8}"/>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F9375E6F-747A-D032-0909-363CCEDDA030}"/>
              </a:ext>
            </a:extLst>
          </p:cNvPr>
          <p:cNvSpPr>
            <a:spLocks noGrp="1"/>
          </p:cNvSpPr>
          <p:nvPr>
            <p:ph type="body" idx="1"/>
          </p:nvPr>
        </p:nvSpPr>
        <p:spPr/>
        <p:txBody>
          <a:bodyPr/>
          <a:lstStyle/>
          <a:p>
            <a:r>
              <a:rPr lang="uk-UA" dirty="0"/>
              <a:t>Доповідь завершена, Дякую за увагу.</a:t>
            </a:r>
          </a:p>
          <a:p>
            <a:r>
              <a:rPr lang="uk-UA" dirty="0"/>
              <a:t>Узагальнюючи результати дисертаційного дослідження, можна зробити такі висновки відповідно до поставлених задач.</a:t>
            </a:r>
          </a:p>
          <a:p>
            <a:endParaRPr lang="uk-UA" dirty="0"/>
          </a:p>
          <a:p>
            <a:r>
              <a:rPr lang="uk-UA" dirty="0"/>
              <a:t>Перший висновок – відповідає першій задачі дослідження. Проведено аналіз сучасних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і структурних параметрів, а також урахування шумів, оклюзій, зміни освітлення та неповноти даних. Обґрунтовано, що найперспективнішим напрямом є інтеграція </a:t>
            </a:r>
            <a:r>
              <a:rPr lang="uk-UA" dirty="0" err="1"/>
              <a:t>трансформерного</a:t>
            </a:r>
            <a:r>
              <a:rPr lang="uk-UA" dirty="0"/>
              <a:t> виявлення, оптичного потоку, оцінювання глибини та ансамблевих методів.</a:t>
            </a:r>
          </a:p>
          <a:p>
            <a:endParaRPr lang="uk-UA" dirty="0"/>
          </a:p>
          <a:p>
            <a:r>
              <a:rPr lang="uk-UA" dirty="0"/>
              <a:t>Другий висновок – відповідає другій задачі дослідження.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систему метрик для оцінювання якості ідентифікації,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Розроблено модель інформаційної технології дистанційної ідентифікації.</a:t>
            </a:r>
          </a:p>
          <a:p>
            <a:endParaRPr lang="uk-UA" dirty="0"/>
          </a:p>
          <a:p>
            <a:r>
              <a:rPr lang="uk-UA" dirty="0"/>
              <a:t>Третій висновок – відповідає третій задачі дослідження. Розроблено моделі та методи інтеграції </a:t>
            </a:r>
            <a:r>
              <a:rPr lang="uk-UA" dirty="0" err="1"/>
              <a:t>трансформерного</a:t>
            </a:r>
            <a:r>
              <a:rPr lang="uk-UA" dirty="0"/>
              <a:t> детектора об'єктів </a:t>
            </a:r>
            <a:r>
              <a:rPr lang="en-US" dirty="0" err="1"/>
              <a:t>DEtection</a:t>
            </a:r>
            <a:r>
              <a:rPr lang="en-US" dirty="0"/>
              <a:t> </a:t>
            </a:r>
            <a:r>
              <a:rPr lang="en-US" dirty="0" err="1"/>
              <a:t>TRansformer</a:t>
            </a:r>
            <a:r>
              <a:rPr lang="en-US" dirty="0"/>
              <a:t> </a:t>
            </a:r>
            <a:r>
              <a:rPr lang="uk-UA" dirty="0"/>
              <a:t>з алгоритмами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нейромережевим</a:t>
            </a:r>
            <a:r>
              <a:rPr lang="uk-UA" dirty="0"/>
              <a:t> оцінюванням глибини – </a:t>
            </a:r>
            <a:r>
              <a:rPr lang="en-US" dirty="0"/>
              <a:t>Mixed Dataset of Scenes, Dense Prediction Transformer Large, </a:t>
            </a:r>
            <a:r>
              <a:rPr lang="en-US" dirty="0" err="1"/>
              <a:t>GeoNet</a:t>
            </a:r>
            <a:r>
              <a:rPr lang="en-US" dirty="0"/>
              <a:t>. </a:t>
            </a:r>
            <a:r>
              <a:rPr lang="uk-UA" dirty="0"/>
              <a:t>Запропоновано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Четвертий висновок – відповідає четвертій задачі дослідження. Реалізовано інформаційну технологію дистанційної ідентифікації параметрів динамічних об'єктів. Проведено експериментальне тестування та порівняльний аналіз ефективності запропонованих рішень для тридцяти п'яти комбінацій методів оптичного потоку та оцінювання глибини. Підтверджено, що ансамблевий підхід </a:t>
            </a:r>
            <a:r>
              <a:rPr lang="en-US" dirty="0"/>
              <a:t>Bagging </a:t>
            </a:r>
            <a:r>
              <a:rPr lang="uk-UA" dirty="0"/>
              <a:t>забезпечує найкращу точність відновлення глибини. Система здатна працювати в реальному часі та є стійкою до шумів, оклюзій та зміни освітлення».</a:t>
            </a:r>
            <a:endParaRPr lang="en-US" dirty="0"/>
          </a:p>
        </p:txBody>
      </p:sp>
      <p:sp>
        <p:nvSpPr>
          <p:cNvPr id="4" name="Місце для номера слайда 3">
            <a:extLst>
              <a:ext uri="{FF2B5EF4-FFF2-40B4-BE49-F238E27FC236}">
                <a16:creationId xmlns:a16="http://schemas.microsoft.com/office/drawing/2014/main" id="{A4621E01-2D6B-85E0-A8AA-5E9C0C3B5D62}"/>
              </a:ext>
            </a:extLst>
          </p:cNvPr>
          <p:cNvSpPr>
            <a:spLocks noGrp="1"/>
          </p:cNvSpPr>
          <p:nvPr>
            <p:ph type="sldNum" sz="quarter" idx="5"/>
          </p:nvPr>
        </p:nvSpPr>
        <p:spPr/>
        <p:txBody>
          <a:bodyPr/>
          <a:lstStyle/>
          <a:p>
            <a:fld id="{22D210FF-A65C-4C43-9EF1-FEAEFF91A41E}" type="slidenum">
              <a:rPr lang="en-US" smtClean="0"/>
              <a:t>37</a:t>
            </a:fld>
            <a:endParaRPr lang="en-US"/>
          </a:p>
        </p:txBody>
      </p:sp>
    </p:spTree>
    <p:extLst>
      <p:ext uri="{BB962C8B-B14F-4D97-AF65-F5344CB8AC3E}">
        <p14:creationId xmlns:p14="http://schemas.microsoft.com/office/powerpoint/2010/main" val="39691317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A6CA3-19B1-C541-9157-CF502ECA7F55}"/>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C6B212EF-6225-B9E3-B2E0-FA9DAE0D2593}"/>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BEAADF15-06F6-C9C3-9781-454F7AB3C565}"/>
              </a:ext>
            </a:extLst>
          </p:cNvPr>
          <p:cNvSpPr>
            <a:spLocks noGrp="1"/>
          </p:cNvSpPr>
          <p:nvPr>
            <p:ph type="body" idx="1"/>
          </p:nvPr>
        </p:nvSpPr>
        <p:spPr/>
        <p:txBody>
          <a:bodyPr/>
          <a:lstStyle/>
          <a:p>
            <a:r>
              <a:rPr lang="uk-UA" dirty="0"/>
              <a:t>Доповідь завершена, Дякую за увагу.</a:t>
            </a:r>
          </a:p>
          <a:p>
            <a:r>
              <a:rPr lang="uk-UA" dirty="0"/>
              <a:t>Узагальнюючи результати дисертаційного дослідження, можна зробити такі висновки відповідно до поставлених задач.</a:t>
            </a:r>
          </a:p>
          <a:p>
            <a:endParaRPr lang="uk-UA" dirty="0"/>
          </a:p>
          <a:p>
            <a:r>
              <a:rPr lang="uk-UA" dirty="0"/>
              <a:t>Перший висновок – відповідає першій задачі дослідження. Проведено аналіз сучасних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і структурних параметрів, а також урахування шумів, оклюзій, зміни освітлення та неповноти даних. Обґрунтовано, що найперспективнішим напрямом є інтеграція </a:t>
            </a:r>
            <a:r>
              <a:rPr lang="uk-UA" dirty="0" err="1"/>
              <a:t>трансформерного</a:t>
            </a:r>
            <a:r>
              <a:rPr lang="uk-UA" dirty="0"/>
              <a:t> виявлення, оптичного потоку, оцінювання глибини та ансамблевих методів.</a:t>
            </a:r>
          </a:p>
          <a:p>
            <a:endParaRPr lang="uk-UA" dirty="0"/>
          </a:p>
          <a:p>
            <a:r>
              <a:rPr lang="uk-UA" dirty="0"/>
              <a:t>Другий висновок – відповідає другій задачі дослідження.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систему метрик для оцінювання якості ідентифікації,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Розроблено модель інформаційної технології дистанційної ідентифікації.</a:t>
            </a:r>
          </a:p>
          <a:p>
            <a:endParaRPr lang="uk-UA" dirty="0"/>
          </a:p>
          <a:p>
            <a:r>
              <a:rPr lang="uk-UA" dirty="0"/>
              <a:t>Третій висновок – відповідає третій задачі дослідження. Розроблено моделі та методи інтеграції </a:t>
            </a:r>
            <a:r>
              <a:rPr lang="uk-UA" dirty="0" err="1"/>
              <a:t>трансформерного</a:t>
            </a:r>
            <a:r>
              <a:rPr lang="uk-UA" dirty="0"/>
              <a:t> детектора об'єктів </a:t>
            </a:r>
            <a:r>
              <a:rPr lang="en-US" dirty="0" err="1"/>
              <a:t>DEtection</a:t>
            </a:r>
            <a:r>
              <a:rPr lang="en-US" dirty="0"/>
              <a:t> </a:t>
            </a:r>
            <a:r>
              <a:rPr lang="en-US" dirty="0" err="1"/>
              <a:t>TRansformer</a:t>
            </a:r>
            <a:r>
              <a:rPr lang="en-US" dirty="0"/>
              <a:t> </a:t>
            </a:r>
            <a:r>
              <a:rPr lang="uk-UA" dirty="0"/>
              <a:t>з алгоритмами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нейромережевим</a:t>
            </a:r>
            <a:r>
              <a:rPr lang="uk-UA" dirty="0"/>
              <a:t> оцінюванням глибини – </a:t>
            </a:r>
            <a:r>
              <a:rPr lang="en-US" dirty="0"/>
              <a:t>Mixed Dataset of Scenes, Dense Prediction Transformer Large, </a:t>
            </a:r>
            <a:r>
              <a:rPr lang="en-US" dirty="0" err="1"/>
              <a:t>GeoNet</a:t>
            </a:r>
            <a:r>
              <a:rPr lang="en-US" dirty="0"/>
              <a:t>. </a:t>
            </a:r>
            <a:r>
              <a:rPr lang="uk-UA" dirty="0"/>
              <a:t>Запропоновано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Четвертий висновок – відповідає четвертій задачі дослідження. Реалізовано інформаційну технологію дистанційної ідентифікації параметрів динамічних об'єктів. Проведено експериментальне тестування та порівняльний аналіз ефективності запропонованих рішень для тридцяти п'яти комбінацій методів оптичного потоку та оцінювання глибини. Підтверджено, що ансамблевий підхід </a:t>
            </a:r>
            <a:r>
              <a:rPr lang="en-US" dirty="0"/>
              <a:t>Bagging </a:t>
            </a:r>
            <a:r>
              <a:rPr lang="uk-UA" dirty="0"/>
              <a:t>забезпечує найкращу точність відновлення глибини. Система здатна працювати в реальному часі та є стійкою до шумів, оклюзій та зміни освітлення».</a:t>
            </a:r>
            <a:endParaRPr lang="en-US" dirty="0"/>
          </a:p>
        </p:txBody>
      </p:sp>
      <p:sp>
        <p:nvSpPr>
          <p:cNvPr id="4" name="Місце для номера слайда 3">
            <a:extLst>
              <a:ext uri="{FF2B5EF4-FFF2-40B4-BE49-F238E27FC236}">
                <a16:creationId xmlns:a16="http://schemas.microsoft.com/office/drawing/2014/main" id="{6483D2A5-063E-366B-16A4-82B405DEDD77}"/>
              </a:ext>
            </a:extLst>
          </p:cNvPr>
          <p:cNvSpPr>
            <a:spLocks noGrp="1"/>
          </p:cNvSpPr>
          <p:nvPr>
            <p:ph type="sldNum" sz="quarter" idx="5"/>
          </p:nvPr>
        </p:nvSpPr>
        <p:spPr/>
        <p:txBody>
          <a:bodyPr/>
          <a:lstStyle/>
          <a:p>
            <a:fld id="{22D210FF-A65C-4C43-9EF1-FEAEFF91A41E}" type="slidenum">
              <a:rPr lang="en-US" smtClean="0"/>
              <a:t>38</a:t>
            </a:fld>
            <a:endParaRPr lang="en-US"/>
          </a:p>
        </p:txBody>
      </p:sp>
    </p:spTree>
    <p:extLst>
      <p:ext uri="{BB962C8B-B14F-4D97-AF65-F5344CB8AC3E}">
        <p14:creationId xmlns:p14="http://schemas.microsoft.com/office/powerpoint/2010/main" val="20923402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D210FF-A65C-4C43-9EF1-FEAEFF91A41E}" type="slidenum">
              <a:rPr lang="en-US" smtClean="0"/>
              <a:t>39</a:t>
            </a:fld>
            <a:endParaRPr lang="en-US"/>
          </a:p>
        </p:txBody>
      </p:sp>
    </p:spTree>
    <p:extLst>
      <p:ext uri="{BB962C8B-B14F-4D97-AF65-F5344CB8AC3E}">
        <p14:creationId xmlns:p14="http://schemas.microsoft.com/office/powerpoint/2010/main" val="15755246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874-D52B-979B-4172-4F7C12E8F33D}"/>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F71FD480-81AB-1B61-138D-41247038B402}"/>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A52163B2-DA74-518B-EC9F-934E664320A3}"/>
              </a:ext>
            </a:extLst>
          </p:cNvPr>
          <p:cNvSpPr>
            <a:spLocks noGrp="1"/>
          </p:cNvSpPr>
          <p:nvPr>
            <p:ph type="body" idx="1"/>
          </p:nvPr>
        </p:nvSpPr>
        <p:spPr/>
        <p:txBody>
          <a:bodyPr/>
          <a:lstStyle/>
          <a:p>
            <a:r>
              <a:rPr lang="uk-UA" dirty="0"/>
              <a:t>Доповідь завершена, Дякую за увагу.</a:t>
            </a:r>
          </a:p>
          <a:p>
            <a:r>
              <a:rPr lang="uk-UA" dirty="0"/>
              <a:t>Узагальнюючи результати дисертаційного дослідження, можна зробити такі висновки відповідно до поставлених задач.</a:t>
            </a:r>
          </a:p>
          <a:p>
            <a:endParaRPr lang="uk-UA" dirty="0"/>
          </a:p>
          <a:p>
            <a:r>
              <a:rPr lang="uk-UA" dirty="0"/>
              <a:t>Перший висновок – відповідає першій задачі дослідження. Проведено аналіз сучасних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і структурних параметрів, а також урахування шумів, оклюзій, зміни освітлення та неповноти даних. Обґрунтовано, що найперспективнішим напрямом є інтеграція </a:t>
            </a:r>
            <a:r>
              <a:rPr lang="uk-UA" dirty="0" err="1"/>
              <a:t>трансформерного</a:t>
            </a:r>
            <a:r>
              <a:rPr lang="uk-UA" dirty="0"/>
              <a:t> виявлення, оптичного потоку, оцінювання глибини та ансамблевих методів.</a:t>
            </a:r>
          </a:p>
          <a:p>
            <a:endParaRPr lang="uk-UA" dirty="0"/>
          </a:p>
          <a:p>
            <a:r>
              <a:rPr lang="uk-UA" dirty="0"/>
              <a:t>Другий висновок – відповідає другій задачі дослідження.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систему метрик для оцінювання якості ідентифікації,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Розроблено модель інформаційної технології дистанційної ідентифікації.</a:t>
            </a:r>
          </a:p>
          <a:p>
            <a:endParaRPr lang="uk-UA" dirty="0"/>
          </a:p>
          <a:p>
            <a:r>
              <a:rPr lang="uk-UA" dirty="0"/>
              <a:t>Третій висновок – відповідає третій задачі дослідження. Розроблено моделі та методи інтеграції </a:t>
            </a:r>
            <a:r>
              <a:rPr lang="uk-UA" dirty="0" err="1"/>
              <a:t>трансформерного</a:t>
            </a:r>
            <a:r>
              <a:rPr lang="uk-UA" dirty="0"/>
              <a:t> детектора об'єктів </a:t>
            </a:r>
            <a:r>
              <a:rPr lang="en-US" dirty="0" err="1"/>
              <a:t>DEtection</a:t>
            </a:r>
            <a:r>
              <a:rPr lang="en-US" dirty="0"/>
              <a:t> </a:t>
            </a:r>
            <a:r>
              <a:rPr lang="en-US" dirty="0" err="1"/>
              <a:t>TRansformer</a:t>
            </a:r>
            <a:r>
              <a:rPr lang="en-US" dirty="0"/>
              <a:t> </a:t>
            </a:r>
            <a:r>
              <a:rPr lang="uk-UA" dirty="0"/>
              <a:t>з алгоритмами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нейромережевим</a:t>
            </a:r>
            <a:r>
              <a:rPr lang="uk-UA" dirty="0"/>
              <a:t> оцінюванням глибини – </a:t>
            </a:r>
            <a:r>
              <a:rPr lang="en-US" dirty="0"/>
              <a:t>Mixed Dataset of Scenes, Dense Prediction Transformer Large, </a:t>
            </a:r>
            <a:r>
              <a:rPr lang="en-US" dirty="0" err="1"/>
              <a:t>GeoNet</a:t>
            </a:r>
            <a:r>
              <a:rPr lang="en-US" dirty="0"/>
              <a:t>. </a:t>
            </a:r>
            <a:r>
              <a:rPr lang="uk-UA" dirty="0"/>
              <a:t>Запропоновано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Четвертий висновок – відповідає четвертій задачі дослідження. Реалізовано інформаційну технологію дистанційної ідентифікації параметрів динамічних об'єктів. Проведено експериментальне тестування та порівняльний аналіз ефективності запропонованих рішень для тридцяти п'яти комбінацій методів оптичного потоку та оцінювання глибини. Підтверджено, що ансамблевий підхід </a:t>
            </a:r>
            <a:r>
              <a:rPr lang="en-US" dirty="0"/>
              <a:t>Bagging </a:t>
            </a:r>
            <a:r>
              <a:rPr lang="uk-UA" dirty="0"/>
              <a:t>забезпечує найкращу точність відновлення глибини. Система здатна працювати в реальному часі та є стійкою до шумів, оклюзій та зміни освітлення».</a:t>
            </a:r>
            <a:endParaRPr lang="en-US" dirty="0"/>
          </a:p>
        </p:txBody>
      </p:sp>
      <p:sp>
        <p:nvSpPr>
          <p:cNvPr id="4" name="Місце для номера слайда 3">
            <a:extLst>
              <a:ext uri="{FF2B5EF4-FFF2-40B4-BE49-F238E27FC236}">
                <a16:creationId xmlns:a16="http://schemas.microsoft.com/office/drawing/2014/main" id="{860E8198-4281-A2FF-8572-D824F8EC233D}"/>
              </a:ext>
            </a:extLst>
          </p:cNvPr>
          <p:cNvSpPr>
            <a:spLocks noGrp="1"/>
          </p:cNvSpPr>
          <p:nvPr>
            <p:ph type="sldNum" sz="quarter" idx="5"/>
          </p:nvPr>
        </p:nvSpPr>
        <p:spPr/>
        <p:txBody>
          <a:bodyPr/>
          <a:lstStyle/>
          <a:p>
            <a:fld id="{22D210FF-A65C-4C43-9EF1-FEAEFF91A41E}" type="slidenum">
              <a:rPr lang="en-US" smtClean="0"/>
              <a:t>40</a:t>
            </a:fld>
            <a:endParaRPr lang="en-US"/>
          </a:p>
        </p:txBody>
      </p:sp>
    </p:spTree>
    <p:extLst>
      <p:ext uri="{BB962C8B-B14F-4D97-AF65-F5344CB8AC3E}">
        <p14:creationId xmlns:p14="http://schemas.microsoft.com/office/powerpoint/2010/main" val="37987544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«демонструє еволюцію класичних методів виявлення об'єктів.</a:t>
            </a:r>
          </a:p>
          <a:p>
            <a:r>
              <a:rPr lang="uk-UA" sz="1200" b="0" i="0" kern="1200" dirty="0">
                <a:solidFill>
                  <a:schemeClr val="tx1"/>
                </a:solidFill>
                <a:effectLst/>
                <a:latin typeface="+mn-lt"/>
                <a:ea typeface="+mn-ea"/>
                <a:cs typeface="+mn-cs"/>
              </a:rPr>
              <a:t>Ранній етап – каскадний детектор Віоли-Джонса з інтегральним представленням зображення. Подальший розвиток – метод гістограм орієнтованих градієнтів для стійкого виділення форм об'єктів. Далі – моделі деформованих частин, які враховують варіативність форми. І завершальний етап класичного підходу – агреговані канальні ознаки, що об'єднують кілька типів дескрипторів».</a:t>
            </a:r>
          </a:p>
          <a:p>
            <a:r>
              <a:rPr lang="uk-UA" dirty="0"/>
              <a:t>----------------------------------------------------------------------------------------------------</a:t>
            </a:r>
          </a:p>
          <a:p>
            <a:r>
              <a:rPr lang="uk-UA" dirty="0"/>
              <a:t>Еволюція класичних методів виявлення об'єктів (рис.1.1)</a:t>
            </a:r>
          </a:p>
          <a:p>
            <a:r>
              <a:rPr lang="uk-UA" dirty="0"/>
              <a:t>Що казати:</a:t>
            </a:r>
          </a:p>
          <a:p>
            <a:r>
              <a:rPr lang="uk-UA" dirty="0"/>
              <a:t>«На рисунку 1.1 показано еволюцію класичних методів виявлення об'єктів, яка демонструє перехід від каскадних детекторів до </a:t>
            </a:r>
            <a:r>
              <a:rPr lang="uk-UA" dirty="0" err="1"/>
              <a:t>ознакових</a:t>
            </a:r>
            <a:r>
              <a:rPr lang="uk-UA" dirty="0"/>
              <a:t> і деформованих моделей.</a:t>
            </a:r>
          </a:p>
          <a:p>
            <a:endParaRPr lang="uk-UA" dirty="0"/>
          </a:p>
          <a:p>
            <a:r>
              <a:rPr lang="uk-UA" dirty="0"/>
              <a:t>Ранній етап цієї еволюції представлений каскадним детектором Віоли-Джонса, який використовує інтегральне представлення зображення та набір слабких класифікаторів для швидкого виявлення </a:t>
            </a:r>
            <a:r>
              <a:rPr lang="uk-UA" dirty="0" err="1"/>
              <a:t>облич</a:t>
            </a:r>
            <a:r>
              <a:rPr lang="uk-UA" dirty="0"/>
              <a:t>.</a:t>
            </a:r>
          </a:p>
          <a:p>
            <a:endParaRPr lang="uk-UA" dirty="0"/>
          </a:p>
          <a:p>
            <a:r>
              <a:rPr lang="uk-UA" dirty="0"/>
              <a:t>Подальший розвиток пов'язаний з появою методу гістограм орієнтованих градієнтів, який забезпечує більш стійке виділення форм об'єктів на основі локальних градієнтів інтенсивності.</a:t>
            </a:r>
          </a:p>
          <a:p>
            <a:endParaRPr lang="uk-UA" dirty="0"/>
          </a:p>
          <a:p>
            <a:r>
              <a:rPr lang="uk-UA" dirty="0"/>
              <a:t>Наступним кроком стали моделі деформованих частин, які враховують внутрішню варіативність форми об'єкта через представлення його у вигляді набору частин, з'єднаних пружними зв'язками.</a:t>
            </a:r>
          </a:p>
          <a:p>
            <a:endParaRPr lang="uk-UA" dirty="0"/>
          </a:p>
          <a:p>
            <a:r>
              <a:rPr lang="uk-UA" dirty="0"/>
              <a:t>Завершальним етапом класичного підходу стало створення агрегованих канальних ознак, що об'єднують кілька типів дескрипторів.»</a:t>
            </a:r>
          </a:p>
          <a:p>
            <a:endParaRPr lang="uk-UA" dirty="0"/>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41</a:t>
            </a:fld>
            <a:endParaRPr lang="en-US"/>
          </a:p>
        </p:txBody>
      </p:sp>
    </p:spTree>
    <p:extLst>
      <p:ext uri="{BB962C8B-B14F-4D97-AF65-F5344CB8AC3E}">
        <p14:creationId xmlns:p14="http://schemas.microsoft.com/office/powerpoint/2010/main" val="12226294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«показано розвиток </a:t>
            </a:r>
            <a:r>
              <a:rPr lang="uk-UA" sz="1200" b="0" i="0" kern="1200" dirty="0" err="1">
                <a:solidFill>
                  <a:schemeClr val="tx1"/>
                </a:solidFill>
                <a:effectLst/>
                <a:latin typeface="+mn-lt"/>
                <a:ea typeface="+mn-ea"/>
                <a:cs typeface="+mn-cs"/>
              </a:rPr>
              <a:t>одноетапних</a:t>
            </a:r>
            <a:r>
              <a:rPr lang="uk-UA" sz="1200" b="0" i="0" kern="1200" dirty="0">
                <a:solidFill>
                  <a:schemeClr val="tx1"/>
                </a:solidFill>
                <a:effectLst/>
                <a:latin typeface="+mn-lt"/>
                <a:ea typeface="+mn-ea"/>
                <a:cs typeface="+mn-cs"/>
              </a:rPr>
              <a:t> </a:t>
            </a:r>
            <a:r>
              <a:rPr lang="uk-UA" sz="1200" b="0" i="0" kern="1200" dirty="0" err="1">
                <a:solidFill>
                  <a:schemeClr val="tx1"/>
                </a:solidFill>
                <a:effectLst/>
                <a:latin typeface="+mn-lt"/>
                <a:ea typeface="+mn-ea"/>
                <a:cs typeface="+mn-cs"/>
              </a:rPr>
              <a:t>згорткових</a:t>
            </a:r>
            <a:r>
              <a:rPr lang="uk-UA" sz="1200" b="0" i="0" kern="1200" dirty="0">
                <a:solidFill>
                  <a:schemeClr val="tx1"/>
                </a:solidFill>
                <a:effectLst/>
                <a:latin typeface="+mn-lt"/>
                <a:ea typeface="+mn-ea"/>
                <a:cs typeface="+mn-cs"/>
              </a:rPr>
              <a:t> нейронних детекторів.</a:t>
            </a:r>
          </a:p>
          <a:p>
            <a:r>
              <a:rPr lang="uk-UA" sz="1200" b="0" i="0" kern="1200" dirty="0">
                <a:solidFill>
                  <a:schemeClr val="tx1"/>
                </a:solidFill>
                <a:effectLst/>
                <a:latin typeface="+mn-lt"/>
                <a:ea typeface="+mn-ea"/>
                <a:cs typeface="+mn-cs"/>
              </a:rPr>
              <a:t>Починаючи з </a:t>
            </a:r>
            <a:r>
              <a:rPr lang="en-US" sz="1200" b="0" i="0" kern="1200" dirty="0">
                <a:solidFill>
                  <a:schemeClr val="tx1"/>
                </a:solidFill>
                <a:effectLst/>
                <a:latin typeface="+mn-lt"/>
                <a:ea typeface="+mn-ea"/>
                <a:cs typeface="+mn-cs"/>
              </a:rPr>
              <a:t>YOLO 2015 </a:t>
            </a:r>
            <a:r>
              <a:rPr lang="uk-UA" sz="1200" b="0" i="0" kern="1200" dirty="0">
                <a:solidFill>
                  <a:schemeClr val="tx1"/>
                </a:solidFill>
                <a:effectLst/>
                <a:latin typeface="+mn-lt"/>
                <a:ea typeface="+mn-ea"/>
                <a:cs typeface="+mn-cs"/>
              </a:rPr>
              <a:t>року, далі </a:t>
            </a:r>
            <a:r>
              <a:rPr lang="en-US" sz="1200" b="0" i="0" kern="1200" dirty="0">
                <a:solidFill>
                  <a:schemeClr val="tx1"/>
                </a:solidFill>
                <a:effectLst/>
                <a:latin typeface="+mn-lt"/>
                <a:ea typeface="+mn-ea"/>
                <a:cs typeface="+mn-cs"/>
              </a:rPr>
              <a:t>SSD, </a:t>
            </a:r>
            <a:r>
              <a:rPr lang="en-US" sz="1200" b="0" i="0" kern="1200" dirty="0" err="1">
                <a:solidFill>
                  <a:schemeClr val="tx1"/>
                </a:solidFill>
                <a:effectLst/>
                <a:latin typeface="+mn-lt"/>
                <a:ea typeface="+mn-ea"/>
                <a:cs typeface="+mn-cs"/>
              </a:rPr>
              <a:t>RetinaNet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 фокальною функцією втрат, кутові та центральні детектори </a:t>
            </a:r>
            <a:r>
              <a:rPr lang="en-US" sz="1200" b="0" i="0" kern="1200" dirty="0" err="1">
                <a:solidFill>
                  <a:schemeClr val="tx1"/>
                </a:solidFill>
                <a:effectLst/>
                <a:latin typeface="+mn-lt"/>
                <a:ea typeface="+mn-ea"/>
                <a:cs typeface="+mn-cs"/>
              </a:rPr>
              <a:t>CornerNet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0" i="0" kern="1200" dirty="0" err="1">
                <a:solidFill>
                  <a:schemeClr val="tx1"/>
                </a:solidFill>
                <a:effectLst/>
                <a:latin typeface="+mn-lt"/>
                <a:ea typeface="+mn-ea"/>
                <a:cs typeface="+mn-cs"/>
              </a:rPr>
              <a:t>CenterNet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Завершальний етап – </a:t>
            </a:r>
            <a:r>
              <a:rPr lang="uk-UA" sz="1200" b="0" i="0" kern="1200" dirty="0" err="1">
                <a:solidFill>
                  <a:schemeClr val="tx1"/>
                </a:solidFill>
                <a:effectLst/>
                <a:latin typeface="+mn-lt"/>
                <a:ea typeface="+mn-ea"/>
                <a:cs typeface="+mn-cs"/>
              </a:rPr>
              <a:t>трансформерні</a:t>
            </a:r>
            <a:r>
              <a:rPr lang="uk-UA" sz="1200" b="0" i="0" kern="1200" dirty="0">
                <a:solidFill>
                  <a:schemeClr val="tx1"/>
                </a:solidFill>
                <a:effectLst/>
                <a:latin typeface="+mn-lt"/>
                <a:ea typeface="+mn-ea"/>
                <a:cs typeface="+mn-cs"/>
              </a:rPr>
              <a:t> детектори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Deformable DETR, </a:t>
            </a:r>
            <a:r>
              <a:rPr lang="uk-UA" sz="1200" b="0" i="0" kern="1200" dirty="0">
                <a:solidFill>
                  <a:schemeClr val="tx1"/>
                </a:solidFill>
                <a:effectLst/>
                <a:latin typeface="+mn-lt"/>
                <a:ea typeface="+mn-ea"/>
                <a:cs typeface="+mn-cs"/>
              </a:rPr>
              <a:t>які розглядають виявлення об'єктів як задачу прогнозування набору об'єктів без потреби в механізмах придушення не-максимумів».</a:t>
            </a:r>
          </a:p>
          <a:p>
            <a:pPr marL="0" marR="0" lvl="0" indent="0" algn="l" defTabSz="914400" rtl="0" eaLnBrk="1" fontAlgn="auto" latinLnBrk="0" hangingPunct="1">
              <a:lnSpc>
                <a:spcPct val="100000"/>
              </a:lnSpc>
              <a:spcBef>
                <a:spcPts val="0"/>
              </a:spcBef>
              <a:spcAft>
                <a:spcPts val="0"/>
              </a:spcAft>
              <a:buClrTx/>
              <a:buSzTx/>
              <a:buFontTx/>
              <a:buNone/>
              <a:tabLst/>
              <a:defRPr/>
            </a:pPr>
            <a:r>
              <a:rPr lang="uk-UA" sz="1200" kern="1200" dirty="0">
                <a:solidFill>
                  <a:schemeClr val="tx1"/>
                </a:solidFill>
                <a:effectLst/>
                <a:latin typeface="+mn-lt"/>
                <a:ea typeface="+mn-ea"/>
                <a:cs typeface="+mn-cs"/>
              </a:rPr>
              <a:t>-----------------------------------------------------------------------</a:t>
            </a:r>
            <a:endParaRPr lang="en-US" dirty="0">
              <a:effectLst/>
            </a:endParaRPr>
          </a:p>
          <a:p>
            <a:endParaRPr lang="uk-UA" dirty="0"/>
          </a:p>
          <a:p>
            <a:r>
              <a:rPr lang="uk-UA" dirty="0" err="1"/>
              <a:t>Одноетапні</a:t>
            </a:r>
            <a:r>
              <a:rPr lang="uk-UA" dirty="0"/>
              <a:t> </a:t>
            </a:r>
            <a:r>
              <a:rPr lang="en-US" dirty="0"/>
              <a:t>CNN-</a:t>
            </a:r>
            <a:r>
              <a:rPr lang="uk-UA" dirty="0"/>
              <a:t>детектори (рис.1.2)</a:t>
            </a:r>
          </a:p>
          <a:p>
            <a:r>
              <a:rPr lang="uk-UA" dirty="0"/>
              <a:t>Що казати:</a:t>
            </a:r>
          </a:p>
          <a:p>
            <a:r>
              <a:rPr lang="uk-UA" dirty="0"/>
              <a:t>«На рисунку 1.2 показано розвиток </a:t>
            </a:r>
            <a:r>
              <a:rPr lang="uk-UA" dirty="0" err="1"/>
              <a:t>одноетапних</a:t>
            </a:r>
            <a:r>
              <a:rPr lang="uk-UA" dirty="0"/>
              <a:t> </a:t>
            </a:r>
            <a:r>
              <a:rPr lang="uk-UA" dirty="0" err="1"/>
              <a:t>згорткових</a:t>
            </a:r>
            <a:r>
              <a:rPr lang="uk-UA" dirty="0"/>
              <a:t> нейронних детекторів, які забезпечують швидке прогнозування класів і координат об'єктів в одному проході мережі.</a:t>
            </a:r>
          </a:p>
          <a:p>
            <a:endParaRPr lang="uk-UA" dirty="0"/>
          </a:p>
          <a:p>
            <a:r>
              <a:rPr lang="uk-UA" dirty="0"/>
              <a:t>Раннім представником цього напряму є детектор </a:t>
            </a:r>
            <a:r>
              <a:rPr lang="en-US" dirty="0"/>
              <a:t>YOLO 2015 </a:t>
            </a:r>
            <a:r>
              <a:rPr lang="uk-UA" dirty="0"/>
              <a:t>року, який виконує регресію обмежувальних рамок безпосередньо з </a:t>
            </a:r>
            <a:r>
              <a:rPr lang="uk-UA" dirty="0" err="1"/>
              <a:t>повнозв'язних</a:t>
            </a:r>
            <a:r>
              <a:rPr lang="uk-UA" dirty="0"/>
              <a:t> шарів.</a:t>
            </a:r>
          </a:p>
          <a:p>
            <a:endParaRPr lang="uk-UA" dirty="0"/>
          </a:p>
          <a:p>
            <a:r>
              <a:rPr lang="uk-UA" dirty="0"/>
              <a:t>Альтернативним підходом став метод </a:t>
            </a:r>
            <a:r>
              <a:rPr lang="en-US" dirty="0"/>
              <a:t>SSD 2015 </a:t>
            </a:r>
            <a:r>
              <a:rPr lang="uk-UA" dirty="0"/>
              <a:t>року, що використовує набір </a:t>
            </a:r>
            <a:r>
              <a:rPr lang="uk-UA" dirty="0" err="1"/>
              <a:t>згорткових</a:t>
            </a:r>
            <a:r>
              <a:rPr lang="uk-UA" dirty="0"/>
              <a:t> фільтрів різного масштабу для виявлення об'єктів різних розмірів.</a:t>
            </a:r>
          </a:p>
          <a:p>
            <a:endParaRPr lang="uk-UA" dirty="0"/>
          </a:p>
          <a:p>
            <a:r>
              <a:rPr lang="uk-UA" dirty="0"/>
              <a:t>Подальший розвиток пов'язаний з появою </a:t>
            </a:r>
            <a:r>
              <a:rPr lang="en-US" dirty="0" err="1"/>
              <a:t>RetinaNet</a:t>
            </a:r>
            <a:r>
              <a:rPr lang="en-US" dirty="0"/>
              <a:t> </a:t>
            </a:r>
            <a:r>
              <a:rPr lang="uk-UA" dirty="0"/>
              <a:t>у 2017 році, який впровадив фокальну функцію втрат для подолання проблеми дисбалансу між фоновими та цільовими пікселями.</a:t>
            </a:r>
          </a:p>
          <a:p>
            <a:endParaRPr lang="uk-UA" dirty="0"/>
          </a:p>
          <a:p>
            <a:r>
              <a:rPr lang="uk-UA" dirty="0"/>
              <a:t>Кутові та центральні детектори </a:t>
            </a:r>
            <a:r>
              <a:rPr lang="en-US" dirty="0" err="1"/>
              <a:t>CornerNet</a:t>
            </a:r>
            <a:r>
              <a:rPr lang="en-US" dirty="0"/>
              <a:t> (2018) </a:t>
            </a:r>
            <a:r>
              <a:rPr lang="uk-UA" dirty="0"/>
              <a:t>та </a:t>
            </a:r>
            <a:r>
              <a:rPr lang="en-US" dirty="0" err="1"/>
              <a:t>CenterNet</a:t>
            </a:r>
            <a:r>
              <a:rPr lang="en-US" dirty="0"/>
              <a:t> (2019) </a:t>
            </a:r>
            <a:r>
              <a:rPr lang="uk-UA" dirty="0"/>
              <a:t>відмовилися від традиційних якірних рамок на користь виявлення об'єктів як пар кутових точок або центрів.</a:t>
            </a:r>
          </a:p>
          <a:p>
            <a:endParaRPr lang="uk-UA" dirty="0"/>
          </a:p>
          <a:p>
            <a:r>
              <a:rPr lang="uk-UA" dirty="0"/>
              <a:t>Завершальним етапом є </a:t>
            </a:r>
            <a:r>
              <a:rPr lang="uk-UA" dirty="0" err="1"/>
              <a:t>трансформерні</a:t>
            </a:r>
            <a:r>
              <a:rPr lang="uk-UA" dirty="0"/>
              <a:t> детектори </a:t>
            </a:r>
            <a:r>
              <a:rPr lang="en-US" dirty="0"/>
              <a:t>DETR (2020) </a:t>
            </a:r>
            <a:r>
              <a:rPr lang="uk-UA" dirty="0"/>
              <a:t>та </a:t>
            </a:r>
            <a:r>
              <a:rPr lang="en-US" dirty="0"/>
              <a:t>Deformable DETR (2021), </a:t>
            </a:r>
            <a:r>
              <a:rPr lang="uk-UA" dirty="0"/>
              <a:t>які розглядають виявлення об'єктів як задачу прогнозування набору об'єктів без потреби в механізмах придушення не-максимумів.»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42</a:t>
            </a:fld>
            <a:endParaRPr lang="en-US"/>
          </a:p>
        </p:txBody>
      </p:sp>
    </p:spTree>
    <p:extLst>
      <p:ext uri="{BB962C8B-B14F-4D97-AF65-F5344CB8AC3E}">
        <p14:creationId xmlns:p14="http://schemas.microsoft.com/office/powerpoint/2010/main" val="40713650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«Двоетапні архітектури </a:t>
            </a:r>
            <a:r>
              <a:rPr lang="en-US" sz="1200" b="0" i="0" kern="1200" dirty="0">
                <a:solidFill>
                  <a:schemeClr val="tx1"/>
                </a:solidFill>
                <a:effectLst/>
                <a:latin typeface="+mn-lt"/>
                <a:ea typeface="+mn-ea"/>
                <a:cs typeface="+mn-cs"/>
              </a:rPr>
              <a:t>R-CNN </a:t>
            </a:r>
            <a:r>
              <a:rPr lang="uk-UA" sz="1200" b="0" i="0" kern="1200" dirty="0">
                <a:solidFill>
                  <a:schemeClr val="tx1"/>
                </a:solidFill>
                <a:effectLst/>
                <a:latin typeface="+mn-lt"/>
                <a:ea typeface="+mn-ea"/>
                <a:cs typeface="+mn-cs"/>
              </a:rPr>
              <a:t>використовують область пропозицій, згорткові ознаки та пірамідальні представлення для підвищення точності детектування.</a:t>
            </a:r>
          </a:p>
          <a:p>
            <a:r>
              <a:rPr lang="uk-UA" sz="1200" b="0" i="0" kern="1200" dirty="0">
                <a:solidFill>
                  <a:schemeClr val="tx1"/>
                </a:solidFill>
                <a:effectLst/>
                <a:latin typeface="+mn-lt"/>
                <a:ea typeface="+mn-ea"/>
                <a:cs typeface="+mn-cs"/>
              </a:rPr>
              <a:t>Ключові особливості: </a:t>
            </a:r>
            <a:r>
              <a:rPr lang="en-US" sz="1200" b="0" i="0" kern="1200" dirty="0">
                <a:solidFill>
                  <a:schemeClr val="tx1"/>
                </a:solidFill>
                <a:effectLst/>
                <a:latin typeface="+mn-lt"/>
                <a:ea typeface="+mn-ea"/>
                <a:cs typeface="+mn-cs"/>
              </a:rPr>
              <a:t>ROI pooling </a:t>
            </a:r>
            <a:r>
              <a:rPr lang="uk-UA" sz="1200" b="0" i="0" kern="1200" dirty="0">
                <a:solidFill>
                  <a:schemeClr val="tx1"/>
                </a:solidFill>
                <a:effectLst/>
                <a:latin typeface="+mn-lt"/>
                <a:ea typeface="+mn-ea"/>
                <a:cs typeface="+mn-cs"/>
              </a:rPr>
              <a:t>для вирівнювання розмірів областей інтересу, </a:t>
            </a:r>
            <a:r>
              <a:rPr lang="en-US" sz="1200" b="0" i="0" kern="1200" dirty="0">
                <a:solidFill>
                  <a:schemeClr val="tx1"/>
                </a:solidFill>
                <a:effectLst/>
                <a:latin typeface="+mn-lt"/>
                <a:ea typeface="+mn-ea"/>
                <a:cs typeface="+mn-cs"/>
              </a:rPr>
              <a:t>RPN – </a:t>
            </a:r>
            <a:r>
              <a:rPr lang="uk-UA" sz="1200" b="0" i="0" kern="1200" dirty="0">
                <a:solidFill>
                  <a:schemeClr val="tx1"/>
                </a:solidFill>
                <a:effectLst/>
                <a:latin typeface="+mn-lt"/>
                <a:ea typeface="+mn-ea"/>
                <a:cs typeface="+mn-cs"/>
              </a:rPr>
              <a:t>мережа формування пропозицій, </a:t>
            </a:r>
            <a:r>
              <a:rPr lang="uk-UA" sz="1200" b="0" i="0" kern="1200" dirty="0" err="1">
                <a:solidFill>
                  <a:schemeClr val="tx1"/>
                </a:solidFill>
                <a:effectLst/>
                <a:latin typeface="+mn-lt"/>
                <a:ea typeface="+mn-ea"/>
                <a:cs typeface="+mn-cs"/>
              </a:rPr>
              <a:t>багатозадачне</a:t>
            </a:r>
            <a:r>
              <a:rPr lang="uk-UA" sz="1200" b="0" i="0" kern="1200" dirty="0">
                <a:solidFill>
                  <a:schemeClr val="tx1"/>
                </a:solidFill>
                <a:effectLst/>
                <a:latin typeface="+mn-lt"/>
                <a:ea typeface="+mn-ea"/>
                <a:cs typeface="+mn-cs"/>
              </a:rPr>
              <a:t> навчання та додаткова гілка сегментації в </a:t>
            </a:r>
            <a:r>
              <a:rPr lang="en-US" sz="1200" b="0" i="0" kern="1200" dirty="0">
                <a:solidFill>
                  <a:schemeClr val="tx1"/>
                </a:solidFill>
                <a:effectLst/>
                <a:latin typeface="+mn-lt"/>
                <a:ea typeface="+mn-ea"/>
                <a:cs typeface="+mn-cs"/>
              </a:rPr>
              <a:t>Mask R-CNN. Cascade R-CNN </a:t>
            </a:r>
            <a:r>
              <a:rPr lang="uk-UA" sz="1200" b="0" i="0" kern="1200" dirty="0">
                <a:solidFill>
                  <a:schemeClr val="tx1"/>
                </a:solidFill>
                <a:effectLst/>
                <a:latin typeface="+mn-lt"/>
                <a:ea typeface="+mn-ea"/>
                <a:cs typeface="+mn-cs"/>
              </a:rPr>
              <a:t>використовує послідовність уточнюючих </a:t>
            </a:r>
            <a:r>
              <a:rPr lang="uk-UA" sz="1200" b="0" i="0" kern="1200" dirty="0" err="1">
                <a:solidFill>
                  <a:schemeClr val="tx1"/>
                </a:solidFill>
                <a:effectLst/>
                <a:latin typeface="+mn-lt"/>
                <a:ea typeface="+mn-ea"/>
                <a:cs typeface="+mn-cs"/>
              </a:rPr>
              <a:t>регресорів</a:t>
            </a:r>
            <a:r>
              <a:rPr lang="uk-UA" sz="1200" b="0" i="0" kern="1200" dirty="0">
                <a:solidFill>
                  <a:schemeClr val="tx1"/>
                </a:solidFill>
                <a:effectLst/>
                <a:latin typeface="+mn-lt"/>
                <a:ea typeface="+mn-ea"/>
                <a:cs typeface="+mn-cs"/>
              </a:rPr>
              <a:t> для підвищення точності локалізації.</a:t>
            </a:r>
          </a:p>
          <a:p>
            <a:r>
              <a:rPr lang="uk-UA" sz="1200" b="0" i="0" kern="1200" dirty="0">
                <a:solidFill>
                  <a:schemeClr val="tx1"/>
                </a:solidFill>
                <a:effectLst/>
                <a:latin typeface="+mn-lt"/>
                <a:ea typeface="+mn-ea"/>
                <a:cs typeface="+mn-cs"/>
              </a:rPr>
              <a:t>Основний недолік – менша швидкодія порівняно з </a:t>
            </a:r>
            <a:r>
              <a:rPr lang="uk-UA" sz="1200" b="0" i="0" kern="1200" dirty="0" err="1">
                <a:solidFill>
                  <a:schemeClr val="tx1"/>
                </a:solidFill>
                <a:effectLst/>
                <a:latin typeface="+mn-lt"/>
                <a:ea typeface="+mn-ea"/>
                <a:cs typeface="+mn-cs"/>
              </a:rPr>
              <a:t>одноетапними</a:t>
            </a:r>
            <a:r>
              <a:rPr lang="uk-UA" sz="1200" b="0" i="0" kern="1200" dirty="0">
                <a:solidFill>
                  <a:schemeClr val="tx1"/>
                </a:solidFill>
                <a:effectLst/>
                <a:latin typeface="+mn-lt"/>
                <a:ea typeface="+mn-ea"/>
                <a:cs typeface="+mn-cs"/>
              </a:rPr>
              <a:t> детекторами».</a:t>
            </a:r>
          </a:p>
          <a:p>
            <a:r>
              <a:rPr lang="uk-UA" dirty="0"/>
              <a:t>----------------------------------------------------------</a:t>
            </a:r>
          </a:p>
          <a:p>
            <a:r>
              <a:rPr lang="uk-UA" dirty="0"/>
              <a:t>Двоетапні архітектури </a:t>
            </a:r>
            <a:r>
              <a:rPr lang="en-US" dirty="0"/>
              <a:t>R-CNN (</a:t>
            </a:r>
            <a:r>
              <a:rPr lang="uk-UA" dirty="0"/>
              <a:t>рис.1.3)</a:t>
            </a:r>
          </a:p>
          <a:p>
            <a:r>
              <a:rPr lang="uk-UA" dirty="0"/>
              <a:t>Що казати:</a:t>
            </a:r>
          </a:p>
          <a:p>
            <a:r>
              <a:rPr lang="uk-UA" dirty="0"/>
              <a:t>«Рисунок 1.3 демонструє еволюцію двоетапних </a:t>
            </a:r>
            <a:r>
              <a:rPr lang="uk-UA" dirty="0" err="1"/>
              <a:t>архітектур</a:t>
            </a:r>
            <a:r>
              <a:rPr lang="uk-UA" dirty="0"/>
              <a:t> </a:t>
            </a:r>
            <a:r>
              <a:rPr lang="en-US" dirty="0"/>
              <a:t>R-CNN, </a:t>
            </a:r>
            <a:r>
              <a:rPr lang="uk-UA" dirty="0"/>
              <a:t>які використовують область пропозицій, згорткові ознаки та пірамідальні представлення для підвищення точності детектування.</a:t>
            </a:r>
          </a:p>
          <a:p>
            <a:endParaRPr lang="uk-UA" dirty="0"/>
          </a:p>
          <a:p>
            <a:r>
              <a:rPr lang="en-US" dirty="0"/>
              <a:t>R-CNN </a:t>
            </a:r>
            <a:r>
              <a:rPr lang="uk-UA" dirty="0"/>
              <a:t>використовує селективний пошук для генерації областей-кандидатів. </a:t>
            </a:r>
            <a:r>
              <a:rPr lang="en-US" dirty="0"/>
              <a:t>SPP-Net </a:t>
            </a:r>
            <a:r>
              <a:rPr lang="uk-UA" dirty="0"/>
              <a:t>впроваджує просторову пірамідну </a:t>
            </a:r>
            <a:r>
              <a:rPr lang="uk-UA" dirty="0" err="1"/>
              <a:t>пулінг</a:t>
            </a:r>
            <a:r>
              <a:rPr lang="uk-UA" dirty="0"/>
              <a:t> для роботи з довільним розміром зображення.</a:t>
            </a:r>
          </a:p>
          <a:p>
            <a:endParaRPr lang="uk-UA" dirty="0"/>
          </a:p>
          <a:p>
            <a:r>
              <a:rPr lang="en-US" dirty="0"/>
              <a:t>Fast R-CNN </a:t>
            </a:r>
            <a:r>
              <a:rPr lang="uk-UA" dirty="0"/>
              <a:t>об'єднує класифікацію та регресію обмежувальних рамок у спільну </a:t>
            </a:r>
            <a:r>
              <a:rPr lang="uk-UA" dirty="0" err="1"/>
              <a:t>багатозадачну</a:t>
            </a:r>
            <a:r>
              <a:rPr lang="uk-UA" dirty="0"/>
              <a:t> функцію втрат. </a:t>
            </a:r>
            <a:r>
              <a:rPr lang="en-US" dirty="0"/>
              <a:t>Faster R-CNN </a:t>
            </a:r>
            <a:r>
              <a:rPr lang="uk-UA" dirty="0"/>
              <a:t>замінює селективний пошук на навчену мережу формування пропозицій – </a:t>
            </a:r>
            <a:r>
              <a:rPr lang="en-US" dirty="0"/>
              <a:t>Region Proposal Network.</a:t>
            </a:r>
          </a:p>
          <a:p>
            <a:endParaRPr lang="en-US" dirty="0"/>
          </a:p>
          <a:p>
            <a:r>
              <a:rPr lang="en-US" dirty="0"/>
              <a:t>Mask R-CNN </a:t>
            </a:r>
            <a:r>
              <a:rPr lang="uk-UA" dirty="0"/>
              <a:t>додає гілку сегментації для виділення контурів об'єктів, а </a:t>
            </a:r>
            <a:r>
              <a:rPr lang="en-US" dirty="0"/>
              <a:t>Cascade R-CNN </a:t>
            </a:r>
            <a:r>
              <a:rPr lang="uk-UA" dirty="0"/>
              <a:t>використовує послідовність уточнювальних </a:t>
            </a:r>
            <a:r>
              <a:rPr lang="uk-UA" dirty="0" err="1"/>
              <a:t>регресорів</a:t>
            </a:r>
            <a:r>
              <a:rPr lang="uk-UA" dirty="0"/>
              <a:t> для підвищення точності локалізації.</a:t>
            </a:r>
          </a:p>
          <a:p>
            <a:endParaRPr lang="uk-UA" dirty="0"/>
          </a:p>
          <a:p>
            <a:r>
              <a:rPr lang="uk-UA" dirty="0"/>
              <a:t>Основним недоліком двоетапних </a:t>
            </a:r>
            <a:r>
              <a:rPr lang="uk-UA" dirty="0" err="1"/>
              <a:t>архітектур</a:t>
            </a:r>
            <a:r>
              <a:rPr lang="uk-UA" dirty="0"/>
              <a:t> є менша швидкодія порівняно з </a:t>
            </a:r>
            <a:r>
              <a:rPr lang="uk-UA" dirty="0" err="1"/>
              <a:t>одноетапними</a:t>
            </a:r>
            <a:r>
              <a:rPr lang="uk-UA" dirty="0"/>
              <a:t> детекторами через необхідність послідовного виконання етапу формування пропозицій та етапу їх класифікації.»</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43</a:t>
            </a:fld>
            <a:endParaRPr lang="en-US"/>
          </a:p>
        </p:txBody>
      </p:sp>
    </p:spTree>
    <p:extLst>
      <p:ext uri="{BB962C8B-B14F-4D97-AF65-F5344CB8AC3E}">
        <p14:creationId xmlns:p14="http://schemas.microsoft.com/office/powerpoint/2010/main" val="10891574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«У роботі застосовано два основні ансамблеві методи обчислювального інтелекту.</a:t>
            </a:r>
          </a:p>
          <a:p>
            <a:r>
              <a:rPr lang="en-US" sz="1200" b="1" i="0" kern="1200" dirty="0">
                <a:solidFill>
                  <a:schemeClr val="tx1"/>
                </a:solidFill>
                <a:effectLst/>
                <a:latin typeface="+mn-lt"/>
                <a:ea typeface="+mn-ea"/>
                <a:cs typeface="+mn-cs"/>
              </a:rPr>
              <a:t>Bagging</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або </a:t>
            </a:r>
            <a:r>
              <a:rPr lang="uk-UA" sz="1200" b="0" i="0" kern="1200" dirty="0" err="1">
                <a:solidFill>
                  <a:schemeClr val="tx1"/>
                </a:solidFill>
                <a:effectLst/>
                <a:latin typeface="+mn-lt"/>
                <a:ea typeface="+mn-ea"/>
                <a:cs typeface="+mn-cs"/>
              </a:rPr>
              <a:t>бутстреп</a:t>
            </a:r>
            <a:r>
              <a:rPr lang="uk-UA" sz="1200" b="0" i="0" kern="1200" dirty="0">
                <a:solidFill>
                  <a:schemeClr val="tx1"/>
                </a:solidFill>
                <a:effectLst/>
                <a:latin typeface="+mn-lt"/>
                <a:ea typeface="+mn-ea"/>
                <a:cs typeface="+mn-cs"/>
              </a:rPr>
              <a:t>-агрегація – передбачає усереднення результатів кількох моделей, навчених на різних підвибірках даних. У контексті оцінки глибини це означає усереднення карт глибини, отриманих на різних модифікаціях кадрів. Це дозволяє зменшити дисперсію оцінок та підвищити стійкість до шумів.</a:t>
            </a:r>
          </a:p>
          <a:p>
            <a:r>
              <a:rPr lang="en-US" sz="1200" b="1" i="0" kern="1200" dirty="0">
                <a:solidFill>
                  <a:schemeClr val="tx1"/>
                </a:solidFill>
                <a:effectLst/>
                <a:latin typeface="+mn-lt"/>
                <a:ea typeface="+mn-ea"/>
                <a:cs typeface="+mn-cs"/>
              </a:rPr>
              <a:t>Boosting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будує послідовну композицію моделей, де кожна наступна модель виправляє помилки попередніх. Вага кожної моделі обернено пропорційна її помилці. У запропонованій системі це реалізовано шляхом поетапної оцінки глибини: початкова модель формує базову карту, а друга модель уточнює її у тих регіонах, де було виявлено найбільшу похибку».</a:t>
            </a:r>
          </a:p>
          <a:p>
            <a:r>
              <a:rPr lang="uk-UA" dirty="0"/>
              <a:t>--------------------------------------------------------------------------</a:t>
            </a:r>
          </a:p>
          <a:p>
            <a:endParaRPr lang="uk-UA" dirty="0"/>
          </a:p>
          <a:p>
            <a:r>
              <a:rPr lang="uk-UA" dirty="0"/>
              <a:t>Методи обчислювального інтелекту</a:t>
            </a:r>
          </a:p>
          <a:p>
            <a:r>
              <a:rPr lang="uk-UA" dirty="0"/>
              <a:t>Що казати:</a:t>
            </a:r>
          </a:p>
          <a:p>
            <a:r>
              <a:rPr lang="uk-UA" dirty="0"/>
              <a:t>«У роботі застосовано два основні ансамблеві методи обчислювального інтелекту.</a:t>
            </a:r>
          </a:p>
          <a:p>
            <a:endParaRPr lang="uk-UA" dirty="0"/>
          </a:p>
          <a:p>
            <a:r>
              <a:rPr lang="uk-UA" dirty="0"/>
              <a:t>Перший – </a:t>
            </a:r>
            <a:r>
              <a:rPr lang="en-US" dirty="0"/>
              <a:t>Bagging, </a:t>
            </a:r>
            <a:r>
              <a:rPr lang="uk-UA" dirty="0"/>
              <a:t>або </a:t>
            </a:r>
            <a:r>
              <a:rPr lang="en-US" dirty="0"/>
              <a:t>Bootstrap Aggregating. </a:t>
            </a:r>
            <a:r>
              <a:rPr lang="uk-UA" dirty="0"/>
              <a:t>Цей метод передбачає усереднення результатів кількох моделей, навчених на різних підвибірках даних. У нашому випадку, це усереднення карт глибини, отриманих на різних модифікаціях кадрів, що дозволяє зменшити дисперсію оцінок та підвищити стійкість до шумів.</a:t>
            </a:r>
          </a:p>
          <a:p>
            <a:endParaRPr lang="uk-UA" dirty="0"/>
          </a:p>
          <a:p>
            <a:r>
              <a:rPr lang="uk-UA" dirty="0"/>
              <a:t>Другий метод – </a:t>
            </a:r>
            <a:r>
              <a:rPr lang="en-US" dirty="0"/>
              <a:t>Boosting, </a:t>
            </a:r>
            <a:r>
              <a:rPr lang="uk-UA" dirty="0"/>
              <a:t>який будує послідовну композицію моделей, де кожна наступна модель виправляє помилки попередніх. Вага кожної моделі обчислюється на основі її помилки. У запропонованій системі це реалізовано шляхом поетапної оцінки глибини: початкова модель формує базову карту, а друга модель уточнює її у тих регіонах, де було виявлено найбільшу похибку.»</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44</a:t>
            </a:fld>
            <a:endParaRPr lang="en-US"/>
          </a:p>
        </p:txBody>
      </p:sp>
    </p:spTree>
    <p:extLst>
      <p:ext uri="{BB962C8B-B14F-4D97-AF65-F5344CB8AC3E}">
        <p14:creationId xmlns:p14="http://schemas.microsoft.com/office/powerpoint/2010/main" val="3295334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«Розглянемо </a:t>
            </a:r>
            <a:r>
              <a:rPr lang="uk-UA" sz="1200" b="0" i="0" kern="1200" dirty="0" err="1">
                <a:solidFill>
                  <a:schemeClr val="tx1"/>
                </a:solidFill>
                <a:effectLst/>
                <a:latin typeface="+mn-lt"/>
                <a:ea typeface="+mn-ea"/>
                <a:cs typeface="+mn-cs"/>
              </a:rPr>
              <a:t>нейромережеві</a:t>
            </a:r>
            <a:r>
              <a:rPr lang="uk-UA" sz="1200" b="0" i="0" kern="1200" dirty="0">
                <a:solidFill>
                  <a:schemeClr val="tx1"/>
                </a:solidFill>
                <a:effectLst/>
                <a:latin typeface="+mn-lt"/>
                <a:ea typeface="+mn-ea"/>
                <a:cs typeface="+mn-cs"/>
              </a:rPr>
              <a:t> моделі аналізу руху детальніше.</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 </a:t>
            </a:r>
            <a:r>
              <a:rPr lang="uk-UA" sz="1200" b="0" i="0" kern="1200" dirty="0" err="1">
                <a:solidFill>
                  <a:schemeClr val="tx1"/>
                </a:solidFill>
                <a:effectLst/>
                <a:latin typeface="+mn-lt"/>
                <a:ea typeface="+mn-ea"/>
                <a:cs typeface="+mn-cs"/>
              </a:rPr>
              <a:t>згорткова</a:t>
            </a:r>
            <a:r>
              <a:rPr lang="uk-UA" sz="1200" b="0" i="0" kern="1200" dirty="0">
                <a:solidFill>
                  <a:schemeClr val="tx1"/>
                </a:solidFill>
                <a:effectLst/>
                <a:latin typeface="+mn-lt"/>
                <a:ea typeface="+mn-ea"/>
                <a:cs typeface="+mn-cs"/>
              </a:rPr>
              <a:t> нейронна мережа з архітектурою </a:t>
            </a:r>
            <a:r>
              <a:rPr lang="uk-UA" sz="1200" b="0" i="0" kern="1200" dirty="0" err="1">
                <a:solidFill>
                  <a:schemeClr val="tx1"/>
                </a:solidFill>
                <a:effectLst/>
                <a:latin typeface="+mn-lt"/>
                <a:ea typeface="+mn-ea"/>
                <a:cs typeface="+mn-cs"/>
              </a:rPr>
              <a:t>енкодер</a:t>
            </a:r>
            <a:r>
              <a:rPr lang="uk-UA" sz="1200" b="0" i="0" kern="1200" dirty="0">
                <a:solidFill>
                  <a:schemeClr val="tx1"/>
                </a:solidFill>
                <a:effectLst/>
                <a:latin typeface="+mn-lt"/>
                <a:ea typeface="+mn-ea"/>
                <a:cs typeface="+mn-cs"/>
              </a:rPr>
              <a:t>-декодер. Приймає на вхід два послідовних кадри і передбачає поле оптичного потоку. Навчання відбувається шляхом мінімізації функції втрат </a:t>
            </a:r>
            <a:r>
              <a:rPr lang="en-US" sz="1200" b="0" i="0" kern="1200" dirty="0">
                <a:solidFill>
                  <a:schemeClr val="tx1"/>
                </a:solidFill>
                <a:effectLst/>
                <a:latin typeface="+mn-lt"/>
                <a:ea typeface="+mn-ea"/>
                <a:cs typeface="+mn-cs"/>
              </a:rPr>
              <a:t>EPE – End-Point Error.</a:t>
            </a:r>
          </a:p>
          <a:p>
            <a:r>
              <a:rPr lang="en-US" sz="1200" b="1" i="0" kern="1200" dirty="0">
                <a:solidFill>
                  <a:schemeClr val="tx1"/>
                </a:solidFill>
                <a:effectLst/>
                <a:latin typeface="+mn-lt"/>
                <a:ea typeface="+mn-ea"/>
                <a:cs typeface="+mn-cs"/>
              </a:rPr>
              <a:t>RAFT</a:t>
            </a:r>
            <a:r>
              <a:rPr lang="en-US" sz="1200" b="0" i="0" kern="1200" dirty="0">
                <a:solidFill>
                  <a:schemeClr val="tx1"/>
                </a:solidFill>
                <a:effectLst/>
                <a:latin typeface="+mn-lt"/>
                <a:ea typeface="+mn-ea"/>
                <a:cs typeface="+mn-cs"/>
              </a:rPr>
              <a:t> – Recurrent All-pairs Field Transforms – </a:t>
            </a:r>
            <a:r>
              <a:rPr lang="uk-UA" sz="1200" b="0" i="0" kern="1200" dirty="0">
                <a:solidFill>
                  <a:schemeClr val="tx1"/>
                </a:solidFill>
                <a:effectLst/>
                <a:latin typeface="+mn-lt"/>
                <a:ea typeface="+mn-ea"/>
                <a:cs typeface="+mn-cs"/>
              </a:rPr>
              <a:t>використовує кореляційний об'єм для встановлення </a:t>
            </a:r>
            <a:r>
              <a:rPr lang="uk-UA" sz="1200" b="0" i="0" kern="1200" dirty="0" err="1">
                <a:solidFill>
                  <a:schemeClr val="tx1"/>
                </a:solidFill>
                <a:effectLst/>
                <a:latin typeface="+mn-lt"/>
                <a:ea typeface="+mn-ea"/>
                <a:cs typeface="+mn-cs"/>
              </a:rPr>
              <a:t>відповідностей</a:t>
            </a:r>
            <a:r>
              <a:rPr lang="uk-UA" sz="1200" b="0" i="0" kern="1200" dirty="0">
                <a:solidFill>
                  <a:schemeClr val="tx1"/>
                </a:solidFill>
                <a:effectLst/>
                <a:latin typeface="+mn-lt"/>
                <a:ea typeface="+mn-ea"/>
                <a:cs typeface="+mn-cs"/>
              </a:rPr>
              <a:t> між кадрами та рекурентне оновлення поля потоку за допомогою </a:t>
            </a:r>
            <a:r>
              <a:rPr lang="en-US" sz="1200" b="0" i="0" kern="1200" dirty="0">
                <a:solidFill>
                  <a:schemeClr val="tx1"/>
                </a:solidFill>
                <a:effectLst/>
                <a:latin typeface="+mn-lt"/>
                <a:ea typeface="+mn-ea"/>
                <a:cs typeface="+mn-cs"/>
              </a:rPr>
              <a:t>GRU. </a:t>
            </a:r>
            <a:r>
              <a:rPr lang="uk-UA" sz="1200" b="0" i="0" kern="1200" dirty="0">
                <a:solidFill>
                  <a:schemeClr val="tx1"/>
                </a:solidFill>
                <a:effectLst/>
                <a:latin typeface="+mn-lt"/>
                <a:ea typeface="+mn-ea"/>
                <a:cs typeface="+mn-cs"/>
              </a:rPr>
              <a:t>Забезпечує високу точність на великих зміщеннях.</a:t>
            </a:r>
          </a:p>
          <a:p>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глибока нейронна архітектура, яка поєднує задачу оцінки глибини з задачею оцінки оптичного потоку. Інтегрує просторову та часову інформацію в єдину структуру.</a:t>
            </a:r>
          </a:p>
          <a:p>
            <a:r>
              <a:rPr lang="en-US" sz="1200" b="1" i="0" kern="1200" dirty="0">
                <a:solidFill>
                  <a:schemeClr val="tx1"/>
                </a:solidFill>
                <a:effectLst/>
                <a:latin typeface="+mn-lt"/>
                <a:ea typeface="+mn-ea"/>
                <a:cs typeface="+mn-cs"/>
              </a:rPr>
              <a:t>DETR</a:t>
            </a:r>
            <a:r>
              <a:rPr lang="en-US" sz="1200" b="0" i="0" kern="1200" dirty="0">
                <a:solidFill>
                  <a:schemeClr val="tx1"/>
                </a:solidFill>
                <a:effectLst/>
                <a:latin typeface="+mn-lt"/>
                <a:ea typeface="+mn-ea"/>
                <a:cs typeface="+mn-cs"/>
              </a:rPr>
              <a:t> – Detection Transformer – </a:t>
            </a:r>
            <a:r>
              <a:rPr lang="uk-UA" sz="1200" b="0" i="0" kern="1200" dirty="0">
                <a:solidFill>
                  <a:schemeClr val="tx1"/>
                </a:solidFill>
                <a:effectLst/>
                <a:latin typeface="+mn-lt"/>
                <a:ea typeface="+mn-ea"/>
                <a:cs typeface="+mn-cs"/>
              </a:rPr>
              <a:t>використовує механізми багатоголової уваги для виявлення об'єктів без потреби в попередньому формуванні областей-кандидатів».</a:t>
            </a:r>
          </a:p>
          <a:p>
            <a:r>
              <a:rPr lang="uk-UA" dirty="0"/>
              <a:t>--------------------------------------------------------------------------------------</a:t>
            </a:r>
          </a:p>
          <a:p>
            <a:r>
              <a:rPr lang="uk-UA" dirty="0" err="1"/>
              <a:t>Нейромережеві</a:t>
            </a:r>
            <a:r>
              <a:rPr lang="uk-UA" dirty="0"/>
              <a:t> моделі аналізу руху</a:t>
            </a:r>
          </a:p>
          <a:p>
            <a:r>
              <a:rPr lang="uk-UA" dirty="0"/>
              <a:t>Що казати:</a:t>
            </a:r>
          </a:p>
          <a:p>
            <a:r>
              <a:rPr lang="uk-UA" dirty="0"/>
              <a:t>«Розглянемо детальніше </a:t>
            </a:r>
            <a:r>
              <a:rPr lang="uk-UA" dirty="0" err="1"/>
              <a:t>нейромережеві</a:t>
            </a:r>
            <a:r>
              <a:rPr lang="uk-UA" dirty="0"/>
              <a:t> моделі аналізу руху.</a:t>
            </a:r>
          </a:p>
          <a:p>
            <a:endParaRPr lang="uk-UA" dirty="0"/>
          </a:p>
          <a:p>
            <a:r>
              <a:rPr lang="en-US" dirty="0" err="1"/>
              <a:t>FlowNet</a:t>
            </a:r>
            <a:r>
              <a:rPr lang="en-US" dirty="0"/>
              <a:t> – </a:t>
            </a:r>
            <a:r>
              <a:rPr lang="uk-UA" dirty="0"/>
              <a:t>це </a:t>
            </a:r>
            <a:r>
              <a:rPr lang="uk-UA" dirty="0" err="1"/>
              <a:t>згорткова</a:t>
            </a:r>
            <a:r>
              <a:rPr lang="uk-UA" dirty="0"/>
              <a:t> нейронна мережа з архітектурою </a:t>
            </a:r>
            <a:r>
              <a:rPr lang="uk-UA" dirty="0" err="1"/>
              <a:t>енкодер</a:t>
            </a:r>
            <a:r>
              <a:rPr lang="uk-UA" dirty="0"/>
              <a:t>-декодер. Вона приймає на вхід два послідовних кадри, </a:t>
            </a:r>
            <a:r>
              <a:rPr lang="uk-UA" dirty="0" err="1"/>
              <a:t>конкатенованих</a:t>
            </a:r>
            <a:r>
              <a:rPr lang="uk-UA" dirty="0"/>
              <a:t> по канальній розмірності, і передбачає поле оптичного потоку. Навчання відбувається шляхом мінімізації функції втрат </a:t>
            </a:r>
            <a:r>
              <a:rPr lang="en-US" dirty="0"/>
              <a:t>EPE – End-Point Error.</a:t>
            </a:r>
          </a:p>
          <a:p>
            <a:endParaRPr lang="en-US" dirty="0"/>
          </a:p>
          <a:p>
            <a:r>
              <a:rPr lang="en-US" dirty="0"/>
              <a:t>RAFT – Recurrent All-pairs Field Transforms – </a:t>
            </a:r>
            <a:r>
              <a:rPr lang="uk-UA" dirty="0"/>
              <a:t>використовує кореляційний об'єм для встановлення </a:t>
            </a:r>
            <a:r>
              <a:rPr lang="uk-UA" dirty="0" err="1"/>
              <a:t>відповідностей</a:t>
            </a:r>
            <a:r>
              <a:rPr lang="uk-UA" dirty="0"/>
              <a:t> між кадрами та рекурентне оновлення поля потоку за допомогою </a:t>
            </a:r>
            <a:r>
              <a:rPr lang="en-US" dirty="0"/>
              <a:t>GRU. </a:t>
            </a:r>
            <a:r>
              <a:rPr lang="uk-UA" dirty="0"/>
              <a:t>Цей метод забезпечує високу точність на великих зміщеннях.</a:t>
            </a:r>
          </a:p>
          <a:p>
            <a:endParaRPr lang="uk-UA" dirty="0"/>
          </a:p>
          <a:p>
            <a:r>
              <a:rPr lang="en-US" dirty="0" err="1"/>
              <a:t>GeoNet</a:t>
            </a:r>
            <a:r>
              <a:rPr lang="en-US" dirty="0"/>
              <a:t> – </a:t>
            </a:r>
            <a:r>
              <a:rPr lang="uk-UA" dirty="0"/>
              <a:t>глибока нейронна архітектура, яка поєднує задачу оцінки глибини з задачею оцінки оптичного потоку. Її основна мета – інтегрувати просторову та часову інформацію в єдину структуру.</a:t>
            </a:r>
          </a:p>
          <a:p>
            <a:endParaRPr lang="uk-UA" dirty="0"/>
          </a:p>
          <a:p>
            <a:r>
              <a:rPr lang="en-US" dirty="0"/>
              <a:t>DETR – Detection Transformer – </a:t>
            </a:r>
            <a:r>
              <a:rPr lang="uk-UA" dirty="0"/>
              <a:t>використовує механізми багатоголової уваги для виявлення об'єктів в кадрі без потреби в попередньому формуванні областей-кандидатів.»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45</a:t>
            </a:fld>
            <a:endParaRPr lang="en-US"/>
          </a:p>
        </p:txBody>
      </p:sp>
    </p:spTree>
    <p:extLst>
      <p:ext uri="{BB962C8B-B14F-4D97-AF65-F5344CB8AC3E}">
        <p14:creationId xmlns:p14="http://schemas.microsoft.com/office/powerpoint/2010/main" val="7432827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«наведено математичний опис ансамблевих методів.</a:t>
            </a:r>
          </a:p>
          <a:p>
            <a:r>
              <a:rPr lang="uk-UA" sz="1200" b="0" i="0" kern="1200" dirty="0">
                <a:solidFill>
                  <a:schemeClr val="tx1"/>
                </a:solidFill>
                <a:effectLst/>
                <a:latin typeface="+mn-lt"/>
                <a:ea typeface="+mn-ea"/>
                <a:cs typeface="+mn-cs"/>
              </a:rPr>
              <a:t>Для </a:t>
            </a:r>
            <a:r>
              <a:rPr lang="en-US" sz="1200" b="1" i="0" kern="1200" dirty="0">
                <a:solidFill>
                  <a:schemeClr val="tx1"/>
                </a:solidFill>
                <a:effectLst/>
                <a:latin typeface="+mn-lt"/>
                <a:ea typeface="+mn-ea"/>
                <a:cs typeface="+mn-cs"/>
              </a:rPr>
              <a:t>Bagging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фінальний прогноз – середнє арифметичне прогнозів усіх моделей в ансамблі. В контексті оцінки глибини – усереднення карт глибини.</a:t>
            </a:r>
          </a:p>
          <a:p>
            <a:r>
              <a:rPr lang="uk-UA" sz="1200" b="0" i="0" kern="1200" dirty="0">
                <a:solidFill>
                  <a:schemeClr val="tx1"/>
                </a:solidFill>
                <a:effectLst/>
                <a:latin typeface="+mn-lt"/>
                <a:ea typeface="+mn-ea"/>
                <a:cs typeface="+mn-cs"/>
              </a:rPr>
              <a:t>Для </a:t>
            </a:r>
            <a:r>
              <a:rPr lang="en-US" sz="1200" b="1" i="0" kern="1200" dirty="0">
                <a:solidFill>
                  <a:schemeClr val="tx1"/>
                </a:solidFill>
                <a:effectLst/>
                <a:latin typeface="+mn-lt"/>
                <a:ea typeface="+mn-ea"/>
                <a:cs typeface="+mn-cs"/>
              </a:rPr>
              <a:t>Boosting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фінальний прогноз – зважена сума прогнозів окремих моделей, де вага кожної моделі обернено пропорційна її помилці.</a:t>
            </a:r>
          </a:p>
          <a:p>
            <a:r>
              <a:rPr lang="uk-UA" sz="1200" b="0" i="0" kern="1200" dirty="0">
                <a:solidFill>
                  <a:schemeClr val="tx1"/>
                </a:solidFill>
                <a:effectLst/>
                <a:latin typeface="+mn-lt"/>
                <a:ea typeface="+mn-ea"/>
                <a:cs typeface="+mn-cs"/>
              </a:rPr>
              <a:t>Крім того, запропоновано </a:t>
            </a:r>
            <a:r>
              <a:rPr lang="uk-UA" sz="1200" b="1" i="0" kern="1200" dirty="0">
                <a:solidFill>
                  <a:schemeClr val="tx1"/>
                </a:solidFill>
                <a:effectLst/>
                <a:latin typeface="+mn-lt"/>
                <a:ea typeface="+mn-ea"/>
                <a:cs typeface="+mn-cs"/>
              </a:rPr>
              <a:t>адаптивне комбінування</a:t>
            </a:r>
            <a:r>
              <a:rPr lang="uk-UA" sz="1200" b="0" i="0" kern="1200" dirty="0">
                <a:solidFill>
                  <a:schemeClr val="tx1"/>
                </a:solidFill>
                <a:effectLst/>
                <a:latin typeface="+mn-lt"/>
                <a:ea typeface="+mn-ea"/>
                <a:cs typeface="+mn-cs"/>
              </a:rPr>
              <a:t> результатів різних методів оцінки глибини: якщо градієнт карти глибини малий, використовується перша карта, якщо великий – друга. Це дозволяє використовувати переваги різних методів у різних областях зображення».</a:t>
            </a:r>
          </a:p>
          <a:p>
            <a:r>
              <a:rPr lang="uk-UA" dirty="0"/>
              <a:t>-----------------------------------------------------------------------------------------------</a:t>
            </a:r>
          </a:p>
          <a:p>
            <a:r>
              <a:rPr lang="uk-UA" dirty="0"/>
              <a:t>Ансамблеві методи (</a:t>
            </a:r>
            <a:r>
              <a:rPr lang="en-US" dirty="0"/>
              <a:t>Bagging, Boosting)</a:t>
            </a:r>
          </a:p>
          <a:p>
            <a:r>
              <a:rPr lang="uk-UA" dirty="0"/>
              <a:t>Що казати:</a:t>
            </a:r>
          </a:p>
          <a:p>
            <a:r>
              <a:rPr lang="uk-UA" dirty="0"/>
              <a:t>«На цьому слайді наведено математичний опис ансамблевих методів, використаних у роботі.</a:t>
            </a:r>
          </a:p>
          <a:p>
            <a:endParaRPr lang="uk-UA" dirty="0"/>
          </a:p>
          <a:p>
            <a:r>
              <a:rPr lang="uk-UA" dirty="0"/>
              <a:t>Для </a:t>
            </a:r>
            <a:r>
              <a:rPr lang="en-US" dirty="0"/>
              <a:t>Bagging – </a:t>
            </a:r>
            <a:r>
              <a:rPr lang="uk-UA" dirty="0"/>
              <a:t>методу </a:t>
            </a:r>
            <a:r>
              <a:rPr lang="uk-UA" dirty="0" err="1"/>
              <a:t>бутстреп</a:t>
            </a:r>
            <a:r>
              <a:rPr lang="uk-UA" dirty="0"/>
              <a:t>-агрегації – фінальний прогноз обчислюється як середнє арифметичне прогнозів усіх моделей в ансамблі. У контексті оцінки глибини це означає усереднення карт глибини, отриманих від різних моделей або на різних модифікаціях вхідних кадрів.</a:t>
            </a:r>
          </a:p>
          <a:p>
            <a:endParaRPr lang="uk-UA" dirty="0"/>
          </a:p>
          <a:p>
            <a:r>
              <a:rPr lang="uk-UA" dirty="0"/>
              <a:t>Для </a:t>
            </a:r>
            <a:r>
              <a:rPr lang="en-US" dirty="0"/>
              <a:t>Boosting </a:t>
            </a:r>
            <a:r>
              <a:rPr lang="uk-UA" dirty="0"/>
              <a:t>фінальний прогноз обчислюється як зважена сума прогнозів окремих моделей, де вага кожної моделі обернено пропорційна її помилці – чим менша помилка, тим більша вага. Вага обчислюється за формулою, де епсилон і – це помилка </a:t>
            </a:r>
            <a:r>
              <a:rPr lang="en-US" dirty="0" err="1"/>
              <a:t>i</a:t>
            </a:r>
            <a:r>
              <a:rPr lang="en-US" dirty="0"/>
              <a:t>-</a:t>
            </a:r>
            <a:r>
              <a:rPr lang="uk-UA" dirty="0"/>
              <a:t>ї моделі.</a:t>
            </a:r>
          </a:p>
          <a:p>
            <a:endParaRPr lang="uk-UA" dirty="0"/>
          </a:p>
          <a:p>
            <a:r>
              <a:rPr lang="uk-UA" dirty="0"/>
              <a:t>Крім того, запропоновано адаптивне комбінування результатів різних методів оцінки глибини, де вибір методу залежить від величини градієнта карти глибини. Якщо градієнт малий, використовується перша карта глибини, якщо великий – друга. Це дозволяє використовувати переваги різних методів у різних областях зображення.»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46</a:t>
            </a:fld>
            <a:endParaRPr lang="en-US"/>
          </a:p>
        </p:txBody>
      </p:sp>
    </p:spTree>
    <p:extLst>
      <p:ext uri="{BB962C8B-B14F-4D97-AF65-F5344CB8AC3E}">
        <p14:creationId xmlns:p14="http://schemas.microsoft.com/office/powerpoint/2010/main" val="30689044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«Ключовий компонент </a:t>
            </a:r>
            <a:r>
              <a:rPr lang="en-US" sz="1200" b="0" i="0" kern="1200" dirty="0">
                <a:solidFill>
                  <a:schemeClr val="tx1"/>
                </a:solidFill>
                <a:effectLst/>
                <a:latin typeface="+mn-lt"/>
                <a:ea typeface="+mn-ea"/>
                <a:cs typeface="+mn-cs"/>
              </a:rPr>
              <a:t>DETR – </a:t>
            </a:r>
            <a:r>
              <a:rPr lang="uk-UA" sz="1200" b="1" i="0" kern="1200" dirty="0">
                <a:solidFill>
                  <a:schemeClr val="tx1"/>
                </a:solidFill>
                <a:effectLst/>
                <a:latin typeface="+mn-lt"/>
                <a:ea typeface="+mn-ea"/>
                <a:cs typeface="+mn-cs"/>
              </a:rPr>
              <a:t>механізм багатоголової уваги</a:t>
            </a:r>
            <a:r>
              <a:rPr lang="uk-UA"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Функція уваги обчислює ваги на основі сумісності між запитами та ключами, після чого використовує ці ваги для зваженого підсумовування значень.</a:t>
            </a:r>
          </a:p>
          <a:p>
            <a:r>
              <a:rPr lang="uk-UA" sz="1200" b="0" i="0" kern="1200" dirty="0">
                <a:solidFill>
                  <a:schemeClr val="tx1"/>
                </a:solidFill>
                <a:effectLst/>
                <a:latin typeface="+mn-lt"/>
                <a:ea typeface="+mn-ea"/>
                <a:cs typeface="+mn-cs"/>
              </a:rPr>
              <a:t>Багатоголова увага </a:t>
            </a:r>
            <a:r>
              <a:rPr lang="uk-UA" sz="1200" b="0" i="0" kern="1200" dirty="0" err="1">
                <a:solidFill>
                  <a:schemeClr val="tx1"/>
                </a:solidFill>
                <a:effectLst/>
                <a:latin typeface="+mn-lt"/>
                <a:ea typeface="+mn-ea"/>
                <a:cs typeface="+mn-cs"/>
              </a:rPr>
              <a:t>конкатенує</a:t>
            </a:r>
            <a:r>
              <a:rPr lang="uk-UA" sz="1200" b="0" i="0" kern="1200" dirty="0">
                <a:solidFill>
                  <a:schemeClr val="tx1"/>
                </a:solidFill>
                <a:effectLst/>
                <a:latin typeface="+mn-lt"/>
                <a:ea typeface="+mn-ea"/>
                <a:cs typeface="+mn-cs"/>
              </a:rPr>
              <a:t> результати кількох голів уваги та застосовує лінійне перетворення.</a:t>
            </a:r>
          </a:p>
          <a:p>
            <a:r>
              <a:rPr lang="uk-UA" sz="1200" b="0" i="0" kern="1200" dirty="0">
                <a:solidFill>
                  <a:schemeClr val="tx1"/>
                </a:solidFill>
                <a:effectLst/>
                <a:latin typeface="+mn-lt"/>
                <a:ea typeface="+mn-ea"/>
                <a:cs typeface="+mn-cs"/>
              </a:rPr>
              <a:t>Для навчання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використовується </a:t>
            </a:r>
            <a:r>
              <a:rPr lang="uk-UA" sz="1200" b="1" i="0" kern="1200" dirty="0">
                <a:solidFill>
                  <a:schemeClr val="tx1"/>
                </a:solidFill>
                <a:effectLst/>
                <a:latin typeface="+mn-lt"/>
                <a:ea typeface="+mn-ea"/>
                <a:cs typeface="+mn-cs"/>
              </a:rPr>
              <a:t>угорська функція втрат</a:t>
            </a:r>
            <a:r>
              <a:rPr lang="uk-UA" sz="1200" b="0" i="0" kern="1200" dirty="0">
                <a:solidFill>
                  <a:schemeClr val="tx1"/>
                </a:solidFill>
                <a:effectLst/>
                <a:latin typeface="+mn-lt"/>
                <a:ea typeface="+mn-ea"/>
                <a:cs typeface="+mn-cs"/>
              </a:rPr>
              <a:t>, яка знаходить оптимальне парування між передбаченнями моделі та істинними об'єктами. Функція втрат складається з двох частин: від'ємного логарифма ймовірності правильного класу та втрати для обмежувальної рамки, яка включає </a:t>
            </a:r>
            <a:r>
              <a:rPr lang="en-US" sz="1200" b="0" i="0" kern="1200" dirty="0" err="1">
                <a:solidFill>
                  <a:schemeClr val="tx1"/>
                </a:solidFill>
                <a:effectLst/>
                <a:latin typeface="+mn-lt"/>
                <a:ea typeface="+mn-ea"/>
                <a:cs typeface="+mn-cs"/>
              </a:rPr>
              <a:t>IoU</a:t>
            </a:r>
            <a:r>
              <a:rPr lang="en-US" sz="1200" b="0" i="0" kern="1200" dirty="0">
                <a:solidFill>
                  <a:schemeClr val="tx1"/>
                </a:solidFill>
                <a:effectLst/>
                <a:latin typeface="+mn-lt"/>
                <a:ea typeface="+mn-ea"/>
                <a:cs typeface="+mn-cs"/>
              </a:rPr>
              <a:t>-</a:t>
            </a:r>
            <a:r>
              <a:rPr lang="uk-UA" sz="1200" b="0" i="0" kern="1200" dirty="0">
                <a:solidFill>
                  <a:schemeClr val="tx1"/>
                </a:solidFill>
                <a:effectLst/>
                <a:latin typeface="+mn-lt"/>
                <a:ea typeface="+mn-ea"/>
                <a:cs typeface="+mn-cs"/>
              </a:rPr>
              <a:t>втрату та </a:t>
            </a:r>
            <a:r>
              <a:rPr lang="en-US" sz="1200" b="0" i="0" kern="1200" dirty="0">
                <a:solidFill>
                  <a:schemeClr val="tx1"/>
                </a:solidFill>
                <a:effectLst/>
                <a:latin typeface="+mn-lt"/>
                <a:ea typeface="+mn-ea"/>
                <a:cs typeface="+mn-cs"/>
              </a:rPr>
              <a:t>L1-</a:t>
            </a:r>
            <a:r>
              <a:rPr lang="uk-UA" sz="1200" b="0" i="0" kern="1200" dirty="0">
                <a:solidFill>
                  <a:schemeClr val="tx1"/>
                </a:solidFill>
                <a:effectLst/>
                <a:latin typeface="+mn-lt"/>
                <a:ea typeface="+mn-ea"/>
                <a:cs typeface="+mn-cs"/>
              </a:rPr>
              <a:t>втрату».</a:t>
            </a:r>
          </a:p>
          <a:p>
            <a:r>
              <a:rPr lang="uk-UA" dirty="0"/>
              <a:t>-----------------------------------------------------------------------------------------</a:t>
            </a:r>
          </a:p>
          <a:p>
            <a:r>
              <a:rPr lang="uk-UA" dirty="0"/>
              <a:t>Модель </a:t>
            </a:r>
            <a:r>
              <a:rPr lang="en-US" dirty="0"/>
              <a:t>DETR (Detection Transformer)</a:t>
            </a:r>
          </a:p>
          <a:p>
            <a:r>
              <a:rPr lang="uk-UA" dirty="0"/>
              <a:t>Що казати:</a:t>
            </a:r>
          </a:p>
          <a:p>
            <a:r>
              <a:rPr lang="uk-UA" dirty="0"/>
              <a:t>«Модель </a:t>
            </a:r>
            <a:r>
              <a:rPr lang="en-US" dirty="0"/>
              <a:t>DETR – </a:t>
            </a:r>
            <a:r>
              <a:rPr lang="uk-UA" dirty="0"/>
              <a:t>це </a:t>
            </a:r>
            <a:r>
              <a:rPr lang="uk-UA" dirty="0" err="1"/>
              <a:t>трансформерна</a:t>
            </a:r>
            <a:r>
              <a:rPr lang="uk-UA" dirty="0"/>
              <a:t> архітектура для виявлення об'єктів, яка виконує одночасне прогнозування класів об'єктів, обмежувальних рамок та ймовірностей без потреби в механізмах придушення не-максимумів.</a:t>
            </a:r>
          </a:p>
          <a:p>
            <a:endParaRPr lang="uk-UA" dirty="0"/>
          </a:p>
          <a:p>
            <a:r>
              <a:rPr lang="uk-UA" dirty="0"/>
              <a:t>Ключовим компонентом </a:t>
            </a:r>
            <a:r>
              <a:rPr lang="en-US" dirty="0"/>
              <a:t>DETR </a:t>
            </a:r>
            <a:r>
              <a:rPr lang="uk-UA" dirty="0"/>
              <a:t>є механізм багатоголової уваги, який дозволяє моделі фокусуватися на різних частинах вхідного зображення одночасно.</a:t>
            </a:r>
          </a:p>
          <a:p>
            <a:endParaRPr lang="uk-UA" dirty="0"/>
          </a:p>
          <a:p>
            <a:r>
              <a:rPr lang="uk-UA" dirty="0"/>
              <a:t>Функція уваги обчислює ваги на основі сумісності між запитами та ключами, а потім використовує ці ваги для зваженого підсумовування значень.</a:t>
            </a:r>
          </a:p>
          <a:p>
            <a:endParaRPr lang="uk-UA" dirty="0"/>
          </a:p>
          <a:p>
            <a:r>
              <a:rPr lang="uk-UA" dirty="0"/>
              <a:t>Багатоголова увага </a:t>
            </a:r>
            <a:r>
              <a:rPr lang="uk-UA" dirty="0" err="1"/>
              <a:t>конкатенує</a:t>
            </a:r>
            <a:r>
              <a:rPr lang="uk-UA" dirty="0"/>
              <a:t> результати кількох голів уваги та застосовує лінійне перетворення.</a:t>
            </a:r>
          </a:p>
          <a:p>
            <a:endParaRPr lang="uk-UA" dirty="0"/>
          </a:p>
          <a:p>
            <a:r>
              <a:rPr lang="uk-UA" dirty="0"/>
              <a:t>Для навчання </a:t>
            </a:r>
            <a:r>
              <a:rPr lang="en-US" dirty="0"/>
              <a:t>DETR </a:t>
            </a:r>
            <a:r>
              <a:rPr lang="uk-UA" dirty="0"/>
              <a:t>використовується угорська функція втрат, яка знаходить оптимальне парування між передбаченнями моделі та істинними об'єктами. Функція втрат складається з двох частин: від'ємного логарифма ймовірності правильного класу та втрати для обмежувальної рамки, яка включає </a:t>
            </a:r>
            <a:r>
              <a:rPr lang="en-US" dirty="0" err="1"/>
              <a:t>IoU</a:t>
            </a:r>
            <a:r>
              <a:rPr lang="en-US" dirty="0"/>
              <a:t>-</a:t>
            </a:r>
            <a:r>
              <a:rPr lang="uk-UA" dirty="0"/>
              <a:t>втрату та </a:t>
            </a:r>
            <a:r>
              <a:rPr lang="en-US" dirty="0"/>
              <a:t>L1-</a:t>
            </a:r>
            <a:r>
              <a:rPr lang="uk-UA" dirty="0"/>
              <a:t>втрату.»</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47</a:t>
            </a:fld>
            <a:endParaRPr lang="en-US"/>
          </a:p>
        </p:txBody>
      </p:sp>
    </p:spTree>
    <p:extLst>
      <p:ext uri="{BB962C8B-B14F-4D97-AF65-F5344CB8AC3E}">
        <p14:creationId xmlns:p14="http://schemas.microsoft.com/office/powerpoint/2010/main" val="8562047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«Модель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реалізує сумісну оцінку глибини та оптичного потоку.</a:t>
            </a:r>
          </a:p>
          <a:p>
            <a:r>
              <a:rPr lang="uk-UA" sz="1200" b="1" i="0" kern="1200" dirty="0">
                <a:solidFill>
                  <a:schemeClr val="tx1"/>
                </a:solidFill>
                <a:effectLst/>
                <a:latin typeface="+mn-lt"/>
                <a:ea typeface="+mn-ea"/>
                <a:cs typeface="+mn-cs"/>
              </a:rPr>
              <a:t>Фотометрична узгодженість</a:t>
            </a:r>
            <a:r>
              <a:rPr lang="uk-UA" sz="1200" b="0" i="0" kern="1200" dirty="0">
                <a:solidFill>
                  <a:schemeClr val="tx1"/>
                </a:solidFill>
                <a:effectLst/>
                <a:latin typeface="+mn-lt"/>
                <a:ea typeface="+mn-ea"/>
                <a:cs typeface="+mn-cs"/>
              </a:rPr>
              <a:t> стверджує: піксель першого кадру після зсуву на вектор оптичного потоку повинен мати ту саму інтенсивність, що й відповідний піксель другого кадру.</a:t>
            </a:r>
          </a:p>
          <a:p>
            <a:r>
              <a:rPr lang="uk-UA" sz="1200" b="1" i="0" kern="1200" dirty="0">
                <a:solidFill>
                  <a:schemeClr val="tx1"/>
                </a:solidFill>
                <a:effectLst/>
                <a:latin typeface="+mn-lt"/>
                <a:ea typeface="+mn-ea"/>
                <a:cs typeface="+mn-cs"/>
              </a:rPr>
              <a:t>Геометрична модель</a:t>
            </a:r>
            <a:r>
              <a:rPr lang="uk-UA" sz="1200" b="0" i="0" kern="1200" dirty="0">
                <a:solidFill>
                  <a:schemeClr val="tx1"/>
                </a:solidFill>
                <a:effectLst/>
                <a:latin typeface="+mn-lt"/>
                <a:ea typeface="+mn-ea"/>
                <a:cs typeface="+mn-cs"/>
              </a:rPr>
              <a:t> пов'язує оптичний потік з глибиною, рухом камери та проекцією точки.</a:t>
            </a:r>
          </a:p>
          <a:p>
            <a:r>
              <a:rPr lang="uk-UA" sz="1200" b="0" i="0" kern="1200" dirty="0">
                <a:solidFill>
                  <a:schemeClr val="tx1"/>
                </a:solidFill>
                <a:effectLst/>
                <a:latin typeface="+mn-lt"/>
                <a:ea typeface="+mn-ea"/>
                <a:cs typeface="+mn-cs"/>
              </a:rPr>
              <a:t>Якщо сцена складається зі статичного фону та об'єктів, що рухаються, то рух статичних частин викликаний виключно рухом камери, тоді як рух динамічних об'єктів обумовлений як рухом камери, так і власним рухом об'єкта.</a:t>
            </a:r>
          </a:p>
          <a:p>
            <a:r>
              <a:rPr lang="uk-UA" sz="1200" b="0" i="0" kern="1200" dirty="0">
                <a:solidFill>
                  <a:schemeClr val="tx1"/>
                </a:solidFill>
                <a:effectLst/>
                <a:latin typeface="+mn-lt"/>
                <a:ea typeface="+mn-ea"/>
                <a:cs typeface="+mn-cs"/>
              </a:rPr>
              <a:t>Завдяки спільному навчанню компонентів </a:t>
            </a:r>
            <a:r>
              <a:rPr lang="en-US" sz="1200" b="0" i="0" kern="1200" dirty="0" err="1">
                <a:solidFill>
                  <a:schemeClr val="tx1"/>
                </a:solidFill>
                <a:effectLst/>
                <a:latin typeface="+mn-lt"/>
                <a:ea typeface="+mn-ea"/>
                <a:cs typeface="+mn-cs"/>
              </a:rPr>
              <a:t>DepthNet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0" i="0" kern="1200" dirty="0" err="1">
                <a:solidFill>
                  <a:schemeClr val="tx1"/>
                </a:solidFill>
                <a:effectLst/>
                <a:latin typeface="+mn-lt"/>
                <a:ea typeface="+mn-ea"/>
                <a:cs typeface="+mn-cs"/>
              </a:rPr>
              <a:t>PoseNet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система здатна відокремлювати рух камери від автономного руху об'єктів, що суттєво підвищує надійність ідентифікації в рухомих системах».</a:t>
            </a:r>
          </a:p>
          <a:p>
            <a:r>
              <a:rPr lang="uk-UA" dirty="0"/>
              <a:t>--------------------------------------------------------------------------------------------------------</a:t>
            </a:r>
          </a:p>
          <a:p>
            <a:r>
              <a:rPr lang="uk-UA" dirty="0"/>
              <a:t>Модель </a:t>
            </a:r>
            <a:r>
              <a:rPr lang="en-US" dirty="0" err="1"/>
              <a:t>GeoNet</a:t>
            </a:r>
            <a:r>
              <a:rPr lang="en-US" dirty="0"/>
              <a:t> (</a:t>
            </a:r>
            <a:r>
              <a:rPr lang="uk-UA" dirty="0"/>
              <a:t>сумісна оцінка глибини та потоку)</a:t>
            </a:r>
          </a:p>
          <a:p>
            <a:r>
              <a:rPr lang="uk-UA" dirty="0"/>
              <a:t>Що казати:</a:t>
            </a:r>
          </a:p>
          <a:p>
            <a:r>
              <a:rPr lang="uk-UA" dirty="0"/>
              <a:t>«Модель </a:t>
            </a:r>
            <a:r>
              <a:rPr lang="en-US" dirty="0" err="1"/>
              <a:t>GeoNet</a:t>
            </a:r>
            <a:r>
              <a:rPr lang="en-US" dirty="0"/>
              <a:t> </a:t>
            </a:r>
            <a:r>
              <a:rPr lang="uk-UA" dirty="0"/>
              <a:t>реалізує сумісну оцінку глибини та оптичного потоку на основі геометричних обмежень.</a:t>
            </a:r>
          </a:p>
          <a:p>
            <a:endParaRPr lang="uk-UA" dirty="0"/>
          </a:p>
          <a:p>
            <a:r>
              <a:rPr lang="uk-UA" dirty="0"/>
              <a:t>Фотометрична узгодженість стверджує, що піксель першого кадру після зсуву на вектор оптичного потоку повинен мати таку саму інтенсивність, що й відповідний піксель другого кадру.</a:t>
            </a:r>
          </a:p>
          <a:p>
            <a:endParaRPr lang="uk-UA" dirty="0"/>
          </a:p>
          <a:p>
            <a:r>
              <a:rPr lang="uk-UA" dirty="0"/>
              <a:t>Геометрична модель пов'язує оптичний потік з глибиною, рухом камери та проекцією точки.</a:t>
            </a:r>
          </a:p>
          <a:p>
            <a:endParaRPr lang="uk-UA" dirty="0"/>
          </a:p>
          <a:p>
            <a:r>
              <a:rPr lang="uk-UA" dirty="0"/>
              <a:t>Якщо сцена складається зі статичного фону та об'єктів, що рухаються, то рух статичних частин викликаний виключно рухом камери, тоді як рух динамічних об'єктів є більш складним, обумовленим як рухом камери, так і власним рухом об'єкта.</a:t>
            </a:r>
          </a:p>
          <a:p>
            <a:endParaRPr lang="uk-UA" dirty="0"/>
          </a:p>
          <a:p>
            <a:r>
              <a:rPr lang="uk-UA" dirty="0"/>
              <a:t>Функція втрат </a:t>
            </a:r>
            <a:r>
              <a:rPr lang="en-US" dirty="0" err="1"/>
              <a:t>GeoNet</a:t>
            </a:r>
            <a:r>
              <a:rPr lang="en-US" dirty="0"/>
              <a:t> </a:t>
            </a:r>
            <a:r>
              <a:rPr lang="uk-UA" dirty="0"/>
              <a:t>об'єднує кілька компонентів: втрату фотометричної узгодженості, втрату гладкості глибини, втрату оптичного потоку та втрату геометричної узгодженості.</a:t>
            </a:r>
          </a:p>
          <a:p>
            <a:endParaRPr lang="uk-UA" dirty="0"/>
          </a:p>
          <a:p>
            <a:r>
              <a:rPr lang="uk-UA" dirty="0"/>
              <a:t>Завдяки спільному навчанню компонентів </a:t>
            </a:r>
            <a:r>
              <a:rPr lang="en-US" dirty="0" err="1"/>
              <a:t>DepthNet</a:t>
            </a:r>
            <a:r>
              <a:rPr lang="en-US" dirty="0"/>
              <a:t> </a:t>
            </a:r>
            <a:r>
              <a:rPr lang="uk-UA" dirty="0"/>
              <a:t>та </a:t>
            </a:r>
            <a:r>
              <a:rPr lang="en-US" dirty="0" err="1"/>
              <a:t>PoseNet</a:t>
            </a:r>
            <a:r>
              <a:rPr lang="en-US" dirty="0"/>
              <a:t>, </a:t>
            </a:r>
            <a:r>
              <a:rPr lang="uk-UA" dirty="0"/>
              <a:t>система здатна відокремлювати рух самої камери від автономного руху об'єктів, що суттєво підвищує надійність ідентифікації в рухомих системах, таких як </a:t>
            </a:r>
            <a:r>
              <a:rPr lang="uk-UA" dirty="0" err="1"/>
              <a:t>дрони</a:t>
            </a:r>
            <a:r>
              <a:rPr lang="uk-UA" dirty="0"/>
              <a:t> та роботи.»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48</a:t>
            </a:fld>
            <a:endParaRPr lang="en-US"/>
          </a:p>
        </p:txBody>
      </p:sp>
    </p:spTree>
    <p:extLst>
      <p:ext uri="{BB962C8B-B14F-4D97-AF65-F5344CB8AC3E}">
        <p14:creationId xmlns:p14="http://schemas.microsoft.com/office/powerpoint/2010/main" val="3036289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ru-RU" sz="1200" b="0" i="0" kern="1200" dirty="0">
                <a:solidFill>
                  <a:schemeClr val="tx1"/>
                </a:solidFill>
                <a:effectLst/>
                <a:latin typeface="+mn-lt"/>
                <a:ea typeface="+mn-ea"/>
                <a:cs typeface="+mn-cs"/>
              </a:rPr>
              <a:t>«Наведено </a:t>
            </a:r>
            <a:r>
              <a:rPr lang="ru-RU" sz="1200" b="0" i="0" kern="1200" dirty="0" err="1">
                <a:solidFill>
                  <a:schemeClr val="tx1"/>
                </a:solidFill>
                <a:effectLst/>
                <a:latin typeface="+mn-lt"/>
                <a:ea typeface="+mn-ea"/>
                <a:cs typeface="+mn-cs"/>
              </a:rPr>
              <a:t>математичні</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моделі</a:t>
            </a:r>
            <a:r>
              <a:rPr lang="ru-RU" sz="1200" b="0" i="0" kern="1200" dirty="0">
                <a:solidFill>
                  <a:schemeClr val="tx1"/>
                </a:solidFill>
                <a:effectLst/>
                <a:latin typeface="+mn-lt"/>
                <a:ea typeface="+mn-ea"/>
                <a:cs typeface="+mn-cs"/>
              </a:rPr>
              <a:t> для </a:t>
            </a:r>
            <a:r>
              <a:rPr lang="ru-RU" sz="1200" b="0" i="0" kern="1200" dirty="0" err="1">
                <a:solidFill>
                  <a:schemeClr val="tx1"/>
                </a:solidFill>
                <a:effectLst/>
                <a:latin typeface="+mn-lt"/>
                <a:ea typeface="+mn-ea"/>
                <a:cs typeface="+mn-cs"/>
              </a:rPr>
              <a:t>обчислення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основних</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параметрів</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Швидкість</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середня</a:t>
            </a:r>
            <a:r>
              <a:rPr lang="ru-RU" sz="1200" b="0" i="0" kern="1200" dirty="0">
                <a:solidFill>
                  <a:schemeClr val="tx1"/>
                </a:solidFill>
                <a:effectLst/>
                <a:latin typeface="+mn-lt"/>
                <a:ea typeface="+mn-ea"/>
                <a:cs typeface="+mn-cs"/>
              </a:rPr>
              <a:t> величина </a:t>
            </a:r>
            <a:r>
              <a:rPr lang="ru-RU" sz="1200" b="0" i="0" kern="1200" dirty="0" err="1">
                <a:solidFill>
                  <a:schemeClr val="tx1"/>
                </a:solidFill>
                <a:effectLst/>
                <a:latin typeface="+mn-lt"/>
                <a:ea typeface="+mn-ea"/>
                <a:cs typeface="+mn-cs"/>
              </a:rPr>
              <a:t>оптичного</a:t>
            </a:r>
            <a:r>
              <a:rPr lang="ru-RU" sz="1200" b="0" i="0" kern="1200" dirty="0">
                <a:solidFill>
                  <a:schemeClr val="tx1"/>
                </a:solidFill>
                <a:effectLst/>
                <a:latin typeface="+mn-lt"/>
                <a:ea typeface="+mn-ea"/>
                <a:cs typeface="+mn-cs"/>
              </a:rPr>
              <a:t> потоку в </a:t>
            </a:r>
            <a:r>
              <a:rPr lang="ru-RU" sz="1200" b="0" i="0" kern="1200" dirty="0" err="1">
                <a:solidFill>
                  <a:schemeClr val="tx1"/>
                </a:solidFill>
                <a:effectLst/>
                <a:latin typeface="+mn-lt"/>
                <a:ea typeface="+mn-ea"/>
                <a:cs typeface="+mn-cs"/>
              </a:rPr>
              <a:t>області</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Напрямок</a:t>
            </a:r>
            <a:r>
              <a:rPr lang="ru-RU" sz="1200" b="1" i="0" kern="1200" dirty="0">
                <a:solidFill>
                  <a:schemeClr val="tx1"/>
                </a:solidFill>
                <a:effectLst/>
                <a:latin typeface="+mn-lt"/>
                <a:ea typeface="+mn-ea"/>
                <a:cs typeface="+mn-cs"/>
              </a:rPr>
              <a:t> руху</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обчислюється</a:t>
            </a:r>
            <a:r>
              <a:rPr lang="ru-RU" sz="1200" b="0" i="0" kern="1200" dirty="0">
                <a:solidFill>
                  <a:schemeClr val="tx1"/>
                </a:solidFill>
                <a:effectLst/>
                <a:latin typeface="+mn-lt"/>
                <a:ea typeface="+mn-ea"/>
                <a:cs typeface="+mn-cs"/>
              </a:rPr>
              <a:t> через </a:t>
            </a:r>
            <a:r>
              <a:rPr lang="ru-RU" sz="1200" b="0" i="0" kern="1200" dirty="0" err="1">
                <a:solidFill>
                  <a:schemeClr val="tx1"/>
                </a:solidFill>
                <a:effectLst/>
                <a:latin typeface="+mn-lt"/>
                <a:ea typeface="+mn-ea"/>
                <a:cs typeface="+mn-cs"/>
              </a:rPr>
              <a:t>векторне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усереднення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кутів</a:t>
            </a:r>
            <a:r>
              <a:rPr lang="ru-RU" sz="1200" b="0" i="0" kern="1200" dirty="0">
                <a:solidFill>
                  <a:schemeClr val="tx1"/>
                </a:solidFill>
                <a:effectLst/>
                <a:latin typeface="+mn-lt"/>
                <a:ea typeface="+mn-ea"/>
                <a:cs typeface="+mn-cs"/>
              </a:rPr>
              <a:t> – арктангенс </a:t>
            </a:r>
            <a:r>
              <a:rPr lang="ru-RU" sz="1200" b="0" i="0" kern="1200" dirty="0" err="1">
                <a:solidFill>
                  <a:schemeClr val="tx1"/>
                </a:solidFill>
                <a:effectLst/>
                <a:latin typeface="+mn-lt"/>
                <a:ea typeface="+mn-ea"/>
                <a:cs typeface="+mn-cs"/>
              </a:rPr>
              <a:t>відношення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суми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синусів</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кутів</a:t>
            </a:r>
            <a:r>
              <a:rPr lang="ru-RU" sz="1200" b="0" i="0" kern="1200" dirty="0">
                <a:solidFill>
                  <a:schemeClr val="tx1"/>
                </a:solidFill>
                <a:effectLst/>
                <a:latin typeface="+mn-lt"/>
                <a:ea typeface="+mn-ea"/>
                <a:cs typeface="+mn-cs"/>
              </a:rPr>
              <a:t> до </a:t>
            </a:r>
            <a:r>
              <a:rPr lang="ru-RU" sz="1200" b="0" i="0" kern="1200" dirty="0" err="1">
                <a:solidFill>
                  <a:schemeClr val="tx1"/>
                </a:solidFill>
                <a:effectLst/>
                <a:latin typeface="+mn-lt"/>
                <a:ea typeface="+mn-ea"/>
                <a:cs typeface="+mn-cs"/>
              </a:rPr>
              <a:t>суми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косинусів</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Просторове</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положення</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координати</a:t>
            </a:r>
            <a:r>
              <a:rPr lang="ru-RU" sz="1200" b="0" i="0" kern="1200" dirty="0">
                <a:solidFill>
                  <a:schemeClr val="tx1"/>
                </a:solidFill>
                <a:effectLst/>
                <a:latin typeface="+mn-lt"/>
                <a:ea typeface="+mn-ea"/>
                <a:cs typeface="+mn-cs"/>
              </a:rPr>
              <a:t> центру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середнє</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арифметичне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мінімальних</a:t>
            </a:r>
            <a:r>
              <a:rPr lang="ru-RU" sz="1200" b="0" i="0" kern="1200" dirty="0">
                <a:solidFill>
                  <a:schemeClr val="tx1"/>
                </a:solidFill>
                <a:effectLst/>
                <a:latin typeface="+mn-lt"/>
                <a:ea typeface="+mn-ea"/>
                <a:cs typeface="+mn-cs"/>
              </a:rPr>
              <a:t> та </a:t>
            </a:r>
            <a:r>
              <a:rPr lang="ru-RU" sz="1200" b="0" i="0" kern="1200" dirty="0" err="1">
                <a:solidFill>
                  <a:schemeClr val="tx1"/>
                </a:solidFill>
                <a:effectLst/>
                <a:latin typeface="+mn-lt"/>
                <a:ea typeface="+mn-ea"/>
                <a:cs typeface="+mn-cs"/>
              </a:rPr>
              <a:t>максимальних</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значень</a:t>
            </a:r>
            <a:r>
              <a:rPr lang="ru-RU" sz="1200" b="0" i="0" kern="1200" dirty="0">
                <a:solidFill>
                  <a:schemeClr val="tx1"/>
                </a:solidFill>
                <a:effectLst/>
                <a:latin typeface="+mn-lt"/>
                <a:ea typeface="+mn-ea"/>
                <a:cs typeface="+mn-cs"/>
              </a:rPr>
              <a:t> координат.</a:t>
            </a:r>
          </a:p>
          <a:p>
            <a:r>
              <a:rPr lang="ru-RU" sz="1200" b="1" i="0" kern="1200" dirty="0" err="1">
                <a:solidFill>
                  <a:schemeClr val="tx1"/>
                </a:solidFill>
                <a:effectLst/>
                <a:latin typeface="+mn-lt"/>
                <a:ea typeface="+mn-ea"/>
                <a:cs typeface="+mn-cs"/>
              </a:rPr>
              <a:t>Глибина</a:t>
            </a:r>
            <a:r>
              <a:rPr lang="ru-RU" sz="1200" b="0" i="0" kern="1200" dirty="0">
                <a:solidFill>
                  <a:schemeClr val="tx1"/>
                </a:solidFill>
                <a:effectLst/>
                <a:latin typeface="+mn-lt"/>
                <a:ea typeface="+mn-ea"/>
                <a:cs typeface="+mn-cs"/>
              </a:rPr>
              <a:t> – Z-координата – </a:t>
            </a:r>
            <a:r>
              <a:rPr lang="ru-RU" sz="1200" b="0" i="0" kern="1200" dirty="0" err="1">
                <a:solidFill>
                  <a:schemeClr val="tx1"/>
                </a:solidFill>
                <a:effectLst/>
                <a:latin typeface="+mn-lt"/>
                <a:ea typeface="+mn-ea"/>
                <a:cs typeface="+mn-cs"/>
              </a:rPr>
              <a:t>медіанне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значення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карти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глибини</a:t>
            </a:r>
            <a:r>
              <a:rPr lang="ru-RU" sz="1200" b="0" i="0" kern="1200" dirty="0">
                <a:solidFill>
                  <a:schemeClr val="tx1"/>
                </a:solidFill>
                <a:effectLst/>
                <a:latin typeface="+mn-lt"/>
                <a:ea typeface="+mn-ea"/>
                <a:cs typeface="+mn-cs"/>
              </a:rPr>
              <a:t> в </a:t>
            </a:r>
            <a:r>
              <a:rPr lang="ru-RU" sz="1200" b="0" i="0" kern="1200" dirty="0" err="1">
                <a:solidFill>
                  <a:schemeClr val="tx1"/>
                </a:solidFill>
                <a:effectLst/>
                <a:latin typeface="+mn-lt"/>
                <a:ea typeface="+mn-ea"/>
                <a:cs typeface="+mn-cs"/>
              </a:rPr>
              <a:t>області</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що</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забезпечує</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стійкість</a:t>
            </a:r>
            <a:r>
              <a:rPr lang="ru-RU" sz="1200" b="0" i="0" kern="1200" dirty="0">
                <a:solidFill>
                  <a:schemeClr val="tx1"/>
                </a:solidFill>
                <a:effectLst/>
                <a:latin typeface="+mn-lt"/>
                <a:ea typeface="+mn-ea"/>
                <a:cs typeface="+mn-cs"/>
              </a:rPr>
              <a:t> до </a:t>
            </a:r>
            <a:r>
              <a:rPr lang="ru-RU" sz="1200" b="0" i="0" kern="1200" dirty="0" err="1">
                <a:solidFill>
                  <a:schemeClr val="tx1"/>
                </a:solidFill>
                <a:effectLst/>
                <a:latin typeface="+mn-lt"/>
                <a:ea typeface="+mn-ea"/>
                <a:cs typeface="+mn-cs"/>
              </a:rPr>
              <a:t>викидів</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Траєкторія</a:t>
            </a:r>
            <a:r>
              <a:rPr lang="ru-RU" sz="1200" b="0" i="0" kern="1200" dirty="0">
                <a:solidFill>
                  <a:schemeClr val="tx1"/>
                </a:solidFill>
                <a:effectLst/>
                <a:latin typeface="+mn-lt"/>
                <a:ea typeface="+mn-ea"/>
                <a:cs typeface="+mn-cs"/>
              </a:rPr>
              <a:t> – дискретна </a:t>
            </a:r>
            <a:r>
              <a:rPr lang="ru-RU" sz="1200" b="0" i="0" kern="1200" dirty="0" err="1">
                <a:solidFill>
                  <a:schemeClr val="tx1"/>
                </a:solidFill>
                <a:effectLst/>
                <a:latin typeface="+mn-lt"/>
                <a:ea typeface="+mn-ea"/>
                <a:cs typeface="+mn-cs"/>
              </a:rPr>
              <a:t>множина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положень</a:t>
            </a:r>
            <a:r>
              <a:rPr lang="ru-RU" sz="1200" b="0" i="0" kern="1200" dirty="0">
                <a:solidFill>
                  <a:schemeClr val="tx1"/>
                </a:solidFill>
                <a:effectLst/>
                <a:latin typeface="+mn-lt"/>
                <a:ea typeface="+mn-ea"/>
                <a:cs typeface="+mn-cs"/>
              </a:rPr>
              <a:t> у </a:t>
            </a:r>
            <a:r>
              <a:rPr lang="ru-RU" sz="1200" b="0" i="0" kern="1200" dirty="0" err="1">
                <a:solidFill>
                  <a:schemeClr val="tx1"/>
                </a:solidFill>
                <a:effectLst/>
                <a:latin typeface="+mn-lt"/>
                <a:ea typeface="+mn-ea"/>
                <a:cs typeface="+mn-cs"/>
              </a:rPr>
              <a:t>часі</a:t>
            </a:r>
            <a:r>
              <a:rPr lang="ru-RU" sz="1200" b="0" i="0" kern="1200" dirty="0">
                <a:solidFill>
                  <a:schemeClr val="tx1"/>
                </a:solidFill>
                <a:effectLst/>
                <a:latin typeface="+mn-lt"/>
                <a:ea typeface="+mn-ea"/>
                <a:cs typeface="+mn-cs"/>
              </a:rPr>
              <a:t>. Для </a:t>
            </a:r>
            <a:r>
              <a:rPr lang="ru-RU" sz="1200" b="0" i="0" kern="1200" dirty="0" err="1">
                <a:solidFill>
                  <a:schemeClr val="tx1"/>
                </a:solidFill>
                <a:effectLst/>
                <a:latin typeface="+mn-lt"/>
                <a:ea typeface="+mn-ea"/>
                <a:cs typeface="+mn-cs"/>
              </a:rPr>
              <a:t>зменшення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шумів</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використовується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згладжена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траєкторія</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ковзне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середнє</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Прискорення</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похідна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швидкості</a:t>
            </a:r>
            <a:r>
              <a:rPr lang="ru-RU" sz="1200" b="0" i="0" kern="1200" dirty="0">
                <a:solidFill>
                  <a:schemeClr val="tx1"/>
                </a:solidFill>
                <a:effectLst/>
                <a:latin typeface="+mn-lt"/>
                <a:ea typeface="+mn-ea"/>
                <a:cs typeface="+mn-cs"/>
              </a:rPr>
              <a:t> за часом».</a:t>
            </a:r>
          </a:p>
          <a:p>
            <a:r>
              <a:rPr lang="uk-UA" dirty="0"/>
              <a:t>----------------------------------------------------------------------------------------------------------------</a:t>
            </a:r>
          </a:p>
          <a:p>
            <a:r>
              <a:rPr lang="uk-UA" dirty="0"/>
              <a:t>Визначення параметрів методами оптичного потоку</a:t>
            </a:r>
          </a:p>
          <a:p>
            <a:r>
              <a:rPr lang="uk-UA" dirty="0"/>
              <a:t>Що казати:</a:t>
            </a:r>
          </a:p>
          <a:p>
            <a:r>
              <a:rPr lang="uk-UA" dirty="0"/>
              <a:t>«наведено математичні моделі для обчислення основних параметрів динамічних об'єктів на основі поля оптичного потоку.</a:t>
            </a:r>
          </a:p>
          <a:p>
            <a:endParaRPr lang="uk-UA" dirty="0"/>
          </a:p>
          <a:p>
            <a:r>
              <a:rPr lang="uk-UA" dirty="0"/>
              <a:t>Швидкість об'єкта визначається як середня величина оптичного потоку в області об'єкта. В інтегральній формі це подвійний інтеграл від квадратного кореня суми квадратів компонент </a:t>
            </a:r>
            <a:r>
              <a:rPr lang="uk-UA" dirty="0" err="1"/>
              <a:t>вектора</a:t>
            </a:r>
            <a:r>
              <a:rPr lang="uk-UA" dirty="0"/>
              <a:t> потоку, поділений на площу області.</a:t>
            </a:r>
          </a:p>
          <a:p>
            <a:endParaRPr lang="uk-UA" dirty="0"/>
          </a:p>
          <a:p>
            <a:r>
              <a:rPr lang="uk-UA" dirty="0"/>
              <a:t>Напрямок руху об'єкта обчислюється через векторне усереднення кутів, тобто арктангенс відношення суми синусів кутів до суми косинусів. Також можна використовувати спрощену форму – середнє арифметичне кутів.</a:t>
            </a:r>
          </a:p>
          <a:p>
            <a:endParaRPr lang="uk-UA" dirty="0"/>
          </a:p>
          <a:p>
            <a:r>
              <a:rPr lang="uk-UA" dirty="0"/>
              <a:t>Просторове положення об'єкта задається координатами центру об'єкта, які обчислюються як середнє арифметичне мінімальних та максимальних значень координат по осях </a:t>
            </a:r>
            <a:r>
              <a:rPr lang="en-US" dirty="0"/>
              <a:t>x </a:t>
            </a:r>
            <a:r>
              <a:rPr lang="uk-UA" dirty="0"/>
              <a:t>та </a:t>
            </a:r>
            <a:r>
              <a:rPr lang="en-US" dirty="0"/>
              <a:t>y.</a:t>
            </a:r>
          </a:p>
          <a:p>
            <a:endParaRPr lang="en-US" dirty="0"/>
          </a:p>
          <a:p>
            <a:r>
              <a:rPr lang="uk-UA" dirty="0"/>
              <a:t>Глибина – </a:t>
            </a:r>
            <a:r>
              <a:rPr lang="en-US" dirty="0"/>
              <a:t>Z-</a:t>
            </a:r>
            <a:r>
              <a:rPr lang="uk-UA" dirty="0"/>
              <a:t>координата – визначається як медіанне значення карти глибини в області об'єкта, що забезпечує стійкість до викидів.</a:t>
            </a:r>
          </a:p>
          <a:p>
            <a:endParaRPr lang="uk-UA" dirty="0"/>
          </a:p>
          <a:p>
            <a:r>
              <a:rPr lang="uk-UA" dirty="0"/>
              <a:t>Траєкторія об'єкта представляється у вигляді дискретної множини положень у часі. Для зменшення шумів використовується згладжена траєкторія – ковзне середнє.</a:t>
            </a:r>
          </a:p>
          <a:p>
            <a:endParaRPr lang="uk-UA" dirty="0"/>
          </a:p>
          <a:p>
            <a:r>
              <a:rPr lang="uk-UA" dirty="0"/>
              <a:t>Прискорення об'єкта визначається як похідна швидкості за часом, що у дискретному випадку різниця швидкостей між сусідніми кадрами.»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49</a:t>
            </a:fld>
            <a:endParaRPr lang="en-US"/>
          </a:p>
        </p:txBody>
      </p:sp>
    </p:spTree>
    <p:extLst>
      <p:ext uri="{BB962C8B-B14F-4D97-AF65-F5344CB8AC3E}">
        <p14:creationId xmlns:p14="http://schemas.microsoft.com/office/powerpoint/2010/main" val="22279675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«Ця схема показує інтеграцію оптичного потоку з </a:t>
            </a:r>
            <a:r>
              <a:rPr lang="uk-UA" dirty="0" err="1"/>
              <a:t>трансформерною</a:t>
            </a:r>
            <a:r>
              <a:rPr lang="uk-UA" dirty="0"/>
              <a:t> обробкою.</a:t>
            </a:r>
          </a:p>
          <a:p>
            <a:r>
              <a:rPr lang="uk-UA" dirty="0"/>
              <a:t>Кадри подаються на блок обчислення оптичного потоку, який формує векторне поле. Далі вектори руху передаються до </a:t>
            </a:r>
            <a:r>
              <a:rPr lang="uk-UA" dirty="0" err="1"/>
              <a:t>трансформерної</a:t>
            </a:r>
            <a:r>
              <a:rPr lang="uk-UA" dirty="0"/>
              <a:t> мережі.</a:t>
            </a:r>
          </a:p>
          <a:p>
            <a:r>
              <a:rPr lang="uk-UA" dirty="0"/>
              <a:t>Трансформер обробляє послідовність векторів за допомогою механізмів багатоголової уваги, що дозволяє виявляти складні </a:t>
            </a:r>
            <a:r>
              <a:rPr lang="uk-UA" dirty="0" err="1"/>
              <a:t>патерни</a:t>
            </a:r>
            <a:r>
              <a:rPr lang="uk-UA" dirty="0"/>
              <a:t> руху, які не можуть бути виявлені класичними методами – зокрема при часткових оклюзіях або зміні форми об'єкта.</a:t>
            </a:r>
          </a:p>
          <a:p>
            <a:r>
              <a:rPr lang="uk-UA" dirty="0"/>
              <a:t>Ключовий аспект – калібрування камери, яке дозволяє перевести піксельні зміщення у реальні фізичні величини, наприклад кілометри на годину».</a:t>
            </a:r>
          </a:p>
          <a:p>
            <a:r>
              <a:rPr lang="uk-UA" dirty="0"/>
              <a:t>--------------------------------------------------------------------------------------------------------------------------------</a:t>
            </a:r>
          </a:p>
          <a:p>
            <a:r>
              <a:rPr lang="uk-UA" dirty="0"/>
              <a:t>Схема інтеграції оптичного потоку з </a:t>
            </a:r>
            <a:r>
              <a:rPr lang="uk-UA" dirty="0" err="1"/>
              <a:t>трансформером</a:t>
            </a:r>
            <a:r>
              <a:rPr lang="uk-UA" dirty="0"/>
              <a:t> (рис.3.5)</a:t>
            </a:r>
          </a:p>
          <a:p>
            <a:r>
              <a:rPr lang="uk-UA" dirty="0"/>
              <a:t>Що казати:</a:t>
            </a:r>
          </a:p>
          <a:p>
            <a:r>
              <a:rPr lang="uk-UA" dirty="0"/>
              <a:t>«На рисунку 3.5 показано схему інтеграції оптичного потоку з </a:t>
            </a:r>
            <a:r>
              <a:rPr lang="uk-UA" dirty="0" err="1"/>
              <a:t>трансформерною</a:t>
            </a:r>
            <a:r>
              <a:rPr lang="uk-UA" dirty="0"/>
              <a:t> обробкою векторів руху.</a:t>
            </a:r>
          </a:p>
          <a:p>
            <a:endParaRPr lang="uk-UA" dirty="0"/>
          </a:p>
          <a:p>
            <a:r>
              <a:rPr lang="uk-UA" dirty="0"/>
              <a:t>Вхідні кадри подаються на блок обчислення оптичного потоку, який формує векторне поле переміщення пікселів. Далі ці вектори руху передаються до </a:t>
            </a:r>
            <a:r>
              <a:rPr lang="uk-UA" dirty="0" err="1"/>
              <a:t>трансформерної</a:t>
            </a:r>
            <a:r>
              <a:rPr lang="uk-UA" dirty="0"/>
              <a:t> мережі.</a:t>
            </a:r>
          </a:p>
          <a:p>
            <a:endParaRPr lang="uk-UA" dirty="0"/>
          </a:p>
          <a:p>
            <a:r>
              <a:rPr lang="uk-UA" dirty="0"/>
              <a:t>Трансформер обробляє послідовність векторів оптичного потоку за допомогою механізмів багатоголової уваги. Це дозволяє виявляти складні </a:t>
            </a:r>
            <a:r>
              <a:rPr lang="uk-UA" dirty="0" err="1"/>
              <a:t>патерни</a:t>
            </a:r>
            <a:r>
              <a:rPr lang="uk-UA" dirty="0"/>
              <a:t> руху, які не можуть бути виявлені локальними або класичними методами, зокрема при часткових оклюзіях або зміні форми об'єкта.</a:t>
            </a:r>
          </a:p>
          <a:p>
            <a:endParaRPr lang="uk-UA" dirty="0"/>
          </a:p>
          <a:p>
            <a:r>
              <a:rPr lang="uk-UA" dirty="0"/>
              <a:t>На виході </a:t>
            </a:r>
            <a:r>
              <a:rPr lang="uk-UA" dirty="0" err="1"/>
              <a:t>трансформера</a:t>
            </a:r>
            <a:r>
              <a:rPr lang="uk-UA" dirty="0"/>
              <a:t> формується узагальнене представлення динаміки об'єкта, на основі якого обчислюються кінематичні параметри: положення об'єкта, миттєва швидкість, прискорення та напрямок руху.</a:t>
            </a:r>
          </a:p>
          <a:p>
            <a:endParaRPr lang="uk-UA" dirty="0"/>
          </a:p>
          <a:p>
            <a:r>
              <a:rPr lang="uk-UA" dirty="0"/>
              <a:t>Ключовим аспектом є калібрування камери, яке дозволяє перевести піксельні зміщення у реальні фізичні величини, наприклад кілометри на годину, що забезпечує практичну цінність розробленої технології.»</a:t>
            </a:r>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50</a:t>
            </a:fld>
            <a:endParaRPr lang="en-US"/>
          </a:p>
        </p:txBody>
      </p:sp>
    </p:spTree>
    <p:extLst>
      <p:ext uri="{BB962C8B-B14F-4D97-AF65-F5344CB8AC3E}">
        <p14:creationId xmlns:p14="http://schemas.microsoft.com/office/powerpoint/2010/main" val="29225455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Структура ансамблевих модулів реалізує два підходи.</a:t>
            </a:r>
          </a:p>
          <a:p>
            <a:r>
              <a:rPr lang="en-US" sz="1200" b="1" i="0" kern="1200" dirty="0">
                <a:solidFill>
                  <a:schemeClr val="tx1"/>
                </a:solidFill>
                <a:effectLst/>
                <a:latin typeface="+mn-lt"/>
                <a:ea typeface="+mn-ea"/>
                <a:cs typeface="+mn-cs"/>
              </a:rPr>
              <a:t>Bagging (</a:t>
            </a:r>
            <a:r>
              <a:rPr lang="uk-UA" sz="1200" b="1" i="0" kern="1200" dirty="0">
                <a:solidFill>
                  <a:schemeClr val="tx1"/>
                </a:solidFill>
                <a:effectLst/>
                <a:latin typeface="+mn-lt"/>
                <a:ea typeface="+mn-ea"/>
                <a:cs typeface="+mn-cs"/>
              </a:rPr>
              <a:t>паралельний)</a:t>
            </a:r>
            <a:r>
              <a:rPr lang="uk-UA" sz="1200" b="0" i="0" kern="1200" dirty="0">
                <a:solidFill>
                  <a:schemeClr val="tx1"/>
                </a:solidFill>
                <a:effectLst/>
                <a:latin typeface="+mn-lt"/>
                <a:ea typeface="+mn-ea"/>
                <a:cs typeface="+mn-cs"/>
              </a:rPr>
              <a:t> : на різних модифікаціях кадрів – зі зміною яскравості, масштабуванням – запускається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Результати об'єднуються усередненням карт глибини. Це згладжує локальні артефакти та підвищує стабільність.</a:t>
            </a:r>
          </a:p>
          <a:p>
            <a:r>
              <a:rPr lang="en-US" sz="1200" b="1" i="0" kern="1200" dirty="0">
                <a:solidFill>
                  <a:schemeClr val="tx1"/>
                </a:solidFill>
                <a:effectLst/>
                <a:latin typeface="+mn-lt"/>
                <a:ea typeface="+mn-ea"/>
                <a:cs typeface="+mn-cs"/>
              </a:rPr>
              <a:t>Boosting (</a:t>
            </a:r>
            <a:r>
              <a:rPr lang="uk-UA" sz="1200" b="1" i="0" kern="1200" dirty="0">
                <a:solidFill>
                  <a:schemeClr val="tx1"/>
                </a:solidFill>
                <a:effectLst/>
                <a:latin typeface="+mn-lt"/>
                <a:ea typeface="+mn-ea"/>
                <a:cs typeface="+mn-cs"/>
              </a:rPr>
              <a:t>послідовний)</a:t>
            </a:r>
            <a:r>
              <a:rPr lang="uk-UA" sz="1200" b="0" i="0" kern="1200" dirty="0">
                <a:solidFill>
                  <a:schemeClr val="tx1"/>
                </a:solidFill>
                <a:effectLst/>
                <a:latin typeface="+mn-lt"/>
                <a:ea typeface="+mn-ea"/>
                <a:cs typeface="+mn-cs"/>
              </a:rPr>
              <a:t> : перша модель формує базову карту глибини. Друга модель – коректор зон помилок – уточнює карту в регіонах з найбільшою похибкою. Це суттєво зменшує зміщення та підвищує точність на межах об'єктів або в умовах слабкої освітленості».</a:t>
            </a:r>
          </a:p>
          <a:p>
            <a:r>
              <a:rPr lang="uk-UA" dirty="0"/>
              <a:t>----------------------------------------------------------------------------</a:t>
            </a:r>
          </a:p>
          <a:p>
            <a:r>
              <a:rPr lang="uk-UA" dirty="0"/>
              <a:t>Ансамблеві модулі (рис.4.6)</a:t>
            </a:r>
          </a:p>
          <a:p>
            <a:r>
              <a:rPr lang="uk-UA" dirty="0"/>
              <a:t>Що казати:</a:t>
            </a:r>
          </a:p>
          <a:p>
            <a:r>
              <a:rPr lang="uk-UA" dirty="0"/>
              <a:t>«На рисунку 4.6 представлено структуру ансамблевих модулів у системі.</a:t>
            </a:r>
          </a:p>
          <a:p>
            <a:endParaRPr lang="uk-UA" dirty="0"/>
          </a:p>
          <a:p>
            <a:r>
              <a:rPr lang="uk-UA" dirty="0"/>
              <a:t>Для </a:t>
            </a:r>
            <a:r>
              <a:rPr lang="uk-UA" dirty="0" err="1"/>
              <a:t>бегінгу</a:t>
            </a:r>
            <a:r>
              <a:rPr lang="uk-UA" dirty="0"/>
              <a:t> реалізовано паралельну обробку. На різних модифікаціях кадрів – із зміною яскравості, масштабуванням та обрізкою – запускається </a:t>
            </a:r>
            <a:r>
              <a:rPr lang="en-US" dirty="0" err="1"/>
              <a:t>GeoNet</a:t>
            </a:r>
            <a:r>
              <a:rPr lang="en-US" dirty="0"/>
              <a:t>, </a:t>
            </a:r>
            <a:r>
              <a:rPr lang="uk-UA" dirty="0"/>
              <a:t>яка оцінює глибину та оптичний потік. Результати об'єднуються шляхом усереднення карт глибини. Такий підхід дозволяє згладити локальні артефакти та підвищити стабільність результатів.</a:t>
            </a:r>
          </a:p>
          <a:p>
            <a:endParaRPr lang="uk-UA" dirty="0"/>
          </a:p>
          <a:p>
            <a:r>
              <a:rPr lang="uk-UA" dirty="0"/>
              <a:t>Для </a:t>
            </a:r>
            <a:r>
              <a:rPr lang="uk-UA" dirty="0" err="1"/>
              <a:t>бустінгу</a:t>
            </a:r>
            <a:r>
              <a:rPr lang="uk-UA" dirty="0"/>
              <a:t> реалізовано послідовну обробку. Перша модель формує базову карту глибини. Друга модель – коректор зон помилок – уточнює карту у тих регіонах, де було виявлено найбільшу похибку. Це дозволяє суттєво зменшити зміщення та підвищити точність прогнозування, особливо на межах об'єктів або в умовах слабкої освітленості.</a:t>
            </a:r>
          </a:p>
          <a:p>
            <a:endParaRPr lang="uk-UA" dirty="0"/>
          </a:p>
          <a:p>
            <a:r>
              <a:rPr lang="uk-UA" dirty="0"/>
              <a:t>Після ансамблевої корекції результати надходять до модуля об'єднання, де виконується побудова траєкторій та виявлення об'єктів за допомогою </a:t>
            </a:r>
            <a:r>
              <a:rPr lang="en-US" dirty="0"/>
              <a:t>DETR </a:t>
            </a:r>
            <a:r>
              <a:rPr lang="uk-UA" dirty="0"/>
              <a:t>або інших детекторів.»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51</a:t>
            </a:fld>
            <a:endParaRPr lang="en-US"/>
          </a:p>
        </p:txBody>
      </p:sp>
    </p:spTree>
    <p:extLst>
      <p:ext uri="{BB962C8B-B14F-4D97-AF65-F5344CB8AC3E}">
        <p14:creationId xmlns:p14="http://schemas.microsoft.com/office/powerpoint/2010/main" val="38334285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На цьому слайді наведено функціональне порівняння запропонованої інформаційної технології з аналогами. Порівнюються </a:t>
            </a:r>
            <a:r>
              <a:rPr lang="en-US" dirty="0"/>
              <a:t>OpenCV tracking / optical flow, </a:t>
            </a:r>
            <a:r>
              <a:rPr lang="uk-UA" dirty="0"/>
              <a:t>тобто засоби відстеження та оптичного потоку з бібліотеки </a:t>
            </a:r>
            <a:r>
              <a:rPr lang="en-US" dirty="0"/>
              <a:t>OpenCV; YOLO + </a:t>
            </a:r>
            <a:r>
              <a:rPr lang="en-US" dirty="0" err="1"/>
              <a:t>DeepSORT</a:t>
            </a:r>
            <a:r>
              <a:rPr lang="en-US" dirty="0"/>
              <a:t> / </a:t>
            </a:r>
            <a:r>
              <a:rPr lang="en-US" dirty="0" err="1"/>
              <a:t>ByteTrack</a:t>
            </a:r>
            <a:r>
              <a:rPr lang="en-US" dirty="0"/>
              <a:t>, </a:t>
            </a:r>
            <a:r>
              <a:rPr lang="uk-UA" dirty="0"/>
              <a:t>тобто детектор об'єктів </a:t>
            </a:r>
            <a:r>
              <a:rPr lang="en-US" dirty="0"/>
              <a:t>You Only Look Once </a:t>
            </a:r>
            <a:r>
              <a:rPr lang="uk-UA" dirty="0"/>
              <a:t>у поєднанні з алгоритмами </a:t>
            </a:r>
            <a:r>
              <a:rPr lang="uk-UA" dirty="0" err="1"/>
              <a:t>трекінгу</a:t>
            </a:r>
            <a:r>
              <a:rPr lang="uk-UA" dirty="0"/>
              <a:t>; </a:t>
            </a:r>
            <a:r>
              <a:rPr lang="en-US" dirty="0"/>
              <a:t>RAFT / </a:t>
            </a:r>
            <a:r>
              <a:rPr lang="en-US" dirty="0" err="1"/>
              <a:t>FlowNet</a:t>
            </a:r>
            <a:r>
              <a:rPr lang="en-US" dirty="0"/>
              <a:t>, </a:t>
            </a:r>
            <a:r>
              <a:rPr lang="uk-UA" dirty="0"/>
              <a:t>тобто </a:t>
            </a:r>
            <a:r>
              <a:rPr lang="uk-UA" dirty="0" err="1"/>
              <a:t>нейромережеві</a:t>
            </a:r>
            <a:r>
              <a:rPr lang="uk-UA" dirty="0"/>
              <a:t> методи оцінювання оптичного потоку; </a:t>
            </a:r>
            <a:r>
              <a:rPr lang="en-US" dirty="0" err="1"/>
              <a:t>MiDaS</a:t>
            </a:r>
            <a:r>
              <a:rPr lang="en-US" dirty="0"/>
              <a:t> / DPT, </a:t>
            </a:r>
            <a:r>
              <a:rPr lang="uk-UA" dirty="0"/>
              <a:t>тобто моделі оцінювання глибини сцени.</a:t>
            </a:r>
          </a:p>
          <a:p>
            <a:r>
              <a:rPr lang="uk-UA" dirty="0"/>
              <a:t>Із таблиці видно, що аналоги зазвичай добре розв'язують окрему задачу: або виявлення, або рух, або глибину. Запропонована ІТ ДІПДО (інформаційна технологія дистанційної ідентифікації параметрів динамічних об'єктів) охоплює повний цикл: виявлення, відстеження, оцінювання глибини, розрахунок параметрів стану, ансамблеву корекцію та формування цілісного результату.</a:t>
            </a:r>
          </a:p>
          <a:p>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52</a:t>
            </a:fld>
            <a:endParaRPr lang="en-US"/>
          </a:p>
        </p:txBody>
      </p:sp>
    </p:spTree>
    <p:extLst>
      <p:ext uri="{BB962C8B-B14F-4D97-AF65-F5344CB8AC3E}">
        <p14:creationId xmlns:p14="http://schemas.microsoft.com/office/powerpoint/2010/main" val="36491865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подано кількісне порівняння з аналогами за шкалою: 0 — компонент відсутній, 1 — реалізований частково, 2 — реалізований повністю. Такий підхід дає змогу не лише якісно, а й кількісно показати відмінність запропонованої технології.</a:t>
            </a:r>
          </a:p>
          <a:p>
            <a:r>
              <a:rPr lang="en-US" dirty="0"/>
              <a:t>OpenCV </a:t>
            </a:r>
            <a:r>
              <a:rPr lang="uk-UA" dirty="0"/>
              <a:t>набирає 5 балів, </a:t>
            </a:r>
            <a:r>
              <a:rPr lang="en-US" dirty="0"/>
              <a:t>YOLO + Tracker — 6 </a:t>
            </a:r>
            <a:r>
              <a:rPr lang="uk-UA" dirty="0"/>
              <a:t>балів, </a:t>
            </a:r>
            <a:r>
              <a:rPr lang="en-US" dirty="0"/>
              <a:t>RAFT / </a:t>
            </a:r>
            <a:r>
              <a:rPr lang="en-US" dirty="0" err="1"/>
              <a:t>FlowNet</a:t>
            </a:r>
            <a:r>
              <a:rPr lang="en-US" dirty="0"/>
              <a:t> — 3 </a:t>
            </a:r>
            <a:r>
              <a:rPr lang="uk-UA" dirty="0"/>
              <a:t>бали, </a:t>
            </a:r>
            <a:r>
              <a:rPr lang="en-US" dirty="0" err="1"/>
              <a:t>MiDaS</a:t>
            </a:r>
            <a:r>
              <a:rPr lang="en-US" dirty="0"/>
              <a:t> / DPT — 3 </a:t>
            </a:r>
            <a:r>
              <a:rPr lang="uk-UA" dirty="0"/>
              <a:t>бали, тоді як запропонована ІТ ДІПДО набирає 12 балів. Це означає, що запропонований підхід забезпечує найповніше функціональне покриття задач дистанційної ідентифікації.</a:t>
            </a:r>
          </a:p>
          <a:p>
            <a:r>
              <a:rPr lang="uk-UA" dirty="0"/>
              <a:t>Окремо наведено ключові результати: порівняно 35 комбінацій методів; </a:t>
            </a:r>
            <a:r>
              <a:rPr lang="en-US" dirty="0"/>
              <a:t>RMSE (</a:t>
            </a:r>
            <a:r>
              <a:rPr lang="uk-UA" dirty="0"/>
              <a:t>середньоквадратична похибка) дорівнює 0,713; </a:t>
            </a:r>
            <a:r>
              <a:rPr lang="en-US" dirty="0"/>
              <a:t>PSNR (</a:t>
            </a:r>
            <a:r>
              <a:rPr lang="uk-UA" dirty="0"/>
              <a:t>пікове відношення сигналу до шуму) дорівнює 51,065 </a:t>
            </a:r>
            <a:r>
              <a:rPr lang="uk-UA" dirty="0" err="1"/>
              <a:t>дБ</a:t>
            </a:r>
            <a:r>
              <a:rPr lang="uk-UA" dirty="0"/>
              <a:t>; </a:t>
            </a:r>
            <a:r>
              <a:rPr lang="en-US" dirty="0" err="1"/>
              <a:t>IoU</a:t>
            </a:r>
            <a:r>
              <a:rPr lang="en-US" dirty="0"/>
              <a:t> (</a:t>
            </a:r>
            <a:r>
              <a:rPr lang="uk-UA" dirty="0"/>
              <a:t>перетин над об'єднанням) дорівнює 0,996; </a:t>
            </a:r>
            <a:r>
              <a:rPr lang="en-US" dirty="0"/>
              <a:t>Dice (</a:t>
            </a:r>
            <a:r>
              <a:rPr lang="uk-UA" dirty="0"/>
              <a:t>коефіцієнт подібності </a:t>
            </a:r>
            <a:r>
              <a:rPr lang="uk-UA" dirty="0" err="1"/>
              <a:t>Дайса</a:t>
            </a:r>
            <a:r>
              <a:rPr lang="uk-UA" dirty="0"/>
              <a:t>) дорівнює 0,998.</a:t>
            </a:r>
          </a:p>
          <a:p>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53</a:t>
            </a:fld>
            <a:endParaRPr lang="en-US"/>
          </a:p>
        </p:txBody>
      </p:sp>
    </p:spTree>
    <p:extLst>
      <p:ext uri="{BB962C8B-B14F-4D97-AF65-F5344CB8AC3E}">
        <p14:creationId xmlns:p14="http://schemas.microsoft.com/office/powerpoint/2010/main" val="30510940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Цей слайд потрібен для уточнення понятійного апарату та для відповіді на можливі запитання членів ради. Тут варто наголосити, що динамічний об'єкт — це рухомий об'єкт у </a:t>
            </a:r>
            <a:r>
              <a:rPr lang="uk-UA" dirty="0" err="1"/>
              <a:t>відеопослідовності</a:t>
            </a:r>
            <a:r>
              <a:rPr lang="uk-UA" dirty="0"/>
              <a:t>, стан якого змінюється в часі та описується просторовими, кінематичними і структурними параметрами.</a:t>
            </a:r>
          </a:p>
          <a:p>
            <a:r>
              <a:rPr lang="uk-UA" dirty="0"/>
              <a:t>Також потрібно чітко розмежувати рівні дослідження: модель — це формалізований опис; метод — спосіб розв'язання задачі; алгоритм — послідовність операцій; програмна реалізація — виконання алгоритмів у модулях; інформаційна технологія — цілісна сукупність моделей, методів, алгоритмів і програмних модулів.</a:t>
            </a:r>
          </a:p>
          <a:p>
            <a:r>
              <a:rPr lang="uk-UA" dirty="0"/>
              <a:t>Кількісне досягнення мети підтверджується точністю, надійністю, адаптивністю та працездатністю технології за експериментальними показниками.</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26921626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базові терміни, які використовуються в роботі. Рухомий об'єкт — це об'єкт </a:t>
            </a:r>
            <a:r>
              <a:rPr lang="uk-UA" dirty="0" err="1"/>
              <a:t>відеосцени</a:t>
            </a:r>
            <a:r>
              <a:rPr lang="uk-UA" dirty="0"/>
              <a:t>, положення якого змінюється між послідовними кадрами. Динамічний об'єкт — ширше поняття, оскільки йдеться не лише про факт руху, а й про зміну стану в часі.</a:t>
            </a:r>
          </a:p>
          <a:p>
            <a:r>
              <a:rPr lang="uk-UA" dirty="0"/>
              <a:t>Стан об'єкта описується сукупністю параметрів. Просторові параметри — це координати </a:t>
            </a:r>
            <a:r>
              <a:rPr lang="en-US" dirty="0"/>
              <a:t>x, y, z, </a:t>
            </a:r>
            <a:r>
              <a:rPr lang="uk-UA" dirty="0"/>
              <a:t>глибина, розміри та орієнтація. Кінематичні параметри — це швидкість, прискорення, напрямок руху та траєкторія. Структурні параметри — це контур, площа, клас об'єкта та ознаки форми.</a:t>
            </a:r>
          </a:p>
          <a:p>
            <a:r>
              <a:rPr lang="uk-UA" dirty="0"/>
              <a:t>Таким чином, у роботі ідентифікується не просто наявність об'єкта в кадрі, а його повний параметричний опис.</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9375303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На цьому слайді розмежовано поняття модель, метод, алгоритм, програмна реалізація та інформаційна технологія. Модель задає формалізоване представлення об'єкта або процесу. Метод описує теоретично обґрунтований спосіб розв'язання задачі. Алгоритм перетворює метод у конкретну послідовність дій.</a:t>
            </a:r>
          </a:p>
          <a:p>
            <a:r>
              <a:rPr lang="uk-UA" dirty="0"/>
              <a:t>Програмна реалізація — це виконання алгоритмів у вигляді програмних модулів. Інформаційна технологія, або ІТ, об'єднує всі ці складові в єдиний процес обробки даних: від отримання </a:t>
            </a:r>
            <a:r>
              <a:rPr lang="uk-UA" dirty="0" err="1"/>
              <a:t>відеопотоку</a:t>
            </a:r>
            <a:r>
              <a:rPr lang="uk-UA" dirty="0"/>
              <a:t> до визначення параметрів динамічного об'єкта.</a:t>
            </a:r>
          </a:p>
          <a:p>
            <a:r>
              <a:rPr lang="uk-UA" dirty="0"/>
              <a:t>Тому </a:t>
            </a:r>
            <a:r>
              <a:rPr lang="uk-UA" dirty="0" err="1"/>
              <a:t>коректно</a:t>
            </a:r>
            <a:r>
              <a:rPr lang="uk-UA" dirty="0"/>
              <a:t> говорити, що програмна система реалізує запропоновану інформаційну технологію ДІПДО (дистанційної ідентифікації параметрів динамічних об'єктів).</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488504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Рекомендація</a:t>
            </a:r>
            <a:r>
              <a:rPr lang="ru-RU" dirty="0"/>
              <a:t>: у </a:t>
            </a:r>
            <a:r>
              <a:rPr lang="ru-RU" dirty="0" err="1"/>
              <a:t>тексті</a:t>
            </a:r>
            <a:r>
              <a:rPr lang="ru-RU" dirty="0"/>
              <a:t> </a:t>
            </a:r>
            <a:r>
              <a:rPr lang="ru-RU" dirty="0" err="1"/>
              <a:t>доповіді</a:t>
            </a:r>
            <a:r>
              <a:rPr lang="ru-RU" dirty="0"/>
              <a:t> </a:t>
            </a:r>
            <a:r>
              <a:rPr lang="ru-RU" dirty="0" err="1"/>
              <a:t>вживати</a:t>
            </a:r>
            <a:r>
              <a:rPr lang="ru-RU" dirty="0"/>
              <a:t> «</a:t>
            </a:r>
            <a:r>
              <a:rPr lang="ru-RU" dirty="0" err="1"/>
              <a:t>програмна</a:t>
            </a:r>
            <a:r>
              <a:rPr lang="ru-RU" dirty="0"/>
              <a:t> система </a:t>
            </a:r>
            <a:r>
              <a:rPr lang="ru-RU" dirty="0" err="1"/>
              <a:t>реалізує</a:t>
            </a:r>
            <a:r>
              <a:rPr lang="ru-RU" dirty="0"/>
              <a:t> </a:t>
            </a:r>
            <a:r>
              <a:rPr lang="ru-RU" dirty="0" err="1"/>
              <a:t>інформаційну</a:t>
            </a:r>
            <a:r>
              <a:rPr lang="ru-RU" dirty="0"/>
              <a:t> </a:t>
            </a:r>
            <a:r>
              <a:rPr lang="ru-RU" dirty="0" err="1"/>
              <a:t>технологію</a:t>
            </a:r>
            <a:r>
              <a:rPr lang="ru-RU" dirty="0"/>
              <a:t>», а не </a:t>
            </a:r>
            <a:r>
              <a:rPr lang="ru-RU" dirty="0" err="1"/>
              <a:t>змішувати</a:t>
            </a:r>
            <a:r>
              <a:rPr lang="ru-RU" dirty="0"/>
              <a:t> </a:t>
            </a:r>
            <a:r>
              <a:rPr lang="ru-RU" dirty="0" err="1"/>
              <a:t>ці</a:t>
            </a:r>
            <a:r>
              <a:rPr lang="ru-RU" dirty="0"/>
              <a:t> </a:t>
            </a:r>
            <a:r>
              <a:rPr lang="ru-RU" dirty="0" err="1"/>
              <a:t>поняття</a:t>
            </a:r>
            <a:r>
              <a:rPr lang="ru-RU"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4050523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1542-ED01-3DD4-1E3A-7C3818486174}"/>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DEA67F70-0E64-44F7-C845-A7FB2959BC45}"/>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C3875715-FDAD-C18B-0B19-FBC6F3ACA093}"/>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a:p>
            <a:endParaRPr lang="en-US" dirty="0"/>
          </a:p>
          <a:p>
            <a:endParaRPr lang="en-US" dirty="0"/>
          </a:p>
          <a:p>
            <a:r>
              <a:rPr lang="en-US" dirty="0"/>
              <a:t>№</a:t>
            </a:r>
          </a:p>
          <a:p>
            <a:r>
              <a:rPr lang="en-US" dirty="0" err="1"/>
              <a:t>Положення</a:t>
            </a:r>
            <a:r>
              <a:rPr lang="en-US" dirty="0"/>
              <a:t> </a:t>
            </a:r>
            <a:r>
              <a:rPr lang="en-US" dirty="0" err="1"/>
              <a:t>наукової</a:t>
            </a:r>
            <a:r>
              <a:rPr lang="en-US" dirty="0"/>
              <a:t> </a:t>
            </a:r>
            <a:r>
              <a:rPr lang="en-US" dirty="0" err="1"/>
              <a:t>новизни</a:t>
            </a:r>
            <a:endParaRPr lang="en-US" dirty="0"/>
          </a:p>
          <a:p>
            <a:r>
              <a:rPr lang="en-US" dirty="0" err="1"/>
              <a:t>Слайди</a:t>
            </a:r>
            <a:r>
              <a:rPr lang="en-US" dirty="0"/>
              <a:t>, </a:t>
            </a:r>
            <a:r>
              <a:rPr lang="en-US" dirty="0" err="1"/>
              <a:t>де</a:t>
            </a:r>
            <a:r>
              <a:rPr lang="en-US" dirty="0"/>
              <a:t> </a:t>
            </a:r>
            <a:r>
              <a:rPr lang="en-US" dirty="0" err="1"/>
              <a:t>підтверджується</a:t>
            </a:r>
            <a:endParaRPr lang="en-US" dirty="0"/>
          </a:p>
          <a:p>
            <a:r>
              <a:rPr lang="en-US" dirty="0" err="1"/>
              <a:t>Що</a:t>
            </a:r>
            <a:r>
              <a:rPr lang="en-US" dirty="0"/>
              <a:t> </a:t>
            </a:r>
            <a:r>
              <a:rPr lang="en-US" dirty="0" err="1"/>
              <a:t>саме</a:t>
            </a:r>
            <a:r>
              <a:rPr lang="en-US" dirty="0"/>
              <a:t> </a:t>
            </a:r>
            <a:r>
              <a:rPr lang="en-US" dirty="0" err="1"/>
              <a:t>показано</a:t>
            </a:r>
            <a:endParaRPr lang="en-US" dirty="0"/>
          </a:p>
          <a:p>
            <a:r>
              <a:rPr lang="en-US" dirty="0"/>
              <a:t>1</a:t>
            </a:r>
            <a:r>
              <a:rPr lang="en-US" b="1" dirty="0"/>
              <a:t>Удосконалено </a:t>
            </a:r>
            <a:r>
              <a:rPr lang="en-US" b="1" dirty="0" err="1"/>
              <a:t>модель</a:t>
            </a:r>
            <a:r>
              <a:rPr lang="en-US" b="1" dirty="0"/>
              <a:t> </a:t>
            </a:r>
            <a:r>
              <a:rPr lang="en-US" b="1" dirty="0" err="1"/>
              <a:t>дистанційної</a:t>
            </a:r>
            <a:r>
              <a:rPr lang="en-US" b="1" dirty="0"/>
              <a:t> </a:t>
            </a:r>
            <a:r>
              <a:rPr lang="en-US" b="1" dirty="0" err="1"/>
              <a:t>ідентифікації</a:t>
            </a:r>
            <a:r>
              <a:rPr lang="en-US" b="1" dirty="0"/>
              <a:t> </a:t>
            </a:r>
            <a:r>
              <a:rPr lang="en-US" b="1" dirty="0" err="1"/>
              <a:t>параметрів</a:t>
            </a:r>
            <a:r>
              <a:rPr lang="en-US" b="1" dirty="0"/>
              <a:t> </a:t>
            </a:r>
            <a:r>
              <a:rPr lang="en-US" b="1" dirty="0" err="1"/>
              <a:t>динамічних</a:t>
            </a:r>
            <a:r>
              <a:rPr lang="en-US" b="1" dirty="0"/>
              <a:t> </a:t>
            </a:r>
            <a:r>
              <a:rPr lang="en-US" b="1" dirty="0" err="1"/>
              <a:t>об'єктів</a:t>
            </a:r>
            <a:r>
              <a:rPr lang="en-US" b="1" dirty="0"/>
              <a:t> </a:t>
            </a:r>
            <a:r>
              <a:rPr lang="en-US" b="1" dirty="0" err="1"/>
              <a:t>шляхом</a:t>
            </a:r>
            <a:r>
              <a:rPr lang="en-US" b="1" dirty="0"/>
              <a:t> </a:t>
            </a:r>
            <a:r>
              <a:rPr lang="en-US" b="1" dirty="0" err="1"/>
              <a:t>інтеграції</a:t>
            </a:r>
            <a:r>
              <a:rPr lang="en-US" b="1" dirty="0"/>
              <a:t> DETR </a:t>
            </a:r>
            <a:r>
              <a:rPr lang="en-US" b="1" dirty="0" err="1"/>
              <a:t>та</a:t>
            </a:r>
            <a:r>
              <a:rPr lang="en-US" b="1" dirty="0"/>
              <a:t> </a:t>
            </a:r>
            <a:r>
              <a:rPr lang="en-US" b="1" dirty="0" err="1"/>
              <a:t>оптичного</a:t>
            </a:r>
            <a:r>
              <a:rPr lang="en-US" b="1" dirty="0"/>
              <a:t> потоку17–18, 20, 22–23</a:t>
            </a:r>
            <a:r>
              <a:rPr lang="en-US" dirty="0"/>
              <a:t>Структуру </a:t>
            </a:r>
            <a:r>
              <a:rPr lang="en-US" dirty="0" err="1"/>
              <a:t>моделей</a:t>
            </a:r>
            <a:r>
              <a:rPr lang="en-US" dirty="0"/>
              <a:t> ДІПДО; </a:t>
            </a:r>
            <a:r>
              <a:rPr lang="en-US" dirty="0" err="1"/>
              <a:t>аналітичну</a:t>
            </a:r>
            <a:r>
              <a:rPr lang="en-US" dirty="0"/>
              <a:t> </a:t>
            </a:r>
            <a:r>
              <a:rPr lang="en-US" dirty="0" err="1"/>
              <a:t>модель</a:t>
            </a:r>
            <a:r>
              <a:rPr lang="en-US" dirty="0"/>
              <a:t> DETR + Optical Flow; </a:t>
            </a:r>
            <a:r>
              <a:rPr lang="en-US" dirty="0" err="1"/>
              <a:t>локалізацію</a:t>
            </a:r>
            <a:r>
              <a:rPr lang="en-US" dirty="0"/>
              <a:t> </a:t>
            </a:r>
            <a:r>
              <a:rPr lang="en-US" dirty="0" err="1"/>
              <a:t>об'єктів</a:t>
            </a:r>
            <a:r>
              <a:rPr lang="en-US" dirty="0"/>
              <a:t>; </a:t>
            </a:r>
            <a:r>
              <a:rPr lang="en-US" dirty="0" err="1"/>
              <a:t>визначення</a:t>
            </a:r>
            <a:r>
              <a:rPr lang="en-US" dirty="0"/>
              <a:t> </a:t>
            </a:r>
            <a:r>
              <a:rPr lang="en-US" dirty="0" err="1"/>
              <a:t>векторів</a:t>
            </a:r>
            <a:r>
              <a:rPr lang="en-US" dirty="0"/>
              <a:t> </a:t>
            </a:r>
            <a:r>
              <a:rPr lang="en-US" dirty="0" err="1"/>
              <a:t>руху</a:t>
            </a:r>
            <a:r>
              <a:rPr lang="en-US" dirty="0"/>
              <a:t>, </a:t>
            </a:r>
            <a:r>
              <a:rPr lang="en-US" dirty="0" err="1"/>
              <a:t>швидкості</a:t>
            </a:r>
            <a:r>
              <a:rPr lang="en-US" dirty="0"/>
              <a:t> </a:t>
            </a:r>
            <a:r>
              <a:rPr lang="en-US" dirty="0" err="1"/>
              <a:t>та</a:t>
            </a:r>
            <a:r>
              <a:rPr lang="en-US" dirty="0"/>
              <a:t> </a:t>
            </a:r>
            <a:r>
              <a:rPr lang="en-US" dirty="0" err="1"/>
              <a:t>напрямку</a:t>
            </a:r>
            <a:endParaRPr lang="en-US" dirty="0"/>
          </a:p>
          <a:p>
            <a:r>
              <a:rPr lang="en-US" dirty="0"/>
              <a:t>2</a:t>
            </a:r>
            <a:r>
              <a:rPr lang="en-US" b="1" dirty="0"/>
              <a:t>Набула </a:t>
            </a:r>
            <a:r>
              <a:rPr lang="en-US" b="1" dirty="0" err="1"/>
              <a:t>подальшого</a:t>
            </a:r>
            <a:r>
              <a:rPr lang="en-US" b="1" dirty="0"/>
              <a:t> </a:t>
            </a:r>
            <a:r>
              <a:rPr lang="en-US" b="1" dirty="0" err="1"/>
              <a:t>розвитку</a:t>
            </a:r>
            <a:r>
              <a:rPr lang="en-US" b="1" dirty="0"/>
              <a:t> </a:t>
            </a:r>
            <a:r>
              <a:rPr lang="en-US" b="1" dirty="0" err="1"/>
              <a:t>просторово-часова</a:t>
            </a:r>
            <a:r>
              <a:rPr lang="en-US" b="1" dirty="0"/>
              <a:t> </a:t>
            </a:r>
            <a:r>
              <a:rPr lang="en-US" b="1" dirty="0" err="1"/>
              <a:t>модель</a:t>
            </a:r>
            <a:r>
              <a:rPr lang="en-US" b="1" dirty="0"/>
              <a:t> </a:t>
            </a:r>
            <a:r>
              <a:rPr lang="en-US" b="1" dirty="0" err="1"/>
              <a:t>опису</a:t>
            </a:r>
            <a:r>
              <a:rPr lang="en-US" b="1" dirty="0"/>
              <a:t> </a:t>
            </a:r>
            <a:r>
              <a:rPr lang="en-US" b="1" dirty="0" err="1"/>
              <a:t>стану</a:t>
            </a:r>
            <a:r>
              <a:rPr lang="en-US" b="1" dirty="0"/>
              <a:t> </a:t>
            </a:r>
            <a:r>
              <a:rPr lang="en-US" b="1" dirty="0" err="1"/>
              <a:t>динамічного</a:t>
            </a:r>
            <a:r>
              <a:rPr lang="en-US" b="1" dirty="0"/>
              <a:t> об'єкта11, 16–18, 23</a:t>
            </a:r>
            <a:r>
              <a:rPr lang="en-US" dirty="0"/>
              <a:t>Об'єднання </a:t>
            </a:r>
            <a:r>
              <a:rPr lang="en-US" dirty="0" err="1"/>
              <a:t>просторових</a:t>
            </a:r>
            <a:r>
              <a:rPr lang="en-US" dirty="0"/>
              <a:t> і </a:t>
            </a:r>
            <a:r>
              <a:rPr lang="en-US" dirty="0" err="1"/>
              <a:t>часових</a:t>
            </a:r>
            <a:r>
              <a:rPr lang="en-US" dirty="0"/>
              <a:t> </a:t>
            </a:r>
            <a:r>
              <a:rPr lang="en-US" dirty="0" err="1"/>
              <a:t>ознак</a:t>
            </a:r>
            <a:r>
              <a:rPr lang="en-US" dirty="0"/>
              <a:t>; </a:t>
            </a:r>
            <a:r>
              <a:rPr lang="en-US" dirty="0" err="1"/>
              <a:t>перехід</a:t>
            </a:r>
            <a:r>
              <a:rPr lang="en-US" dirty="0"/>
              <a:t> </a:t>
            </a:r>
            <a:r>
              <a:rPr lang="en-US" dirty="0" err="1"/>
              <a:t>від</a:t>
            </a:r>
            <a:r>
              <a:rPr lang="en-US" dirty="0"/>
              <a:t> </a:t>
            </a:r>
            <a:r>
              <a:rPr lang="en-US" dirty="0" err="1"/>
              <a:t>покадрового</a:t>
            </a:r>
            <a:r>
              <a:rPr lang="en-US" dirty="0"/>
              <a:t> </a:t>
            </a:r>
            <a:r>
              <a:rPr lang="en-US" dirty="0" err="1"/>
              <a:t>виявлення</a:t>
            </a:r>
            <a:r>
              <a:rPr lang="en-US" dirty="0"/>
              <a:t> </a:t>
            </a:r>
            <a:r>
              <a:rPr lang="en-US" dirty="0" err="1"/>
              <a:t>до</a:t>
            </a:r>
            <a:r>
              <a:rPr lang="en-US" dirty="0"/>
              <a:t> </a:t>
            </a:r>
            <a:r>
              <a:rPr lang="en-US" dirty="0" err="1"/>
              <a:t>визначення</a:t>
            </a:r>
            <a:r>
              <a:rPr lang="en-US" dirty="0"/>
              <a:t> </a:t>
            </a:r>
            <a:r>
              <a:rPr lang="en-US" dirty="0" err="1"/>
              <a:t>положення</a:t>
            </a:r>
            <a:r>
              <a:rPr lang="en-US" dirty="0"/>
              <a:t>, </a:t>
            </a:r>
            <a:r>
              <a:rPr lang="en-US" dirty="0" err="1"/>
              <a:t>швидкості</a:t>
            </a:r>
            <a:r>
              <a:rPr lang="en-US" dirty="0"/>
              <a:t>, </a:t>
            </a:r>
            <a:r>
              <a:rPr lang="en-US" dirty="0" err="1"/>
              <a:t>прискорення</a:t>
            </a:r>
            <a:r>
              <a:rPr lang="en-US" dirty="0"/>
              <a:t>, </a:t>
            </a:r>
            <a:r>
              <a:rPr lang="en-US" dirty="0" err="1"/>
              <a:t>напрямку</a:t>
            </a:r>
            <a:r>
              <a:rPr lang="en-US" dirty="0"/>
              <a:t> і </a:t>
            </a:r>
            <a:r>
              <a:rPr lang="en-US" dirty="0" err="1"/>
              <a:t>траєкторії</a:t>
            </a:r>
            <a:endParaRPr lang="en-US" dirty="0"/>
          </a:p>
          <a:p>
            <a:r>
              <a:rPr lang="en-US" dirty="0"/>
              <a:t>3</a:t>
            </a:r>
            <a:r>
              <a:rPr lang="en-US" b="1" dirty="0"/>
              <a:t>Удосконалено </a:t>
            </a:r>
            <a:r>
              <a:rPr lang="en-US" b="1" dirty="0" err="1"/>
              <a:t>метод</a:t>
            </a:r>
            <a:r>
              <a:rPr lang="en-US" b="1" dirty="0"/>
              <a:t> </a:t>
            </a:r>
            <a:r>
              <a:rPr lang="en-US" b="1" dirty="0" err="1"/>
              <a:t>сумісного</a:t>
            </a:r>
            <a:r>
              <a:rPr lang="en-US" b="1" dirty="0"/>
              <a:t> </a:t>
            </a:r>
            <a:r>
              <a:rPr lang="en-US" b="1" dirty="0" err="1"/>
              <a:t>оцінювання</a:t>
            </a:r>
            <a:r>
              <a:rPr lang="en-US" b="1" dirty="0"/>
              <a:t> </a:t>
            </a:r>
            <a:r>
              <a:rPr lang="en-US" b="1" dirty="0" err="1"/>
              <a:t>руху</a:t>
            </a:r>
            <a:r>
              <a:rPr lang="en-US" b="1" dirty="0"/>
              <a:t> </a:t>
            </a:r>
            <a:r>
              <a:rPr lang="en-US" b="1" dirty="0" err="1"/>
              <a:t>та</a:t>
            </a:r>
            <a:r>
              <a:rPr lang="en-US" b="1" dirty="0"/>
              <a:t> </a:t>
            </a:r>
            <a:r>
              <a:rPr lang="en-US" b="1" dirty="0" err="1"/>
              <a:t>глибини</a:t>
            </a:r>
            <a:r>
              <a:rPr lang="en-US" b="1" dirty="0"/>
              <a:t> відеосцени21, 25–26</a:t>
            </a:r>
            <a:r>
              <a:rPr lang="en-US" dirty="0"/>
              <a:t>Використання </a:t>
            </a:r>
            <a:r>
              <a:rPr lang="en-US" dirty="0" err="1"/>
              <a:t>GeoNet</a:t>
            </a:r>
            <a:r>
              <a:rPr lang="en-US" dirty="0"/>
              <a:t>, </a:t>
            </a:r>
            <a:r>
              <a:rPr lang="en-US" dirty="0" err="1"/>
              <a:t>оптичного</a:t>
            </a:r>
            <a:r>
              <a:rPr lang="en-US" dirty="0"/>
              <a:t> </a:t>
            </a:r>
            <a:r>
              <a:rPr lang="en-US" dirty="0" err="1"/>
              <a:t>потоку</a:t>
            </a:r>
            <a:r>
              <a:rPr lang="en-US" dirty="0"/>
              <a:t>, </a:t>
            </a:r>
            <a:r>
              <a:rPr lang="en-US" dirty="0" err="1"/>
              <a:t>моделей</a:t>
            </a:r>
            <a:r>
              <a:rPr lang="en-US" dirty="0"/>
              <a:t> </a:t>
            </a:r>
            <a:r>
              <a:rPr lang="en-US" dirty="0" err="1"/>
              <a:t>глибини</a:t>
            </a:r>
            <a:r>
              <a:rPr lang="en-US" dirty="0"/>
              <a:t> </a:t>
            </a:r>
            <a:r>
              <a:rPr lang="en-US" dirty="0" err="1"/>
              <a:t>та</a:t>
            </a:r>
            <a:r>
              <a:rPr lang="en-US" dirty="0"/>
              <a:t> </a:t>
            </a:r>
            <a:r>
              <a:rPr lang="en-US" dirty="0" err="1"/>
              <a:t>трансформерної</a:t>
            </a:r>
            <a:r>
              <a:rPr lang="en-US" dirty="0"/>
              <a:t> </a:t>
            </a:r>
            <a:r>
              <a:rPr lang="en-US" dirty="0" err="1"/>
              <a:t>обробки</a:t>
            </a:r>
            <a:r>
              <a:rPr lang="en-US" dirty="0"/>
              <a:t> в </a:t>
            </a:r>
            <a:r>
              <a:rPr lang="en-US" dirty="0" err="1"/>
              <a:t>єдиній</a:t>
            </a:r>
            <a:r>
              <a:rPr lang="en-US" dirty="0"/>
              <a:t> </a:t>
            </a:r>
            <a:r>
              <a:rPr lang="en-US" dirty="0" err="1"/>
              <a:t>інтегральній</a:t>
            </a:r>
            <a:r>
              <a:rPr lang="en-US" dirty="0"/>
              <a:t> </a:t>
            </a:r>
            <a:r>
              <a:rPr lang="en-US" dirty="0" err="1"/>
              <a:t>схемі</a:t>
            </a:r>
            <a:endParaRPr lang="en-US" dirty="0"/>
          </a:p>
          <a:p>
            <a:r>
              <a:rPr lang="en-US" dirty="0"/>
              <a:t>4</a:t>
            </a:r>
            <a:r>
              <a:rPr lang="en-US" b="1" dirty="0"/>
              <a:t>Удосконалено </a:t>
            </a:r>
            <a:r>
              <a:rPr lang="en-US" b="1" dirty="0" err="1"/>
              <a:t>метод</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стійкості</a:t>
            </a:r>
            <a:r>
              <a:rPr lang="en-US" b="1" dirty="0"/>
              <a:t> </a:t>
            </a:r>
            <a:r>
              <a:rPr lang="en-US" b="1" dirty="0" err="1"/>
              <a:t>оцінювання</a:t>
            </a:r>
            <a:r>
              <a:rPr lang="en-US" b="1" dirty="0"/>
              <a:t> </a:t>
            </a:r>
            <a:r>
              <a:rPr lang="en-US" b="1" dirty="0" err="1"/>
              <a:t>глибини</a:t>
            </a:r>
            <a:r>
              <a:rPr lang="en-US" b="1" dirty="0"/>
              <a:t> </a:t>
            </a:r>
            <a:r>
              <a:rPr lang="en-US" b="1" dirty="0" err="1"/>
              <a:t>за</a:t>
            </a:r>
            <a:r>
              <a:rPr lang="en-US" b="1" dirty="0"/>
              <a:t> </a:t>
            </a:r>
            <a:r>
              <a:rPr lang="en-US" b="1" dirty="0" err="1"/>
              <a:t>допомогою</a:t>
            </a:r>
            <a:r>
              <a:rPr lang="en-US" b="1" dirty="0"/>
              <a:t> Bagging і Boosting15, 25–26, 32</a:t>
            </a:r>
            <a:r>
              <a:rPr lang="en-US" dirty="0"/>
              <a:t>Ансамблеве </a:t>
            </a:r>
            <a:r>
              <a:rPr lang="en-US" dirty="0" err="1"/>
              <a:t>об'єднання</a:t>
            </a:r>
            <a:r>
              <a:rPr lang="en-US" dirty="0"/>
              <a:t> </a:t>
            </a:r>
            <a:r>
              <a:rPr lang="en-US" dirty="0" err="1"/>
              <a:t>результатів</a:t>
            </a:r>
            <a:r>
              <a:rPr lang="en-US" dirty="0"/>
              <a:t>; </a:t>
            </a:r>
            <a:r>
              <a:rPr lang="en-US" dirty="0" err="1"/>
              <a:t>паралельна</a:t>
            </a:r>
            <a:r>
              <a:rPr lang="en-US" dirty="0"/>
              <a:t> </a:t>
            </a:r>
            <a:r>
              <a:rPr lang="en-US" dirty="0" err="1"/>
              <a:t>схема</a:t>
            </a:r>
            <a:r>
              <a:rPr lang="en-US" dirty="0"/>
              <a:t> Bagging </a:t>
            </a:r>
            <a:r>
              <a:rPr lang="en-US" dirty="0" err="1"/>
              <a:t>та</a:t>
            </a:r>
            <a:r>
              <a:rPr lang="en-US" dirty="0"/>
              <a:t> </a:t>
            </a:r>
            <a:r>
              <a:rPr lang="en-US" dirty="0" err="1"/>
              <a:t>послідовна</a:t>
            </a:r>
            <a:r>
              <a:rPr lang="en-US" dirty="0"/>
              <a:t> </a:t>
            </a:r>
            <a:r>
              <a:rPr lang="en-US" dirty="0" err="1"/>
              <a:t>корекція</a:t>
            </a:r>
            <a:r>
              <a:rPr lang="en-US" dirty="0"/>
              <a:t> Boosting</a:t>
            </a:r>
          </a:p>
          <a:p>
            <a:r>
              <a:rPr lang="en-US" dirty="0"/>
              <a:t>5</a:t>
            </a:r>
            <a:r>
              <a:rPr lang="en-US" b="1" dirty="0"/>
              <a:t>Вперше </a:t>
            </a:r>
            <a:r>
              <a:rPr lang="en-US" b="1" dirty="0" err="1"/>
              <a:t>або</a:t>
            </a:r>
            <a:r>
              <a:rPr lang="en-US" b="1" dirty="0"/>
              <a:t> </a:t>
            </a:r>
            <a:r>
              <a:rPr lang="en-US" b="1" dirty="0" err="1"/>
              <a:t>комплексно</a:t>
            </a:r>
            <a:r>
              <a:rPr lang="en-US" b="1" dirty="0"/>
              <a:t> </a:t>
            </a:r>
            <a:r>
              <a:rPr lang="en-US" b="1" dirty="0" err="1"/>
              <a:t>запропоновано</a:t>
            </a:r>
            <a:r>
              <a:rPr lang="en-US" b="1" dirty="0"/>
              <a:t> </a:t>
            </a:r>
            <a:r>
              <a:rPr lang="en-US" b="1" dirty="0" err="1"/>
              <a:t>інформаційну</a:t>
            </a:r>
            <a:r>
              <a:rPr lang="en-US" b="1" dirty="0"/>
              <a:t> </a:t>
            </a:r>
            <a:r>
              <a:rPr lang="en-US" b="1" dirty="0" err="1"/>
              <a:t>технологію</a:t>
            </a:r>
            <a:r>
              <a:rPr lang="en-US" b="1" dirty="0"/>
              <a:t>, </a:t>
            </a:r>
            <a:r>
              <a:rPr lang="en-US" b="1" dirty="0" err="1"/>
              <a:t>яка</a:t>
            </a:r>
            <a:r>
              <a:rPr lang="en-US" b="1" dirty="0"/>
              <a:t> </a:t>
            </a:r>
            <a:r>
              <a:rPr lang="en-US" b="1" dirty="0" err="1"/>
              <a:t>поєднує</a:t>
            </a:r>
            <a:r>
              <a:rPr lang="en-US" b="1" dirty="0"/>
              <a:t> </a:t>
            </a:r>
            <a:r>
              <a:rPr lang="en-US" b="1" dirty="0" err="1"/>
              <a:t>детекцію</a:t>
            </a:r>
            <a:r>
              <a:rPr lang="en-US" b="1" dirty="0"/>
              <a:t>, </a:t>
            </a:r>
            <a:r>
              <a:rPr lang="en-US" b="1" dirty="0" err="1"/>
              <a:t>рух</a:t>
            </a:r>
            <a:r>
              <a:rPr lang="en-US" b="1" dirty="0"/>
              <a:t>, </a:t>
            </a:r>
            <a:r>
              <a:rPr lang="en-US" b="1" dirty="0" err="1"/>
              <a:t>глибину</a:t>
            </a:r>
            <a:r>
              <a:rPr lang="en-US" b="1" dirty="0"/>
              <a:t>, </a:t>
            </a:r>
            <a:r>
              <a:rPr lang="en-US" b="1" dirty="0" err="1"/>
              <a:t>ансамблеву</a:t>
            </a:r>
            <a:r>
              <a:rPr lang="en-US" b="1" dirty="0"/>
              <a:t> </a:t>
            </a:r>
            <a:r>
              <a:rPr lang="en-US" b="1" dirty="0" err="1"/>
              <a:t>корекцію</a:t>
            </a:r>
            <a:r>
              <a:rPr lang="en-US" b="1" dirty="0"/>
              <a:t> </a:t>
            </a:r>
            <a:r>
              <a:rPr lang="en-US" b="1" dirty="0" err="1"/>
              <a:t>та</a:t>
            </a:r>
            <a:r>
              <a:rPr lang="en-US" b="1" dirty="0"/>
              <a:t> </a:t>
            </a:r>
            <a:r>
              <a:rPr lang="en-US" b="1" dirty="0" err="1"/>
              <a:t>визначення</a:t>
            </a:r>
            <a:r>
              <a:rPr lang="en-US" b="1" dirty="0"/>
              <a:t> </a:t>
            </a:r>
            <a:r>
              <a:rPr lang="en-US" b="1" dirty="0" err="1"/>
              <a:t>параметрів</a:t>
            </a:r>
            <a:r>
              <a:rPr lang="en-US" b="1" dirty="0"/>
              <a:t> об'єкта25–26, 30, 35</a:t>
            </a:r>
            <a:r>
              <a:rPr lang="en-US" dirty="0"/>
              <a:t>Повний </a:t>
            </a:r>
            <a:r>
              <a:rPr lang="en-US" dirty="0" err="1"/>
              <a:t>цикл</a:t>
            </a:r>
            <a:r>
              <a:rPr lang="en-US" dirty="0"/>
              <a:t> </a:t>
            </a:r>
            <a:r>
              <a:rPr lang="en-US" dirty="0" err="1"/>
              <a:t>обробки</a:t>
            </a:r>
            <a:r>
              <a:rPr lang="en-US" dirty="0"/>
              <a:t>: </a:t>
            </a:r>
            <a:r>
              <a:rPr lang="en-US" dirty="0" err="1"/>
              <a:t>відеопотік</a:t>
            </a:r>
            <a:r>
              <a:rPr lang="en-US" dirty="0"/>
              <a:t> → DETR → </a:t>
            </a:r>
            <a:r>
              <a:rPr lang="en-US" dirty="0" err="1"/>
              <a:t>оптичний</a:t>
            </a:r>
            <a:r>
              <a:rPr lang="en-US" dirty="0"/>
              <a:t> </a:t>
            </a:r>
            <a:r>
              <a:rPr lang="en-US" dirty="0" err="1"/>
              <a:t>потік</a:t>
            </a:r>
            <a:r>
              <a:rPr lang="en-US" dirty="0"/>
              <a:t> → </a:t>
            </a:r>
            <a:r>
              <a:rPr lang="en-US" dirty="0" err="1"/>
              <a:t>карта</a:t>
            </a:r>
            <a:r>
              <a:rPr lang="en-US" dirty="0"/>
              <a:t> </a:t>
            </a:r>
            <a:r>
              <a:rPr lang="en-US" dirty="0" err="1"/>
              <a:t>глибини</a:t>
            </a:r>
            <a:r>
              <a:rPr lang="en-US" dirty="0"/>
              <a:t> → </a:t>
            </a:r>
            <a:r>
              <a:rPr lang="en-US" dirty="0" err="1"/>
              <a:t>ансамбль</a:t>
            </a:r>
            <a:r>
              <a:rPr lang="en-US" dirty="0"/>
              <a:t> → </a:t>
            </a:r>
            <a:r>
              <a:rPr lang="en-US" dirty="0" err="1"/>
              <a:t>параметри</a:t>
            </a:r>
            <a:r>
              <a:rPr lang="en-US" dirty="0"/>
              <a:t> → </a:t>
            </a:r>
            <a:r>
              <a:rPr lang="en-US" dirty="0" err="1"/>
              <a:t>візуалізація</a:t>
            </a:r>
            <a:endParaRPr lang="en-US" dirty="0"/>
          </a:p>
          <a:p>
            <a:r>
              <a:rPr lang="en-US" dirty="0"/>
              <a:t>6</a:t>
            </a:r>
            <a:r>
              <a:rPr lang="en-US" b="1" dirty="0"/>
              <a:t>Підтверджено </a:t>
            </a:r>
            <a:r>
              <a:rPr lang="en-US" b="1" dirty="0" err="1"/>
              <a:t>адаптивність</a:t>
            </a:r>
            <a:r>
              <a:rPr lang="en-US" b="1" dirty="0"/>
              <a:t> </a:t>
            </a:r>
            <a:r>
              <a:rPr lang="en-US" b="1" dirty="0" err="1"/>
              <a:t>запропонованого</a:t>
            </a:r>
            <a:r>
              <a:rPr lang="en-US" b="1" dirty="0"/>
              <a:t> </a:t>
            </a:r>
            <a:r>
              <a:rPr lang="en-US" b="1" dirty="0" err="1"/>
              <a:t>підходу</a:t>
            </a:r>
            <a:r>
              <a:rPr lang="en-US" b="1" dirty="0"/>
              <a:t> </a:t>
            </a:r>
            <a:r>
              <a:rPr lang="en-US" b="1" dirty="0" err="1"/>
              <a:t>завдяки</a:t>
            </a:r>
            <a:r>
              <a:rPr lang="en-US" b="1" dirty="0"/>
              <a:t> </a:t>
            </a:r>
            <a:r>
              <a:rPr lang="en-US" b="1" dirty="0" err="1"/>
              <a:t>можливості</a:t>
            </a:r>
            <a:r>
              <a:rPr lang="en-US" b="1" dirty="0"/>
              <a:t> </a:t>
            </a:r>
            <a:r>
              <a:rPr lang="en-US" b="1" dirty="0" err="1"/>
              <a:t>комбінування</a:t>
            </a:r>
            <a:r>
              <a:rPr lang="en-US" b="1" dirty="0"/>
              <a:t> </a:t>
            </a:r>
            <a:r>
              <a:rPr lang="en-US" b="1" dirty="0" err="1"/>
              <a:t>різних</a:t>
            </a:r>
            <a:r>
              <a:rPr lang="en-US" b="1" dirty="0"/>
              <a:t> </a:t>
            </a:r>
            <a:r>
              <a:rPr lang="en-US" b="1" dirty="0" err="1"/>
              <a:t>моделей</a:t>
            </a:r>
            <a:r>
              <a:rPr lang="en-US" b="1" dirty="0"/>
              <a:t> і методів30, 36–38, 43</a:t>
            </a:r>
            <a:r>
              <a:rPr lang="en-US" dirty="0"/>
              <a:t>Модульність </a:t>
            </a:r>
            <a:r>
              <a:rPr lang="en-US" dirty="0" err="1"/>
              <a:t>технології</a:t>
            </a:r>
            <a:r>
              <a:rPr lang="en-US" dirty="0"/>
              <a:t>; </a:t>
            </a:r>
            <a:r>
              <a:rPr lang="en-US" dirty="0" err="1"/>
              <a:t>заміна</a:t>
            </a:r>
            <a:r>
              <a:rPr lang="en-US" dirty="0"/>
              <a:t> DETR/YOLO, </a:t>
            </a:r>
            <a:r>
              <a:rPr lang="en-US" dirty="0" err="1"/>
              <a:t>Farneback</a:t>
            </a:r>
            <a:r>
              <a:rPr lang="en-US" dirty="0"/>
              <a:t>/</a:t>
            </a:r>
            <a:r>
              <a:rPr lang="en-US" dirty="0" err="1"/>
              <a:t>FlowNet</a:t>
            </a:r>
            <a:r>
              <a:rPr lang="en-US" dirty="0"/>
              <a:t>; </a:t>
            </a:r>
            <a:r>
              <a:rPr lang="en-US" dirty="0" err="1"/>
              <a:t>порівняння</a:t>
            </a:r>
            <a:r>
              <a:rPr lang="en-US" dirty="0"/>
              <a:t> </a:t>
            </a:r>
            <a:r>
              <a:rPr lang="en-US" b="1" dirty="0"/>
              <a:t>35 </a:t>
            </a:r>
            <a:r>
              <a:rPr lang="en-US" b="1" dirty="0" err="1"/>
              <a:t>комбінацій</a:t>
            </a:r>
            <a:r>
              <a:rPr lang="en-US" dirty="0"/>
              <a:t> </a:t>
            </a:r>
            <a:r>
              <a:rPr lang="en-US" dirty="0" err="1"/>
              <a:t>методів</a:t>
            </a:r>
            <a:endParaRPr lang="en-US" dirty="0"/>
          </a:p>
          <a:p>
            <a:r>
              <a:rPr lang="en-US" dirty="0"/>
              <a:t>7</a:t>
            </a:r>
            <a:r>
              <a:rPr lang="en-US" b="1" dirty="0"/>
              <a:t>Експериментально </a:t>
            </a:r>
            <a:r>
              <a:rPr lang="en-US" b="1" dirty="0" err="1"/>
              <a:t>підтверджено</a:t>
            </a:r>
            <a:r>
              <a:rPr lang="en-US" b="1" dirty="0"/>
              <a:t> </a:t>
            </a:r>
            <a:r>
              <a:rPr lang="en-US" b="1" dirty="0" err="1"/>
              <a:t>підвищення</a:t>
            </a:r>
            <a:r>
              <a:rPr lang="en-US" b="1" dirty="0"/>
              <a:t> </a:t>
            </a:r>
            <a:r>
              <a:rPr lang="en-US" b="1" dirty="0" err="1"/>
              <a:t>точності</a:t>
            </a:r>
            <a:r>
              <a:rPr lang="en-US" b="1" dirty="0"/>
              <a:t> </a:t>
            </a:r>
            <a:r>
              <a:rPr lang="en-US" b="1" dirty="0" err="1"/>
              <a:t>та</a:t>
            </a:r>
            <a:r>
              <a:rPr lang="en-US" b="1" dirty="0"/>
              <a:t> </a:t>
            </a:r>
            <a:r>
              <a:rPr lang="en-US" b="1" dirty="0" err="1"/>
              <a:t>надійності</a:t>
            </a:r>
            <a:r>
              <a:rPr lang="en-US" b="1" dirty="0"/>
              <a:t> ідентифікації37–39, 43</a:t>
            </a:r>
            <a:r>
              <a:rPr lang="en-US" dirty="0"/>
              <a:t>Результати: RMSE = </a:t>
            </a:r>
            <a:r>
              <a:rPr lang="en-US" b="1" dirty="0"/>
              <a:t>0,713</a:t>
            </a:r>
            <a:r>
              <a:rPr lang="en-US" dirty="0"/>
              <a:t>; MAE = </a:t>
            </a:r>
            <a:r>
              <a:rPr lang="en-US" b="1" dirty="0"/>
              <a:t>0,474</a:t>
            </a:r>
            <a:r>
              <a:rPr lang="en-US" dirty="0"/>
              <a:t>; PSNR = </a:t>
            </a:r>
            <a:r>
              <a:rPr lang="en-US" b="1" dirty="0"/>
              <a:t>51,065 </a:t>
            </a:r>
            <a:r>
              <a:rPr lang="en-US" b="1" dirty="0" err="1"/>
              <a:t>дБ</a:t>
            </a:r>
            <a:r>
              <a:rPr lang="en-US" dirty="0"/>
              <a:t>; </a:t>
            </a:r>
            <a:r>
              <a:rPr lang="en-US" dirty="0" err="1"/>
              <a:t>IoU</a:t>
            </a:r>
            <a:r>
              <a:rPr lang="en-US" dirty="0"/>
              <a:t> = </a:t>
            </a:r>
            <a:r>
              <a:rPr lang="en-US" b="1" dirty="0"/>
              <a:t>0,996</a:t>
            </a:r>
            <a:r>
              <a:rPr lang="en-US" dirty="0"/>
              <a:t>; Dice = </a:t>
            </a:r>
            <a:r>
              <a:rPr lang="en-US" b="1" dirty="0"/>
              <a:t>0,998</a:t>
            </a:r>
            <a:endParaRPr lang="en-US" dirty="0"/>
          </a:p>
          <a:p>
            <a:r>
              <a:rPr lang="en-US" dirty="0"/>
              <a:t>8</a:t>
            </a:r>
            <a:r>
              <a:rPr lang="en-US" b="1" dirty="0"/>
              <a:t>Підтверджено </a:t>
            </a:r>
            <a:r>
              <a:rPr lang="en-US" b="1" dirty="0" err="1"/>
              <a:t>працездатність</a:t>
            </a:r>
            <a:r>
              <a:rPr lang="en-US" b="1" dirty="0"/>
              <a:t> </a:t>
            </a:r>
            <a:r>
              <a:rPr lang="en-US" b="1" dirty="0" err="1"/>
              <a:t>визначення</a:t>
            </a:r>
            <a:r>
              <a:rPr lang="en-US" b="1" dirty="0"/>
              <a:t> </a:t>
            </a:r>
            <a:r>
              <a:rPr lang="en-US" b="1" dirty="0" err="1"/>
              <a:t>кінематичних</a:t>
            </a:r>
            <a:r>
              <a:rPr lang="en-US" b="1" dirty="0"/>
              <a:t> </a:t>
            </a:r>
            <a:r>
              <a:rPr lang="en-US" b="1" dirty="0" err="1"/>
              <a:t>параметрів</a:t>
            </a:r>
            <a:r>
              <a:rPr lang="en-US" b="1" dirty="0"/>
              <a:t> </a:t>
            </a:r>
            <a:r>
              <a:rPr lang="en-US" b="1" dirty="0" err="1"/>
              <a:t>рухомих</a:t>
            </a:r>
            <a:r>
              <a:rPr lang="en-US" b="1" dirty="0"/>
              <a:t> об'єктів34–35, 39, 43</a:t>
            </a:r>
            <a:r>
              <a:rPr lang="en-US" dirty="0"/>
              <a:t>DETR </a:t>
            </a:r>
            <a:r>
              <a:rPr lang="en-US" dirty="0" err="1"/>
              <a:t>виявив</a:t>
            </a:r>
            <a:r>
              <a:rPr lang="en-US" dirty="0"/>
              <a:t> 6 </a:t>
            </a:r>
            <a:r>
              <a:rPr lang="en-US" dirty="0" err="1"/>
              <a:t>об'єктів</a:t>
            </a:r>
            <a:r>
              <a:rPr lang="en-US" dirty="0"/>
              <a:t> </a:t>
            </a:r>
            <a:r>
              <a:rPr lang="en-US" dirty="0" err="1"/>
              <a:t>із</a:t>
            </a:r>
            <a:r>
              <a:rPr lang="en-US" dirty="0"/>
              <a:t> </a:t>
            </a:r>
            <a:r>
              <a:rPr lang="en-US" dirty="0" err="1"/>
              <a:t>довірою</a:t>
            </a:r>
            <a:r>
              <a:rPr lang="en-US" dirty="0"/>
              <a:t> </a:t>
            </a:r>
            <a:r>
              <a:rPr lang="en-US" b="1" dirty="0"/>
              <a:t>0,74–1,00</a:t>
            </a:r>
            <a:r>
              <a:rPr lang="en-US" dirty="0"/>
              <a:t>; </a:t>
            </a:r>
            <a:r>
              <a:rPr lang="en-US" dirty="0" err="1"/>
              <a:t>визначено</a:t>
            </a:r>
            <a:r>
              <a:rPr lang="en-US" dirty="0"/>
              <a:t> </a:t>
            </a:r>
            <a:r>
              <a:rPr lang="en-US" dirty="0" err="1"/>
              <a:t>швидкості</a:t>
            </a:r>
            <a:r>
              <a:rPr lang="en-US" dirty="0"/>
              <a:t> </a:t>
            </a:r>
            <a:r>
              <a:rPr lang="en-US" b="1" dirty="0"/>
              <a:t>6,526</a:t>
            </a:r>
            <a:r>
              <a:rPr lang="en-US" dirty="0"/>
              <a:t> </a:t>
            </a:r>
            <a:r>
              <a:rPr lang="en-US" dirty="0" err="1"/>
              <a:t>та</a:t>
            </a:r>
            <a:r>
              <a:rPr lang="en-US" dirty="0"/>
              <a:t> </a:t>
            </a:r>
            <a:r>
              <a:rPr lang="en-US" b="1" dirty="0"/>
              <a:t>4,592 </a:t>
            </a:r>
            <a:r>
              <a:rPr lang="en-US" b="1" dirty="0" err="1"/>
              <a:t>px</a:t>
            </a:r>
            <a:r>
              <a:rPr lang="en-US" b="1" dirty="0"/>
              <a:t>/</a:t>
            </a:r>
            <a:r>
              <a:rPr lang="en-US" b="1" dirty="0" err="1"/>
              <a:t>кадр</a:t>
            </a:r>
            <a:endParaRPr lang="en-US" dirty="0"/>
          </a:p>
          <a:p>
            <a:r>
              <a:rPr lang="en-US" dirty="0"/>
              <a:t>9</a:t>
            </a:r>
            <a:r>
              <a:rPr lang="en-US" b="1" dirty="0"/>
              <a:t>Показано </a:t>
            </a:r>
            <a:r>
              <a:rPr lang="en-US" b="1" dirty="0" err="1"/>
              <a:t>відмінність</a:t>
            </a:r>
            <a:r>
              <a:rPr lang="en-US" b="1" dirty="0"/>
              <a:t> </a:t>
            </a:r>
            <a:r>
              <a:rPr lang="en-US" b="1" dirty="0" err="1"/>
              <a:t>запропонованої</a:t>
            </a:r>
            <a:r>
              <a:rPr lang="en-US" b="1" dirty="0"/>
              <a:t> </a:t>
            </a:r>
            <a:r>
              <a:rPr lang="en-US" b="1" dirty="0" err="1"/>
              <a:t>технології</a:t>
            </a:r>
            <a:r>
              <a:rPr lang="en-US" b="1" dirty="0"/>
              <a:t> </a:t>
            </a:r>
            <a:r>
              <a:rPr lang="en-US" b="1" dirty="0" err="1"/>
              <a:t>від</a:t>
            </a:r>
            <a:r>
              <a:rPr lang="en-US" b="1" dirty="0"/>
              <a:t> </a:t>
            </a:r>
            <a:r>
              <a:rPr lang="en-US" b="1" dirty="0" err="1"/>
              <a:t>наявних</a:t>
            </a:r>
            <a:r>
              <a:rPr lang="en-US" b="1" dirty="0"/>
              <a:t> аналогів45–46</a:t>
            </a:r>
            <a:r>
              <a:rPr lang="en-US" dirty="0"/>
              <a:t>Аналоги </a:t>
            </a:r>
            <a:r>
              <a:rPr lang="en-US" dirty="0" err="1"/>
              <a:t>виконують</a:t>
            </a:r>
            <a:r>
              <a:rPr lang="en-US" dirty="0"/>
              <a:t> </a:t>
            </a:r>
            <a:r>
              <a:rPr lang="en-US" dirty="0" err="1"/>
              <a:t>окремі</a:t>
            </a:r>
            <a:r>
              <a:rPr lang="en-US" dirty="0"/>
              <a:t> </a:t>
            </a:r>
            <a:r>
              <a:rPr lang="en-US" dirty="0" err="1"/>
              <a:t>операції</a:t>
            </a:r>
            <a:r>
              <a:rPr lang="en-US" dirty="0"/>
              <a:t>, а </a:t>
            </a:r>
            <a:r>
              <a:rPr lang="en-US" dirty="0" err="1"/>
              <a:t>запропонована</a:t>
            </a:r>
            <a:r>
              <a:rPr lang="en-US" dirty="0"/>
              <a:t> ІТ </a:t>
            </a:r>
            <a:r>
              <a:rPr lang="en-US" dirty="0" err="1"/>
              <a:t>забезпечує</a:t>
            </a:r>
            <a:r>
              <a:rPr lang="en-US" dirty="0"/>
              <a:t> </a:t>
            </a:r>
            <a:r>
              <a:rPr lang="en-US" dirty="0" err="1"/>
              <a:t>повний</a:t>
            </a:r>
            <a:r>
              <a:rPr lang="en-US" dirty="0"/>
              <a:t> </a:t>
            </a:r>
            <a:r>
              <a:rPr lang="en-US" dirty="0" err="1"/>
              <a:t>комплекс</a:t>
            </a:r>
            <a:r>
              <a:rPr lang="en-US" dirty="0"/>
              <a:t> </a:t>
            </a:r>
            <a:r>
              <a:rPr lang="en-US" dirty="0" err="1"/>
              <a:t>функцій</a:t>
            </a:r>
            <a:r>
              <a:rPr lang="en-US" dirty="0"/>
              <a:t>; </a:t>
            </a:r>
            <a:r>
              <a:rPr lang="en-US" dirty="0" err="1"/>
              <a:t>результат</a:t>
            </a:r>
            <a:r>
              <a:rPr lang="en-US" dirty="0"/>
              <a:t> </a:t>
            </a:r>
            <a:r>
              <a:rPr lang="en-US" dirty="0" err="1"/>
              <a:t>порівняння</a:t>
            </a:r>
            <a:r>
              <a:rPr lang="en-US" dirty="0"/>
              <a:t> — </a:t>
            </a:r>
            <a:r>
              <a:rPr lang="en-US" b="1" dirty="0"/>
              <a:t>12 </a:t>
            </a:r>
            <a:r>
              <a:rPr lang="en-US" b="1" dirty="0" err="1"/>
              <a:t>балів</a:t>
            </a:r>
            <a:r>
              <a:rPr lang="en-US" dirty="0"/>
              <a:t> </a:t>
            </a:r>
            <a:r>
              <a:rPr lang="en-US" dirty="0" err="1"/>
              <a:t>проти</a:t>
            </a:r>
            <a:r>
              <a:rPr lang="en-US" dirty="0"/>
              <a:t> 3–6 </a:t>
            </a:r>
            <a:r>
              <a:rPr lang="en-US" dirty="0" err="1"/>
              <a:t>балів</a:t>
            </a:r>
            <a:r>
              <a:rPr lang="en-US" dirty="0"/>
              <a:t> у </a:t>
            </a:r>
            <a:r>
              <a:rPr lang="en-US" dirty="0" err="1"/>
              <a:t>аналогів</a:t>
            </a:r>
            <a:endParaRPr lang="en-US" dirty="0"/>
          </a:p>
          <a:p>
            <a:r>
              <a:rPr lang="en-US" dirty="0"/>
              <a:t>10</a:t>
            </a:r>
            <a:r>
              <a:rPr lang="en-US" b="1" dirty="0"/>
              <a:t>Узагальнене </a:t>
            </a:r>
            <a:r>
              <a:rPr lang="en-US" b="1" dirty="0" err="1"/>
              <a:t>підтвердження</a:t>
            </a:r>
            <a:r>
              <a:rPr lang="en-US" b="1" dirty="0"/>
              <a:t> </a:t>
            </a:r>
            <a:r>
              <a:rPr lang="en-US" b="1" dirty="0" err="1"/>
              <a:t>отриманих</a:t>
            </a:r>
            <a:r>
              <a:rPr lang="en-US" b="1" dirty="0"/>
              <a:t> </a:t>
            </a:r>
            <a:r>
              <a:rPr lang="en-US" b="1" dirty="0" err="1"/>
              <a:t>наукових</a:t>
            </a:r>
            <a:r>
              <a:rPr lang="en-US" b="1" dirty="0"/>
              <a:t> результатів50</a:t>
            </a:r>
            <a:r>
              <a:rPr lang="en-US" dirty="0"/>
              <a:t>У </a:t>
            </a:r>
            <a:r>
              <a:rPr lang="en-US" dirty="0" err="1"/>
              <a:t>висновках</a:t>
            </a:r>
            <a:r>
              <a:rPr lang="en-US" dirty="0"/>
              <a:t> </a:t>
            </a:r>
            <a:r>
              <a:rPr lang="en-US" dirty="0" err="1"/>
              <a:t>сформульовано</a:t>
            </a:r>
            <a:r>
              <a:rPr lang="en-US" dirty="0"/>
              <a:t> </a:t>
            </a:r>
            <a:r>
              <a:rPr lang="en-US" dirty="0" err="1"/>
              <a:t>розроблені</a:t>
            </a:r>
            <a:r>
              <a:rPr lang="en-US" dirty="0"/>
              <a:t> </a:t>
            </a:r>
            <a:r>
              <a:rPr lang="en-US" dirty="0" err="1"/>
              <a:t>моделі</a:t>
            </a:r>
            <a:r>
              <a:rPr lang="en-US" dirty="0"/>
              <a:t>, </a:t>
            </a:r>
            <a:r>
              <a:rPr lang="en-US" dirty="0" err="1"/>
              <a:t>методи</a:t>
            </a:r>
            <a:r>
              <a:rPr lang="en-US" dirty="0"/>
              <a:t>, </a:t>
            </a:r>
            <a:r>
              <a:rPr lang="en-US" dirty="0" err="1"/>
              <a:t>інтегральну</a:t>
            </a:r>
            <a:r>
              <a:rPr lang="en-US" dirty="0"/>
              <a:t> </a:t>
            </a:r>
            <a:r>
              <a:rPr lang="en-US" dirty="0" err="1"/>
              <a:t>схему</a:t>
            </a:r>
            <a:r>
              <a:rPr lang="en-US" dirty="0"/>
              <a:t>, </a:t>
            </a:r>
            <a:r>
              <a:rPr lang="en-US" dirty="0" err="1"/>
              <a:t>ансамблеві</a:t>
            </a:r>
            <a:r>
              <a:rPr lang="en-US" dirty="0"/>
              <a:t> </a:t>
            </a:r>
            <a:r>
              <a:rPr lang="en-US" dirty="0" err="1"/>
              <a:t>підходи</a:t>
            </a:r>
            <a:r>
              <a:rPr lang="en-US" dirty="0"/>
              <a:t> </a:t>
            </a:r>
            <a:r>
              <a:rPr lang="en-US" dirty="0" err="1"/>
              <a:t>та</a:t>
            </a:r>
            <a:r>
              <a:rPr lang="en-US" dirty="0"/>
              <a:t> </a:t>
            </a:r>
            <a:r>
              <a:rPr lang="en-US" dirty="0" err="1"/>
              <a:t>результати</a:t>
            </a:r>
            <a:r>
              <a:rPr lang="en-US" dirty="0"/>
              <a:t> </a:t>
            </a:r>
            <a:r>
              <a:rPr lang="en-US" dirty="0" err="1"/>
              <a:t>експериментального</a:t>
            </a:r>
            <a:r>
              <a:rPr lang="en-US" dirty="0"/>
              <a:t> </a:t>
            </a:r>
            <a:r>
              <a:rPr lang="en-US" dirty="0" err="1"/>
              <a:t>дослідження</a:t>
            </a:r>
            <a:endParaRPr lang="en-US" dirty="0"/>
          </a:p>
          <a:p>
            <a:endParaRPr lang="en-US" dirty="0"/>
          </a:p>
        </p:txBody>
      </p:sp>
      <p:sp>
        <p:nvSpPr>
          <p:cNvPr id="4" name="Місце для номера слайда 3">
            <a:extLst>
              <a:ext uri="{FF2B5EF4-FFF2-40B4-BE49-F238E27FC236}">
                <a16:creationId xmlns:a16="http://schemas.microsoft.com/office/drawing/2014/main" id="{99E8CAD4-836A-757F-B532-1B723AAAF37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6246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EC0BB-585B-B78C-D3B1-68F338DCEDFD}"/>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052BA9D1-8031-5C23-0068-FEB79F93374D}"/>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4A04C195-8353-142C-AD43-44C01A3658AD}"/>
              </a:ext>
            </a:extLst>
          </p:cNvPr>
          <p:cNvSpPr>
            <a:spLocks noGrp="1"/>
          </p:cNvSpPr>
          <p:nvPr>
            <p:ph type="body" idx="1"/>
          </p:nvPr>
        </p:nvSpPr>
        <p:spPr/>
        <p:txBody>
          <a:bodyPr/>
          <a:lstStyle/>
          <a:p>
            <a:r>
              <a:rPr lang="uk-UA" dirty="0"/>
              <a:t>«Для досягнення поставленої мети необхідно вирішити чотири основні задачі, які </a:t>
            </a:r>
            <a:r>
              <a:rPr lang="uk-UA" dirty="0" err="1"/>
              <a:t>логічно</a:t>
            </a:r>
            <a:r>
              <a:rPr lang="uk-UA" dirty="0"/>
              <a:t> структурують моє дослідження.</a:t>
            </a:r>
          </a:p>
          <a:p>
            <a:endParaRPr lang="uk-UA" dirty="0"/>
          </a:p>
          <a:p>
            <a:r>
              <a:rPr lang="uk-UA" dirty="0"/>
              <a:t>Перша задача – аналітична. Потрібно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endParaRPr lang="uk-UA" dirty="0"/>
          </a:p>
          <a:p>
            <a:r>
              <a:rPr lang="uk-UA" dirty="0"/>
              <a:t>Друга задача – класифікаційна.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a:t>
            </a:r>
          </a:p>
          <a:p>
            <a:endParaRPr lang="uk-UA" dirty="0"/>
          </a:p>
          <a:p>
            <a:r>
              <a:rPr lang="uk-UA" dirty="0"/>
              <a:t>Третя задача – модельна. Це ключова задача –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нейромережевого</a:t>
            </a:r>
            <a:r>
              <a:rPr lang="uk-UA" dirty="0"/>
              <a:t> оцінювання глибини – </a:t>
            </a:r>
            <a:r>
              <a:rPr lang="en-US" dirty="0" err="1"/>
              <a:t>MiDaS</a:t>
            </a:r>
            <a:r>
              <a:rPr lang="en-US" dirty="0"/>
              <a:t>, </a:t>
            </a:r>
            <a:r>
              <a:rPr lang="en-US" dirty="0" err="1"/>
              <a:t>DPT_Large</a:t>
            </a:r>
            <a:r>
              <a:rPr lang="en-US" dirty="0"/>
              <a:t>, </a:t>
            </a:r>
            <a:r>
              <a:rPr lang="en-US" dirty="0" err="1"/>
              <a:t>GeoNet</a:t>
            </a:r>
            <a:r>
              <a:rPr lang="en-US" dirty="0"/>
              <a:t>. </a:t>
            </a:r>
            <a:r>
              <a:rPr lang="uk-UA" dirty="0"/>
              <a:t>А також розробити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Четверта задача – експериментально-впроваджувальна. Реалізувати інформаційну технологію дистанційної ідентифікації параметрів динамічних об'єктів,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a:t>
            </a:r>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8D650EA1-AA70-10ED-FAE4-A6D4A2D275F1}"/>
              </a:ext>
            </a:extLst>
          </p:cNvPr>
          <p:cNvSpPr>
            <a:spLocks noGrp="1"/>
          </p:cNvSpPr>
          <p:nvPr>
            <p:ph type="sldNum" sz="quarter" idx="5"/>
          </p:nvPr>
        </p:nvSpPr>
        <p:spPr/>
        <p:txBody>
          <a:bodyPr/>
          <a:lstStyle/>
          <a:p>
            <a:fld id="{22D210FF-A65C-4C43-9EF1-FEAEFF91A41E}" type="slidenum">
              <a:rPr lang="en-US" smtClean="0"/>
              <a:t>59</a:t>
            </a:fld>
            <a:endParaRPr lang="en-US"/>
          </a:p>
        </p:txBody>
      </p:sp>
    </p:spTree>
    <p:extLst>
      <p:ext uri="{BB962C8B-B14F-4D97-AF65-F5344CB8AC3E}">
        <p14:creationId xmlns:p14="http://schemas.microsoft.com/office/powerpoint/2010/main" val="21661926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Вперше запропоновано метод дистанційної ідентифікації параметрів динамічних об’єктів на основі поєднання </a:t>
            </a:r>
            <a:r>
              <a:rPr lang="en-US" dirty="0"/>
              <a:t>DETR </a:t>
            </a:r>
            <a:r>
              <a:rPr lang="uk-UA" dirty="0"/>
              <a:t>та оптичного потоку	27	14–16, 20–21, 47, 49–50	Просторово-часову модель; аналітичну схему </a:t>
            </a:r>
            <a:r>
              <a:rPr lang="en-US" dirty="0"/>
              <a:t>DETR (</a:t>
            </a:r>
            <a:r>
              <a:rPr lang="en-US" dirty="0" err="1"/>
              <a:t>DEtection</a:t>
            </a:r>
            <a:r>
              <a:rPr lang="en-US" dirty="0"/>
              <a:t> </a:t>
            </a:r>
            <a:r>
              <a:rPr lang="en-US" dirty="0" err="1"/>
              <a:t>TRansformer</a:t>
            </a:r>
            <a:r>
              <a:rPr lang="en-US" dirty="0"/>
              <a:t> — </a:t>
            </a:r>
            <a:r>
              <a:rPr lang="uk-UA" dirty="0" err="1"/>
              <a:t>трансформер</a:t>
            </a:r>
            <a:r>
              <a:rPr lang="uk-UA" dirty="0"/>
              <a:t> виявлення об’єктів) + </a:t>
            </a:r>
            <a:r>
              <a:rPr lang="en-US" dirty="0"/>
              <a:t>Optical Flow (</a:t>
            </a:r>
            <a:r>
              <a:rPr lang="uk-UA" dirty="0"/>
              <a:t>оптичний потік); локалізацію об’єктів; визначення векторів руху, швидкості, напрямку і траєкторії2	Вперше розроблено структуру інформаційної технології дистанційної ідентифікації параметрів динамічних об’єктів	28	17–19, 22, 38, 52–53, 56	Інтегральну схему та структуру інформаційної технології; поєднання </a:t>
            </a:r>
            <a:r>
              <a:rPr lang="uk-UA" dirty="0" err="1"/>
              <a:t>детекції</a:t>
            </a:r>
            <a:r>
              <a:rPr lang="uk-UA" dirty="0"/>
              <a:t>, оптичного потоку, оцінювання глибини, ансамблевої корекції, розрахунку параметрів і візуалізації3	Удосконалено метод оцінювання глибини сцени шляхом адаптивного комбінування </a:t>
            </a:r>
            <a:r>
              <a:rPr lang="en-US" dirty="0" err="1"/>
              <a:t>MiDaS</a:t>
            </a:r>
            <a:r>
              <a:rPr lang="en-US" dirty="0"/>
              <a:t>, </a:t>
            </a:r>
            <a:r>
              <a:rPr lang="en-US" dirty="0" err="1"/>
              <a:t>DPT_Large</a:t>
            </a:r>
            <a:r>
              <a:rPr lang="en-US" dirty="0"/>
              <a:t> </a:t>
            </a:r>
            <a:r>
              <a:rPr lang="uk-UA" dirty="0"/>
              <a:t>і </a:t>
            </a:r>
            <a:r>
              <a:rPr lang="en-US" dirty="0" err="1"/>
              <a:t>GeoNet</a:t>
            </a:r>
            <a:r>
              <a:rPr lang="en-US" dirty="0"/>
              <a:t> </a:t>
            </a:r>
            <a:r>
              <a:rPr lang="uk-UA" dirty="0"/>
              <a:t>із методами </a:t>
            </a:r>
            <a:r>
              <a:rPr lang="en-US" dirty="0"/>
              <a:t>Bagging </a:t>
            </a:r>
            <a:r>
              <a:rPr lang="uk-UA" dirty="0"/>
              <a:t>та </a:t>
            </a:r>
            <a:r>
              <a:rPr lang="en-US" dirty="0"/>
              <a:t>Boosting	29	17–18, 22, 24–26, 48, 51	</a:t>
            </a:r>
            <a:r>
              <a:rPr lang="uk-UA" dirty="0"/>
              <a:t>Комбінування моделей </a:t>
            </a:r>
            <a:r>
              <a:rPr lang="en-US" dirty="0" err="1"/>
              <a:t>MiDaS</a:t>
            </a:r>
            <a:r>
              <a:rPr lang="en-US" dirty="0"/>
              <a:t> (Mixed Dataset of Scenes — </a:t>
            </a:r>
            <a:r>
              <a:rPr lang="uk-UA" dirty="0"/>
              <a:t>модель оцінювання глибини, навчена на змішаних наборах сцен), </a:t>
            </a:r>
            <a:r>
              <a:rPr lang="en-US" dirty="0" err="1"/>
              <a:t>DPT_Large</a:t>
            </a:r>
            <a:r>
              <a:rPr lang="en-US" dirty="0"/>
              <a:t> (Dense Prediction Transformer Large — </a:t>
            </a:r>
            <a:r>
              <a:rPr lang="uk-UA" dirty="0"/>
              <a:t>велика </a:t>
            </a:r>
            <a:r>
              <a:rPr lang="uk-UA" dirty="0" err="1"/>
              <a:t>трансформерна</a:t>
            </a:r>
            <a:r>
              <a:rPr lang="uk-UA" dirty="0"/>
              <a:t> модель щільного прогнозування) і </a:t>
            </a:r>
            <a:r>
              <a:rPr lang="en-US" dirty="0" err="1"/>
              <a:t>GeoNet</a:t>
            </a:r>
            <a:r>
              <a:rPr lang="en-US" dirty="0"/>
              <a:t>; </a:t>
            </a:r>
            <a:r>
              <a:rPr lang="uk-UA" dirty="0"/>
              <a:t>результати оцінювання глибини; показники </a:t>
            </a:r>
            <a:r>
              <a:rPr lang="en-US" dirty="0"/>
              <a:t>RMSE, MAE </a:t>
            </a:r>
            <a:r>
              <a:rPr lang="uk-UA" dirty="0"/>
              <a:t>та </a:t>
            </a:r>
            <a:r>
              <a:rPr lang="en-US" dirty="0"/>
              <a:t>PSNR4	</a:t>
            </a:r>
            <a:r>
              <a:rPr lang="uk-UA" dirty="0"/>
              <a:t>Удосконалено метод ансамблевої агрегації результатів ідентифікації з використанням </a:t>
            </a:r>
            <a:r>
              <a:rPr lang="en-US" dirty="0"/>
              <a:t>Bagging </a:t>
            </a:r>
            <a:r>
              <a:rPr lang="uk-UA" dirty="0"/>
              <a:t>та </a:t>
            </a:r>
            <a:r>
              <a:rPr lang="en-US" dirty="0"/>
              <a:t>Boosting	30	17–18, 24–26, 37, 46, 51	</a:t>
            </a:r>
            <a:r>
              <a:rPr lang="uk-UA" dirty="0"/>
              <a:t>Паралельну схему </a:t>
            </a:r>
            <a:r>
              <a:rPr lang="en-US" dirty="0"/>
              <a:t>Bagging (Bootstrap Aggregating — </a:t>
            </a:r>
            <a:r>
              <a:rPr lang="uk-UA" dirty="0"/>
              <a:t>агрегування результатів моделей, навчених або застосованих до різних вибірок) та послідовну корекцію </a:t>
            </a:r>
            <a:r>
              <a:rPr lang="en-US" dirty="0"/>
              <a:t>Boosting (</a:t>
            </a:r>
            <a:r>
              <a:rPr lang="uk-UA" dirty="0"/>
              <a:t>послідовне підсилення моделей); зменшення дисперсії, шумів і локальних похибок</a:t>
            </a:r>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60</a:t>
            </a:fld>
            <a:endParaRPr lang="en-US"/>
          </a:p>
        </p:txBody>
      </p:sp>
    </p:spTree>
    <p:extLst>
      <p:ext uri="{BB962C8B-B14F-4D97-AF65-F5344CB8AC3E}">
        <p14:creationId xmlns:p14="http://schemas.microsoft.com/office/powerpoint/2010/main" val="13848090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5	Удосконалено метод кількісного оцінювання якості ідентифікації на основі комплексної системи метрик	31	23–26, 53–54	Порівняння 35 комбінацій методів; метрики </a:t>
            </a:r>
            <a:r>
              <a:rPr lang="en-US" dirty="0"/>
              <a:t>EPE (End-Point Error — </a:t>
            </a:r>
            <a:r>
              <a:rPr lang="uk-UA" dirty="0"/>
              <a:t>кінцева похибка </a:t>
            </a:r>
            <a:r>
              <a:rPr lang="uk-UA" dirty="0" err="1"/>
              <a:t>вектора</a:t>
            </a:r>
            <a:r>
              <a:rPr lang="uk-UA" dirty="0"/>
              <a:t> оптичного потоку), </a:t>
            </a:r>
            <a:r>
              <a:rPr lang="en-US" dirty="0"/>
              <a:t>AAE (Average Angular Error — </a:t>
            </a:r>
            <a:r>
              <a:rPr lang="uk-UA" dirty="0"/>
              <a:t>середня кутова похибка), </a:t>
            </a:r>
            <a:r>
              <a:rPr lang="en-US" dirty="0"/>
              <a:t>RMSE (Root Mean Square Error — </a:t>
            </a:r>
            <a:r>
              <a:rPr lang="uk-UA" dirty="0"/>
              <a:t>середньоквадратична похибка), </a:t>
            </a:r>
            <a:r>
              <a:rPr lang="en-US" dirty="0"/>
              <a:t>MAE (Mean Absolute Error — </a:t>
            </a:r>
            <a:r>
              <a:rPr lang="uk-UA" dirty="0"/>
              <a:t>середня абсолютна похибка), </a:t>
            </a:r>
            <a:r>
              <a:rPr lang="en-US" dirty="0"/>
              <a:t>PSNR (Peak Signal-to-Noise Ratio — </a:t>
            </a:r>
            <a:r>
              <a:rPr lang="uk-UA" dirty="0"/>
              <a:t>пікове відношення сигналу до шуму), </a:t>
            </a:r>
            <a:r>
              <a:rPr lang="en-US" dirty="0" err="1"/>
              <a:t>IoU</a:t>
            </a:r>
            <a:r>
              <a:rPr lang="en-US" dirty="0"/>
              <a:t> (Intersection over Union — </a:t>
            </a:r>
            <a:r>
              <a:rPr lang="uk-UA" dirty="0"/>
              <a:t>відношення площі перетину до площі об’єднання) та коефіцієнт </a:t>
            </a:r>
            <a:r>
              <a:rPr lang="en-US" dirty="0"/>
              <a:t>Dice6	</a:t>
            </a:r>
            <a:r>
              <a:rPr lang="uk-UA" dirty="0"/>
              <a:t>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оптичним потоком	32	12, 14–17, 36–37, 45, 49–50	Передавання векторів оптичного потоку до </a:t>
            </a:r>
            <a:r>
              <a:rPr lang="uk-UA" dirty="0" err="1"/>
              <a:t>трансформерної</a:t>
            </a:r>
            <a:r>
              <a:rPr lang="uk-UA" dirty="0"/>
              <a:t> мережі; моделювання просторово-часових </a:t>
            </a:r>
            <a:r>
              <a:rPr lang="uk-UA" dirty="0" err="1"/>
              <a:t>залежностей</a:t>
            </a:r>
            <a:r>
              <a:rPr lang="uk-UA" dirty="0"/>
              <a:t>; визначення положення, швидкості, прискорення, напрямку і траєкторії об’єкта</a:t>
            </a:r>
            <a:endParaRPr lang="en-US" dirty="0"/>
          </a:p>
        </p:txBody>
      </p:sp>
      <p:sp>
        <p:nvSpPr>
          <p:cNvPr id="4" name="Slide Number Placeholder 3"/>
          <p:cNvSpPr>
            <a:spLocks noGrp="1"/>
          </p:cNvSpPr>
          <p:nvPr>
            <p:ph type="sldNum" sz="quarter" idx="5"/>
          </p:nvPr>
        </p:nvSpPr>
        <p:spPr/>
        <p:txBody>
          <a:bodyPr/>
          <a:lstStyle/>
          <a:p>
            <a:fld id="{22D210FF-A65C-4C43-9EF1-FEAEFF91A41E}" type="slidenum">
              <a:rPr lang="en-US" smtClean="0"/>
              <a:t>61</a:t>
            </a:fld>
            <a:endParaRPr lang="en-US"/>
          </a:p>
        </p:txBody>
      </p:sp>
    </p:spTree>
    <p:extLst>
      <p:ext uri="{BB962C8B-B14F-4D97-AF65-F5344CB8AC3E}">
        <p14:creationId xmlns:p14="http://schemas.microsoft.com/office/powerpoint/2010/main" val="1047345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09376CE-E413-47B5-9955-DF33D028A515}" type="datetime1">
              <a:rPr lang="en-US" smtClean="0"/>
              <a:t>7/24/2026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3200"/>
            </a:lvl1pPr>
          </a:lstStyle>
          <a:p>
            <a:fld id="{C1FF6DA9-008F-8B48-92A6-B652298478BF}" type="slidenum">
              <a:rPr lang="en-US" smtClean="0"/>
              <a:pPr/>
              <a:t>‹#›</a:t>
            </a:fld>
            <a:endParaRPr lang="en-US" sz="3200"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BE5BC24-6D9F-45C9-A1E6-DAA26DB68E68}" type="datetime1">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184188" y="6356350"/>
            <a:ext cx="876748" cy="365125"/>
          </a:xfrm>
          <a:prstGeom prst="foldedCorner">
            <a:avLst/>
          </a:prstGeom>
          <a:solidFill>
            <a:schemeClr val="bg1"/>
          </a:solidFill>
        </p:spPr>
        <p:style>
          <a:lnRef idx="2">
            <a:schemeClr val="dk1"/>
          </a:lnRef>
          <a:fillRef idx="1">
            <a:schemeClr val="lt1"/>
          </a:fillRef>
          <a:effectRef idx="0">
            <a:schemeClr val="dk1"/>
          </a:effectRef>
          <a:fontRef idx="minor">
            <a:schemeClr val="dk1"/>
          </a:fontRef>
        </p:style>
        <p:txBody>
          <a:bodyPr/>
          <a:lstStyle>
            <a:lvl1pPr>
              <a:defRPr sz="3200"/>
            </a:lvl1pPr>
          </a:lstStyle>
          <a:p>
            <a:fld id="{C1FF6DA9-008F-8B48-92A6-B652298478BF}" type="slidenum">
              <a:rPr lang="en-US" smtClean="0"/>
              <a:pPr/>
              <a:t>‹#›</a:t>
            </a:fld>
            <a:endParaRPr lang="en-US" sz="3200"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8AE8BC-C838-43F5-A7FD-09BEAB414ED5}" type="datetime1">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4375B-9201-465A-8DD8-32CE88108D77}" type="datetime1">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46042E-127D-4D06-8476-2EBF4D068D0B}" type="datetime1">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161233-01FA-4414-A401-EB6143E04C70}" type="datetime1">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104305" y="6356349"/>
            <a:ext cx="898264" cy="365125"/>
          </a:xfrm>
          <a:prstGeom prst="foldedCorner">
            <a:avLst/>
          </a:prstGeom>
          <a:solidFill>
            <a:schemeClr val="bg1"/>
          </a:solidFill>
        </p:spPr>
        <p:style>
          <a:lnRef idx="2">
            <a:schemeClr val="dk1"/>
          </a:lnRef>
          <a:fillRef idx="1">
            <a:schemeClr val="lt1"/>
          </a:fillRef>
          <a:effectRef idx="0">
            <a:schemeClr val="dk1"/>
          </a:effectRef>
          <a:fontRef idx="minor">
            <a:schemeClr val="dk1"/>
          </a:fontRef>
        </p:style>
        <p:txBody>
          <a:bodyPr/>
          <a:lstStyle>
            <a:lvl1pPr>
              <a:defRPr sz="3200"/>
            </a:lvl1pPr>
          </a:lstStyle>
          <a:p>
            <a:fld id="{C1FF6DA9-008F-8B48-92A6-B652298478BF}" type="slidenum">
              <a:rPr lang="en-US" smtClean="0"/>
              <a:pPr/>
              <a:t>‹#›</a:t>
            </a:fld>
            <a:endParaRPr lang="en-US" sz="3200"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18A83-F165-46C6-8B1C-2FAD48A99E0D}" type="datetime1">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7EA46A-0702-4A70-B93B-84A6935B1D00}" type="datetime1">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901082" y="6356349"/>
            <a:ext cx="833718" cy="365125"/>
          </a:xfrm>
          <a:prstGeom prst="foldedCorner">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2CF17C-FA5A-4230-B492-868116E142BF}" type="datetime1">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52371-F564-4420-AE6C-77A949A9739C}" type="datetime1">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F228DE-3D3C-4A15-A516-00F1FA845691}" type="datetime1">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79"/>
          </a:solidFill>
          <a:ln w="12700">
            <a:solidFill>
              <a:srgbClr val="1F4E79"/>
            </a:solidFill>
            <a:prstDash val="solid"/>
          </a:ln>
        </p:spPr>
        <p:txBody>
          <a:bodyPr/>
          <a:lstStyle/>
          <a:p>
            <a:endParaRPr lang="en-US"/>
          </a:p>
        </p:txBody>
      </p:sp>
      <p:sp>
        <p:nvSpPr>
          <p:cNvPr id="4" name="Text 2"/>
          <p:cNvSpPr/>
          <p:nvPr/>
        </p:nvSpPr>
        <p:spPr>
          <a:xfrm>
            <a:off x="411480" y="6675120"/>
            <a:ext cx="11087793" cy="137160"/>
          </a:xfrm>
          <a:prstGeom prst="rect">
            <a:avLst/>
          </a:prstGeom>
          <a:noFill/>
          <a:ln/>
        </p:spPr>
        <p:txBody>
          <a:bodyPr wrap="square" lIns="0" tIns="0" rIns="0" bIns="0" rtlCol="0" anchor="ctr"/>
          <a:lstStyle/>
          <a:p>
            <a:pPr marL="0" indent="0">
              <a:buNone/>
            </a:pPr>
            <a:endParaRPr lang="en-US" sz="750" dirty="0"/>
          </a:p>
        </p:txBody>
      </p:sp>
      <p:sp>
        <p:nvSpPr>
          <p:cNvPr id="25" name="Slide Number Placeholder 0"/>
          <p:cNvSpPr>
            <a:spLocks noGrp="1"/>
          </p:cNvSpPr>
          <p:nvPr>
            <p:ph type="sldNum" sz="quarter" idx="4294967295"/>
          </p:nvPr>
        </p:nvSpPr>
        <p:spPr>
          <a:xfrm>
            <a:off x="11297691" y="6512280"/>
            <a:ext cx="800000" cy="300000"/>
          </a:xfrm>
          <a:prstGeom prst="snip1Rect">
            <a:avLst/>
          </a:prstGeom>
          <a:extLst>
            <a:ext uri="{C572A759-6A51-4108-AA02-DFA0A04FC94B}">
              <ma14:wrappingTextBoxFlag xmlns:ma14="http://schemas.microsoft.com/office/mac/drawingml/2011/main" xmlns="" val="0"/>
            </a:ext>
          </a:extLst>
        </p:spPr>
        <p:txBody>
          <a:bodyPr/>
          <a:lstStyle>
            <a:lvl1pPr>
              <a:defRPr sz="3200">
                <a:solidFill>
                  <a:srgbClr val="55616E"/>
                </a:solidFill>
                <a:latin typeface="Arial"/>
                <a:ea typeface="Arial"/>
                <a:cs typeface="Arial"/>
              </a:defRPr>
            </a:lvl1pPr>
          </a:lstStyle>
          <a:p>
            <a:pPr algn="l"/>
            <a:fld id="{F7021451-1387-4CA6-816F-3879F97B5CBC}" type="slidenum">
              <a:rPr lang="en-US" smtClean="0"/>
              <a:pPr algn="l"/>
              <a:t>‹#›</a:t>
            </a:fld>
            <a:endParaRPr lang="en-US" sz="3200" dirty="0"/>
          </a:p>
        </p:txBody>
      </p:sp>
    </p:spTree>
    <p:extLst>
      <p:ext uri="{BB962C8B-B14F-4D97-AF65-F5344CB8AC3E}">
        <p14:creationId xmlns:p14="http://schemas.microsoft.com/office/powerpoint/2010/main" val="2207908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992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E4A2CD-0BBB-4692-8C65-6FEE5BAEB1B8}" type="datetime1">
              <a:rPr lang="en-US" smtClean="0"/>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jpe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jpeg"/><Relationship Id="rId7" Type="http://schemas.openxmlformats.org/officeDocument/2006/relationships/diagramColors" Target="../diagrams/colors4.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jpeg"/><Relationship Id="rId7" Type="http://schemas.openxmlformats.org/officeDocument/2006/relationships/diagramColors" Target="../diagrams/colors5.xm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70.png"/></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80.png"/><Relationship Id="rId7"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9.jpeg"/><Relationship Id="rId7" Type="http://schemas.openxmlformats.org/officeDocument/2006/relationships/diagramColors" Target="../diagrams/colors6.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0.jpeg"/><Relationship Id="rId7" Type="http://schemas.openxmlformats.org/officeDocument/2006/relationships/diagramColors" Target="../diagrams/colors7.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8.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0.jpeg"/><Relationship Id="rId7" Type="http://schemas.openxmlformats.org/officeDocument/2006/relationships/diagramColors" Target="../diagrams/colors8.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9.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0.jpeg"/><Relationship Id="rId7" Type="http://schemas.openxmlformats.org/officeDocument/2006/relationships/diagramColors" Target="../diagrams/colors9.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0.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0.jpeg"/><Relationship Id="rId7" Type="http://schemas.openxmlformats.org/officeDocument/2006/relationships/diagramColors" Target="../diagrams/colors10.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31.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0.jpeg"/><Relationship Id="rId7" Type="http://schemas.openxmlformats.org/officeDocument/2006/relationships/diagramColors" Target="../diagrams/colors11.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32.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0.jpeg"/><Relationship Id="rId7" Type="http://schemas.openxmlformats.org/officeDocument/2006/relationships/diagramColors" Target="../diagrams/colors12.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33.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1.jpeg"/><Relationship Id="rId7" Type="http://schemas.openxmlformats.org/officeDocument/2006/relationships/diagramColors" Target="../diagrams/colors13.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0.jpeg"/><Relationship Id="rId7" Type="http://schemas.openxmlformats.org/officeDocument/2006/relationships/diagramColors" Target="../diagrams/colors14.xm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59.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3.jpeg"/><Relationship Id="rId7" Type="http://schemas.openxmlformats.org/officeDocument/2006/relationships/diagramColors" Target="../diagrams/colors15.xml"/><Relationship Id="rId2" Type="http://schemas.openxmlformats.org/officeDocument/2006/relationships/notesSlide" Target="../notesSlides/notesSlide59.xml"/><Relationship Id="rId1" Type="http://schemas.openxmlformats.org/officeDocument/2006/relationships/slideLayout" Target="../slideLayouts/slideLayout8.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95312" y="1138227"/>
            <a:ext cx="9855439" cy="3379694"/>
          </a:xfrm>
        </p:spPr>
        <p:txBody>
          <a:bodyPr anchor="b">
            <a:normAutofit fontScale="90000"/>
          </a:bodyPr>
          <a:lstStyle/>
          <a:p>
            <a:pPr algn="l">
              <a:lnSpc>
                <a:spcPct val="90000"/>
              </a:lnSpc>
            </a:pPr>
            <a:r>
              <a:rPr lang="uk-UA" sz="5600" dirty="0"/>
              <a:t>МОДЕЛІ, МЕТОДИ ТА ІНФОРМАЦІЙНА ТЕХНОЛОГІЯ</a:t>
            </a:r>
          </a:p>
          <a:p>
            <a:pPr algn="l">
              <a:lnSpc>
                <a:spcPct val="90000"/>
              </a:lnSpc>
            </a:pPr>
            <a:r>
              <a:rPr lang="uk-UA" sz="5600" dirty="0"/>
              <a:t>ДИСТАНЦІЙНОЇ ІДЕНТИФІКАЦІЇ ПАРАМЕТРІВ ДИНАМІЧНИХ ОБ'ЄКТІВ</a:t>
            </a:r>
          </a:p>
        </p:txBody>
      </p:sp>
      <p:sp>
        <p:nvSpPr>
          <p:cNvPr id="3" name="Subtitle 2"/>
          <p:cNvSpPr>
            <a:spLocks noGrp="1"/>
          </p:cNvSpPr>
          <p:nvPr>
            <p:ph type="subTitle" idx="1"/>
          </p:nvPr>
        </p:nvSpPr>
        <p:spPr>
          <a:xfrm>
            <a:off x="2840019" y="4837221"/>
            <a:ext cx="9187030" cy="1519130"/>
          </a:xfrm>
        </p:spPr>
        <p:txBody>
          <a:bodyPr>
            <a:noAutofit/>
          </a:bodyPr>
          <a:lstStyle/>
          <a:p>
            <a:pPr algn="l">
              <a:lnSpc>
                <a:spcPct val="90000"/>
              </a:lnSpc>
            </a:pPr>
            <a:r>
              <a:rPr lang="uk-UA" sz="1600" b="1" dirty="0">
                <a:solidFill>
                  <a:schemeClr val="tx1"/>
                </a:solidFill>
              </a:rPr>
              <a:t>Здобувач: </a:t>
            </a:r>
            <a:r>
              <a:rPr lang="uk-UA" sz="1400" dirty="0"/>
              <a:t>аспірант </a:t>
            </a:r>
            <a:r>
              <a:rPr lang="ru-RU" sz="1400" dirty="0" err="1"/>
              <a:t>кафедри</a:t>
            </a:r>
            <a:r>
              <a:rPr lang="ru-RU" sz="1400" dirty="0"/>
              <a:t> </a:t>
            </a:r>
            <a:r>
              <a:rPr lang="ru-RU" sz="1400" dirty="0" err="1"/>
              <a:t>інформаційних</a:t>
            </a:r>
            <a:r>
              <a:rPr lang="ru-RU" sz="1400" dirty="0"/>
              <a:t> систем та </a:t>
            </a:r>
            <a:r>
              <a:rPr lang="ru-RU" sz="1400" dirty="0" err="1"/>
              <a:t>технологій</a:t>
            </a:r>
            <a:r>
              <a:rPr lang="uk-UA" sz="1400" dirty="0"/>
              <a:t> </a:t>
            </a:r>
            <a:r>
              <a:rPr lang="uk-UA" altLang="ru-RU" sz="1400" dirty="0">
                <a:latin typeface="Arial" panose="020B0604020202020204" pitchFamily="34" charset="0"/>
                <a:cs typeface="Arial" panose="020B0604020202020204" pitchFamily="34" charset="0"/>
              </a:rPr>
              <a:t>Національний технічний університет «ХПІ» </a:t>
            </a:r>
            <a:endParaRPr lang="uk-UA" sz="1400" dirty="0"/>
          </a:p>
          <a:p>
            <a:pPr algn="r">
              <a:lnSpc>
                <a:spcPct val="90000"/>
              </a:lnSpc>
            </a:pPr>
            <a:r>
              <a:rPr lang="uk-UA" dirty="0"/>
              <a:t>Кондратов Олексій Михайлович</a:t>
            </a:r>
          </a:p>
          <a:p>
            <a:pPr algn="l">
              <a:lnSpc>
                <a:spcPct val="90000"/>
              </a:lnSpc>
            </a:pPr>
            <a:r>
              <a:rPr lang="uk-UA" sz="1600" b="1" dirty="0">
                <a:solidFill>
                  <a:schemeClr val="tx1"/>
                </a:solidFill>
              </a:rPr>
              <a:t>Науковий керівник:</a:t>
            </a:r>
            <a:r>
              <a:rPr lang="uk-UA" sz="1600" dirty="0"/>
              <a:t> </a:t>
            </a:r>
            <a:r>
              <a:rPr lang="uk-UA" sz="1400" dirty="0"/>
              <a:t>завідувачка кафедри інформаційних систем та технологій, доктор технічних наук, професорка</a:t>
            </a:r>
          </a:p>
          <a:p>
            <a:pPr algn="r">
              <a:lnSpc>
                <a:spcPct val="90000"/>
              </a:lnSpc>
            </a:pPr>
            <a:r>
              <a:rPr lang="uk-UA" dirty="0"/>
              <a:t>Нікуліна Олена Миколаївна</a:t>
            </a:r>
          </a:p>
        </p:txBody>
      </p:sp>
      <p:sp>
        <p:nvSpPr>
          <p:cNvPr id="4" name="Місце для номера слайда 3">
            <a:extLst>
              <a:ext uri="{FF2B5EF4-FFF2-40B4-BE49-F238E27FC236}">
                <a16:creationId xmlns:a16="http://schemas.microsoft.com/office/drawing/2014/main" id="{13D71568-31A8-FCE1-8584-28F89ED64BDB}"/>
              </a:ext>
            </a:extLst>
          </p:cNvPr>
          <p:cNvSpPr>
            <a:spLocks noGrp="1"/>
          </p:cNvSpPr>
          <p:nvPr>
            <p:ph type="sldNum" sz="quarter" idx="12"/>
          </p:nvPr>
        </p:nvSpPr>
        <p:spPr/>
        <p:txBody>
          <a:bodyPr/>
          <a:lstStyle/>
          <a:p>
            <a:fld id="{C1FF6DA9-008F-8B48-92A6-B652298478BF}" type="slidenum">
              <a:rPr lang="en-US" sz="3200" smtClean="0">
                <a:solidFill>
                  <a:schemeClr val="bg1"/>
                </a:solidFill>
              </a:rPr>
              <a:t>1</a:t>
            </a:fld>
            <a:endParaRPr lang="en-US" sz="3200" dirty="0">
              <a:solidFill>
                <a:schemeClr val="bg1"/>
              </a:solidFill>
            </a:endParaRPr>
          </a:p>
        </p:txBody>
      </p:sp>
      <p:pic>
        <p:nvPicPr>
          <p:cNvPr id="5" name="Picture 12" descr="https://o.remove.bg/downloads/98b0b567-363d-4261-ab9f-b6f6f38a4a1f/khpi-removebg-preview.png">
            <a:extLst>
              <a:ext uri="{FF2B5EF4-FFF2-40B4-BE49-F238E27FC236}">
                <a16:creationId xmlns:a16="http://schemas.microsoft.com/office/drawing/2014/main" id="{4781434E-99E1-53E7-F5E9-0053858196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89" y="103091"/>
            <a:ext cx="898609" cy="8986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DDCB84E-56E6-96DC-5D75-5FA0A0C6CD9A}"/>
              </a:ext>
            </a:extLst>
          </p:cNvPr>
          <p:cNvSpPr txBox="1"/>
          <p:nvPr/>
        </p:nvSpPr>
        <p:spPr>
          <a:xfrm>
            <a:off x="-159213" y="170704"/>
            <a:ext cx="7989982" cy="830997"/>
          </a:xfrm>
          <a:prstGeom prst="rect">
            <a:avLst/>
          </a:prstGeom>
          <a:noFill/>
        </p:spPr>
        <p:txBody>
          <a:bodyPr wrap="square" rtlCol="0">
            <a:spAutoFit/>
          </a:bodyPr>
          <a:lstStyle/>
          <a:p>
            <a:pPr algn="ctr"/>
            <a:r>
              <a:rPr lang="uk-UA" sz="2400" dirty="0">
                <a:solidFill>
                  <a:srgbClr val="9D2131"/>
                </a:solidFill>
                <a:latin typeface="Georgia" panose="02040502050405020303" pitchFamily="18" charset="0"/>
              </a:rPr>
              <a:t>Національний технічний університет </a:t>
            </a:r>
          </a:p>
          <a:p>
            <a:pPr algn="ctr"/>
            <a:r>
              <a:rPr lang="uk-UA" sz="2400" dirty="0">
                <a:solidFill>
                  <a:srgbClr val="9D2131"/>
                </a:solidFill>
                <a:latin typeface="Georgia" panose="02040502050405020303" pitchFamily="18" charset="0"/>
              </a:rPr>
              <a:t>«Харківський політехнічний інститут»</a:t>
            </a:r>
            <a:endParaRPr lang="en-US" sz="2400" dirty="0">
              <a:solidFill>
                <a:srgbClr val="9D2131"/>
              </a:solidFill>
              <a:latin typeface="Georgia" panose="02040502050405020303" pitchFamily="18" charset="0"/>
            </a:endParaRPr>
          </a:p>
        </p:txBody>
      </p:sp>
      <p:sp>
        <p:nvSpPr>
          <p:cNvPr id="7" name="Rectangle 10">
            <a:extLst>
              <a:ext uri="{FF2B5EF4-FFF2-40B4-BE49-F238E27FC236}">
                <a16:creationId xmlns:a16="http://schemas.microsoft.com/office/drawing/2014/main" id="{0FEF4FDB-1822-DD84-0BAC-B1C74A84F4EB}"/>
              </a:ext>
            </a:extLst>
          </p:cNvPr>
          <p:cNvSpPr>
            <a:spLocks noChangeArrowheads="1"/>
          </p:cNvSpPr>
          <p:nvPr/>
        </p:nvSpPr>
        <p:spPr bwMode="auto">
          <a:xfrm>
            <a:off x="3623556" y="3910372"/>
            <a:ext cx="79928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chor="ctr">
            <a:spAutoFit/>
          </a:bodyPr>
          <a:lstStyle/>
          <a:p>
            <a:pPr algn="ctr">
              <a:lnSpc>
                <a:spcPct val="150000"/>
              </a:lnSpc>
              <a:spcAft>
                <a:spcPts val="0"/>
              </a:spcAft>
            </a:pPr>
            <a:r>
              <a:rPr lang="uk-UA" sz="1600" b="1" dirty="0">
                <a:latin typeface="Arial" panose="020B0604020202020204" pitchFamily="34" charset="0"/>
                <a:cs typeface="Arial" panose="020B0604020202020204" pitchFamily="34" charset="0"/>
              </a:rPr>
              <a:t>Дисертація на здобуття наукового ступеня доктора філософії</a:t>
            </a:r>
            <a:endParaRPr lang="ru-RU" sz="1600" b="1" dirty="0">
              <a:latin typeface="Arial" panose="020B0604020202020204" pitchFamily="34" charset="0"/>
              <a:cs typeface="Arial" panose="020B0604020202020204" pitchFamily="34" charset="0"/>
            </a:endParaRPr>
          </a:p>
          <a:p>
            <a:pPr algn="ctr"/>
            <a:r>
              <a:rPr lang="uk-UA" altLang="ru-RU" sz="1600" b="1" dirty="0">
                <a:latin typeface="Arial" panose="020B0604020202020204" pitchFamily="34" charset="0"/>
                <a:cs typeface="Arial" panose="020B0604020202020204" pitchFamily="34" charset="0"/>
              </a:rPr>
              <a:t>за спеціальністю 122 – Комп'ютерні науки</a:t>
            </a:r>
          </a:p>
        </p:txBody>
      </p:sp>
      <p:sp>
        <p:nvSpPr>
          <p:cNvPr id="9" name="Rectangle 10">
            <a:extLst>
              <a:ext uri="{FF2B5EF4-FFF2-40B4-BE49-F238E27FC236}">
                <a16:creationId xmlns:a16="http://schemas.microsoft.com/office/drawing/2014/main" id="{1C597A8C-F8C6-0BAC-45CB-A44F8057ED94}"/>
              </a:ext>
            </a:extLst>
          </p:cNvPr>
          <p:cNvSpPr>
            <a:spLocks noChangeArrowheads="1"/>
          </p:cNvSpPr>
          <p:nvPr/>
        </p:nvSpPr>
        <p:spPr bwMode="auto">
          <a:xfrm>
            <a:off x="3389657" y="6419385"/>
            <a:ext cx="2664296" cy="338554"/>
          </a:xfrm>
          <a:prstGeom prst="rect">
            <a:avLst/>
          </a:prstGeom>
          <a:solidFill>
            <a:schemeClr val="bg1"/>
          </a:solidFill>
          <a:ln>
            <a:noFill/>
          </a:ln>
          <a:effectLst/>
        </p:spPr>
        <p:txBody>
          <a:bodyPr wrap="square" lIns="0" rIns="0" anchor="ctr">
            <a:spAutoFit/>
          </a:bodyPr>
          <a:lstStyle/>
          <a:p>
            <a:pPr algn="ctr"/>
            <a:r>
              <a:rPr lang="uk-UA" altLang="ru-RU" sz="1600" dirty="0">
                <a:latin typeface="Arial" panose="020B0604020202020204" pitchFamily="34" charset="0"/>
                <a:cs typeface="Arial" panose="020B0604020202020204" pitchFamily="34" charset="0"/>
              </a:rPr>
              <a:t>Харків - 2026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5747"/>
            <a:ext cx="10515600" cy="470091"/>
          </a:xfrm>
        </p:spPr>
        <p:txBody>
          <a:bodyPr>
            <a:normAutofit fontScale="90000"/>
          </a:bodyPr>
          <a:lstStyle/>
          <a:p>
            <a:r>
              <a:rPr lang="uk-UA" sz="4000" dirty="0"/>
              <a:t>Актуальність теми</a:t>
            </a:r>
          </a:p>
        </p:txBody>
      </p:sp>
      <p:graphicFrame>
        <p:nvGraphicFramePr>
          <p:cNvPr id="5" name="Content Placeholder 2">
            <a:extLst>
              <a:ext uri="{FF2B5EF4-FFF2-40B4-BE49-F238E27FC236}">
                <a16:creationId xmlns:a16="http://schemas.microsoft.com/office/drawing/2014/main" id="{788D146D-E888-E028-9F34-6A47C6E4C08B}"/>
              </a:ext>
            </a:extLst>
          </p:cNvPr>
          <p:cNvGraphicFramePr>
            <a:graphicFrameLocks noGrp="1"/>
          </p:cNvGraphicFramePr>
          <p:nvPr>
            <p:ph idx="1"/>
            <p:extLst>
              <p:ext uri="{D42A27DB-BD31-4B8C-83A1-F6EECF244321}">
                <p14:modId xmlns:p14="http://schemas.microsoft.com/office/powerpoint/2010/main" val="431818531"/>
              </p:ext>
            </p:extLst>
          </p:nvPr>
        </p:nvGraphicFramePr>
        <p:xfrm>
          <a:off x="-1" y="541586"/>
          <a:ext cx="12188951" cy="59954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номера слайда 3">
            <a:extLst>
              <a:ext uri="{FF2B5EF4-FFF2-40B4-BE49-F238E27FC236}">
                <a16:creationId xmlns:a16="http://schemas.microsoft.com/office/drawing/2014/main" id="{48320F92-94BA-5436-F08D-16DBABB29775}"/>
              </a:ext>
            </a:extLst>
          </p:cNvPr>
          <p:cNvSpPr>
            <a:spLocks noGrp="1"/>
          </p:cNvSpPr>
          <p:nvPr>
            <p:ph type="sldNum" sz="quarter" idx="12"/>
          </p:nvPr>
        </p:nvSpPr>
        <p:spPr/>
        <p:txBody>
          <a:bodyPr/>
          <a:lstStyle/>
          <a:p>
            <a:fld id="{C1FF6DA9-008F-8B48-92A6-B652298478BF}" type="slidenum">
              <a:rPr lang="en-US" sz="3200" smtClean="0"/>
              <a:t>2</a:t>
            </a:fld>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050" y="0"/>
            <a:ext cx="12172950" cy="632298"/>
          </a:xfrm>
        </p:spPr>
        <p:txBody>
          <a:bodyPr>
            <a:noAutofit/>
          </a:bodyPr>
          <a:lstStyle/>
          <a:p>
            <a:r>
              <a:rPr lang="ru-RU" sz="5400" dirty="0"/>
              <a:t>Мета, </a:t>
            </a:r>
            <a:r>
              <a:rPr lang="ru-RU" sz="5400" dirty="0" err="1"/>
              <a:t>об'єкт</a:t>
            </a:r>
            <a:r>
              <a:rPr lang="ru-RU" sz="5400" dirty="0"/>
              <a:t>, предмет та </a:t>
            </a:r>
            <a:r>
              <a:rPr lang="ru-RU" sz="5400" dirty="0" err="1"/>
              <a:t>методи</a:t>
            </a:r>
            <a:endParaRPr lang="ru-RU" sz="5400" dirty="0"/>
          </a:p>
        </p:txBody>
      </p:sp>
      <p:sp>
        <p:nvSpPr>
          <p:cNvPr id="3" name="Content Placeholder 2"/>
          <p:cNvSpPr>
            <a:spLocks noGrp="1"/>
          </p:cNvSpPr>
          <p:nvPr>
            <p:ph idx="1"/>
          </p:nvPr>
        </p:nvSpPr>
        <p:spPr>
          <a:xfrm>
            <a:off x="-359923" y="632298"/>
            <a:ext cx="12532873" cy="6225702"/>
          </a:xfrm>
        </p:spPr>
        <p:txBody>
          <a:bodyPr>
            <a:normAutofit fontScale="92500" lnSpcReduction="10000"/>
          </a:bodyPr>
          <a:lstStyle/>
          <a:p>
            <a:r>
              <a:rPr lang="uk-UA" dirty="0"/>
              <a:t>Метою дисертаційної роботи є підвищення точності, надійності та адаптивності дистанційної ідентифікації параметрів динамічних об’єктів, що рухаються у просторі, на основі поєднання </a:t>
            </a:r>
            <a:r>
              <a:rPr lang="uk-UA" dirty="0" err="1"/>
              <a:t>трансформерних</a:t>
            </a:r>
            <a:r>
              <a:rPr lang="uk-UA" dirty="0"/>
              <a:t> моделей виявлення об’єктів, методів оптичного потоку та методів обчислювального інтелекту для обробки відеоданих.</a:t>
            </a:r>
            <a:endParaRPr lang="en-US" dirty="0"/>
          </a:p>
          <a:p>
            <a:r>
              <a:rPr lang="uk-UA" dirty="0"/>
              <a:t>Об'єкт дослідження</a:t>
            </a:r>
            <a:r>
              <a:rPr lang="en-US" dirty="0"/>
              <a:t>:</a:t>
            </a:r>
            <a:r>
              <a:rPr lang="uk-UA" dirty="0"/>
              <a:t>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a:t>
            </a:r>
          </a:p>
          <a:p>
            <a:r>
              <a:rPr lang="uk-UA" dirty="0"/>
              <a:t>Методи: комп'ютерний зір (оптичний потік), глибоке навчання (</a:t>
            </a:r>
            <a:r>
              <a:rPr lang="en-US" dirty="0"/>
              <a:t>DETR, </a:t>
            </a:r>
            <a:r>
              <a:rPr lang="en-US" dirty="0" err="1"/>
              <a:t>FlowNet</a:t>
            </a:r>
            <a:r>
              <a:rPr lang="en-US" dirty="0"/>
              <a:t>, </a:t>
            </a:r>
            <a:r>
              <a:rPr lang="en-US" dirty="0" err="1"/>
              <a:t>MiDaS</a:t>
            </a:r>
            <a:r>
              <a:rPr lang="en-US" dirty="0"/>
              <a:t>, DPT), </a:t>
            </a:r>
            <a:r>
              <a:rPr lang="uk-UA" dirty="0"/>
              <a:t>ансамблеві методи (</a:t>
            </a:r>
            <a:r>
              <a:rPr lang="en-US" dirty="0"/>
              <a:t>Bagging, Boosting), </a:t>
            </a:r>
            <a:r>
              <a:rPr lang="uk-UA" dirty="0"/>
              <a:t>математичне моделювання, теорія ймовірностей</a:t>
            </a:r>
          </a:p>
        </p:txBody>
      </p:sp>
      <p:sp>
        <p:nvSpPr>
          <p:cNvPr id="4" name="Місце для номера слайда 3">
            <a:extLst>
              <a:ext uri="{FF2B5EF4-FFF2-40B4-BE49-F238E27FC236}">
                <a16:creationId xmlns:a16="http://schemas.microsoft.com/office/drawing/2014/main" id="{15AD457C-8B60-DAAE-796D-9625CAAE3C50}"/>
              </a:ext>
            </a:extLst>
          </p:cNvPr>
          <p:cNvSpPr>
            <a:spLocks noGrp="1"/>
          </p:cNvSpPr>
          <p:nvPr>
            <p:ph type="sldNum" sz="quarter" idx="12"/>
          </p:nvPr>
        </p:nvSpPr>
        <p:spPr>
          <a:xfrm>
            <a:off x="11029907" y="6356350"/>
            <a:ext cx="876748" cy="365125"/>
          </a:xfrm>
        </p:spPr>
        <p:txBody>
          <a:bodyPr/>
          <a:lstStyle/>
          <a:p>
            <a:fld id="{C1FF6DA9-008F-8B48-92A6-B652298478BF}"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FEB2151-0CE0-5A83-B28F-C801F7123617}"/>
              </a:ext>
            </a:extLst>
          </p:cNvPr>
          <p:cNvPicPr>
            <a:picLocks noGrp="1" noChangeAspect="1"/>
          </p:cNvPicPr>
          <p:nvPr>
            <p:ph idx="1"/>
          </p:nvPr>
        </p:nvPicPr>
        <p:blipFill>
          <a:blip r:embed="rId3"/>
          <a:srcRect/>
          <a:stretch/>
        </p:blipFill>
        <p:spPr>
          <a:xfrm>
            <a:off x="972766" y="-141123"/>
            <a:ext cx="9747115" cy="7310337"/>
          </a:xfrm>
          <a:prstGeom prst="rect">
            <a:avLst/>
          </a:prstGeom>
        </p:spPr>
      </p:pic>
      <p:sp>
        <p:nvSpPr>
          <p:cNvPr id="4" name="Slide Number Placeholder 3">
            <a:extLst>
              <a:ext uri="{FF2B5EF4-FFF2-40B4-BE49-F238E27FC236}">
                <a16:creationId xmlns:a16="http://schemas.microsoft.com/office/drawing/2014/main" id="{F2DFDA60-366C-959D-AF16-3A0CD8DA333D}"/>
              </a:ext>
            </a:extLst>
          </p:cNvPr>
          <p:cNvSpPr>
            <a:spLocks noGrp="1"/>
          </p:cNvSpPr>
          <p:nvPr>
            <p:ph type="sldNum" sz="quarter" idx="12"/>
          </p:nvPr>
        </p:nvSpPr>
        <p:spPr/>
        <p:txBody>
          <a:bodyPr/>
          <a:lstStyle/>
          <a:p>
            <a:fld id="{C1FF6DA9-008F-8B48-92A6-B652298478BF}" type="slidenum">
              <a:rPr lang="en-US" smtClean="0"/>
              <a:pPr/>
              <a:t>4</a:t>
            </a:fld>
            <a:endParaRPr lang="en-US" sz="3200" dirty="0"/>
          </a:p>
        </p:txBody>
      </p:sp>
      <p:sp>
        <p:nvSpPr>
          <p:cNvPr id="3" name="TextBox 2">
            <a:extLst>
              <a:ext uri="{FF2B5EF4-FFF2-40B4-BE49-F238E27FC236}">
                <a16:creationId xmlns:a16="http://schemas.microsoft.com/office/drawing/2014/main" id="{0F677FFD-CAD1-BD83-55B1-6D8FD01D71D3}"/>
              </a:ext>
            </a:extLst>
          </p:cNvPr>
          <p:cNvSpPr txBox="1"/>
          <p:nvPr/>
        </p:nvSpPr>
        <p:spPr>
          <a:xfrm>
            <a:off x="970307" y="4709301"/>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
        <p:nvSpPr>
          <p:cNvPr id="7" name="TextBox 6">
            <a:extLst>
              <a:ext uri="{FF2B5EF4-FFF2-40B4-BE49-F238E27FC236}">
                <a16:creationId xmlns:a16="http://schemas.microsoft.com/office/drawing/2014/main" id="{FAE93DA8-A3BD-6472-238D-804A04A0B570}"/>
              </a:ext>
            </a:extLst>
          </p:cNvPr>
          <p:cNvSpPr txBox="1"/>
          <p:nvPr/>
        </p:nvSpPr>
        <p:spPr>
          <a:xfrm>
            <a:off x="2782265" y="4178824"/>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
        <p:nvSpPr>
          <p:cNvPr id="9" name="TextBox 8">
            <a:extLst>
              <a:ext uri="{FF2B5EF4-FFF2-40B4-BE49-F238E27FC236}">
                <a16:creationId xmlns:a16="http://schemas.microsoft.com/office/drawing/2014/main" id="{45243D29-C441-AA43-78C3-55D296F67D5F}"/>
              </a:ext>
            </a:extLst>
          </p:cNvPr>
          <p:cNvSpPr txBox="1"/>
          <p:nvPr/>
        </p:nvSpPr>
        <p:spPr>
          <a:xfrm>
            <a:off x="4374566" y="4160847"/>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
        <p:nvSpPr>
          <p:cNvPr id="11" name="TextBox 10">
            <a:extLst>
              <a:ext uri="{FF2B5EF4-FFF2-40B4-BE49-F238E27FC236}">
                <a16:creationId xmlns:a16="http://schemas.microsoft.com/office/drawing/2014/main" id="{68140611-7F99-5AF1-F6BA-34B950374F57}"/>
              </a:ext>
            </a:extLst>
          </p:cNvPr>
          <p:cNvSpPr txBox="1"/>
          <p:nvPr/>
        </p:nvSpPr>
        <p:spPr>
          <a:xfrm>
            <a:off x="5856443" y="4160846"/>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
        <p:nvSpPr>
          <p:cNvPr id="13" name="TextBox 12">
            <a:extLst>
              <a:ext uri="{FF2B5EF4-FFF2-40B4-BE49-F238E27FC236}">
                <a16:creationId xmlns:a16="http://schemas.microsoft.com/office/drawing/2014/main" id="{4E27784B-94F0-9D7E-5C1F-694756A051D1}"/>
              </a:ext>
            </a:extLst>
          </p:cNvPr>
          <p:cNvSpPr txBox="1"/>
          <p:nvPr/>
        </p:nvSpPr>
        <p:spPr>
          <a:xfrm>
            <a:off x="7338320" y="4160845"/>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
        <p:nvSpPr>
          <p:cNvPr id="15" name="TextBox 14">
            <a:extLst>
              <a:ext uri="{FF2B5EF4-FFF2-40B4-BE49-F238E27FC236}">
                <a16:creationId xmlns:a16="http://schemas.microsoft.com/office/drawing/2014/main" id="{043FDBDD-FAE6-0E78-3573-8D6331D54BE7}"/>
              </a:ext>
            </a:extLst>
          </p:cNvPr>
          <p:cNvSpPr txBox="1"/>
          <p:nvPr/>
        </p:nvSpPr>
        <p:spPr>
          <a:xfrm>
            <a:off x="8820197" y="4102276"/>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Tree>
    <p:extLst>
      <p:ext uri="{BB962C8B-B14F-4D97-AF65-F5344CB8AC3E}">
        <p14:creationId xmlns:p14="http://schemas.microsoft.com/office/powerpoint/2010/main" val="1679708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92762D-E191-816F-8E29-AA5A06D10877}"/>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8BB1921-3DAC-23FA-D5A0-AD6B6919B659}"/>
              </a:ext>
            </a:extLst>
          </p:cNvPr>
          <p:cNvPicPr>
            <a:picLocks noChangeAspect="1"/>
          </p:cNvPicPr>
          <p:nvPr/>
        </p:nvPicPr>
        <p:blipFill>
          <a:blip r:embed="rId3">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DE708A5-B078-16D3-1083-45E76BE112CD}"/>
              </a:ext>
            </a:extLst>
          </p:cNvPr>
          <p:cNvSpPr>
            <a:spLocks noGrp="1"/>
          </p:cNvSpPr>
          <p:nvPr>
            <p:ph type="title"/>
          </p:nvPr>
        </p:nvSpPr>
        <p:spPr>
          <a:xfrm>
            <a:off x="77228" y="352949"/>
            <a:ext cx="12114752" cy="814370"/>
          </a:xfrm>
        </p:spPr>
        <p:txBody>
          <a:bodyPr>
            <a:noAutofit/>
          </a:bodyPr>
          <a:lstStyle/>
          <a:p>
            <a:pPr algn="ctr"/>
            <a:r>
              <a:rPr lang="uk-UA" sz="5400" dirty="0"/>
              <a:t>З</a:t>
            </a:r>
            <a:r>
              <a:rPr lang="ru-RU" sz="5400" dirty="0" err="1"/>
              <a:t>адачі</a:t>
            </a:r>
            <a:r>
              <a:rPr lang="ru-RU" sz="5400" dirty="0"/>
              <a:t> </a:t>
            </a:r>
            <a:r>
              <a:rPr lang="uk-UA" sz="5400" dirty="0"/>
              <a:t>дослідження</a:t>
            </a:r>
            <a:r>
              <a:rPr lang="en-US" sz="5400" dirty="0"/>
              <a:t> 1</a:t>
            </a:r>
            <a:endParaRPr lang="ru-RU" sz="5400" dirty="0"/>
          </a:p>
        </p:txBody>
      </p:sp>
      <p:graphicFrame>
        <p:nvGraphicFramePr>
          <p:cNvPr id="24" name="Місце для вмісту 11">
            <a:extLst>
              <a:ext uri="{FF2B5EF4-FFF2-40B4-BE49-F238E27FC236}">
                <a16:creationId xmlns:a16="http://schemas.microsoft.com/office/drawing/2014/main" id="{9DC1AC37-3A6F-9707-A065-DF081425F83C}"/>
              </a:ext>
            </a:extLst>
          </p:cNvPr>
          <p:cNvGraphicFramePr>
            <a:graphicFrameLocks noGrp="1"/>
          </p:cNvGraphicFramePr>
          <p:nvPr>
            <p:ph idx="1"/>
            <p:extLst>
              <p:ext uri="{D42A27DB-BD31-4B8C-83A1-F6EECF244321}">
                <p14:modId xmlns:p14="http://schemas.microsoft.com/office/powerpoint/2010/main" val="413920420"/>
              </p:ext>
            </p:extLst>
          </p:nvPr>
        </p:nvGraphicFramePr>
        <p:xfrm>
          <a:off x="20" y="1520258"/>
          <a:ext cx="12191980" cy="53377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Місце для тексту 3">
            <a:extLst>
              <a:ext uri="{FF2B5EF4-FFF2-40B4-BE49-F238E27FC236}">
                <a16:creationId xmlns:a16="http://schemas.microsoft.com/office/drawing/2014/main" id="{DF9F996E-070B-6805-829A-A8C670324F16}"/>
              </a:ext>
            </a:extLst>
          </p:cNvPr>
          <p:cNvSpPr>
            <a:spLocks noGrp="1"/>
          </p:cNvSpPr>
          <p:nvPr>
            <p:ph type="body" sz="half" idx="2"/>
          </p:nvPr>
        </p:nvSpPr>
        <p:spPr>
          <a:xfrm>
            <a:off x="77208" y="1153599"/>
            <a:ext cx="6780561" cy="315278"/>
          </a:xfrm>
        </p:spPr>
        <p:txBody>
          <a:bodyPr>
            <a:normAutofit/>
          </a:bodyPr>
          <a:lstStyle/>
          <a:p>
            <a:r>
              <a:rPr lang="ru-RU" dirty="0">
                <a:solidFill>
                  <a:schemeClr val="bg1"/>
                </a:solidFill>
              </a:rPr>
              <a:t>Для </a:t>
            </a:r>
            <a:r>
              <a:rPr lang="ru-RU" dirty="0" err="1">
                <a:solidFill>
                  <a:schemeClr val="bg1"/>
                </a:solidFill>
              </a:rPr>
              <a:t>досягнення</a:t>
            </a:r>
            <a:r>
              <a:rPr lang="ru-RU" dirty="0">
                <a:solidFill>
                  <a:schemeClr val="bg1"/>
                </a:solidFill>
              </a:rPr>
              <a:t> </a:t>
            </a:r>
            <a:r>
              <a:rPr lang="ru-RU" dirty="0" err="1">
                <a:solidFill>
                  <a:schemeClr val="bg1"/>
                </a:solidFill>
              </a:rPr>
              <a:t>поставленої</a:t>
            </a:r>
            <a:r>
              <a:rPr lang="ru-RU" dirty="0">
                <a:solidFill>
                  <a:schemeClr val="bg1"/>
                </a:solidFill>
              </a:rPr>
              <a:t> мети </a:t>
            </a:r>
            <a:r>
              <a:rPr lang="ru-RU" dirty="0" err="1">
                <a:solidFill>
                  <a:schemeClr val="bg1"/>
                </a:solidFill>
              </a:rPr>
              <a:t>вирішуються</a:t>
            </a:r>
            <a:r>
              <a:rPr lang="ru-RU" dirty="0">
                <a:solidFill>
                  <a:schemeClr val="bg1"/>
                </a:solidFill>
              </a:rPr>
              <a:t> </a:t>
            </a:r>
            <a:r>
              <a:rPr lang="ru-RU" dirty="0" err="1">
                <a:solidFill>
                  <a:schemeClr val="bg1"/>
                </a:solidFill>
              </a:rPr>
              <a:t>наступні</a:t>
            </a:r>
            <a:r>
              <a:rPr lang="ru-RU" dirty="0">
                <a:solidFill>
                  <a:schemeClr val="bg1"/>
                </a:solidFill>
              </a:rPr>
              <a:t> </a:t>
            </a:r>
            <a:r>
              <a:rPr lang="ru-RU" dirty="0" err="1">
                <a:solidFill>
                  <a:schemeClr val="bg1"/>
                </a:solidFill>
              </a:rPr>
              <a:t>задачі</a:t>
            </a:r>
            <a:r>
              <a:rPr lang="ru-RU" dirty="0">
                <a:solidFill>
                  <a:schemeClr val="bg1"/>
                </a:solidFill>
              </a:rPr>
              <a:t>:</a:t>
            </a:r>
            <a:endParaRPr lang="en-US" dirty="0">
              <a:solidFill>
                <a:schemeClr val="bg1"/>
              </a:solidFill>
            </a:endParaRPr>
          </a:p>
          <a:p>
            <a:endParaRPr lang="en-US" dirty="0"/>
          </a:p>
        </p:txBody>
      </p:sp>
      <p:sp>
        <p:nvSpPr>
          <p:cNvPr id="13" name="Місце для номера слайда 12">
            <a:extLst>
              <a:ext uri="{FF2B5EF4-FFF2-40B4-BE49-F238E27FC236}">
                <a16:creationId xmlns:a16="http://schemas.microsoft.com/office/drawing/2014/main" id="{872BA988-C8BB-BAC1-E495-93D29A9E42BE}"/>
              </a:ext>
            </a:extLst>
          </p:cNvPr>
          <p:cNvSpPr>
            <a:spLocks noGrp="1"/>
          </p:cNvSpPr>
          <p:nvPr>
            <p:ph type="sldNum" sz="quarter" idx="12"/>
          </p:nvPr>
        </p:nvSpPr>
        <p:spPr/>
        <p:txBody>
          <a:bodyPr/>
          <a:lstStyle/>
          <a:p>
            <a:fld id="{C1FF6DA9-008F-8B48-92A6-B652298478BF}" type="slidenum">
              <a:rPr lang="en-US" sz="3200" smtClean="0">
                <a:solidFill>
                  <a:schemeClr val="bg1"/>
                </a:solidFill>
              </a:rPr>
              <a:t>5</a:t>
            </a:fld>
            <a:endParaRPr lang="en-US" sz="3200" dirty="0">
              <a:solidFill>
                <a:schemeClr val="bg1"/>
              </a:solidFill>
            </a:endParaRPr>
          </a:p>
        </p:txBody>
      </p:sp>
    </p:spTree>
    <p:extLst>
      <p:ext uri="{BB962C8B-B14F-4D97-AF65-F5344CB8AC3E}">
        <p14:creationId xmlns:p14="http://schemas.microsoft.com/office/powerpoint/2010/main" val="2941157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76E7C0-E2A6-962A-7AD9-19D75843BB47}"/>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2CC3FF8B-602A-67A8-071B-564B8FF93667}"/>
              </a:ext>
            </a:extLst>
          </p:cNvPr>
          <p:cNvPicPr>
            <a:picLocks noChangeAspect="1"/>
          </p:cNvPicPr>
          <p:nvPr/>
        </p:nvPicPr>
        <p:blipFill>
          <a:blip r:embed="rId3">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C73DF25-A84D-33EC-B4AE-30BA3D2385E1}"/>
              </a:ext>
            </a:extLst>
          </p:cNvPr>
          <p:cNvSpPr>
            <a:spLocks noGrp="1"/>
          </p:cNvSpPr>
          <p:nvPr>
            <p:ph type="title"/>
          </p:nvPr>
        </p:nvSpPr>
        <p:spPr>
          <a:xfrm>
            <a:off x="77228" y="352949"/>
            <a:ext cx="12114752" cy="814370"/>
          </a:xfrm>
        </p:spPr>
        <p:txBody>
          <a:bodyPr>
            <a:noAutofit/>
          </a:bodyPr>
          <a:lstStyle/>
          <a:p>
            <a:pPr algn="ctr"/>
            <a:r>
              <a:rPr lang="uk-UA" sz="5400" dirty="0"/>
              <a:t>З</a:t>
            </a:r>
            <a:r>
              <a:rPr lang="ru-RU" sz="5400" dirty="0" err="1"/>
              <a:t>адачі</a:t>
            </a:r>
            <a:r>
              <a:rPr lang="ru-RU" sz="5400" dirty="0"/>
              <a:t> </a:t>
            </a:r>
            <a:r>
              <a:rPr lang="uk-UA" sz="5400" dirty="0"/>
              <a:t>дослідження</a:t>
            </a:r>
            <a:r>
              <a:rPr lang="en-US" sz="5400" dirty="0"/>
              <a:t> 2</a:t>
            </a:r>
            <a:endParaRPr lang="ru-RU" sz="5400" dirty="0"/>
          </a:p>
        </p:txBody>
      </p:sp>
      <p:graphicFrame>
        <p:nvGraphicFramePr>
          <p:cNvPr id="24" name="Місце для вмісту 11">
            <a:extLst>
              <a:ext uri="{FF2B5EF4-FFF2-40B4-BE49-F238E27FC236}">
                <a16:creationId xmlns:a16="http://schemas.microsoft.com/office/drawing/2014/main" id="{5B349B85-21CF-46DE-0831-DF158EA6705D}"/>
              </a:ext>
            </a:extLst>
          </p:cNvPr>
          <p:cNvGraphicFramePr>
            <a:graphicFrameLocks noGrp="1"/>
          </p:cNvGraphicFramePr>
          <p:nvPr>
            <p:ph idx="1"/>
            <p:extLst>
              <p:ext uri="{D42A27DB-BD31-4B8C-83A1-F6EECF244321}">
                <p14:modId xmlns:p14="http://schemas.microsoft.com/office/powerpoint/2010/main" val="3959993592"/>
              </p:ext>
            </p:extLst>
          </p:nvPr>
        </p:nvGraphicFramePr>
        <p:xfrm>
          <a:off x="20" y="1520258"/>
          <a:ext cx="12191980" cy="53377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Місце для тексту 3">
            <a:extLst>
              <a:ext uri="{FF2B5EF4-FFF2-40B4-BE49-F238E27FC236}">
                <a16:creationId xmlns:a16="http://schemas.microsoft.com/office/drawing/2014/main" id="{C50B8866-26AA-D04F-8545-9848B9EEC67F}"/>
              </a:ext>
            </a:extLst>
          </p:cNvPr>
          <p:cNvSpPr>
            <a:spLocks noGrp="1"/>
          </p:cNvSpPr>
          <p:nvPr>
            <p:ph type="body" sz="half" idx="2"/>
          </p:nvPr>
        </p:nvSpPr>
        <p:spPr>
          <a:xfrm>
            <a:off x="77208" y="1153599"/>
            <a:ext cx="6780561" cy="315278"/>
          </a:xfrm>
        </p:spPr>
        <p:txBody>
          <a:bodyPr>
            <a:normAutofit/>
          </a:bodyPr>
          <a:lstStyle/>
          <a:p>
            <a:r>
              <a:rPr lang="ru-RU" dirty="0">
                <a:solidFill>
                  <a:schemeClr val="bg1"/>
                </a:solidFill>
              </a:rPr>
              <a:t>Для </a:t>
            </a:r>
            <a:r>
              <a:rPr lang="ru-RU" dirty="0" err="1">
                <a:solidFill>
                  <a:schemeClr val="bg1"/>
                </a:solidFill>
              </a:rPr>
              <a:t>досягнення</a:t>
            </a:r>
            <a:r>
              <a:rPr lang="ru-RU" dirty="0">
                <a:solidFill>
                  <a:schemeClr val="bg1"/>
                </a:solidFill>
              </a:rPr>
              <a:t> </a:t>
            </a:r>
            <a:r>
              <a:rPr lang="ru-RU" dirty="0" err="1">
                <a:solidFill>
                  <a:schemeClr val="bg1"/>
                </a:solidFill>
              </a:rPr>
              <a:t>поставленої</a:t>
            </a:r>
            <a:r>
              <a:rPr lang="ru-RU" dirty="0">
                <a:solidFill>
                  <a:schemeClr val="bg1"/>
                </a:solidFill>
              </a:rPr>
              <a:t> мети </a:t>
            </a:r>
            <a:r>
              <a:rPr lang="ru-RU" dirty="0" err="1">
                <a:solidFill>
                  <a:schemeClr val="bg1"/>
                </a:solidFill>
              </a:rPr>
              <a:t>вирішуються</a:t>
            </a:r>
            <a:r>
              <a:rPr lang="ru-RU" dirty="0">
                <a:solidFill>
                  <a:schemeClr val="bg1"/>
                </a:solidFill>
              </a:rPr>
              <a:t> </a:t>
            </a:r>
            <a:r>
              <a:rPr lang="ru-RU" dirty="0" err="1">
                <a:solidFill>
                  <a:schemeClr val="bg1"/>
                </a:solidFill>
              </a:rPr>
              <a:t>наступні</a:t>
            </a:r>
            <a:r>
              <a:rPr lang="ru-RU" dirty="0">
                <a:solidFill>
                  <a:schemeClr val="bg1"/>
                </a:solidFill>
              </a:rPr>
              <a:t> </a:t>
            </a:r>
            <a:r>
              <a:rPr lang="ru-RU" dirty="0" err="1">
                <a:solidFill>
                  <a:schemeClr val="bg1"/>
                </a:solidFill>
              </a:rPr>
              <a:t>задачі</a:t>
            </a:r>
            <a:r>
              <a:rPr lang="ru-RU" dirty="0">
                <a:solidFill>
                  <a:schemeClr val="bg1"/>
                </a:solidFill>
              </a:rPr>
              <a:t>:</a:t>
            </a:r>
            <a:endParaRPr lang="en-US" dirty="0">
              <a:solidFill>
                <a:schemeClr val="bg1"/>
              </a:solidFill>
            </a:endParaRPr>
          </a:p>
          <a:p>
            <a:endParaRPr lang="en-US" dirty="0"/>
          </a:p>
        </p:txBody>
      </p:sp>
      <p:sp>
        <p:nvSpPr>
          <p:cNvPr id="13" name="Місце для номера слайда 12">
            <a:extLst>
              <a:ext uri="{FF2B5EF4-FFF2-40B4-BE49-F238E27FC236}">
                <a16:creationId xmlns:a16="http://schemas.microsoft.com/office/drawing/2014/main" id="{F0AE1CA9-6A4B-B5F4-4AA1-F6FA6382C0A0}"/>
              </a:ext>
            </a:extLst>
          </p:cNvPr>
          <p:cNvSpPr>
            <a:spLocks noGrp="1"/>
          </p:cNvSpPr>
          <p:nvPr>
            <p:ph type="sldNum" sz="quarter" idx="12"/>
          </p:nvPr>
        </p:nvSpPr>
        <p:spPr/>
        <p:txBody>
          <a:bodyPr/>
          <a:lstStyle/>
          <a:p>
            <a:fld id="{C1FF6DA9-008F-8B48-92A6-B652298478BF}" type="slidenum">
              <a:rPr lang="en-US" sz="3200" smtClean="0">
                <a:solidFill>
                  <a:schemeClr val="bg1"/>
                </a:solidFill>
              </a:rPr>
              <a:t>6</a:t>
            </a:fld>
            <a:endParaRPr lang="en-US" sz="3200" dirty="0">
              <a:solidFill>
                <a:schemeClr val="bg1"/>
              </a:solidFill>
            </a:endParaRPr>
          </a:p>
        </p:txBody>
      </p:sp>
    </p:spTree>
    <p:extLst>
      <p:ext uri="{BB962C8B-B14F-4D97-AF65-F5344CB8AC3E}">
        <p14:creationId xmlns:p14="http://schemas.microsoft.com/office/powerpoint/2010/main" val="2519144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0963BA-A359-0A4D-3C48-A110F0370B9F}"/>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BCA8231-A823-5619-8D56-97A1175F25BF}"/>
              </a:ext>
            </a:extLst>
          </p:cNvPr>
          <p:cNvPicPr>
            <a:picLocks noChangeAspect="1"/>
          </p:cNvPicPr>
          <p:nvPr/>
        </p:nvPicPr>
        <p:blipFill>
          <a:blip r:embed="rId3">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AADE862-DAC8-B6D9-A4BA-33CA62DEB966}"/>
              </a:ext>
            </a:extLst>
          </p:cNvPr>
          <p:cNvSpPr>
            <a:spLocks noGrp="1"/>
          </p:cNvSpPr>
          <p:nvPr>
            <p:ph type="title"/>
          </p:nvPr>
        </p:nvSpPr>
        <p:spPr>
          <a:xfrm>
            <a:off x="77228" y="352949"/>
            <a:ext cx="12114752" cy="814370"/>
          </a:xfrm>
        </p:spPr>
        <p:txBody>
          <a:bodyPr>
            <a:noAutofit/>
          </a:bodyPr>
          <a:lstStyle/>
          <a:p>
            <a:pPr algn="ctr"/>
            <a:r>
              <a:rPr lang="uk-UA" sz="5400" dirty="0"/>
              <a:t>З</a:t>
            </a:r>
            <a:r>
              <a:rPr lang="ru-RU" sz="5400" dirty="0" err="1"/>
              <a:t>адачі</a:t>
            </a:r>
            <a:r>
              <a:rPr lang="ru-RU" sz="5400" dirty="0"/>
              <a:t> </a:t>
            </a:r>
            <a:r>
              <a:rPr lang="uk-UA" sz="5400" dirty="0"/>
              <a:t>дослідження</a:t>
            </a:r>
            <a:r>
              <a:rPr lang="en-US" sz="5400" dirty="0"/>
              <a:t> 3</a:t>
            </a:r>
            <a:endParaRPr lang="ru-RU" sz="5400" dirty="0"/>
          </a:p>
        </p:txBody>
      </p:sp>
      <p:graphicFrame>
        <p:nvGraphicFramePr>
          <p:cNvPr id="24" name="Місце для вмісту 11">
            <a:extLst>
              <a:ext uri="{FF2B5EF4-FFF2-40B4-BE49-F238E27FC236}">
                <a16:creationId xmlns:a16="http://schemas.microsoft.com/office/drawing/2014/main" id="{6768DCDF-6DEA-F8D9-2510-014B0978146C}"/>
              </a:ext>
            </a:extLst>
          </p:cNvPr>
          <p:cNvGraphicFramePr>
            <a:graphicFrameLocks noGrp="1"/>
          </p:cNvGraphicFramePr>
          <p:nvPr>
            <p:ph idx="1"/>
            <p:extLst>
              <p:ext uri="{D42A27DB-BD31-4B8C-83A1-F6EECF244321}">
                <p14:modId xmlns:p14="http://schemas.microsoft.com/office/powerpoint/2010/main" val="3173592971"/>
              </p:ext>
            </p:extLst>
          </p:nvPr>
        </p:nvGraphicFramePr>
        <p:xfrm>
          <a:off x="20" y="1520258"/>
          <a:ext cx="12191980" cy="53377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Місце для тексту 3">
            <a:extLst>
              <a:ext uri="{FF2B5EF4-FFF2-40B4-BE49-F238E27FC236}">
                <a16:creationId xmlns:a16="http://schemas.microsoft.com/office/drawing/2014/main" id="{CF7E981A-872D-8359-9893-AA626A958F90}"/>
              </a:ext>
            </a:extLst>
          </p:cNvPr>
          <p:cNvSpPr>
            <a:spLocks noGrp="1"/>
          </p:cNvSpPr>
          <p:nvPr>
            <p:ph type="body" sz="half" idx="2"/>
          </p:nvPr>
        </p:nvSpPr>
        <p:spPr>
          <a:xfrm>
            <a:off x="77208" y="1153599"/>
            <a:ext cx="6780561" cy="315278"/>
          </a:xfrm>
        </p:spPr>
        <p:txBody>
          <a:bodyPr>
            <a:normAutofit/>
          </a:bodyPr>
          <a:lstStyle/>
          <a:p>
            <a:r>
              <a:rPr lang="ru-RU" dirty="0">
                <a:solidFill>
                  <a:schemeClr val="bg1"/>
                </a:solidFill>
              </a:rPr>
              <a:t>Для </a:t>
            </a:r>
            <a:r>
              <a:rPr lang="ru-RU" dirty="0" err="1">
                <a:solidFill>
                  <a:schemeClr val="bg1"/>
                </a:solidFill>
              </a:rPr>
              <a:t>досягнення</a:t>
            </a:r>
            <a:r>
              <a:rPr lang="ru-RU" dirty="0">
                <a:solidFill>
                  <a:schemeClr val="bg1"/>
                </a:solidFill>
              </a:rPr>
              <a:t> </a:t>
            </a:r>
            <a:r>
              <a:rPr lang="ru-RU" dirty="0" err="1">
                <a:solidFill>
                  <a:schemeClr val="bg1"/>
                </a:solidFill>
              </a:rPr>
              <a:t>поставленої</a:t>
            </a:r>
            <a:r>
              <a:rPr lang="ru-RU" dirty="0">
                <a:solidFill>
                  <a:schemeClr val="bg1"/>
                </a:solidFill>
              </a:rPr>
              <a:t> мети </a:t>
            </a:r>
            <a:r>
              <a:rPr lang="ru-RU" dirty="0" err="1">
                <a:solidFill>
                  <a:schemeClr val="bg1"/>
                </a:solidFill>
              </a:rPr>
              <a:t>вирішуються</a:t>
            </a:r>
            <a:r>
              <a:rPr lang="ru-RU" dirty="0">
                <a:solidFill>
                  <a:schemeClr val="bg1"/>
                </a:solidFill>
              </a:rPr>
              <a:t> </a:t>
            </a:r>
            <a:r>
              <a:rPr lang="ru-RU" dirty="0" err="1">
                <a:solidFill>
                  <a:schemeClr val="bg1"/>
                </a:solidFill>
              </a:rPr>
              <a:t>наступні</a:t>
            </a:r>
            <a:r>
              <a:rPr lang="ru-RU" dirty="0">
                <a:solidFill>
                  <a:schemeClr val="bg1"/>
                </a:solidFill>
              </a:rPr>
              <a:t> </a:t>
            </a:r>
            <a:r>
              <a:rPr lang="ru-RU" dirty="0" err="1">
                <a:solidFill>
                  <a:schemeClr val="bg1"/>
                </a:solidFill>
              </a:rPr>
              <a:t>задачі</a:t>
            </a:r>
            <a:r>
              <a:rPr lang="ru-RU" dirty="0">
                <a:solidFill>
                  <a:schemeClr val="bg1"/>
                </a:solidFill>
              </a:rPr>
              <a:t>:</a:t>
            </a:r>
            <a:endParaRPr lang="en-US" dirty="0">
              <a:solidFill>
                <a:schemeClr val="bg1"/>
              </a:solidFill>
            </a:endParaRPr>
          </a:p>
          <a:p>
            <a:endParaRPr lang="en-US" dirty="0"/>
          </a:p>
        </p:txBody>
      </p:sp>
      <p:sp>
        <p:nvSpPr>
          <p:cNvPr id="13" name="Місце для номера слайда 12">
            <a:extLst>
              <a:ext uri="{FF2B5EF4-FFF2-40B4-BE49-F238E27FC236}">
                <a16:creationId xmlns:a16="http://schemas.microsoft.com/office/drawing/2014/main" id="{07CC5346-80AF-1EB5-86FC-348487601F88}"/>
              </a:ext>
            </a:extLst>
          </p:cNvPr>
          <p:cNvSpPr>
            <a:spLocks noGrp="1"/>
          </p:cNvSpPr>
          <p:nvPr>
            <p:ph type="sldNum" sz="quarter" idx="12"/>
          </p:nvPr>
        </p:nvSpPr>
        <p:spPr/>
        <p:txBody>
          <a:bodyPr/>
          <a:lstStyle/>
          <a:p>
            <a:fld id="{C1FF6DA9-008F-8B48-92A6-B652298478BF}" type="slidenum">
              <a:rPr lang="en-US" sz="3200" smtClean="0">
                <a:solidFill>
                  <a:schemeClr val="bg1"/>
                </a:solidFill>
              </a:rPr>
              <a:t>7</a:t>
            </a:fld>
            <a:endParaRPr lang="en-US" sz="3200" dirty="0">
              <a:solidFill>
                <a:schemeClr val="bg1"/>
              </a:solidFill>
            </a:endParaRPr>
          </a:p>
        </p:txBody>
      </p:sp>
    </p:spTree>
    <p:extLst>
      <p:ext uri="{BB962C8B-B14F-4D97-AF65-F5344CB8AC3E}">
        <p14:creationId xmlns:p14="http://schemas.microsoft.com/office/powerpoint/2010/main" val="3688442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6FCA16-08BA-85E0-F77A-D7913B82CE45}"/>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094ADCF5-A442-E5B7-9DFB-B12FFB5A9EFF}"/>
              </a:ext>
            </a:extLst>
          </p:cNvPr>
          <p:cNvPicPr>
            <a:picLocks noChangeAspect="1"/>
          </p:cNvPicPr>
          <p:nvPr/>
        </p:nvPicPr>
        <p:blipFill>
          <a:blip r:embed="rId3">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AD24139-C730-F0BE-7704-C0BE8231965C}"/>
              </a:ext>
            </a:extLst>
          </p:cNvPr>
          <p:cNvSpPr>
            <a:spLocks noGrp="1"/>
          </p:cNvSpPr>
          <p:nvPr>
            <p:ph type="title"/>
          </p:nvPr>
        </p:nvSpPr>
        <p:spPr>
          <a:xfrm>
            <a:off x="77228" y="352949"/>
            <a:ext cx="12114752" cy="814370"/>
          </a:xfrm>
        </p:spPr>
        <p:txBody>
          <a:bodyPr>
            <a:noAutofit/>
          </a:bodyPr>
          <a:lstStyle/>
          <a:p>
            <a:pPr algn="ctr"/>
            <a:r>
              <a:rPr lang="uk-UA" sz="5400" dirty="0"/>
              <a:t>З</a:t>
            </a:r>
            <a:r>
              <a:rPr lang="ru-RU" sz="5400" dirty="0" err="1"/>
              <a:t>адачі</a:t>
            </a:r>
            <a:r>
              <a:rPr lang="ru-RU" sz="5400" dirty="0"/>
              <a:t> </a:t>
            </a:r>
            <a:r>
              <a:rPr lang="uk-UA" sz="5400" dirty="0"/>
              <a:t>дослідження</a:t>
            </a:r>
            <a:r>
              <a:rPr lang="en-US" sz="5400" dirty="0"/>
              <a:t> 4</a:t>
            </a:r>
            <a:endParaRPr lang="ru-RU" sz="5400" dirty="0"/>
          </a:p>
        </p:txBody>
      </p:sp>
      <p:graphicFrame>
        <p:nvGraphicFramePr>
          <p:cNvPr id="24" name="Місце для вмісту 11">
            <a:extLst>
              <a:ext uri="{FF2B5EF4-FFF2-40B4-BE49-F238E27FC236}">
                <a16:creationId xmlns:a16="http://schemas.microsoft.com/office/drawing/2014/main" id="{F25316AA-E065-2E90-2E06-71AF27768E34}"/>
              </a:ext>
            </a:extLst>
          </p:cNvPr>
          <p:cNvGraphicFramePr>
            <a:graphicFrameLocks noGrp="1"/>
          </p:cNvGraphicFramePr>
          <p:nvPr>
            <p:ph idx="1"/>
            <p:extLst>
              <p:ext uri="{D42A27DB-BD31-4B8C-83A1-F6EECF244321}">
                <p14:modId xmlns:p14="http://schemas.microsoft.com/office/powerpoint/2010/main" val="1162012988"/>
              </p:ext>
            </p:extLst>
          </p:nvPr>
        </p:nvGraphicFramePr>
        <p:xfrm>
          <a:off x="20" y="1520258"/>
          <a:ext cx="12191980" cy="53377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Місце для тексту 3">
            <a:extLst>
              <a:ext uri="{FF2B5EF4-FFF2-40B4-BE49-F238E27FC236}">
                <a16:creationId xmlns:a16="http://schemas.microsoft.com/office/drawing/2014/main" id="{B82C2F17-8998-C863-5DF7-5B4A0CBB1773}"/>
              </a:ext>
            </a:extLst>
          </p:cNvPr>
          <p:cNvSpPr>
            <a:spLocks noGrp="1"/>
          </p:cNvSpPr>
          <p:nvPr>
            <p:ph type="body" sz="half" idx="2"/>
          </p:nvPr>
        </p:nvSpPr>
        <p:spPr>
          <a:xfrm>
            <a:off x="77208" y="1153599"/>
            <a:ext cx="6780561" cy="315278"/>
          </a:xfrm>
        </p:spPr>
        <p:txBody>
          <a:bodyPr>
            <a:normAutofit/>
          </a:bodyPr>
          <a:lstStyle/>
          <a:p>
            <a:r>
              <a:rPr lang="ru-RU" dirty="0">
                <a:solidFill>
                  <a:schemeClr val="bg1"/>
                </a:solidFill>
              </a:rPr>
              <a:t>Для </a:t>
            </a:r>
            <a:r>
              <a:rPr lang="ru-RU" dirty="0" err="1">
                <a:solidFill>
                  <a:schemeClr val="bg1"/>
                </a:solidFill>
              </a:rPr>
              <a:t>досягнення</a:t>
            </a:r>
            <a:r>
              <a:rPr lang="ru-RU" dirty="0">
                <a:solidFill>
                  <a:schemeClr val="bg1"/>
                </a:solidFill>
              </a:rPr>
              <a:t> </a:t>
            </a:r>
            <a:r>
              <a:rPr lang="ru-RU" dirty="0" err="1">
                <a:solidFill>
                  <a:schemeClr val="bg1"/>
                </a:solidFill>
              </a:rPr>
              <a:t>поставленої</a:t>
            </a:r>
            <a:r>
              <a:rPr lang="ru-RU" dirty="0">
                <a:solidFill>
                  <a:schemeClr val="bg1"/>
                </a:solidFill>
              </a:rPr>
              <a:t> мети </a:t>
            </a:r>
            <a:r>
              <a:rPr lang="ru-RU" dirty="0" err="1">
                <a:solidFill>
                  <a:schemeClr val="bg1"/>
                </a:solidFill>
              </a:rPr>
              <a:t>вирішуються</a:t>
            </a:r>
            <a:r>
              <a:rPr lang="ru-RU" dirty="0">
                <a:solidFill>
                  <a:schemeClr val="bg1"/>
                </a:solidFill>
              </a:rPr>
              <a:t> </a:t>
            </a:r>
            <a:r>
              <a:rPr lang="ru-RU" dirty="0" err="1">
                <a:solidFill>
                  <a:schemeClr val="bg1"/>
                </a:solidFill>
              </a:rPr>
              <a:t>наступні</a:t>
            </a:r>
            <a:r>
              <a:rPr lang="ru-RU" dirty="0">
                <a:solidFill>
                  <a:schemeClr val="bg1"/>
                </a:solidFill>
              </a:rPr>
              <a:t> </a:t>
            </a:r>
            <a:r>
              <a:rPr lang="ru-RU" dirty="0" err="1">
                <a:solidFill>
                  <a:schemeClr val="bg1"/>
                </a:solidFill>
              </a:rPr>
              <a:t>задачі</a:t>
            </a:r>
            <a:r>
              <a:rPr lang="ru-RU" dirty="0">
                <a:solidFill>
                  <a:schemeClr val="bg1"/>
                </a:solidFill>
              </a:rPr>
              <a:t>:</a:t>
            </a:r>
            <a:endParaRPr lang="en-US" dirty="0">
              <a:solidFill>
                <a:schemeClr val="bg1"/>
              </a:solidFill>
            </a:endParaRPr>
          </a:p>
          <a:p>
            <a:endParaRPr lang="en-US" dirty="0"/>
          </a:p>
        </p:txBody>
      </p:sp>
      <p:sp>
        <p:nvSpPr>
          <p:cNvPr id="13" name="Місце для номера слайда 12">
            <a:extLst>
              <a:ext uri="{FF2B5EF4-FFF2-40B4-BE49-F238E27FC236}">
                <a16:creationId xmlns:a16="http://schemas.microsoft.com/office/drawing/2014/main" id="{D512511F-4A5D-85C0-B92A-2010161A5A8C}"/>
              </a:ext>
            </a:extLst>
          </p:cNvPr>
          <p:cNvSpPr>
            <a:spLocks noGrp="1"/>
          </p:cNvSpPr>
          <p:nvPr>
            <p:ph type="sldNum" sz="quarter" idx="12"/>
          </p:nvPr>
        </p:nvSpPr>
        <p:spPr/>
        <p:txBody>
          <a:bodyPr/>
          <a:lstStyle/>
          <a:p>
            <a:fld id="{C1FF6DA9-008F-8B48-92A6-B652298478BF}" type="slidenum">
              <a:rPr lang="en-US" sz="3200" smtClean="0">
                <a:solidFill>
                  <a:schemeClr val="bg1"/>
                </a:solidFill>
              </a:rPr>
              <a:t>8</a:t>
            </a:fld>
            <a:endParaRPr lang="en-US" sz="3200" dirty="0">
              <a:solidFill>
                <a:schemeClr val="bg1"/>
              </a:solidFill>
            </a:endParaRPr>
          </a:p>
        </p:txBody>
      </p:sp>
    </p:spTree>
    <p:extLst>
      <p:ext uri="{BB962C8B-B14F-4D97-AF65-F5344CB8AC3E}">
        <p14:creationId xmlns:p14="http://schemas.microsoft.com/office/powerpoint/2010/main" val="2770389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436" y="136526"/>
            <a:ext cx="12412372" cy="680598"/>
          </a:xfrm>
        </p:spPr>
        <p:txBody>
          <a:bodyPr>
            <a:noAutofit/>
          </a:bodyPr>
          <a:lstStyle/>
          <a:p>
            <a:pPr>
              <a:lnSpc>
                <a:spcPct val="90000"/>
              </a:lnSpc>
            </a:pPr>
            <a:r>
              <a:rPr lang="ru-RU" sz="4800" dirty="0" err="1"/>
              <a:t>Аналіз</a:t>
            </a:r>
            <a:r>
              <a:rPr lang="ru-RU" sz="4800" dirty="0"/>
              <a:t> задач та </a:t>
            </a:r>
            <a:r>
              <a:rPr lang="ru-RU" sz="4800" dirty="0" err="1"/>
              <a:t>методів</a:t>
            </a:r>
            <a:r>
              <a:rPr lang="ru-RU" sz="4800" dirty="0"/>
              <a:t> ДІПДО</a:t>
            </a:r>
          </a:p>
        </p:txBody>
      </p:sp>
      <p:sp>
        <p:nvSpPr>
          <p:cNvPr id="3" name="Content Placeholder 2"/>
          <p:cNvSpPr>
            <a:spLocks noGrp="1"/>
          </p:cNvSpPr>
          <p:nvPr>
            <p:ph idx="1"/>
          </p:nvPr>
        </p:nvSpPr>
        <p:spPr>
          <a:xfrm>
            <a:off x="-344244" y="817125"/>
            <a:ext cx="12405180" cy="5807412"/>
          </a:xfrm>
        </p:spPr>
        <p:txBody>
          <a:bodyPr>
            <a:noAutofit/>
          </a:bodyPr>
          <a:lstStyle/>
          <a:p>
            <a:pPr>
              <a:lnSpc>
                <a:spcPct val="90000"/>
              </a:lnSpc>
            </a:pPr>
            <a:r>
              <a:rPr lang="uk-UA" sz="4400" dirty="0"/>
              <a:t>Динамічні об'єкти: складні багатовимірні системи, стан яких безперервно змінюється в часі</a:t>
            </a:r>
          </a:p>
          <a:p>
            <a:pPr>
              <a:lnSpc>
                <a:spcPct val="90000"/>
              </a:lnSpc>
            </a:pPr>
            <a:r>
              <a:rPr lang="uk-UA" sz="4400" dirty="0"/>
              <a:t>Основні групи параметрів: просторові, кінематичні, структурні</a:t>
            </a:r>
          </a:p>
          <a:p>
            <a:pPr>
              <a:lnSpc>
                <a:spcPct val="90000"/>
              </a:lnSpc>
            </a:pPr>
            <a:r>
              <a:rPr lang="uk-UA" sz="4400" dirty="0"/>
              <a:t>Еволюція методів: від класичних (</a:t>
            </a:r>
            <a:r>
              <a:rPr lang="en-US" sz="4400" dirty="0"/>
              <a:t>Viola-Jones, HOG, DPM) </a:t>
            </a:r>
            <a:r>
              <a:rPr lang="uk-UA" sz="4400" dirty="0"/>
              <a:t>до сучасних (</a:t>
            </a:r>
            <a:r>
              <a:rPr lang="en-US" sz="4400" dirty="0"/>
              <a:t>CNN, </a:t>
            </a:r>
            <a:r>
              <a:rPr lang="uk-UA" sz="4400" dirty="0" err="1"/>
              <a:t>трансформери</a:t>
            </a:r>
            <a:r>
              <a:rPr lang="uk-UA" sz="4400" dirty="0"/>
              <a:t> </a:t>
            </a:r>
            <a:r>
              <a:rPr lang="en-US" sz="4400" dirty="0"/>
              <a:t>DETR, YOLO)</a:t>
            </a:r>
          </a:p>
          <a:p>
            <a:pPr>
              <a:lnSpc>
                <a:spcPct val="90000"/>
              </a:lnSpc>
            </a:pPr>
            <a:r>
              <a:rPr lang="uk-UA" sz="4400" dirty="0"/>
              <a:t>Інформаційні технології: комп'ютерний зір, глибоке навчання, ансамблеві методи</a:t>
            </a:r>
          </a:p>
        </p:txBody>
      </p:sp>
      <p:sp>
        <p:nvSpPr>
          <p:cNvPr id="4" name="Місце для номера слайда 3">
            <a:extLst>
              <a:ext uri="{FF2B5EF4-FFF2-40B4-BE49-F238E27FC236}">
                <a16:creationId xmlns:a16="http://schemas.microsoft.com/office/drawing/2014/main" id="{E3B57CEE-53D9-B0BF-C499-90665A863927}"/>
              </a:ext>
            </a:extLst>
          </p:cNvPr>
          <p:cNvSpPr>
            <a:spLocks noGrp="1"/>
          </p:cNvSpPr>
          <p:nvPr>
            <p:ph type="sldNum" sz="quarter" idx="12"/>
          </p:nvPr>
        </p:nvSpPr>
        <p:spPr/>
        <p:txBody>
          <a:bodyPr/>
          <a:lstStyle/>
          <a:p>
            <a:fld id="{C1FF6DA9-008F-8B48-92A6-B652298478BF}" type="slidenum">
              <a:rPr lang="en-US" sz="3200" smtClean="0"/>
              <a:t>9</a:t>
            </a:fld>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814" y="0"/>
            <a:ext cx="12085320" cy="1505883"/>
          </a:xfrm>
        </p:spPr>
        <p:txBody>
          <a:bodyPr anchor="ctr">
            <a:normAutofit/>
          </a:bodyPr>
          <a:lstStyle/>
          <a:p>
            <a:pPr>
              <a:lnSpc>
                <a:spcPct val="90000"/>
              </a:lnSpc>
            </a:pPr>
            <a:r>
              <a:rPr lang="uk-UA" sz="4800" dirty="0"/>
              <a:t>Класифікація параметрів динамічних об'єктів</a:t>
            </a:r>
          </a:p>
        </p:txBody>
      </p:sp>
      <p:sp>
        <p:nvSpPr>
          <p:cNvPr id="4" name="Місце для номера слайда 3">
            <a:extLst>
              <a:ext uri="{FF2B5EF4-FFF2-40B4-BE49-F238E27FC236}">
                <a16:creationId xmlns:a16="http://schemas.microsoft.com/office/drawing/2014/main" id="{0EF7CED6-350F-C932-3929-B4D78FDFDB07}"/>
              </a:ext>
            </a:extLst>
          </p:cNvPr>
          <p:cNvSpPr>
            <a:spLocks noGrp="1"/>
          </p:cNvSpPr>
          <p:nvPr>
            <p:ph type="sldNum" sz="quarter" idx="12"/>
          </p:nvPr>
        </p:nvSpPr>
        <p:spPr/>
        <p:txBody>
          <a:bodyPr/>
          <a:lstStyle/>
          <a:p>
            <a:fld id="{C1FF6DA9-008F-8B48-92A6-B652298478BF}" type="slidenum">
              <a:rPr lang="en-US" sz="3200" smtClean="0"/>
              <a:t>10</a:t>
            </a:fld>
            <a:endParaRPr lang="en-US" sz="320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440714417"/>
                  </p:ext>
                </p:extLst>
              </p:nvPr>
            </p:nvGraphicFramePr>
            <p:xfrm>
              <a:off x="51814" y="1269402"/>
              <a:ext cx="12085320" cy="5086948"/>
            </p:xfrm>
            <a:graphic>
              <a:graphicData uri="http://schemas.openxmlformats.org/drawingml/2006/table">
                <a:tbl>
                  <a:tblPr firstRow="1" bandRow="1">
                    <a:tableStyleId>{5C22544A-7EE6-4342-B048-85BDC9FD1C3A}</a:tableStyleId>
                  </a:tblPr>
                  <a:tblGrid>
                    <a:gridCol w="3011192">
                      <a:extLst>
                        <a:ext uri="{9D8B030D-6E8A-4147-A177-3AD203B41FA5}">
                          <a16:colId xmlns:a16="http://schemas.microsoft.com/office/drawing/2014/main" val="20000"/>
                        </a:ext>
                      </a:extLst>
                    </a:gridCol>
                    <a:gridCol w="9074128">
                      <a:extLst>
                        <a:ext uri="{9D8B030D-6E8A-4147-A177-3AD203B41FA5}">
                          <a16:colId xmlns:a16="http://schemas.microsoft.com/office/drawing/2014/main" val="20001"/>
                        </a:ext>
                      </a:extLst>
                    </a:gridCol>
                  </a:tblGrid>
                  <a:tr h="841450">
                    <a:tc>
                      <a:txBody>
                        <a:bodyPr/>
                        <a:lstStyle/>
                        <a:p>
                          <a:pPr>
                            <a:defRPr b="1"/>
                          </a:pPr>
                          <a:r>
                            <a:rPr lang="uk-UA" sz="4000" dirty="0"/>
                            <a:t>Категорія</a:t>
                          </a:r>
                        </a:p>
                      </a:txBody>
                      <a:tcPr marL="166958" marR="166958" marT="83479" marB="83479"/>
                    </a:tc>
                    <a:tc>
                      <a:txBody>
                        <a:bodyPr/>
                        <a:lstStyle/>
                        <a:p>
                          <a:pPr>
                            <a:defRPr b="1"/>
                          </a:pPr>
                          <a:r>
                            <a:rPr lang="uk-UA" sz="4000" dirty="0"/>
                            <a:t>Параметри</a:t>
                          </a:r>
                        </a:p>
                      </a:txBody>
                      <a:tcPr marL="166958" marR="166958" marT="83479" marB="83479"/>
                    </a:tc>
                    <a:extLst>
                      <a:ext uri="{0D108BD9-81ED-4DB2-BD59-A6C34878D82A}">
                        <a16:rowId xmlns:a16="http://schemas.microsoft.com/office/drawing/2014/main" val="10000"/>
                      </a:ext>
                    </a:extLst>
                  </a:tr>
                  <a:tr h="1415166">
                    <a:tc>
                      <a:txBody>
                        <a:bodyPr/>
                        <a:lstStyle/>
                        <a:p>
                          <a:r>
                            <a:rPr lang="uk-UA" sz="4000"/>
                            <a:t>Просторові</a:t>
                          </a:r>
                        </a:p>
                      </a:txBody>
                      <a:tcPr marL="166958" marR="166958" marT="83479" marB="83479"/>
                    </a:tc>
                    <a:tc>
                      <a:txBody>
                        <a:bodyPr/>
                        <a:lstStyle/>
                        <a:p>
                          <a:r>
                            <a:rPr lang="uk-UA" sz="4000" dirty="0"/>
                            <a:t>Координати </a:t>
                          </a:r>
                          <a14:m>
                            <m:oMath xmlns:m="http://schemas.openxmlformats.org/officeDocument/2006/math">
                              <m:r>
                                <a:rPr lang="uk-UA" sz="4000" i="1" dirty="0" smtClean="0">
                                  <a:latin typeface="Cambria Math" panose="02040503050406030204" pitchFamily="18" charset="0"/>
                                </a:rPr>
                                <m:t>(</m:t>
                              </m:r>
                              <m:r>
                                <a:rPr lang="en-US" sz="4000" i="1" dirty="0" err="1" smtClean="0">
                                  <a:latin typeface="Cambria Math" panose="02040503050406030204" pitchFamily="18" charset="0"/>
                                </a:rPr>
                                <m:t>𝑥</m:t>
                              </m:r>
                              <m:r>
                                <a:rPr lang="en-US" sz="4000" i="1" dirty="0" err="1" smtClean="0">
                                  <a:latin typeface="Cambria Math" panose="02040503050406030204" pitchFamily="18" charset="0"/>
                                </a:rPr>
                                <m:t>,</m:t>
                              </m:r>
                              <m:r>
                                <a:rPr lang="en-US" sz="4000" i="1" dirty="0" err="1" smtClean="0">
                                  <a:latin typeface="Cambria Math" panose="02040503050406030204" pitchFamily="18" charset="0"/>
                                </a:rPr>
                                <m:t>𝑦</m:t>
                              </m:r>
                              <m:r>
                                <a:rPr lang="en-US" sz="4000" i="1" dirty="0" err="1" smtClean="0">
                                  <a:latin typeface="Cambria Math" panose="02040503050406030204" pitchFamily="18" charset="0"/>
                                </a:rPr>
                                <m:t>,</m:t>
                              </m:r>
                              <m:r>
                                <a:rPr lang="en-US" sz="4000" i="1" dirty="0" err="1" smtClean="0">
                                  <a:latin typeface="Cambria Math" panose="02040503050406030204" pitchFamily="18" charset="0"/>
                                </a:rPr>
                                <m:t>𝑧</m:t>
                              </m:r>
                              <m:r>
                                <a:rPr lang="en-US" sz="4000" i="1" dirty="0" smtClean="0">
                                  <a:latin typeface="Cambria Math" panose="02040503050406030204" pitchFamily="18" charset="0"/>
                                </a:rPr>
                                <m:t>)</m:t>
                              </m:r>
                            </m:oMath>
                          </a14:m>
                          <a:r>
                            <a:rPr lang="en-US" sz="4000" dirty="0"/>
                            <a:t>, </a:t>
                          </a:r>
                          <a:r>
                            <a:rPr lang="uk-UA" sz="4000" dirty="0"/>
                            <a:t>глибина, розміри </a:t>
                          </a:r>
                          <a14:m>
                            <m:oMath xmlns:m="http://schemas.openxmlformats.org/officeDocument/2006/math">
                              <m:r>
                                <a:rPr lang="uk-UA" sz="4000" i="1" dirty="0" smtClean="0">
                                  <a:latin typeface="Cambria Math" panose="02040503050406030204" pitchFamily="18" charset="0"/>
                                </a:rPr>
                                <m:t>(</m:t>
                              </m:r>
                              <m:r>
                                <a:rPr lang="en-US" sz="4000" i="1" dirty="0" err="1" smtClean="0">
                                  <a:latin typeface="Cambria Math" panose="02040503050406030204" pitchFamily="18" charset="0"/>
                                </a:rPr>
                                <m:t>𝑤</m:t>
                              </m:r>
                              <m:r>
                                <a:rPr lang="en-US" sz="4000" i="1" dirty="0" err="1" smtClean="0">
                                  <a:latin typeface="Cambria Math" panose="02040503050406030204" pitchFamily="18" charset="0"/>
                                </a:rPr>
                                <m:t>,</m:t>
                              </m:r>
                              <m:r>
                                <a:rPr lang="en-US" sz="4000" i="1" dirty="0" err="1" smtClean="0">
                                  <a:latin typeface="Cambria Math" panose="02040503050406030204" pitchFamily="18" charset="0"/>
                                </a:rPr>
                                <m:t>h</m:t>
                              </m:r>
                              <m:r>
                                <a:rPr lang="en-US" sz="4000" i="1" dirty="0" smtClean="0">
                                  <a:latin typeface="Cambria Math" panose="02040503050406030204" pitchFamily="18" charset="0"/>
                                </a:rPr>
                                <m:t>)</m:t>
                              </m:r>
                            </m:oMath>
                          </a14:m>
                          <a:r>
                            <a:rPr lang="en-US" sz="4000" dirty="0"/>
                            <a:t>, </a:t>
                          </a:r>
                          <a:r>
                            <a:rPr lang="uk-UA" sz="4000" dirty="0"/>
                            <a:t>орієнтація</a:t>
                          </a:r>
                        </a:p>
                      </a:txBody>
                      <a:tcPr marL="166958" marR="166958" marT="83479" marB="83479"/>
                    </a:tc>
                    <a:extLst>
                      <a:ext uri="{0D108BD9-81ED-4DB2-BD59-A6C34878D82A}">
                        <a16:rowId xmlns:a16="http://schemas.microsoft.com/office/drawing/2014/main" val="10001"/>
                      </a:ext>
                    </a:extLst>
                  </a:tr>
                  <a:tr h="1415166">
                    <a:tc>
                      <a:txBody>
                        <a:bodyPr/>
                        <a:lstStyle/>
                        <a:p>
                          <a:r>
                            <a:rPr lang="uk-UA" sz="4000"/>
                            <a:t>Кінематичні</a:t>
                          </a:r>
                        </a:p>
                      </a:txBody>
                      <a:tcPr marL="166958" marR="166958" marT="83479" marB="83479"/>
                    </a:tc>
                    <a:tc>
                      <a:txBody>
                        <a:bodyPr/>
                        <a:lstStyle/>
                        <a:p>
                          <a:r>
                            <a:rPr lang="ru-RU" sz="4000" dirty="0" err="1"/>
                            <a:t>Швидкість</a:t>
                          </a:r>
                          <a:r>
                            <a:rPr lang="ru-RU" sz="4000" dirty="0"/>
                            <a:t> (</a:t>
                          </a:r>
                          <a14:m>
                            <m:oMath xmlns:m="http://schemas.openxmlformats.org/officeDocument/2006/math">
                              <m:r>
                                <a:rPr lang="ru-RU" sz="4000" i="1" dirty="0" smtClean="0">
                                  <a:latin typeface="Cambria Math" panose="02040503050406030204" pitchFamily="18" charset="0"/>
                                </a:rPr>
                                <m:t>𝑣</m:t>
                              </m:r>
                            </m:oMath>
                          </a14:m>
                          <a:r>
                            <a:rPr lang="ru-RU" sz="4000" dirty="0"/>
                            <a:t>), </a:t>
                          </a:r>
                          <a:r>
                            <a:rPr lang="ru-RU" sz="4000" dirty="0" err="1"/>
                            <a:t>прискорення</a:t>
                          </a:r>
                          <a:r>
                            <a:rPr lang="ru-RU" sz="4000" dirty="0"/>
                            <a:t> (</a:t>
                          </a:r>
                          <a14:m>
                            <m:oMath xmlns:m="http://schemas.openxmlformats.org/officeDocument/2006/math">
                              <m:r>
                                <a:rPr lang="ru-RU" sz="4000" i="1" dirty="0" smtClean="0">
                                  <a:latin typeface="Cambria Math" panose="02040503050406030204" pitchFamily="18" charset="0"/>
                                </a:rPr>
                                <m:t>𝑎</m:t>
                              </m:r>
                            </m:oMath>
                          </a14:m>
                          <a:r>
                            <a:rPr lang="ru-RU" sz="4000" dirty="0"/>
                            <a:t>), </a:t>
                          </a:r>
                          <a:r>
                            <a:rPr lang="ru-RU" sz="4000" dirty="0" err="1"/>
                            <a:t>напрям</a:t>
                          </a:r>
                          <a:r>
                            <a:rPr lang="ru-RU" sz="4000" dirty="0"/>
                            <a:t> руху (</a:t>
                          </a:r>
                          <a14:m>
                            <m:oMath xmlns:m="http://schemas.openxmlformats.org/officeDocument/2006/math">
                              <m:r>
                                <a:rPr lang="ru-RU" sz="4000" i="1" dirty="0" smtClean="0">
                                  <a:latin typeface="Cambria Math" panose="02040503050406030204" pitchFamily="18" charset="0"/>
                                </a:rPr>
                                <m:t>𝜃</m:t>
                              </m:r>
                            </m:oMath>
                          </a14:m>
                          <a:r>
                            <a:rPr lang="ru-RU" sz="4000" dirty="0"/>
                            <a:t>), </a:t>
                          </a:r>
                          <a:r>
                            <a:rPr lang="ru-RU" sz="4000" dirty="0" err="1"/>
                            <a:t>траєкторія</a:t>
                          </a:r>
                          <a:r>
                            <a:rPr lang="ru-RU" sz="4000" dirty="0"/>
                            <a:t> (</a:t>
                          </a:r>
                          <a14:m>
                            <m:oMath xmlns:m="http://schemas.openxmlformats.org/officeDocument/2006/math">
                              <m:r>
                                <a:rPr lang="ru-RU" sz="4000" i="1" dirty="0" smtClean="0">
                                  <a:latin typeface="Cambria Math" panose="02040503050406030204" pitchFamily="18" charset="0"/>
                                </a:rPr>
                                <m:t>𝑇</m:t>
                              </m:r>
                            </m:oMath>
                          </a14:m>
                          <a:r>
                            <a:rPr lang="ru-RU" sz="4000" dirty="0"/>
                            <a:t>)</a:t>
                          </a:r>
                        </a:p>
                      </a:txBody>
                      <a:tcPr marL="166958" marR="166958" marT="83479" marB="83479"/>
                    </a:tc>
                    <a:extLst>
                      <a:ext uri="{0D108BD9-81ED-4DB2-BD59-A6C34878D82A}">
                        <a16:rowId xmlns:a16="http://schemas.microsoft.com/office/drawing/2014/main" val="10002"/>
                      </a:ext>
                    </a:extLst>
                  </a:tr>
                  <a:tr h="1415166">
                    <a:tc>
                      <a:txBody>
                        <a:bodyPr/>
                        <a:lstStyle/>
                        <a:p>
                          <a:r>
                            <a:rPr lang="uk-UA" sz="4000"/>
                            <a:t>Структурні</a:t>
                          </a:r>
                        </a:p>
                      </a:txBody>
                      <a:tcPr marL="166958" marR="166958" marT="83479" marB="83479"/>
                    </a:tc>
                    <a:tc>
                      <a:txBody>
                        <a:bodyPr/>
                        <a:lstStyle/>
                        <a:p>
                          <a:r>
                            <a:rPr lang="ru-RU" sz="4000" dirty="0"/>
                            <a:t>Контур, </a:t>
                          </a:r>
                          <a:r>
                            <a:rPr lang="ru-RU" sz="4000" dirty="0" err="1"/>
                            <a:t>площа</a:t>
                          </a:r>
                          <a:r>
                            <a:rPr lang="ru-RU" sz="4000" dirty="0"/>
                            <a:t> (</a:t>
                          </a:r>
                          <a14:m>
                            <m:oMath xmlns:m="http://schemas.openxmlformats.org/officeDocument/2006/math">
                              <m:r>
                                <a:rPr lang="ru-RU" sz="4000" i="1" dirty="0" smtClean="0">
                                  <a:latin typeface="Cambria Math" panose="02040503050406030204" pitchFamily="18" charset="0"/>
                                </a:rPr>
                                <m:t>𝑆</m:t>
                              </m:r>
                            </m:oMath>
                          </a14:m>
                          <a:r>
                            <a:rPr lang="ru-RU" sz="4000" dirty="0"/>
                            <a:t>), </a:t>
                          </a:r>
                          <a:r>
                            <a:rPr lang="ru-RU" sz="4000" dirty="0" err="1"/>
                            <a:t>клас</a:t>
                          </a:r>
                          <a:r>
                            <a:rPr lang="ru-RU" sz="4000" dirty="0"/>
                            <a:t> </a:t>
                          </a:r>
                          <a:r>
                            <a:rPr lang="ru-RU" sz="4000" dirty="0" err="1"/>
                            <a:t>об'єкта</a:t>
                          </a:r>
                          <a:r>
                            <a:rPr lang="ru-RU" sz="4000" dirty="0"/>
                            <a:t>, </a:t>
                          </a:r>
                          <a:r>
                            <a:rPr lang="ru-RU" sz="4000" dirty="0" err="1"/>
                            <a:t>ознаки</a:t>
                          </a:r>
                          <a:r>
                            <a:rPr lang="ru-RU" sz="4000" dirty="0"/>
                            <a:t> </a:t>
                          </a:r>
                          <a:r>
                            <a:rPr lang="ru-RU" sz="4000" dirty="0" err="1"/>
                            <a:t>форми</a:t>
                          </a:r>
                          <a:endParaRPr lang="ru-RU" sz="4000" dirty="0"/>
                        </a:p>
                      </a:txBody>
                      <a:tcPr marL="166958" marR="166958" marT="83479" marB="83479"/>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440714417"/>
                  </p:ext>
                </p:extLst>
              </p:nvPr>
            </p:nvGraphicFramePr>
            <p:xfrm>
              <a:off x="51814" y="1269402"/>
              <a:ext cx="12085320" cy="5086948"/>
            </p:xfrm>
            <a:graphic>
              <a:graphicData uri="http://schemas.openxmlformats.org/drawingml/2006/table">
                <a:tbl>
                  <a:tblPr firstRow="1" bandRow="1">
                    <a:tableStyleId>{5C22544A-7EE6-4342-B048-85BDC9FD1C3A}</a:tableStyleId>
                  </a:tblPr>
                  <a:tblGrid>
                    <a:gridCol w="3011192">
                      <a:extLst>
                        <a:ext uri="{9D8B030D-6E8A-4147-A177-3AD203B41FA5}">
                          <a16:colId xmlns:a16="http://schemas.microsoft.com/office/drawing/2014/main" val="20000"/>
                        </a:ext>
                      </a:extLst>
                    </a:gridCol>
                    <a:gridCol w="9074128">
                      <a:extLst>
                        <a:ext uri="{9D8B030D-6E8A-4147-A177-3AD203B41FA5}">
                          <a16:colId xmlns:a16="http://schemas.microsoft.com/office/drawing/2014/main" val="20001"/>
                        </a:ext>
                      </a:extLst>
                    </a:gridCol>
                  </a:tblGrid>
                  <a:tr h="841450">
                    <a:tc>
                      <a:txBody>
                        <a:bodyPr/>
                        <a:lstStyle/>
                        <a:p>
                          <a:pPr>
                            <a:defRPr b="1"/>
                          </a:pPr>
                          <a:r>
                            <a:rPr lang="uk-UA" sz="4000" dirty="0"/>
                            <a:t>Категорія</a:t>
                          </a:r>
                        </a:p>
                      </a:txBody>
                      <a:tcPr marL="166958" marR="166958" marT="83479" marB="83479"/>
                    </a:tc>
                    <a:tc>
                      <a:txBody>
                        <a:bodyPr/>
                        <a:lstStyle/>
                        <a:p>
                          <a:pPr>
                            <a:defRPr b="1"/>
                          </a:pPr>
                          <a:r>
                            <a:rPr lang="uk-UA" sz="4000" dirty="0"/>
                            <a:t>Параметри</a:t>
                          </a:r>
                        </a:p>
                      </a:txBody>
                      <a:tcPr marL="166958" marR="166958" marT="83479" marB="83479"/>
                    </a:tc>
                    <a:extLst>
                      <a:ext uri="{0D108BD9-81ED-4DB2-BD59-A6C34878D82A}">
                        <a16:rowId xmlns:a16="http://schemas.microsoft.com/office/drawing/2014/main" val="10000"/>
                      </a:ext>
                    </a:extLst>
                  </a:tr>
                  <a:tr h="1415166">
                    <a:tc>
                      <a:txBody>
                        <a:bodyPr/>
                        <a:lstStyle/>
                        <a:p>
                          <a:r>
                            <a:rPr lang="uk-UA" sz="4000"/>
                            <a:t>Просторові</a:t>
                          </a:r>
                        </a:p>
                      </a:txBody>
                      <a:tcPr marL="166958" marR="166958" marT="83479" marB="83479"/>
                    </a:tc>
                    <a:tc>
                      <a:txBody>
                        <a:bodyPr/>
                        <a:lstStyle/>
                        <a:p>
                          <a:endParaRPr lang="en-US"/>
                        </a:p>
                      </a:txBody>
                      <a:tcPr marL="166958" marR="166958" marT="83479" marB="83479">
                        <a:blipFill>
                          <a:blip r:embed="rId3"/>
                          <a:stretch>
                            <a:fillRect l="-33244" t="-64655" r="-336" b="-214224"/>
                          </a:stretch>
                        </a:blipFill>
                      </a:tcPr>
                    </a:tc>
                    <a:extLst>
                      <a:ext uri="{0D108BD9-81ED-4DB2-BD59-A6C34878D82A}">
                        <a16:rowId xmlns:a16="http://schemas.microsoft.com/office/drawing/2014/main" val="10001"/>
                      </a:ext>
                    </a:extLst>
                  </a:tr>
                  <a:tr h="1415166">
                    <a:tc>
                      <a:txBody>
                        <a:bodyPr/>
                        <a:lstStyle/>
                        <a:p>
                          <a:r>
                            <a:rPr lang="uk-UA" sz="4000"/>
                            <a:t>Кінематичні</a:t>
                          </a:r>
                        </a:p>
                      </a:txBody>
                      <a:tcPr marL="166958" marR="166958" marT="83479" marB="83479"/>
                    </a:tc>
                    <a:tc>
                      <a:txBody>
                        <a:bodyPr/>
                        <a:lstStyle/>
                        <a:p>
                          <a:endParaRPr lang="en-US"/>
                        </a:p>
                      </a:txBody>
                      <a:tcPr marL="166958" marR="166958" marT="83479" marB="83479">
                        <a:blipFill>
                          <a:blip r:embed="rId3"/>
                          <a:stretch>
                            <a:fillRect l="-33244" t="-163948" r="-336" b="-113305"/>
                          </a:stretch>
                        </a:blipFill>
                      </a:tcPr>
                    </a:tc>
                    <a:extLst>
                      <a:ext uri="{0D108BD9-81ED-4DB2-BD59-A6C34878D82A}">
                        <a16:rowId xmlns:a16="http://schemas.microsoft.com/office/drawing/2014/main" val="10002"/>
                      </a:ext>
                    </a:extLst>
                  </a:tr>
                  <a:tr h="1415166">
                    <a:tc>
                      <a:txBody>
                        <a:bodyPr/>
                        <a:lstStyle/>
                        <a:p>
                          <a:r>
                            <a:rPr lang="uk-UA" sz="4000"/>
                            <a:t>Структурні</a:t>
                          </a:r>
                        </a:p>
                      </a:txBody>
                      <a:tcPr marL="166958" marR="166958" marT="83479" marB="83479"/>
                    </a:tc>
                    <a:tc>
                      <a:txBody>
                        <a:bodyPr/>
                        <a:lstStyle/>
                        <a:p>
                          <a:endParaRPr lang="en-US"/>
                        </a:p>
                      </a:txBody>
                      <a:tcPr marL="166958" marR="166958" marT="83479" marB="83479">
                        <a:blipFill>
                          <a:blip r:embed="rId3"/>
                          <a:stretch>
                            <a:fillRect l="-33244" t="-265086" r="-336" b="-13793"/>
                          </a:stretch>
                        </a:blipFill>
                      </a:tcPr>
                    </a:tc>
                    <a:extLst>
                      <a:ext uri="{0D108BD9-81ED-4DB2-BD59-A6C34878D82A}">
                        <a16:rowId xmlns:a16="http://schemas.microsoft.com/office/drawing/2014/main" val="10003"/>
                      </a:ext>
                    </a:extLst>
                  </a:tr>
                </a:tbl>
              </a:graphicData>
            </a:graphic>
          </p:graphicFram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568829F-E8C9-6F11-5A2D-21D89398954A}"/>
              </a:ext>
            </a:extLst>
          </p:cNvPr>
          <p:cNvPicPr>
            <a:picLocks noGrp="1" noChangeAspect="1"/>
          </p:cNvPicPr>
          <p:nvPr>
            <p:ph idx="1"/>
          </p:nvPr>
        </p:nvPicPr>
        <p:blipFill>
          <a:blip r:embed="rId3"/>
          <a:stretch>
            <a:fillRect/>
          </a:stretch>
        </p:blipFill>
        <p:spPr>
          <a:xfrm>
            <a:off x="321875" y="467894"/>
            <a:ext cx="3085218" cy="6276863"/>
          </a:xfrm>
          <a:prstGeom prst="rect">
            <a:avLst/>
          </a:prstGeom>
        </p:spPr>
      </p:pic>
      <p:sp>
        <p:nvSpPr>
          <p:cNvPr id="4" name="Slide Number Placeholder 3">
            <a:extLst>
              <a:ext uri="{FF2B5EF4-FFF2-40B4-BE49-F238E27FC236}">
                <a16:creationId xmlns:a16="http://schemas.microsoft.com/office/drawing/2014/main" id="{D6E819B0-B72B-0EC3-DFFF-9A55166BB86D}"/>
              </a:ext>
            </a:extLst>
          </p:cNvPr>
          <p:cNvSpPr>
            <a:spLocks noGrp="1"/>
          </p:cNvSpPr>
          <p:nvPr>
            <p:ph type="sldNum" sz="quarter" idx="12"/>
          </p:nvPr>
        </p:nvSpPr>
        <p:spPr/>
        <p:txBody>
          <a:bodyPr/>
          <a:lstStyle/>
          <a:p>
            <a:fld id="{C1FF6DA9-008F-8B48-92A6-B652298478BF}" type="slidenum">
              <a:rPr lang="en-US" smtClean="0"/>
              <a:pPr/>
              <a:t>11</a:t>
            </a:fld>
            <a:endParaRPr lang="en-US" sz="3200" dirty="0"/>
          </a:p>
        </p:txBody>
      </p:sp>
      <p:pic>
        <p:nvPicPr>
          <p:cNvPr id="8" name="Picture 7">
            <a:extLst>
              <a:ext uri="{FF2B5EF4-FFF2-40B4-BE49-F238E27FC236}">
                <a16:creationId xmlns:a16="http://schemas.microsoft.com/office/drawing/2014/main" id="{C9D663B7-A183-0F07-4C9B-4123048654B0}"/>
              </a:ext>
            </a:extLst>
          </p:cNvPr>
          <p:cNvPicPr>
            <a:picLocks noChangeAspect="1"/>
          </p:cNvPicPr>
          <p:nvPr/>
        </p:nvPicPr>
        <p:blipFill>
          <a:blip r:embed="rId4"/>
          <a:stretch>
            <a:fillRect/>
          </a:stretch>
        </p:blipFill>
        <p:spPr>
          <a:xfrm>
            <a:off x="3575888" y="519988"/>
            <a:ext cx="4177878" cy="6338012"/>
          </a:xfrm>
          <a:prstGeom prst="rect">
            <a:avLst/>
          </a:prstGeom>
        </p:spPr>
      </p:pic>
      <p:pic>
        <p:nvPicPr>
          <p:cNvPr id="10" name="Picture 9">
            <a:extLst>
              <a:ext uri="{FF2B5EF4-FFF2-40B4-BE49-F238E27FC236}">
                <a16:creationId xmlns:a16="http://schemas.microsoft.com/office/drawing/2014/main" id="{0EA0B3C8-BF7B-96F5-2263-FD6F9EF46104}"/>
              </a:ext>
            </a:extLst>
          </p:cNvPr>
          <p:cNvPicPr>
            <a:picLocks noChangeAspect="1"/>
          </p:cNvPicPr>
          <p:nvPr/>
        </p:nvPicPr>
        <p:blipFill>
          <a:blip r:embed="rId5"/>
          <a:stretch>
            <a:fillRect/>
          </a:stretch>
        </p:blipFill>
        <p:spPr>
          <a:xfrm>
            <a:off x="8112868" y="467894"/>
            <a:ext cx="3869186" cy="6390105"/>
          </a:xfrm>
          <a:prstGeom prst="rect">
            <a:avLst/>
          </a:prstGeom>
        </p:spPr>
      </p:pic>
      <p:sp>
        <p:nvSpPr>
          <p:cNvPr id="5" name="TextBox 4">
            <a:extLst>
              <a:ext uri="{FF2B5EF4-FFF2-40B4-BE49-F238E27FC236}">
                <a16:creationId xmlns:a16="http://schemas.microsoft.com/office/drawing/2014/main" id="{9F783312-30D9-BD61-14BF-D291AEDF3604}"/>
              </a:ext>
            </a:extLst>
          </p:cNvPr>
          <p:cNvSpPr txBox="1"/>
          <p:nvPr/>
        </p:nvSpPr>
        <p:spPr>
          <a:xfrm>
            <a:off x="36488" y="0"/>
            <a:ext cx="12155511" cy="815608"/>
          </a:xfrm>
          <a:prstGeom prst="rect">
            <a:avLst/>
          </a:prstGeom>
          <a:noFill/>
        </p:spPr>
        <p:txBody>
          <a:bodyPr wrap="square">
            <a:spAutoFit/>
          </a:bodyPr>
          <a:lstStyle/>
          <a:p>
            <a:r>
              <a:rPr lang="ru-RU" sz="2300" dirty="0" err="1">
                <a:solidFill>
                  <a:srgbClr val="595959"/>
                </a:solidFill>
              </a:rPr>
              <a:t>Еволюція</a:t>
            </a:r>
            <a:r>
              <a:rPr lang="ru-RU" sz="2300" dirty="0">
                <a:solidFill>
                  <a:srgbClr val="595959"/>
                </a:solidFill>
              </a:rPr>
              <a:t> </a:t>
            </a:r>
            <a:r>
              <a:rPr lang="ru-RU" sz="2300" dirty="0" err="1">
                <a:solidFill>
                  <a:srgbClr val="595959"/>
                </a:solidFill>
              </a:rPr>
              <a:t>класичних</a:t>
            </a:r>
            <a:r>
              <a:rPr lang="ru-RU" sz="2300" dirty="0">
                <a:solidFill>
                  <a:srgbClr val="595959"/>
                </a:solidFill>
              </a:rPr>
              <a:t> </a:t>
            </a:r>
            <a:r>
              <a:rPr lang="ru-RU" sz="2300" dirty="0" err="1">
                <a:solidFill>
                  <a:srgbClr val="595959"/>
                </a:solidFill>
              </a:rPr>
              <a:t>методів</a:t>
            </a:r>
            <a:r>
              <a:rPr lang="ru-RU" sz="2300" dirty="0">
                <a:solidFill>
                  <a:srgbClr val="595959"/>
                </a:solidFill>
              </a:rPr>
              <a:t>, </a:t>
            </a:r>
            <a:r>
              <a:rPr lang="ru-RU" sz="2300" dirty="0" err="1">
                <a:solidFill>
                  <a:srgbClr val="595959"/>
                </a:solidFill>
              </a:rPr>
              <a:t>одноетапних</a:t>
            </a:r>
            <a:r>
              <a:rPr lang="ru-RU" sz="2300" dirty="0">
                <a:solidFill>
                  <a:srgbClr val="595959"/>
                </a:solidFill>
              </a:rPr>
              <a:t> та д</a:t>
            </a:r>
            <a:r>
              <a:rPr lang="uk-UA" sz="2300" dirty="0" err="1"/>
              <a:t>воетапних</a:t>
            </a:r>
            <a:r>
              <a:rPr lang="uk-UA" sz="2300" dirty="0"/>
              <a:t> </a:t>
            </a:r>
            <a:r>
              <a:rPr lang="uk-UA" sz="2300" dirty="0" err="1"/>
              <a:t>архітектур</a:t>
            </a:r>
            <a:r>
              <a:rPr lang="uk-UA" sz="2300" dirty="0"/>
              <a:t> </a:t>
            </a:r>
            <a:r>
              <a:rPr lang="en-US" sz="2300" dirty="0"/>
              <a:t>CNN</a:t>
            </a:r>
            <a:r>
              <a:rPr lang="uk-UA" sz="2300" dirty="0"/>
              <a:t> </a:t>
            </a:r>
            <a:r>
              <a:rPr lang="ru-RU" sz="2300" dirty="0" err="1">
                <a:solidFill>
                  <a:srgbClr val="595959"/>
                </a:solidFill>
              </a:rPr>
              <a:t>виявлення</a:t>
            </a:r>
            <a:r>
              <a:rPr lang="ru-RU" sz="2300" dirty="0">
                <a:solidFill>
                  <a:srgbClr val="595959"/>
                </a:solidFill>
              </a:rPr>
              <a:t> об</a:t>
            </a:r>
            <a:r>
              <a:rPr lang="en-US" sz="2300" dirty="0">
                <a:solidFill>
                  <a:srgbClr val="595959"/>
                </a:solidFill>
              </a:rPr>
              <a:t>`</a:t>
            </a:r>
            <a:r>
              <a:rPr lang="ru-RU" sz="2300" dirty="0" err="1">
                <a:solidFill>
                  <a:srgbClr val="595959"/>
                </a:solidFill>
              </a:rPr>
              <a:t>єктів</a:t>
            </a:r>
            <a:r>
              <a:rPr lang="ru-RU" sz="2300" dirty="0">
                <a:solidFill>
                  <a:srgbClr val="595959"/>
                </a:solidFill>
              </a:rPr>
              <a:t> </a:t>
            </a:r>
            <a:endParaRPr lang="en-US" sz="2300" dirty="0"/>
          </a:p>
          <a:p>
            <a:r>
              <a:rPr lang="ru-RU" sz="2400" dirty="0">
                <a:solidFill>
                  <a:srgbClr val="595959"/>
                </a:solidFill>
              </a:rPr>
              <a:t> </a:t>
            </a:r>
            <a:endParaRPr lang="en-US" sz="2400" dirty="0"/>
          </a:p>
        </p:txBody>
      </p:sp>
    </p:spTree>
    <p:extLst>
      <p:ext uri="{BB962C8B-B14F-4D97-AF65-F5344CB8AC3E}">
        <p14:creationId xmlns:p14="http://schemas.microsoft.com/office/powerpoint/2010/main" val="141580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4313" y="95245"/>
            <a:ext cx="11763373" cy="792495"/>
          </a:xfrm>
        </p:spPr>
        <p:txBody>
          <a:bodyPr>
            <a:normAutofit fontScale="90000"/>
          </a:bodyPr>
          <a:lstStyle/>
          <a:p>
            <a:r>
              <a:rPr lang="uk-UA" sz="5400" dirty="0"/>
              <a:t>Моделі рухомих об'єктів</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21013" y="887740"/>
                <a:ext cx="12513013" cy="4199826"/>
              </a:xfrm>
            </p:spPr>
            <p:txBody>
              <a:bodyPr>
                <a:noAutofit/>
              </a:bodyPr>
              <a:lstStyle/>
              <a:p>
                <a:pPr>
                  <a:lnSpc>
                    <a:spcPct val="90000"/>
                  </a:lnSpc>
                </a:pPr>
                <a:r>
                  <a:rPr lang="uk-UA" sz="4400" dirty="0"/>
                  <a:t>Структурна модель</a:t>
                </a:r>
                <a:endParaRPr lang="en-US" sz="4400" dirty="0"/>
              </a:p>
              <a:p>
                <a:pPr marL="0" indent="0">
                  <a:lnSpc>
                    <a:spcPct val="90000"/>
                  </a:lnSpc>
                  <a:buNone/>
                </a:pPr>
                <a14:m>
                  <m:oMathPara xmlns:m="http://schemas.openxmlformats.org/officeDocument/2006/math">
                    <m:oMathParaPr>
                      <m:jc m:val="centerGroup"/>
                    </m:oMathParaPr>
                    <m:oMath xmlns:m="http://schemas.openxmlformats.org/officeDocument/2006/math">
                      <m:r>
                        <m:rPr>
                          <m:sty m:val="p"/>
                        </m:rPr>
                        <a:rPr lang="el-GR" sz="4400" i="0" dirty="0" smtClean="0">
                          <a:latin typeface="Cambria Math" panose="02040503050406030204" pitchFamily="18" charset="0"/>
                        </a:rPr>
                        <m:t>Θ</m:t>
                      </m:r>
                      <m:r>
                        <a:rPr lang="el-GR" sz="4400" i="1" dirty="0">
                          <a:latin typeface="Cambria Math" panose="02040503050406030204" pitchFamily="18" charset="0"/>
                        </a:rPr>
                        <m:t>=</m:t>
                      </m:r>
                      <m:r>
                        <a:rPr lang="el-GR" sz="4400" i="1" dirty="0">
                          <a:latin typeface="Cambria Math" panose="02040503050406030204" pitchFamily="18" charset="0"/>
                        </a:rPr>
                        <m:t>ℱ</m:t>
                      </m:r>
                      <m:d>
                        <m:dPr>
                          <m:ctrlPr>
                            <a:rPr lang="ar-AE" sz="4400" i="1" dirty="0">
                              <a:latin typeface="Cambria Math" panose="02040503050406030204" pitchFamily="18" charset="0"/>
                            </a:rPr>
                          </m:ctrlPr>
                        </m:dPr>
                        <m:e>
                          <m:r>
                            <a:rPr lang="ar-AE" sz="4400" i="1" dirty="0">
                              <a:latin typeface="Cambria Math" panose="02040503050406030204" pitchFamily="18" charset="0"/>
                            </a:rPr>
                            <m:t>𝑉</m:t>
                          </m:r>
                          <m:d>
                            <m:dPr>
                              <m:ctrlPr>
                                <a:rPr lang="ar-AE" sz="4400" i="1" dirty="0">
                                  <a:latin typeface="Cambria Math" panose="02040503050406030204" pitchFamily="18" charset="0"/>
                                </a:rPr>
                              </m:ctrlPr>
                            </m:dPr>
                            <m:e>
                              <m:r>
                                <a:rPr lang="ar-AE" sz="4400" i="1" dirty="0" err="1">
                                  <a:latin typeface="Cambria Math" panose="02040503050406030204" pitchFamily="18" charset="0"/>
                                </a:rPr>
                                <m:t>𝑥</m:t>
                              </m:r>
                              <m:r>
                                <a:rPr lang="ar-AE" sz="4400" i="1" dirty="0" err="1">
                                  <a:latin typeface="Cambria Math" panose="02040503050406030204" pitchFamily="18" charset="0"/>
                                </a:rPr>
                                <m:t>,</m:t>
                              </m:r>
                              <m:r>
                                <a:rPr lang="ar-AE" sz="4400" i="1" dirty="0" err="1">
                                  <a:latin typeface="Cambria Math" panose="02040503050406030204" pitchFamily="18" charset="0"/>
                                </a:rPr>
                                <m:t>𝑦</m:t>
                              </m:r>
                              <m:r>
                                <a:rPr lang="ar-AE" sz="4400" i="1" dirty="0" err="1">
                                  <a:latin typeface="Cambria Math" panose="02040503050406030204" pitchFamily="18" charset="0"/>
                                </a:rPr>
                                <m:t>,</m:t>
                              </m:r>
                              <m:r>
                                <a:rPr lang="ar-AE" sz="4400" i="1" dirty="0" err="1">
                                  <a:latin typeface="Cambria Math" panose="02040503050406030204" pitchFamily="18" charset="0"/>
                                </a:rPr>
                                <m:t>𝑡</m:t>
                              </m:r>
                            </m:e>
                          </m:d>
                          <m:r>
                            <a:rPr lang="ar-AE" sz="4400" i="1" dirty="0">
                              <a:latin typeface="Cambria Math" panose="02040503050406030204" pitchFamily="18" charset="0"/>
                            </a:rPr>
                            <m:t>,</m:t>
                          </m:r>
                          <m:r>
                            <a:rPr lang="ar-AE" sz="4400" i="1" dirty="0">
                              <a:latin typeface="Cambria Math" panose="02040503050406030204" pitchFamily="18" charset="0"/>
                            </a:rPr>
                            <m:t>ℳ</m:t>
                          </m:r>
                          <m:r>
                            <a:rPr lang="ar-AE" sz="4400" i="1" dirty="0">
                              <a:latin typeface="Cambria Math" panose="02040503050406030204" pitchFamily="18" charset="0"/>
                            </a:rPr>
                            <m:t>,</m:t>
                          </m:r>
                          <m:r>
                            <a:rPr lang="ar-AE" sz="4400" i="1" dirty="0">
                              <a:latin typeface="Cambria Math" panose="02040503050406030204" pitchFamily="18" charset="0"/>
                            </a:rPr>
                            <m:t>𝒜</m:t>
                          </m:r>
                        </m:e>
                      </m:d>
                    </m:oMath>
                  </m:oMathPara>
                </a14:m>
                <a:endParaRPr lang="ar-AE" sz="4400" dirty="0"/>
              </a:p>
              <a:p>
                <a:pPr>
                  <a:lnSpc>
                    <a:spcPct val="90000"/>
                  </a:lnSpc>
                </a:pPr>
                <a:r>
                  <a:rPr lang="uk-UA" sz="4400" dirty="0"/>
                  <a:t>Вектор стану </a:t>
                </a:r>
                <a:endParaRPr lang="en-US" sz="4400" i="1" dirty="0">
                  <a:latin typeface="Cambria Math" panose="02040503050406030204" pitchFamily="18" charset="0"/>
                </a:endParaRPr>
              </a:p>
              <a:p>
                <a:pPr marL="0" indent="0">
                  <a:lnSpc>
                    <a:spcPct val="90000"/>
                  </a:lnSpc>
                  <a:buNone/>
                </a:pPr>
                <a14:m>
                  <m:oMathPara xmlns:m="http://schemas.openxmlformats.org/officeDocument/2006/math">
                    <m:oMathParaPr>
                      <m:jc m:val="centerGroup"/>
                    </m:oMathParaPr>
                    <m:oMath xmlns:m="http://schemas.openxmlformats.org/officeDocument/2006/math">
                      <m:r>
                        <a:rPr lang="uk-UA" sz="4400" i="1" dirty="0" smtClean="0">
                          <a:latin typeface="Cambria Math" panose="02040503050406030204" pitchFamily="18" charset="0"/>
                        </a:rPr>
                        <m:t>𝑆</m:t>
                      </m:r>
                      <m:d>
                        <m:dPr>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𝑡</m:t>
                          </m:r>
                        </m:e>
                      </m:d>
                      <m:r>
                        <a:rPr lang="ar-AE" sz="4400" i="1" dirty="0" smtClean="0">
                          <a:latin typeface="Cambria Math" panose="02040503050406030204" pitchFamily="18" charset="0"/>
                        </a:rPr>
                        <m:t>=</m:t>
                      </m:r>
                      <m:d>
                        <m:dPr>
                          <m:begChr m:val="["/>
                          <m:endChr m:val="]"/>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𝑥</m:t>
                          </m:r>
                          <m:d>
                            <m:dPr>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𝑡</m:t>
                              </m:r>
                            </m:e>
                          </m:d>
                          <m:r>
                            <a:rPr lang="ar-AE" sz="4400" i="1" dirty="0" smtClean="0">
                              <a:latin typeface="Cambria Math" panose="02040503050406030204" pitchFamily="18" charset="0"/>
                            </a:rPr>
                            <m:t>,</m:t>
                          </m:r>
                          <m:r>
                            <a:rPr lang="ar-AE" sz="4400" i="1" dirty="0" smtClean="0">
                              <a:latin typeface="Cambria Math" panose="02040503050406030204" pitchFamily="18" charset="0"/>
                            </a:rPr>
                            <m:t>𝑦</m:t>
                          </m:r>
                          <m:d>
                            <m:dPr>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𝑡</m:t>
                              </m:r>
                            </m:e>
                          </m:d>
                          <m:r>
                            <a:rPr lang="ar-AE" sz="4400" i="1" dirty="0" smtClean="0">
                              <a:latin typeface="Cambria Math" panose="02040503050406030204" pitchFamily="18" charset="0"/>
                            </a:rPr>
                            <m:t>,</m:t>
                          </m:r>
                          <m:sSub>
                            <m:sSubPr>
                              <m:ctrlPr>
                                <a:rPr lang="ar-AE" sz="4400" i="1" dirty="0" err="1" smtClean="0">
                                  <a:latin typeface="Cambria Math" panose="02040503050406030204" pitchFamily="18" charset="0"/>
                                </a:rPr>
                              </m:ctrlPr>
                            </m:sSubPr>
                            <m:e>
                              <m:r>
                                <a:rPr lang="ar-AE" sz="4400" i="1" dirty="0" err="1">
                                  <a:latin typeface="Cambria Math" panose="02040503050406030204" pitchFamily="18" charset="0"/>
                                </a:rPr>
                                <m:t>𝑣</m:t>
                              </m:r>
                            </m:e>
                            <m:sub>
                              <m:r>
                                <a:rPr lang="ar-AE" sz="4400" i="1" dirty="0" err="1">
                                  <a:latin typeface="Cambria Math" panose="02040503050406030204" pitchFamily="18" charset="0"/>
                                </a:rPr>
                                <m:t>𝑥</m:t>
                              </m:r>
                            </m:sub>
                          </m:sSub>
                          <m:d>
                            <m:dPr>
                              <m:ctrlPr>
                                <a:rPr lang="ar-AE" sz="4400" i="1" dirty="0">
                                  <a:latin typeface="Cambria Math" panose="02040503050406030204" pitchFamily="18" charset="0"/>
                                </a:rPr>
                              </m:ctrlPr>
                            </m:dPr>
                            <m:e>
                              <m:r>
                                <a:rPr lang="ar-AE" sz="4400" i="1" dirty="0">
                                  <a:latin typeface="Cambria Math" panose="02040503050406030204" pitchFamily="18" charset="0"/>
                                </a:rPr>
                                <m:t>𝑡</m:t>
                              </m:r>
                            </m:e>
                          </m:d>
                          <m:r>
                            <a:rPr lang="ar-AE" sz="4400" i="1" dirty="0">
                              <a:latin typeface="Cambria Math" panose="02040503050406030204" pitchFamily="18" charset="0"/>
                            </a:rPr>
                            <m:t>,</m:t>
                          </m:r>
                          <m:sSub>
                            <m:sSubPr>
                              <m:ctrlPr>
                                <a:rPr lang="ar-AE" sz="4400" i="1" dirty="0" err="1">
                                  <a:latin typeface="Cambria Math" panose="02040503050406030204" pitchFamily="18" charset="0"/>
                                </a:rPr>
                              </m:ctrlPr>
                            </m:sSubPr>
                            <m:e>
                              <m:r>
                                <a:rPr lang="ar-AE" sz="4400" i="1" dirty="0" err="1">
                                  <a:latin typeface="Cambria Math" panose="02040503050406030204" pitchFamily="18" charset="0"/>
                                </a:rPr>
                                <m:t>𝑣</m:t>
                              </m:r>
                            </m:e>
                            <m:sub>
                              <m:r>
                                <a:rPr lang="ar-AE" sz="4400" i="1" dirty="0" err="1">
                                  <a:latin typeface="Cambria Math" panose="02040503050406030204" pitchFamily="18" charset="0"/>
                                </a:rPr>
                                <m:t>𝑦</m:t>
                              </m:r>
                            </m:sub>
                          </m:sSub>
                          <m:d>
                            <m:dPr>
                              <m:ctrlPr>
                                <a:rPr lang="ar-AE" sz="4400" i="1" dirty="0">
                                  <a:latin typeface="Cambria Math" panose="02040503050406030204" pitchFamily="18" charset="0"/>
                                </a:rPr>
                              </m:ctrlPr>
                            </m:dPr>
                            <m:e>
                              <m:r>
                                <a:rPr lang="ar-AE" sz="4400" i="1" dirty="0">
                                  <a:latin typeface="Cambria Math" panose="02040503050406030204" pitchFamily="18" charset="0"/>
                                </a:rPr>
                                <m:t>𝑡</m:t>
                              </m:r>
                            </m:e>
                          </m:d>
                          <m:r>
                            <a:rPr lang="ar-AE" sz="4400" i="1" dirty="0">
                              <a:latin typeface="Cambria Math" panose="02040503050406030204" pitchFamily="18" charset="0"/>
                            </a:rPr>
                            <m:t>,</m:t>
                          </m:r>
                          <m:r>
                            <a:rPr lang="ar-AE" sz="4400" i="1" dirty="0">
                              <a:latin typeface="Cambria Math" panose="02040503050406030204" pitchFamily="18" charset="0"/>
                            </a:rPr>
                            <m:t>𝜃</m:t>
                          </m:r>
                          <m:d>
                            <m:dPr>
                              <m:ctrlPr>
                                <a:rPr lang="ar-AE" sz="4400" i="1" dirty="0">
                                  <a:latin typeface="Cambria Math" panose="02040503050406030204" pitchFamily="18" charset="0"/>
                                </a:rPr>
                              </m:ctrlPr>
                            </m:dPr>
                            <m:e>
                              <m:r>
                                <a:rPr lang="ar-AE" sz="4400" i="1" dirty="0">
                                  <a:latin typeface="Cambria Math" panose="02040503050406030204" pitchFamily="18" charset="0"/>
                                </a:rPr>
                                <m:t>𝑡</m:t>
                              </m:r>
                            </m:e>
                          </m:d>
                        </m:e>
                      </m:d>
                      <m:r>
                        <a:rPr lang="en-US" sz="4400" i="1" dirty="0">
                          <a:latin typeface="Cambria Math" panose="02040503050406030204" pitchFamily="18" charset="0"/>
                        </a:rPr>
                        <m:t>ᵀ</m:t>
                      </m:r>
                    </m:oMath>
                  </m:oMathPara>
                </a14:m>
                <a:endParaRPr lang="en-US" sz="4400" dirty="0"/>
              </a:p>
              <a:p>
                <a:pPr>
                  <a:lnSpc>
                    <a:spcPct val="90000"/>
                  </a:lnSpc>
                </a:pPr>
                <a:r>
                  <a:rPr lang="uk-UA" sz="4400" dirty="0"/>
                  <a:t>Модель рухомих об'єктів</a:t>
                </a:r>
                <a:endParaRPr lang="en-US" sz="4400" dirty="0"/>
              </a:p>
              <a:p>
                <a:pPr marL="0" indent="0">
                  <a:lnSpc>
                    <a:spcPct val="90000"/>
                  </a:lnSpc>
                  <a:buNone/>
                </a:pPr>
                <a14:m>
                  <m:oMathPara xmlns:m="http://schemas.openxmlformats.org/officeDocument/2006/math">
                    <m:oMathParaPr>
                      <m:jc m:val="centerGroup"/>
                    </m:oMathParaPr>
                    <m:oMath xmlns:m="http://schemas.openxmlformats.org/officeDocument/2006/math">
                      <m:r>
                        <a:rPr lang="en-US" sz="4400" i="1" dirty="0" smtClean="0">
                          <a:latin typeface="Cambria Math" panose="02040503050406030204" pitchFamily="18" charset="0"/>
                        </a:rPr>
                        <m:t>ṡ</m:t>
                      </m:r>
                      <m:d>
                        <m:dPr>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𝑡</m:t>
                          </m:r>
                        </m:e>
                      </m:d>
                      <m:r>
                        <a:rPr lang="ar-AE" sz="4400" i="1" dirty="0" smtClean="0">
                          <a:latin typeface="Cambria Math" panose="02040503050406030204" pitchFamily="18" charset="0"/>
                        </a:rPr>
                        <m:t>=</m:t>
                      </m:r>
                      <m:r>
                        <a:rPr lang="ar-AE" sz="4400" i="1" dirty="0" smtClean="0">
                          <a:latin typeface="Cambria Math" panose="02040503050406030204" pitchFamily="18" charset="0"/>
                        </a:rPr>
                        <m:t>𝑓</m:t>
                      </m:r>
                      <m:d>
                        <m:dPr>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𝑠</m:t>
                          </m:r>
                          <m:d>
                            <m:dPr>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𝑡</m:t>
                              </m:r>
                            </m:e>
                          </m:d>
                          <m:r>
                            <a:rPr lang="ar-AE" sz="4400" i="1" dirty="0" smtClean="0">
                              <a:latin typeface="Cambria Math" panose="02040503050406030204" pitchFamily="18" charset="0"/>
                            </a:rPr>
                            <m:t>,</m:t>
                          </m:r>
                          <m:r>
                            <a:rPr lang="ar-AE" sz="4400" i="1" dirty="0" smtClean="0">
                              <a:latin typeface="Cambria Math" panose="02040503050406030204" pitchFamily="18" charset="0"/>
                            </a:rPr>
                            <m:t>𝑤</m:t>
                          </m:r>
                          <m:d>
                            <m:dPr>
                              <m:ctrlPr>
                                <a:rPr lang="ar-AE" sz="4400" i="1" dirty="0" smtClean="0">
                                  <a:latin typeface="Cambria Math" panose="02040503050406030204" pitchFamily="18" charset="0"/>
                                </a:rPr>
                              </m:ctrlPr>
                            </m:dPr>
                            <m:e>
                              <m:r>
                                <a:rPr lang="ar-AE" sz="4400" i="1" dirty="0" smtClean="0">
                                  <a:latin typeface="Cambria Math" panose="02040503050406030204" pitchFamily="18" charset="0"/>
                                </a:rPr>
                                <m:t>𝑡</m:t>
                              </m:r>
                            </m:e>
                          </m:d>
                        </m:e>
                      </m:d>
                    </m:oMath>
                  </m:oMathPara>
                </a14:m>
                <a:endParaRPr lang="ar-AE"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21013" y="887740"/>
                <a:ext cx="12513013" cy="4199826"/>
              </a:xfrm>
              <a:blipFill>
                <a:blip r:embed="rId3"/>
                <a:stretch>
                  <a:fillRect l="-1754" t="-4644"/>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2E8F3876-32AF-D952-CEF4-3D7AB829FDA5}"/>
              </a:ext>
            </a:extLst>
          </p:cNvPr>
          <p:cNvSpPr>
            <a:spLocks noGrp="1"/>
          </p:cNvSpPr>
          <p:nvPr>
            <p:ph type="sldNum" sz="quarter" idx="12"/>
          </p:nvPr>
        </p:nvSpPr>
        <p:spPr/>
        <p:txBody>
          <a:bodyPr/>
          <a:lstStyle/>
          <a:p>
            <a:fld id="{C1FF6DA9-008F-8B48-92A6-B652298478BF}" type="slidenum">
              <a:rPr lang="en-US" sz="3200" smtClean="0"/>
              <a:t>12</a:t>
            </a:fld>
            <a:endParaRPr lang="en-US" sz="3200" dirty="0"/>
          </a:p>
        </p:txBody>
      </p:sp>
      <p:sp>
        <p:nvSpPr>
          <p:cNvPr id="5" name="TextBox 4">
            <a:extLst>
              <a:ext uri="{FF2B5EF4-FFF2-40B4-BE49-F238E27FC236}">
                <a16:creationId xmlns:a16="http://schemas.microsoft.com/office/drawing/2014/main" id="{C24E5468-E6A5-33E9-DD1C-75D59715BC22}"/>
              </a:ext>
            </a:extLst>
          </p:cNvPr>
          <p:cNvSpPr txBox="1"/>
          <p:nvPr/>
        </p:nvSpPr>
        <p:spPr>
          <a:xfrm>
            <a:off x="0" y="4936787"/>
            <a:ext cx="10100553" cy="2215991"/>
          </a:xfrm>
          <a:prstGeom prst="rect">
            <a:avLst/>
          </a:prstGeom>
          <a:noFill/>
        </p:spPr>
        <p:txBody>
          <a:bodyPr wrap="square" rtlCol="0">
            <a:spAutoFit/>
          </a:bodyPr>
          <a:lstStyle/>
          <a:p>
            <a:r>
              <a:rPr lang="uk-UA" sz="4000" dirty="0"/>
              <a:t>Інтеграція </a:t>
            </a:r>
            <a:r>
              <a:rPr lang="en-US" sz="4000" dirty="0"/>
              <a:t>DETR, </a:t>
            </a:r>
            <a:r>
              <a:rPr lang="uk-UA" sz="4000" dirty="0"/>
              <a:t>оптичного потоку, </a:t>
            </a:r>
            <a:r>
              <a:rPr lang="en-US" sz="4000" dirty="0" err="1"/>
              <a:t>GeoNet</a:t>
            </a:r>
            <a:r>
              <a:rPr lang="en-US" sz="4000" dirty="0"/>
              <a:t> </a:t>
            </a:r>
            <a:r>
              <a:rPr lang="uk-UA" sz="4000" dirty="0"/>
              <a:t>та</a:t>
            </a:r>
            <a:r>
              <a:rPr lang="en-US" sz="4000" dirty="0"/>
              <a:t> </a:t>
            </a:r>
            <a:r>
              <a:rPr lang="uk-UA" sz="4000" dirty="0"/>
              <a:t>ансамблів забезпечує просторово-часове представлення</a:t>
            </a:r>
          </a:p>
          <a:p>
            <a:endParaRPr lang="en-US" dirty="0"/>
          </a:p>
        </p:txBody>
      </p:sp>
      <p:sp>
        <p:nvSpPr>
          <p:cNvPr id="7" name="TextBox 6">
            <a:extLst>
              <a:ext uri="{FF2B5EF4-FFF2-40B4-BE49-F238E27FC236}">
                <a16:creationId xmlns:a16="http://schemas.microsoft.com/office/drawing/2014/main" id="{A04E5401-5D67-879E-258E-32109D151E7B}"/>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8564" y="74166"/>
            <a:ext cx="9833548" cy="638175"/>
          </a:xfrm>
        </p:spPr>
        <p:txBody>
          <a:bodyPr anchor="b">
            <a:normAutofit fontScale="90000"/>
          </a:bodyPr>
          <a:lstStyle/>
          <a:p>
            <a:r>
              <a:rPr lang="uk-UA" sz="3600" dirty="0">
                <a:solidFill>
                  <a:schemeClr val="tx2"/>
                </a:solidFill>
              </a:rPr>
              <a:t>Методи оптичного потоку</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1215" y="748361"/>
                <a:ext cx="13145845" cy="5471464"/>
              </a:xfrm>
            </p:spPr>
            <p:txBody>
              <a:bodyPr>
                <a:noAutofit/>
              </a:bodyPr>
              <a:lstStyle/>
              <a:p>
                <a:r>
                  <a:rPr lang="en-US" dirty="0">
                    <a:solidFill>
                      <a:schemeClr val="tx2"/>
                    </a:solidFill>
                  </a:rPr>
                  <a:t>Lucas-Kanade </a:t>
                </a:r>
                <a:r>
                  <a:rPr lang="ru-RU" dirty="0" err="1">
                    <a:solidFill>
                      <a:schemeClr val="tx2"/>
                    </a:solidFill>
                  </a:rPr>
                  <a:t>локальний</a:t>
                </a:r>
                <a:r>
                  <a:rPr lang="ru-RU" dirty="0">
                    <a:solidFill>
                      <a:schemeClr val="tx2"/>
                    </a:solidFill>
                  </a:rPr>
                  <a:t> метод, </a:t>
                </a:r>
                <a:r>
                  <a:rPr lang="ru-RU" dirty="0" err="1">
                    <a:solidFill>
                      <a:schemeClr val="tx2"/>
                    </a:solidFill>
                  </a:rPr>
                  <a:t>який</a:t>
                </a:r>
                <a:r>
                  <a:rPr lang="ru-RU" dirty="0">
                    <a:solidFill>
                      <a:schemeClr val="tx2"/>
                    </a:solidFill>
                  </a:rPr>
                  <a:t> </a:t>
                </a:r>
                <a:r>
                  <a:rPr lang="ru-RU" dirty="0" err="1">
                    <a:solidFill>
                      <a:schemeClr val="tx2"/>
                    </a:solidFill>
                  </a:rPr>
                  <a:t>базується</a:t>
                </a:r>
                <a:r>
                  <a:rPr lang="ru-RU" dirty="0">
                    <a:solidFill>
                      <a:schemeClr val="tx2"/>
                    </a:solidFill>
                  </a:rPr>
                  <a:t> на </a:t>
                </a:r>
                <a:r>
                  <a:rPr lang="ru-RU" dirty="0" err="1">
                    <a:solidFill>
                      <a:schemeClr val="tx2"/>
                    </a:solidFill>
                  </a:rPr>
                  <a:t>припущенні</a:t>
                </a:r>
                <a:r>
                  <a:rPr lang="ru-RU" dirty="0">
                    <a:solidFill>
                      <a:schemeClr val="tx2"/>
                    </a:solidFill>
                  </a:rPr>
                  <a:t>, </a:t>
                </a:r>
                <a:r>
                  <a:rPr lang="ru-RU" dirty="0" err="1">
                    <a:solidFill>
                      <a:schemeClr val="tx2"/>
                    </a:solidFill>
                  </a:rPr>
                  <a:t>що</a:t>
                </a:r>
                <a:r>
                  <a:rPr lang="ru-RU" dirty="0">
                    <a:solidFill>
                      <a:schemeClr val="tx2"/>
                    </a:solidFill>
                  </a:rPr>
                  <a:t> </a:t>
                </a:r>
                <a:r>
                  <a:rPr lang="ru-RU" dirty="0" err="1">
                    <a:solidFill>
                      <a:schemeClr val="tx2"/>
                    </a:solidFill>
                  </a:rPr>
                  <a:t>оптичний</a:t>
                </a:r>
                <a:r>
                  <a:rPr lang="ru-RU" dirty="0">
                    <a:solidFill>
                      <a:schemeClr val="tx2"/>
                    </a:solidFill>
                  </a:rPr>
                  <a:t> </a:t>
                </a:r>
                <a:r>
                  <a:rPr lang="ru-RU" dirty="0" err="1">
                    <a:solidFill>
                      <a:schemeClr val="tx2"/>
                    </a:solidFill>
                  </a:rPr>
                  <a:t>потік</a:t>
                </a:r>
                <a:r>
                  <a:rPr lang="ru-RU" dirty="0">
                    <a:solidFill>
                      <a:schemeClr val="tx2"/>
                    </a:solidFill>
                  </a:rPr>
                  <a:t> є локально </a:t>
                </a:r>
                <a:r>
                  <a:rPr lang="ru-RU" dirty="0" err="1">
                    <a:solidFill>
                      <a:schemeClr val="tx2"/>
                    </a:solidFill>
                  </a:rPr>
                  <a:t>постійним</a:t>
                </a:r>
                <a:r>
                  <a:rPr lang="ru-RU" dirty="0">
                    <a:solidFill>
                      <a:schemeClr val="tx2"/>
                    </a:solidFill>
                  </a:rPr>
                  <a:t> у межах невеликого </a:t>
                </a:r>
                <a:r>
                  <a:rPr lang="ru-RU" dirty="0" err="1">
                    <a:solidFill>
                      <a:schemeClr val="tx2"/>
                    </a:solidFill>
                  </a:rPr>
                  <a:t>вікна</a:t>
                </a:r>
                <a:r>
                  <a:rPr lang="uk-UA" dirty="0">
                    <a:solidFill>
                      <a:schemeClr val="tx2"/>
                    </a:solidFill>
                  </a:rPr>
                  <a:t>: </a:t>
                </a:r>
                <a:endParaRPr lang="en-US" dirty="0">
                  <a:solidFill>
                    <a:schemeClr val="tx2"/>
                  </a:solidFill>
                </a:endParaRPr>
              </a:p>
              <a:p>
                <a:pPr marL="0" indent="0" algn="ctr">
                  <a:buNone/>
                </a:pPr>
                <a14:m>
                  <m:oMath xmlns:m="http://schemas.openxmlformats.org/officeDocument/2006/math">
                    <m:r>
                      <a:rPr lang="uk-UA" i="1">
                        <a:solidFill>
                          <a:schemeClr val="tx2"/>
                        </a:solidFill>
                        <a:latin typeface="Cambria Math" panose="02040503050406030204" pitchFamily="18" charset="0"/>
                      </a:rPr>
                      <m:t>𝐴</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𝐴</m:t>
                    </m:r>
                    <m:r>
                      <a:rPr lang="en-US" i="1">
                        <a:solidFill>
                          <a:schemeClr val="tx2"/>
                        </a:solidFill>
                        <a:latin typeface="Cambria Math" panose="02040503050406030204" pitchFamily="18" charset="0"/>
                      </a:rPr>
                      <m:t> </m:t>
                    </m:r>
                    <m:r>
                      <a:rPr lang="en-US" i="1">
                        <a:solidFill>
                          <a:schemeClr val="tx2"/>
                        </a:solidFill>
                        <a:latin typeface="Cambria Math" panose="02040503050406030204" pitchFamily="18" charset="0"/>
                      </a:rPr>
                      <m:t>𝑣</m:t>
                    </m:r>
                    <m:r>
                      <a:rPr lang="en-US" i="1">
                        <a:solidFill>
                          <a:schemeClr val="tx2"/>
                        </a:solidFill>
                        <a:latin typeface="Cambria Math" panose="02040503050406030204" pitchFamily="18" charset="0"/>
                      </a:rPr>
                      <m:t> = </m:t>
                    </m:r>
                    <m:r>
                      <a:rPr lang="en-US" i="1">
                        <a:solidFill>
                          <a:schemeClr val="tx2"/>
                        </a:solidFill>
                        <a:latin typeface="Cambria Math" panose="02040503050406030204" pitchFamily="18" charset="0"/>
                      </a:rPr>
                      <m:t>𝐴</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𝑏</m:t>
                    </m:r>
                  </m:oMath>
                </a14:m>
                <a:r>
                  <a:rPr lang="en-US" dirty="0">
                    <a:solidFill>
                      <a:schemeClr val="tx2"/>
                    </a:solidFill>
                  </a:rPr>
                  <a:t>, </a:t>
                </a:r>
                <a:r>
                  <a:rPr lang="uk-UA" dirty="0">
                    <a:solidFill>
                      <a:schemeClr val="tx2"/>
                    </a:solidFill>
                  </a:rPr>
                  <a:t>розв'язок МНК</a:t>
                </a:r>
              </a:p>
              <a:p>
                <a:r>
                  <a:rPr lang="en-US" dirty="0">
                    <a:solidFill>
                      <a:schemeClr val="tx2"/>
                    </a:solidFill>
                  </a:rPr>
                  <a:t>Horn-Schunck (</a:t>
                </a:r>
                <a:r>
                  <a:rPr lang="uk-UA" dirty="0">
                    <a:solidFill>
                      <a:schemeClr val="tx2"/>
                    </a:solidFill>
                  </a:rPr>
                  <a:t>глобальний): </a:t>
                </a:r>
                <a:endParaRPr lang="en-US" dirty="0">
                  <a:solidFill>
                    <a:schemeClr val="tx2"/>
                  </a:solidFill>
                </a:endParaRPr>
              </a:p>
              <a:p>
                <a:pPr marL="0" indent="0">
                  <a:buNone/>
                </a:pPr>
                <a14:m>
                  <m:oMathPara xmlns:m="http://schemas.openxmlformats.org/officeDocument/2006/math">
                    <m:oMathParaPr>
                      <m:jc m:val="center"/>
                    </m:oMathParaPr>
                    <m:oMath xmlns:m="http://schemas.openxmlformats.org/officeDocument/2006/math">
                      <m:r>
                        <a:rPr lang="uk-UA" i="1">
                          <a:solidFill>
                            <a:schemeClr val="tx2"/>
                          </a:solidFill>
                          <a:latin typeface="Cambria Math" panose="02040503050406030204" pitchFamily="18" charset="0"/>
                        </a:rPr>
                        <m:t>𝐸</m:t>
                      </m:r>
                      <m:r>
                        <a:rPr lang="uk-UA" i="1">
                          <a:solidFill>
                            <a:schemeClr val="tx2"/>
                          </a:solidFill>
                          <a:latin typeface="Cambria Math" panose="02040503050406030204" pitchFamily="18" charset="0"/>
                        </a:rPr>
                        <m:t>=</m:t>
                      </m:r>
                      <m:nary>
                        <m:naryPr>
                          <m:chr m:val="∬"/>
                          <m:subHide m:val="on"/>
                          <m:supHide m:val="on"/>
                          <m:ctrlPr>
                            <a:rPr lang="ar-AE" i="1">
                              <a:solidFill>
                                <a:schemeClr val="tx2"/>
                              </a:solidFill>
                              <a:latin typeface="Cambria Math" panose="02040503050406030204" pitchFamily="18" charset="0"/>
                            </a:rPr>
                          </m:ctrlPr>
                        </m:naryPr>
                        <m:sub/>
                        <m:sup/>
                        <m:e>
                          <m:d>
                            <m:dPr>
                              <m:begChr m:val="["/>
                              <m:endChr m:val="]"/>
                              <m:ctrlPr>
                                <a:rPr lang="ar-AE" i="1">
                                  <a:solidFill>
                                    <a:schemeClr val="tx2"/>
                                  </a:solidFill>
                                  <a:latin typeface="Cambria Math" panose="02040503050406030204" pitchFamily="18" charset="0"/>
                                </a:rPr>
                              </m:ctrlPr>
                            </m:dPr>
                            <m:e>
                              <m:sSup>
                                <m:sSupPr>
                                  <m:ctrlPr>
                                    <a:rPr lang="ar-AE" i="1">
                                      <a:solidFill>
                                        <a:schemeClr val="tx2"/>
                                      </a:solidFill>
                                      <a:latin typeface="Cambria Math" panose="02040503050406030204" pitchFamily="18" charset="0"/>
                                    </a:rPr>
                                  </m:ctrlPr>
                                </m:sSupPr>
                                <m:e>
                                  <m:d>
                                    <m:dPr>
                                      <m:ctrlPr>
                                        <a:rPr lang="ar-AE" i="1">
                                          <a:solidFill>
                                            <a:schemeClr val="tx2"/>
                                          </a:solidFill>
                                          <a:latin typeface="Cambria Math" panose="02040503050406030204" pitchFamily="18" charset="0"/>
                                        </a:rPr>
                                      </m:ctrlPr>
                                    </m:dPr>
                                    <m:e>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𝐼</m:t>
                                          </m:r>
                                        </m:e>
                                        <m:sub>
                                          <m:r>
                                            <a:rPr lang="ar-AE" i="1">
                                              <a:solidFill>
                                                <a:schemeClr val="tx2"/>
                                              </a:solidFill>
                                              <a:latin typeface="Cambria Math" panose="02040503050406030204" pitchFamily="18" charset="0"/>
                                            </a:rPr>
                                            <m:t>𝑥</m:t>
                                          </m:r>
                                        </m:sub>
                                      </m:sSub>
                                      <m:r>
                                        <a:rPr lang="ar-AE" i="1">
                                          <a:solidFill>
                                            <a:schemeClr val="tx2"/>
                                          </a:solidFill>
                                          <a:latin typeface="Cambria Math" panose="02040503050406030204" pitchFamily="18" charset="0"/>
                                        </a:rPr>
                                        <m:t>𝑢</m:t>
                                      </m:r>
                                      <m:r>
                                        <a:rPr lang="ar-AE" i="1">
                                          <a:solidFill>
                                            <a:schemeClr val="tx2"/>
                                          </a:solidFill>
                                          <a:latin typeface="Cambria Math" panose="02040503050406030204" pitchFamily="18" charset="0"/>
                                        </a:rPr>
                                        <m:t>+</m:t>
                                      </m:r>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𝐼</m:t>
                                          </m:r>
                                        </m:e>
                                        <m:sub>
                                          <m:r>
                                            <a:rPr lang="ar-AE" i="1">
                                              <a:solidFill>
                                                <a:schemeClr val="tx2"/>
                                              </a:solidFill>
                                              <a:latin typeface="Cambria Math" panose="02040503050406030204" pitchFamily="18" charset="0"/>
                                            </a:rPr>
                                            <m:t>𝑦</m:t>
                                          </m:r>
                                        </m:sub>
                                      </m:sSub>
                                      <m:r>
                                        <a:rPr lang="ar-AE" i="1">
                                          <a:solidFill>
                                            <a:schemeClr val="tx2"/>
                                          </a:solidFill>
                                          <a:latin typeface="Cambria Math" panose="02040503050406030204" pitchFamily="18" charset="0"/>
                                        </a:rPr>
                                        <m:t>𝑣</m:t>
                                      </m:r>
                                      <m:r>
                                        <a:rPr lang="ar-AE" i="1">
                                          <a:solidFill>
                                            <a:schemeClr val="tx2"/>
                                          </a:solidFill>
                                          <a:latin typeface="Cambria Math" panose="02040503050406030204" pitchFamily="18" charset="0"/>
                                        </a:rPr>
                                        <m:t>+</m:t>
                                      </m:r>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𝐼</m:t>
                                          </m:r>
                                        </m:e>
                                        <m:sub>
                                          <m:r>
                                            <a:rPr lang="ar-AE" i="1">
                                              <a:solidFill>
                                                <a:schemeClr val="tx2"/>
                                              </a:solidFill>
                                              <a:latin typeface="Cambria Math" panose="02040503050406030204" pitchFamily="18" charset="0"/>
                                            </a:rPr>
                                            <m:t>𝑡</m:t>
                                          </m:r>
                                        </m:sub>
                                      </m:sSub>
                                    </m:e>
                                  </m:d>
                                </m:e>
                                <m:sup>
                                  <m:r>
                                    <a:rPr lang="ar-AE" i="1">
                                      <a:solidFill>
                                        <a:schemeClr val="tx2"/>
                                      </a:solidFill>
                                      <a:latin typeface="Cambria Math" panose="02040503050406030204" pitchFamily="18" charset="0"/>
                                    </a:rPr>
                                    <m:t>2</m:t>
                                  </m:r>
                                </m:sup>
                              </m:sSup>
                              <m:r>
                                <a:rPr lang="ar-AE" i="1">
                                  <a:solidFill>
                                    <a:schemeClr val="tx2"/>
                                  </a:solidFill>
                                  <a:latin typeface="Cambria Math" panose="02040503050406030204" pitchFamily="18" charset="0"/>
                                </a:rPr>
                                <m:t>+</m:t>
                              </m:r>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𝛼</m:t>
                                  </m:r>
                                </m:e>
                                <m:sup>
                                  <m:r>
                                    <a:rPr lang="ar-AE" i="1">
                                      <a:solidFill>
                                        <a:schemeClr val="tx2"/>
                                      </a:solidFill>
                                      <a:latin typeface="Cambria Math" panose="02040503050406030204" pitchFamily="18" charset="0"/>
                                    </a:rPr>
                                    <m:t>2</m:t>
                                  </m:r>
                                </m:sup>
                              </m:sSup>
                              <m:d>
                                <m:dPr>
                                  <m:ctrlPr>
                                    <a:rPr lang="ar-AE" i="1">
                                      <a:solidFill>
                                        <a:schemeClr val="tx2"/>
                                      </a:solidFill>
                                      <a:latin typeface="Cambria Math" panose="02040503050406030204" pitchFamily="18" charset="0"/>
                                    </a:rPr>
                                  </m:ctrlPr>
                                </m:dPr>
                                <m:e>
                                  <m:sSup>
                                    <m:sSupPr>
                                      <m:ctrlPr>
                                        <a:rPr lang="ar-AE" i="1">
                                          <a:solidFill>
                                            <a:schemeClr val="tx2"/>
                                          </a:solidFill>
                                          <a:latin typeface="Cambria Math" panose="02040503050406030204" pitchFamily="18" charset="0"/>
                                        </a:rPr>
                                      </m:ctrlPr>
                                    </m:sSupPr>
                                    <m:e>
                                      <m:d>
                                        <m:dPr>
                                          <m:begChr m:val="‖"/>
                                          <m:endChr m:val="‖"/>
                                          <m:ctrlPr>
                                            <a:rPr lang="ar-AE" i="1">
                                              <a:solidFill>
                                                <a:schemeClr val="tx2"/>
                                              </a:solidFill>
                                              <a:latin typeface="Cambria Math" panose="02040503050406030204" pitchFamily="18" charset="0"/>
                                            </a:rPr>
                                          </m:ctrlPr>
                                        </m:dPr>
                                        <m:e>
                                          <m:r>
                                            <m:rPr>
                                              <m:sty m:val="p"/>
                                            </m:rPr>
                                            <a:rPr lang="ar-AE" i="0">
                                              <a:solidFill>
                                                <a:schemeClr val="tx2"/>
                                              </a:solidFill>
                                              <a:latin typeface="Cambria Math" panose="02040503050406030204" pitchFamily="18" charset="0"/>
                                            </a:rPr>
                                            <m:t>∇</m:t>
                                          </m:r>
                                          <m:r>
                                            <a:rPr lang="ar-AE" i="1">
                                              <a:solidFill>
                                                <a:schemeClr val="tx2"/>
                                              </a:solidFill>
                                              <a:latin typeface="Cambria Math" panose="02040503050406030204" pitchFamily="18" charset="0"/>
                                            </a:rPr>
                                            <m:t>𝑢</m:t>
                                          </m:r>
                                        </m:e>
                                      </m:d>
                                    </m:e>
                                    <m:sup>
                                      <m:r>
                                        <a:rPr lang="ar-AE" i="1">
                                          <a:solidFill>
                                            <a:schemeClr val="tx2"/>
                                          </a:solidFill>
                                          <a:latin typeface="Cambria Math" panose="02040503050406030204" pitchFamily="18" charset="0"/>
                                        </a:rPr>
                                        <m:t>2</m:t>
                                      </m:r>
                                    </m:sup>
                                  </m:sSup>
                                  <m:r>
                                    <a:rPr lang="ar-AE" i="1">
                                      <a:solidFill>
                                        <a:schemeClr val="tx2"/>
                                      </a:solidFill>
                                      <a:latin typeface="Cambria Math" panose="02040503050406030204" pitchFamily="18" charset="0"/>
                                    </a:rPr>
                                    <m:t>+</m:t>
                                  </m:r>
                                  <m:sSup>
                                    <m:sSupPr>
                                      <m:ctrlPr>
                                        <a:rPr lang="ar-AE" i="1">
                                          <a:solidFill>
                                            <a:schemeClr val="tx2"/>
                                          </a:solidFill>
                                          <a:latin typeface="Cambria Math" panose="02040503050406030204" pitchFamily="18" charset="0"/>
                                        </a:rPr>
                                      </m:ctrlPr>
                                    </m:sSupPr>
                                    <m:e>
                                      <m:d>
                                        <m:dPr>
                                          <m:begChr m:val="‖"/>
                                          <m:endChr m:val="‖"/>
                                          <m:ctrlPr>
                                            <a:rPr lang="ar-AE" i="1">
                                              <a:solidFill>
                                                <a:schemeClr val="tx2"/>
                                              </a:solidFill>
                                              <a:latin typeface="Cambria Math" panose="02040503050406030204" pitchFamily="18" charset="0"/>
                                            </a:rPr>
                                          </m:ctrlPr>
                                        </m:dPr>
                                        <m:e>
                                          <m:r>
                                            <m:rPr>
                                              <m:sty m:val="p"/>
                                            </m:rPr>
                                            <a:rPr lang="ar-AE" i="0">
                                              <a:solidFill>
                                                <a:schemeClr val="tx2"/>
                                              </a:solidFill>
                                              <a:latin typeface="Cambria Math" panose="02040503050406030204" pitchFamily="18" charset="0"/>
                                            </a:rPr>
                                            <m:t>∇</m:t>
                                          </m:r>
                                          <m:r>
                                            <a:rPr lang="ar-AE" i="1">
                                              <a:solidFill>
                                                <a:schemeClr val="tx2"/>
                                              </a:solidFill>
                                              <a:latin typeface="Cambria Math" panose="02040503050406030204" pitchFamily="18" charset="0"/>
                                            </a:rPr>
                                            <m:t>𝑣</m:t>
                                          </m:r>
                                        </m:e>
                                      </m:d>
                                    </m:e>
                                    <m:sup>
                                      <m:r>
                                        <a:rPr lang="ar-AE" i="1">
                                          <a:solidFill>
                                            <a:schemeClr val="tx2"/>
                                          </a:solidFill>
                                          <a:latin typeface="Cambria Math" panose="02040503050406030204" pitchFamily="18" charset="0"/>
                                        </a:rPr>
                                        <m:t>2</m:t>
                                      </m:r>
                                    </m:sup>
                                  </m:sSup>
                                </m:e>
                              </m:d>
                            </m:e>
                          </m:d>
                          <m:r>
                            <a:rPr lang="ar-AE" i="1">
                              <a:solidFill>
                                <a:schemeClr val="tx2"/>
                              </a:solidFill>
                              <a:latin typeface="Cambria Math" panose="02040503050406030204" pitchFamily="18" charset="0"/>
                            </a:rPr>
                            <m:t>𝑑𝑥𝑑𝑦</m:t>
                          </m:r>
                        </m:e>
                      </m:nary>
                    </m:oMath>
                  </m:oMathPara>
                </a14:m>
                <a:endParaRPr lang="ar-AE" dirty="0">
                  <a:solidFill>
                    <a:schemeClr val="tx2"/>
                  </a:solidFill>
                </a:endParaRPr>
              </a:p>
              <a:p>
                <a:r>
                  <a:rPr lang="en-US" dirty="0" err="1">
                    <a:solidFill>
                      <a:schemeClr val="tx2"/>
                    </a:solidFill>
                  </a:rPr>
                  <a:t>Farneback</a:t>
                </a:r>
                <a:r>
                  <a:rPr lang="en-US" dirty="0">
                    <a:solidFill>
                      <a:schemeClr val="tx2"/>
                    </a:solidFill>
                  </a:rPr>
                  <a:t> (</a:t>
                </a:r>
                <a:r>
                  <a:rPr lang="uk-UA" dirty="0">
                    <a:solidFill>
                      <a:schemeClr val="tx2"/>
                    </a:solidFill>
                  </a:rPr>
                  <a:t>поліноміальний): </a:t>
                </a:r>
                <a:endParaRPr lang="en-US" dirty="0">
                  <a:solidFill>
                    <a:schemeClr val="tx2"/>
                  </a:solidFill>
                </a:endParaRPr>
              </a:p>
              <a:p>
                <a:pPr marL="0" indent="0">
                  <a:buNone/>
                </a:pPr>
                <a14:m>
                  <m:oMathPara xmlns:m="http://schemas.openxmlformats.org/officeDocument/2006/math">
                    <m:oMathParaPr>
                      <m:jc m:val="center"/>
                    </m:oMathParaPr>
                    <m:oMath xmlns:m="http://schemas.openxmlformats.org/officeDocument/2006/math">
                      <m:r>
                        <a:rPr lang="uk-UA" i="1">
                          <a:solidFill>
                            <a:schemeClr val="tx2"/>
                          </a:solidFill>
                          <a:latin typeface="Cambria Math" panose="02040503050406030204" pitchFamily="18" charset="0"/>
                        </a:rPr>
                        <m:t>𝑓</m:t>
                      </m:r>
                      <m:d>
                        <m:dPr>
                          <m:ctrlPr>
                            <a:rPr lang="ar-AE" i="1">
                              <a:solidFill>
                                <a:schemeClr val="tx2"/>
                              </a:solidFill>
                              <a:latin typeface="Cambria Math" panose="02040503050406030204" pitchFamily="18" charset="0"/>
                            </a:rPr>
                          </m:ctrlPr>
                        </m:dPr>
                        <m:e>
                          <m:r>
                            <a:rPr lang="ar-AE" i="1">
                              <a:solidFill>
                                <a:schemeClr val="tx2"/>
                              </a:solidFill>
                              <a:latin typeface="Cambria Math" panose="02040503050406030204" pitchFamily="18" charset="0"/>
                            </a:rPr>
                            <m:t>𝑥</m:t>
                          </m:r>
                        </m:e>
                      </m:d>
                      <m:r>
                        <a:rPr lang="ar-AE" i="1">
                          <a:solidFill>
                            <a:schemeClr val="tx2"/>
                          </a:solidFill>
                          <a:latin typeface="Cambria Math" panose="02040503050406030204" pitchFamily="18" charset="0"/>
                        </a:rPr>
                        <m:t>≈</m:t>
                      </m:r>
                      <m:r>
                        <a:rPr lang="ar-AE"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𝐴𝑥</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𝑏</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𝑐</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𝑑</m:t>
                      </m:r>
                      <m:r>
                        <a:rPr lang="en-US" i="1">
                          <a:solidFill>
                            <a:schemeClr val="tx2"/>
                          </a:solidFill>
                          <a:latin typeface="Cambria Math" panose="02040503050406030204" pitchFamily="18" charset="0"/>
                        </a:rPr>
                        <m:t>=−½</m:t>
                      </m:r>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𝐴</m:t>
                          </m:r>
                        </m:e>
                        <m:sup>
                          <m:r>
                            <a:rPr lang="ar-AE" i="1">
                              <a:solidFill>
                                <a:schemeClr val="tx2"/>
                              </a:solidFill>
                              <a:latin typeface="Cambria Math" panose="02040503050406030204" pitchFamily="18" charset="0"/>
                            </a:rPr>
                            <m:t>1</m:t>
                          </m:r>
                          <m:r>
                            <a:rPr lang="ar-AE" i="1">
                              <a:solidFill>
                                <a:schemeClr val="tx2"/>
                              </a:solidFill>
                              <a:latin typeface="Cambria Math" panose="02040503050406030204" pitchFamily="18" charset="0"/>
                            </a:rPr>
                            <m:t>−</m:t>
                          </m:r>
                          <m:r>
                            <a:rPr lang="ar-AE" i="1">
                              <a:solidFill>
                                <a:schemeClr val="tx2"/>
                              </a:solidFill>
                              <a:latin typeface="Cambria Math" panose="02040503050406030204" pitchFamily="18" charset="0"/>
                            </a:rPr>
                            <m:t>1</m:t>
                          </m:r>
                        </m:sup>
                      </m:sSup>
                      <m:d>
                        <m:dPr>
                          <m:ctrlPr>
                            <a:rPr lang="ar-AE" i="1">
                              <a:solidFill>
                                <a:schemeClr val="tx2"/>
                              </a:solidFill>
                              <a:latin typeface="Cambria Math" panose="02040503050406030204" pitchFamily="18" charset="0"/>
                            </a:rPr>
                          </m:ctrlPr>
                        </m:dPr>
                        <m:e>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𝑏</m:t>
                              </m:r>
                            </m:e>
                            <m:sup>
                              <m:r>
                                <a:rPr lang="ar-AE" i="1">
                                  <a:solidFill>
                                    <a:schemeClr val="tx2"/>
                                  </a:solidFill>
                                  <a:latin typeface="Cambria Math" panose="02040503050406030204" pitchFamily="18" charset="0"/>
                                </a:rPr>
                                <m:t>2</m:t>
                              </m:r>
                            </m:sup>
                          </m:sSup>
                          <m:r>
                            <a:rPr lang="ar-AE" i="1">
                              <a:solidFill>
                                <a:schemeClr val="tx2"/>
                              </a:solidFill>
                              <a:latin typeface="Cambria Math" panose="02040503050406030204" pitchFamily="18" charset="0"/>
                            </a:rPr>
                            <m:t>−</m:t>
                          </m:r>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𝑏</m:t>
                              </m:r>
                            </m:e>
                            <m:sup>
                              <m:r>
                                <a:rPr lang="ar-AE" i="1">
                                  <a:solidFill>
                                    <a:schemeClr val="tx2"/>
                                  </a:solidFill>
                                  <a:latin typeface="Cambria Math" panose="02040503050406030204" pitchFamily="18" charset="0"/>
                                </a:rPr>
                                <m:t>1</m:t>
                              </m:r>
                            </m:sup>
                          </m:sSup>
                        </m:e>
                      </m:d>
                    </m:oMath>
                  </m:oMathPara>
                </a14:m>
                <a:endParaRPr lang="ar-AE" dirty="0">
                  <a:solidFill>
                    <a:schemeClr val="tx2"/>
                  </a:solidFill>
                </a:endParaRPr>
              </a:p>
              <a:p>
                <a:r>
                  <a:rPr lang="uk-UA" dirty="0" err="1">
                    <a:solidFill>
                      <a:schemeClr val="tx2"/>
                    </a:solidFill>
                  </a:rPr>
                  <a:t>Нейромережеві</a:t>
                </a:r>
                <a:r>
                  <a:rPr lang="uk-UA" dirty="0">
                    <a:solidFill>
                      <a:schemeClr val="tx2"/>
                    </a:solidFill>
                  </a:rPr>
                  <a:t>: </a:t>
                </a:r>
                <a:r>
                  <a:rPr lang="en-US" dirty="0" err="1">
                    <a:solidFill>
                      <a:schemeClr val="tx2"/>
                    </a:solidFill>
                  </a:rPr>
                  <a:t>FlowNet</a:t>
                </a:r>
                <a:r>
                  <a:rPr lang="en-US" dirty="0">
                    <a:solidFill>
                      <a:schemeClr val="tx2"/>
                    </a:solidFill>
                  </a:rPr>
                  <a:t> (end-to-end), RAFT (</a:t>
                </a:r>
                <a:r>
                  <a:rPr lang="uk-UA" dirty="0">
                    <a:solidFill>
                      <a:schemeClr val="tx2"/>
                    </a:solidFill>
                  </a:rPr>
                  <a:t>рекурентний), </a:t>
                </a:r>
                <a:r>
                  <a:rPr lang="en-US" dirty="0" err="1">
                    <a:solidFill>
                      <a:schemeClr val="tx2"/>
                    </a:solidFill>
                  </a:rPr>
                  <a:t>GeoNet</a:t>
                </a:r>
                <a:r>
                  <a:rPr lang="en-US" dirty="0">
                    <a:solidFill>
                      <a:schemeClr val="tx2"/>
                    </a:solidFill>
                  </a:rPr>
                  <a:t> (</a:t>
                </a:r>
                <a:r>
                  <a:rPr lang="uk-UA" dirty="0">
                    <a:solidFill>
                      <a:schemeClr val="tx2"/>
                    </a:solidFill>
                  </a:rPr>
                  <a:t>сумісна оцінка)</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1215" y="748361"/>
                <a:ext cx="13145845" cy="5471464"/>
              </a:xfrm>
              <a:blipFill>
                <a:blip r:embed="rId3"/>
                <a:stretch>
                  <a:fillRect l="-1067" t="-1449" b="-2118"/>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41656471-EA6C-71FC-A6A2-8E6116953286}"/>
              </a:ext>
            </a:extLst>
          </p:cNvPr>
          <p:cNvSpPr>
            <a:spLocks noGrp="1"/>
          </p:cNvSpPr>
          <p:nvPr>
            <p:ph type="sldNum" sz="quarter" idx="12"/>
          </p:nvPr>
        </p:nvSpPr>
        <p:spPr/>
        <p:txBody>
          <a:bodyPr/>
          <a:lstStyle/>
          <a:p>
            <a:fld id="{C1FF6DA9-008F-8B48-92A6-B652298478BF}" type="slidenum">
              <a:rPr lang="en-US" smtClean="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183" y="123831"/>
            <a:ext cx="11640168" cy="656216"/>
          </a:xfrm>
        </p:spPr>
        <p:style>
          <a:lnRef idx="2">
            <a:schemeClr val="dk1"/>
          </a:lnRef>
          <a:fillRef idx="1">
            <a:schemeClr val="lt1"/>
          </a:fillRef>
          <a:effectRef idx="0">
            <a:schemeClr val="dk1"/>
          </a:effectRef>
          <a:fontRef idx="minor">
            <a:schemeClr val="dk1"/>
          </a:fontRef>
        </p:style>
        <p:txBody>
          <a:bodyPr anchor="t">
            <a:normAutofit/>
          </a:bodyPr>
          <a:lstStyle/>
          <a:p>
            <a:pPr>
              <a:lnSpc>
                <a:spcPct val="90000"/>
              </a:lnSpc>
            </a:pPr>
            <a:r>
              <a:rPr lang="uk-UA" sz="4100" dirty="0"/>
              <a:t>Просторово-часова модель</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1554" y="866226"/>
                <a:ext cx="12283887" cy="5490123"/>
              </a:xfrm>
              <a:solidFill>
                <a:schemeClr val="bg2"/>
              </a:solidFill>
            </p:spPr>
            <p:txBody>
              <a:bodyPr anchor="t">
                <a:normAutofit lnSpcReduction="10000"/>
              </a:bodyPr>
              <a:lstStyle/>
              <a:p>
                <a:r>
                  <a:rPr lang="uk-UA" dirty="0"/>
                  <a:t>Просторово-часова модель </a:t>
                </a:r>
                <a:r>
                  <a:rPr lang="ru-RU" dirty="0" err="1"/>
                  <a:t>задає</a:t>
                </a:r>
                <a:r>
                  <a:rPr lang="ru-RU" dirty="0"/>
                  <a:t> </a:t>
                </a:r>
                <a:r>
                  <a:rPr lang="ru-RU" dirty="0" err="1"/>
                  <a:t>функцію</a:t>
                </a:r>
                <a:r>
                  <a:rPr lang="ru-RU" dirty="0"/>
                  <a:t> </a:t>
                </a:r>
                <a:r>
                  <a:rPr lang="ru-RU" dirty="0" err="1"/>
                  <a:t>інтенсивності</a:t>
                </a:r>
                <a:r>
                  <a:rPr lang="ru-RU" dirty="0"/>
                  <a:t> </a:t>
                </a:r>
                <a:r>
                  <a:rPr lang="ru-RU" dirty="0" err="1"/>
                  <a:t>зображення</a:t>
                </a:r>
                <a:r>
                  <a:rPr lang="ru-RU" dirty="0"/>
                  <a:t>, </a:t>
                </a:r>
                <a:r>
                  <a:rPr lang="ru-RU" dirty="0" err="1"/>
                  <a:t>що</a:t>
                </a:r>
                <a:r>
                  <a:rPr lang="ru-RU" dirty="0"/>
                  <a:t> </a:t>
                </a:r>
                <a:r>
                  <a:rPr lang="ru-RU" dirty="0" err="1"/>
                  <a:t>залежить</a:t>
                </a:r>
                <a:r>
                  <a:rPr lang="ru-RU" dirty="0"/>
                  <a:t> </a:t>
                </a:r>
                <a:r>
                  <a:rPr lang="ru-RU" dirty="0" err="1"/>
                  <a:t>від</a:t>
                </a:r>
                <a:r>
                  <a:rPr lang="ru-RU" dirty="0"/>
                  <a:t> </a:t>
                </a:r>
                <a:r>
                  <a:rPr lang="ru-RU" dirty="0" err="1"/>
                  <a:t>просторових</a:t>
                </a:r>
                <a:r>
                  <a:rPr lang="ru-RU" dirty="0"/>
                  <a:t> координат та часу</a:t>
                </a:r>
                <a:r>
                  <a:rPr lang="uk-UA" dirty="0"/>
                  <a:t>:</a:t>
                </a:r>
                <a:endParaRPr lang="en-US" dirty="0"/>
              </a:p>
              <a:p>
                <a:pPr marL="0" indent="0" algn="ctr">
                  <a:buNone/>
                </a:pPr>
                <a:r>
                  <a:rPr lang="uk-UA" dirty="0"/>
                  <a:t> </a:t>
                </a:r>
                <a14:m>
                  <m:oMath xmlns:m="http://schemas.openxmlformats.org/officeDocument/2006/math">
                    <m:r>
                      <a:rPr lang="uk-UA" i="1">
                        <a:latin typeface="Cambria Math" panose="02040503050406030204" pitchFamily="18" charset="0"/>
                      </a:rPr>
                      <m:t>𝐼</m:t>
                    </m:r>
                    <m:r>
                      <a:rPr lang="uk-UA" i="1">
                        <a:latin typeface="Cambria Math" panose="02040503050406030204" pitchFamily="18" charset="0"/>
                      </a:rPr>
                      <m:t>(</m:t>
                    </m:r>
                    <m:r>
                      <a:rPr lang="uk-UA" i="1">
                        <a:latin typeface="Cambria Math" panose="02040503050406030204" pitchFamily="18" charset="0"/>
                      </a:rPr>
                      <m:t>𝑥</m:t>
                    </m:r>
                    <m:r>
                      <a:rPr lang="uk-UA" i="1">
                        <a:latin typeface="Cambria Math" panose="02040503050406030204" pitchFamily="18" charset="0"/>
                      </a:rPr>
                      <m:t>,</m:t>
                    </m:r>
                    <m:r>
                      <a:rPr lang="uk-UA" i="1">
                        <a:latin typeface="Cambria Math" panose="02040503050406030204" pitchFamily="18" charset="0"/>
                      </a:rPr>
                      <m:t>𝑦</m:t>
                    </m:r>
                    <m:r>
                      <a:rPr lang="uk-UA" i="1">
                        <a:latin typeface="Cambria Math" panose="02040503050406030204" pitchFamily="18" charset="0"/>
                      </a:rPr>
                      <m:t>,</m:t>
                    </m:r>
                    <m:r>
                      <a:rPr lang="uk-UA" i="1">
                        <a:latin typeface="Cambria Math" panose="02040503050406030204" pitchFamily="18" charset="0"/>
                      </a:rPr>
                      <m:t>𝑡</m:t>
                    </m:r>
                    <m:r>
                      <a:rPr lang="uk-UA" i="1">
                        <a:latin typeface="Cambria Math" panose="02040503050406030204" pitchFamily="18" charset="0"/>
                      </a:rPr>
                      <m:t>)</m:t>
                    </m:r>
                  </m:oMath>
                </a14:m>
                <a:r>
                  <a:rPr lang="uk-UA" dirty="0"/>
                  <a:t>: </a:t>
                </a:r>
                <a14:m>
                  <m:oMath xmlns:m="http://schemas.openxmlformats.org/officeDocument/2006/math">
                    <m:r>
                      <m:rPr>
                        <m:sty m:val="p"/>
                      </m:rPr>
                      <a:rPr lang="el-GR" i="0">
                        <a:latin typeface="Cambria Math" panose="02040503050406030204" pitchFamily="18" charset="0"/>
                      </a:rPr>
                      <m:t>Ω</m:t>
                    </m:r>
                    <m:r>
                      <a:rPr lang="el-GR" i="1">
                        <a:latin typeface="Cambria Math" panose="02040503050406030204" pitchFamily="18" charset="0"/>
                      </a:rPr>
                      <m:t> ⊂ </m:t>
                    </m:r>
                    <m:r>
                      <a:rPr lang="el-GR" i="1">
                        <a:latin typeface="Cambria Math" panose="02040503050406030204" pitchFamily="18" charset="0"/>
                      </a:rPr>
                      <m:t>ℝ</m:t>
                    </m:r>
                    <m:r>
                      <a:rPr lang="el-GR" i="1">
                        <a:latin typeface="Cambria Math" panose="02040503050406030204" pitchFamily="18" charset="0"/>
                      </a:rPr>
                      <m:t>²×[0,</m:t>
                    </m:r>
                    <m:r>
                      <a:rPr lang="el-GR" i="1">
                        <a:latin typeface="Cambria Math" panose="02040503050406030204" pitchFamily="18" charset="0"/>
                      </a:rPr>
                      <m:t>𝑇</m:t>
                    </m:r>
                    <m:r>
                      <a:rPr lang="el-GR" i="1">
                        <a:latin typeface="Cambria Math" panose="02040503050406030204" pitchFamily="18" charset="0"/>
                      </a:rPr>
                      <m:t>] → </m:t>
                    </m:r>
                    <m:r>
                      <a:rPr lang="el-GR" i="1">
                        <a:latin typeface="Cambria Math" panose="02040503050406030204" pitchFamily="18" charset="0"/>
                      </a:rPr>
                      <m:t>ℝ</m:t>
                    </m:r>
                  </m:oMath>
                </a14:m>
                <a:endParaRPr lang="el-GR" dirty="0"/>
              </a:p>
              <a:p>
                <a:r>
                  <a:rPr lang="uk-UA" dirty="0"/>
                  <a:t>Сумісна оцінка </a:t>
                </a:r>
                <a:r>
                  <a:rPr lang="en-US" dirty="0" err="1"/>
                  <a:t>GeoNet</a:t>
                </a:r>
                <a:r>
                  <a:rPr lang="uk-UA" dirty="0"/>
                  <a:t> реалізується через геометричні обмеження: фотометричну узгодженість, яка стверджує, що піксель після зсуву на вектор оптичного потоку повинен мати ту саму інтенсивність, та геометричну модель, яка пов'язує оптичний потік з глибиною, рухом камери та проекцією точки</a:t>
                </a:r>
                <a:r>
                  <a:rPr lang="en-US" dirty="0"/>
                  <a:t>: </a:t>
                </a:r>
              </a:p>
              <a:p>
                <a:pPr marL="0" indent="0" algn="ctr">
                  <a:buNone/>
                </a:pP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₂(</m:t>
                    </m:r>
                    <m:r>
                      <a:rPr lang="en-US" i="1">
                        <a:latin typeface="Cambria Math" panose="02040503050406030204" pitchFamily="18" charset="0"/>
                      </a:rPr>
                      <m:t>𝑝</m:t>
                    </m:r>
                    <m:r>
                      <a:rPr lang="en-US" i="1">
                        <a:latin typeface="Cambria Math" panose="02040503050406030204" pitchFamily="18" charset="0"/>
                      </a:rPr>
                      <m:t>) = </m:t>
                    </m:r>
                    <m:r>
                      <a:rPr lang="en-US" i="1">
                        <a:latin typeface="Cambria Math" panose="02040503050406030204" pitchFamily="18" charset="0"/>
                      </a:rPr>
                      <m:t>𝐼</m:t>
                    </m:r>
                    <m:r>
                      <a:rPr lang="en-US" i="1">
                        <a:latin typeface="Cambria Math" panose="02040503050406030204" pitchFamily="18" charset="0"/>
                      </a:rPr>
                      <m:t>₁(</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 = </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𝑍</m:t>
                    </m:r>
                    <m:r>
                      <a:rPr lang="en-US" i="1">
                        <a:latin typeface="Cambria Math" panose="02040503050406030204" pitchFamily="18" charset="0"/>
                      </a:rPr>
                      <m:t>₀)/</m:t>
                    </m:r>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𝑝𝑟𝑜𝑗</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oMath>
                </a14:m>
                <a:endParaRPr lang="en-US" dirty="0"/>
              </a:p>
              <a:p>
                <a:r>
                  <a:rPr lang="uk-UA" dirty="0"/>
                  <a:t>Обчислення кінематичних параметрів за полем оптичного потоку (</a:t>
                </a:r>
                <a14:m>
                  <m:oMath xmlns:m="http://schemas.openxmlformats.org/officeDocument/2006/math">
                    <m:r>
                      <a:rPr lang="uk-UA" i="1">
                        <a:latin typeface="Cambria Math" panose="02040503050406030204" pitchFamily="18" charset="0"/>
                      </a:rPr>
                      <m:t>𝑣</m:t>
                    </m:r>
                  </m:oMath>
                </a14:m>
                <a:r>
                  <a:rPr lang="uk-UA" dirty="0"/>
                  <a:t>, </a:t>
                </a:r>
                <a14:m>
                  <m:oMath xmlns:m="http://schemas.openxmlformats.org/officeDocument/2006/math">
                    <m:r>
                      <a:rPr lang="uk-UA" i="1">
                        <a:latin typeface="Cambria Math" panose="02040503050406030204" pitchFamily="18" charset="0"/>
                      </a:rPr>
                      <m:t>𝜃</m:t>
                    </m:r>
                  </m:oMath>
                </a14:m>
                <a:r>
                  <a:rPr lang="uk-UA" dirty="0"/>
                  <a:t>, траєкторія, прискорення)</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1554" y="866226"/>
                <a:ext cx="12283887" cy="5490123"/>
              </a:xfrm>
              <a:blipFill>
                <a:blip r:embed="rId3"/>
                <a:stretch>
                  <a:fillRect l="-1141" t="-2331" r="-1489" b="-444"/>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1C7D2F7B-856C-2A6E-C775-68C2AF33B595}"/>
              </a:ext>
            </a:extLst>
          </p:cNvPr>
          <p:cNvSpPr>
            <a:spLocks noGrp="1"/>
          </p:cNvSpPr>
          <p:nvPr>
            <p:ph type="sldNum" sz="quarter" idx="12"/>
          </p:nvPr>
        </p:nvSpPr>
        <p:spPr/>
        <p:txBody>
          <a:bodyPr/>
          <a:lstStyle/>
          <a:p>
            <a:fld id="{C1FF6DA9-008F-8B48-92A6-B652298478BF}" type="slidenum">
              <a:rPr lang="en-US" smtClean="0"/>
              <a:t>14</a:t>
            </a:fld>
            <a:endParaRPr lang="en-US"/>
          </a:p>
        </p:txBody>
      </p:sp>
      <p:sp>
        <p:nvSpPr>
          <p:cNvPr id="6" name="TextBox 5">
            <a:extLst>
              <a:ext uri="{FF2B5EF4-FFF2-40B4-BE49-F238E27FC236}">
                <a16:creationId xmlns:a16="http://schemas.microsoft.com/office/drawing/2014/main" id="{9AB37F17-5077-A95A-FDA8-4772CA195409}"/>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
        <p:nvSpPr>
          <p:cNvPr id="8" name="TextBox 7">
            <a:extLst>
              <a:ext uri="{FF2B5EF4-FFF2-40B4-BE49-F238E27FC236}">
                <a16:creationId xmlns:a16="http://schemas.microsoft.com/office/drawing/2014/main" id="{19C36E6F-6648-6DDD-A9AD-D127AF543434}"/>
              </a:ext>
            </a:extLst>
          </p:cNvPr>
          <p:cNvSpPr txBox="1"/>
          <p:nvPr/>
        </p:nvSpPr>
        <p:spPr>
          <a:xfrm>
            <a:off x="11690969" y="735627"/>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33074"/>
            <a:ext cx="12192000" cy="891053"/>
          </a:xfrm>
        </p:spPr>
        <p:txBody>
          <a:bodyPr anchor="t">
            <a:normAutofit/>
          </a:bodyPr>
          <a:lstStyle/>
          <a:p>
            <a:r>
              <a:rPr lang="uk-UA" sz="4800" dirty="0"/>
              <a:t>Структура моделей ДІПДО</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9299" y="924127"/>
                <a:ext cx="12601299" cy="5768521"/>
              </a:xfrm>
            </p:spPr>
            <p:txBody>
              <a:bodyPr anchor="t">
                <a:noAutofit/>
              </a:bodyPr>
              <a:lstStyle/>
              <a:p>
                <a:r>
                  <a:rPr lang="uk-UA" sz="4400" dirty="0"/>
                  <a:t>Три рівні: виявлення об'єктів (</a:t>
                </a:r>
                <a:r>
                  <a:rPr lang="en-US" sz="4400" dirty="0"/>
                  <a:t>DETR), </a:t>
                </a:r>
                <a:r>
                  <a:rPr lang="uk-UA" sz="4400" dirty="0"/>
                  <a:t>оцінка руху (оптичний потік), просторова структура (глибина)</a:t>
                </a:r>
              </a:p>
              <a:p>
                <a:r>
                  <a:rPr lang="uk-UA" sz="4400" dirty="0"/>
                  <a:t>Інтеграція дозволяє перейти від </a:t>
                </a:r>
                <a:r>
                  <a:rPr lang="uk-UA" sz="4400" dirty="0" err="1"/>
                  <a:t>покадрового</a:t>
                </a:r>
                <a:r>
                  <a:rPr lang="uk-UA" sz="4400" dirty="0"/>
                  <a:t> виявлення до просторово-часового опису</a:t>
                </a:r>
              </a:p>
              <a:p>
                <a:r>
                  <a:rPr lang="uk-UA" sz="4400" dirty="0"/>
                  <a:t>Архітектура системи:</a:t>
                </a:r>
                <a:endParaRPr lang="en-US" sz="4400" dirty="0"/>
              </a:p>
              <a:p>
                <a:pPr marL="0" indent="0" algn="ctr">
                  <a:buNone/>
                </a:pPr>
                <a:r>
                  <a:rPr lang="uk-UA" sz="4400" dirty="0"/>
                  <a:t> </a:t>
                </a:r>
                <a14:m>
                  <m:oMath xmlns:m="http://schemas.openxmlformats.org/officeDocument/2006/math">
                    <m:r>
                      <a:rPr lang="uk-UA" sz="4400" i="1">
                        <a:latin typeface="Cambria Math" panose="02040503050406030204" pitchFamily="18" charset="0"/>
                      </a:rPr>
                      <m:t>𝑆</m:t>
                    </m:r>
                    <m:r>
                      <a:rPr lang="uk-UA" sz="4400" i="1">
                        <a:latin typeface="Cambria Math" panose="02040503050406030204" pitchFamily="18" charset="0"/>
                      </a:rPr>
                      <m:t> = {</m:t>
                    </m:r>
                    <m:r>
                      <a:rPr lang="uk-UA" sz="4400" i="1">
                        <a:latin typeface="Cambria Math" panose="02040503050406030204" pitchFamily="18" charset="0"/>
                      </a:rPr>
                      <m:t>𝐷</m:t>
                    </m:r>
                    <m:r>
                      <a:rPr lang="uk-UA" sz="4400" i="1">
                        <a:latin typeface="Cambria Math" panose="02040503050406030204" pitchFamily="18" charset="0"/>
                      </a:rPr>
                      <m:t>, </m:t>
                    </m:r>
                    <m:r>
                      <a:rPr lang="uk-UA" sz="4400" i="1">
                        <a:latin typeface="Cambria Math" panose="02040503050406030204" pitchFamily="18" charset="0"/>
                      </a:rPr>
                      <m:t>𝐹</m:t>
                    </m:r>
                    <m:r>
                      <a:rPr lang="uk-UA" sz="4400" i="1">
                        <a:latin typeface="Cambria Math" panose="02040503050406030204" pitchFamily="18" charset="0"/>
                      </a:rPr>
                      <m:t>, </m:t>
                    </m:r>
                    <m:r>
                      <a:rPr lang="uk-UA" sz="4400" i="1">
                        <a:latin typeface="Cambria Math" panose="02040503050406030204" pitchFamily="18" charset="0"/>
                      </a:rPr>
                      <m:t>𝑍</m:t>
                    </m:r>
                    <m:r>
                      <a:rPr lang="uk-UA" sz="4400" i="1">
                        <a:latin typeface="Cambria Math" panose="02040503050406030204" pitchFamily="18" charset="0"/>
                      </a:rPr>
                      <m:t>, </m:t>
                    </m:r>
                    <m:r>
                      <a:rPr lang="uk-UA" sz="4400" i="1">
                        <a:latin typeface="Cambria Math" panose="02040503050406030204" pitchFamily="18" charset="0"/>
                      </a:rPr>
                      <m:t>𝑃</m:t>
                    </m:r>
                    <m:r>
                      <a:rPr lang="uk-UA" sz="4400" i="1">
                        <a:latin typeface="Cambria Math" panose="02040503050406030204" pitchFamily="18" charset="0"/>
                      </a:rPr>
                      <m:t>, </m:t>
                    </m:r>
                    <m:r>
                      <a:rPr lang="uk-UA" sz="4400" i="1">
                        <a:latin typeface="Cambria Math" panose="02040503050406030204" pitchFamily="18" charset="0"/>
                      </a:rPr>
                      <m:t>𝑉</m:t>
                    </m:r>
                    <m:r>
                      <a:rPr lang="uk-UA" sz="4400" i="1">
                        <a:latin typeface="Cambria Math" panose="02040503050406030204" pitchFamily="18" charset="0"/>
                      </a:rPr>
                      <m:t>}</m:t>
                    </m:r>
                  </m:oMath>
                </a14:m>
                <a:r>
                  <a:rPr lang="uk-UA" sz="4400" dirty="0"/>
                  <a:t> </a:t>
                </a:r>
                <a:endParaRPr lang="en-US" sz="4400" dirty="0"/>
              </a:p>
              <a:p>
                <a:pPr marL="0" indent="0">
                  <a:buNone/>
                </a:pPr>
                <a:r>
                  <a:rPr lang="en-US" sz="4400" dirty="0"/>
                  <a:t>    </a:t>
                </a:r>
                <a:r>
                  <a:rPr lang="uk-UA" sz="3600" dirty="0"/>
                  <a:t>(детектор,</a:t>
                </a:r>
                <a:r>
                  <a:rPr lang="en-US" sz="3600" dirty="0"/>
                  <a:t> </a:t>
                </a:r>
                <a:r>
                  <a:rPr lang="uk-UA" sz="3600" dirty="0"/>
                  <a:t>оптичний потік, глибина, параметри, візуалізація)</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9299" y="924127"/>
                <a:ext cx="12601299" cy="5768521"/>
              </a:xfrm>
              <a:blipFill>
                <a:blip r:embed="rId3"/>
                <a:stretch>
                  <a:fillRect l="-1790" t="-2220" r="-484"/>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D1C49C1D-5C24-C6D8-EF61-35F1618F52B6}"/>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6" name="TextBox 5">
            <a:extLst>
              <a:ext uri="{FF2B5EF4-FFF2-40B4-BE49-F238E27FC236}">
                <a16:creationId xmlns:a16="http://schemas.microsoft.com/office/drawing/2014/main" id="{EA8416AC-8A78-6E2B-FEB5-A20B9DB817E9}"/>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
        <p:nvSpPr>
          <p:cNvPr id="9" name="TextBox 8">
            <a:extLst>
              <a:ext uri="{FF2B5EF4-FFF2-40B4-BE49-F238E27FC236}">
                <a16:creationId xmlns:a16="http://schemas.microsoft.com/office/drawing/2014/main" id="{7BC81388-12CA-0E59-D6D4-7E4EF3984162}"/>
              </a:ext>
            </a:extLst>
          </p:cNvPr>
          <p:cNvSpPr txBox="1"/>
          <p:nvPr/>
        </p:nvSpPr>
        <p:spPr>
          <a:xfrm>
            <a:off x="11729989" y="732181"/>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 y="9136"/>
            <a:ext cx="3667023" cy="2121222"/>
          </a:xfrm>
        </p:spPr>
        <p:txBody>
          <a:bodyPr>
            <a:normAutofit/>
          </a:bodyPr>
          <a:lstStyle/>
          <a:p>
            <a:r>
              <a:rPr lang="uk-UA" sz="4000" dirty="0">
                <a:solidFill>
                  <a:schemeClr val="tx2"/>
                </a:solidFill>
              </a:rPr>
              <a:t>Аналітична модель – </a:t>
            </a:r>
            <a:r>
              <a:rPr lang="en-US" sz="4000" dirty="0">
                <a:solidFill>
                  <a:schemeClr val="tx2"/>
                </a:solidFill>
              </a:rPr>
              <a:t>DETR + Optical Flow</a:t>
            </a:r>
          </a:p>
        </p:txBody>
      </p:sp>
      <p:sp>
        <p:nvSpPr>
          <p:cNvPr id="3" name="Content Placeholder 2"/>
          <p:cNvSpPr>
            <a:spLocks noGrp="1"/>
          </p:cNvSpPr>
          <p:nvPr>
            <p:ph idx="1"/>
          </p:nvPr>
        </p:nvSpPr>
        <p:spPr>
          <a:xfrm>
            <a:off x="-379379" y="2130358"/>
            <a:ext cx="4046707" cy="4718505"/>
          </a:xfrm>
        </p:spPr>
        <p:txBody>
          <a:bodyPr anchor="t">
            <a:normAutofit/>
          </a:bodyPr>
          <a:lstStyle/>
          <a:p>
            <a:r>
              <a:rPr lang="uk-UA" dirty="0">
                <a:solidFill>
                  <a:schemeClr val="tx2"/>
                </a:solidFill>
              </a:rPr>
              <a:t>Вхідний </a:t>
            </a:r>
            <a:r>
              <a:rPr lang="uk-UA" dirty="0" err="1">
                <a:solidFill>
                  <a:schemeClr val="tx2"/>
                </a:solidFill>
              </a:rPr>
              <a:t>відеопотік</a:t>
            </a:r>
            <a:r>
              <a:rPr lang="uk-UA" dirty="0">
                <a:solidFill>
                  <a:schemeClr val="tx2"/>
                </a:solidFill>
              </a:rPr>
              <a:t> → </a:t>
            </a:r>
            <a:r>
              <a:rPr lang="en-US" dirty="0">
                <a:solidFill>
                  <a:schemeClr val="tx2"/>
                </a:solidFill>
              </a:rPr>
              <a:t>DETR (</a:t>
            </a:r>
            <a:r>
              <a:rPr lang="uk-UA" dirty="0">
                <a:solidFill>
                  <a:schemeClr val="tx2"/>
                </a:solidFill>
              </a:rPr>
              <a:t>локалізація об'єктів) → оптичний потік (вектори руху) → аналіз параметрів (швидкість, напрямок)</a:t>
            </a:r>
          </a:p>
        </p:txBody>
      </p:sp>
      <p:sp>
        <p:nvSpPr>
          <p:cNvPr id="4" name="Місце для номера слайда 3">
            <a:extLst>
              <a:ext uri="{FF2B5EF4-FFF2-40B4-BE49-F238E27FC236}">
                <a16:creationId xmlns:a16="http://schemas.microsoft.com/office/drawing/2014/main" id="{9E14E4F2-873C-013D-2290-BBFE45B8AF7C}"/>
              </a:ext>
            </a:extLst>
          </p:cNvPr>
          <p:cNvSpPr>
            <a:spLocks noGrp="1"/>
          </p:cNvSpPr>
          <p:nvPr>
            <p:ph type="sldNum" sz="quarter" idx="12"/>
          </p:nvPr>
        </p:nvSpPr>
        <p:spPr/>
        <p:txBody>
          <a:bodyPr/>
          <a:lstStyle/>
          <a:p>
            <a:fld id="{C1FF6DA9-008F-8B48-92A6-B652298478BF}" type="slidenum">
              <a:rPr lang="en-US" smtClean="0"/>
              <a:t>16</a:t>
            </a:fld>
            <a:endParaRPr lang="en-US"/>
          </a:p>
        </p:txBody>
      </p:sp>
      <p:pic>
        <p:nvPicPr>
          <p:cNvPr id="5" name="Content Placeholder 4">
            <a:extLst>
              <a:ext uri="{FF2B5EF4-FFF2-40B4-BE49-F238E27FC236}">
                <a16:creationId xmlns:a16="http://schemas.microsoft.com/office/drawing/2014/main" id="{FA88A340-0772-37D9-DF95-6BF401269C80}"/>
              </a:ext>
            </a:extLst>
          </p:cNvPr>
          <p:cNvPicPr>
            <a:picLocks noChangeAspect="1"/>
          </p:cNvPicPr>
          <p:nvPr/>
        </p:nvPicPr>
        <p:blipFill>
          <a:blip r:embed="rId3"/>
          <a:srcRect/>
          <a:stretch/>
        </p:blipFill>
        <p:spPr>
          <a:xfrm>
            <a:off x="3584717" y="-46369"/>
            <a:ext cx="7599471" cy="6950737"/>
          </a:xfrm>
          <a:prstGeom prst="rect">
            <a:avLst/>
          </a:prstGeom>
        </p:spPr>
      </p:pic>
      <p:sp>
        <p:nvSpPr>
          <p:cNvPr id="7" name="TextBox 6">
            <a:extLst>
              <a:ext uri="{FF2B5EF4-FFF2-40B4-BE49-F238E27FC236}">
                <a16:creationId xmlns:a16="http://schemas.microsoft.com/office/drawing/2014/main" id="{3696E92E-9353-30F8-37B2-D68435F98C57}"/>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
        <p:nvSpPr>
          <p:cNvPr id="9" name="TextBox 8">
            <a:extLst>
              <a:ext uri="{FF2B5EF4-FFF2-40B4-BE49-F238E27FC236}">
                <a16:creationId xmlns:a16="http://schemas.microsoft.com/office/drawing/2014/main" id="{82C4DF5B-D82F-2D22-43C9-363C0E52D4CB}"/>
              </a:ext>
            </a:extLst>
          </p:cNvPr>
          <p:cNvSpPr txBox="1"/>
          <p:nvPr/>
        </p:nvSpPr>
        <p:spPr>
          <a:xfrm>
            <a:off x="11729684" y="780307"/>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4B0578AF-26B5-1BA6-9A4B-0567AF5528EC}"/>
              </a:ext>
            </a:extLst>
          </p:cNvPr>
          <p:cNvPicPr>
            <a:picLocks noChangeAspect="1"/>
          </p:cNvPicPr>
          <p:nvPr/>
        </p:nvPicPr>
        <p:blipFill>
          <a:blip r:embed="rId3"/>
          <a:stretch>
            <a:fillRect/>
          </a:stretch>
        </p:blipFill>
        <p:spPr>
          <a:xfrm>
            <a:off x="365760" y="-108068"/>
            <a:ext cx="3969038" cy="6966068"/>
          </a:xfrm>
          <a:prstGeom prst="rect">
            <a:avLst/>
          </a:prstGeom>
        </p:spPr>
      </p:pic>
      <p:sp>
        <p:nvSpPr>
          <p:cNvPr id="2" name="Title 1"/>
          <p:cNvSpPr>
            <a:spLocks noGrp="1"/>
          </p:cNvSpPr>
          <p:nvPr>
            <p:ph type="title"/>
          </p:nvPr>
        </p:nvSpPr>
        <p:spPr>
          <a:xfrm>
            <a:off x="3830892" y="1110563"/>
            <a:ext cx="7857202" cy="743349"/>
          </a:xfrm>
        </p:spPr>
        <p:txBody>
          <a:bodyPr anchor="b">
            <a:noAutofit/>
          </a:bodyPr>
          <a:lstStyle/>
          <a:p>
            <a:r>
              <a:rPr lang="uk-UA" sz="6000" dirty="0">
                <a:solidFill>
                  <a:srgbClr val="595959"/>
                </a:solidFill>
              </a:rPr>
              <a:t>Об'єднання моделей – інтегральна схема</a:t>
            </a:r>
          </a:p>
        </p:txBody>
      </p:sp>
      <p:sp>
        <p:nvSpPr>
          <p:cNvPr id="3" name="Content Placeholder 2"/>
          <p:cNvSpPr>
            <a:spLocks noGrp="1"/>
          </p:cNvSpPr>
          <p:nvPr>
            <p:ph idx="1"/>
          </p:nvPr>
        </p:nvSpPr>
        <p:spPr>
          <a:xfrm>
            <a:off x="4208612" y="2457027"/>
            <a:ext cx="7605668" cy="3797858"/>
          </a:xfrm>
        </p:spPr>
        <p:txBody>
          <a:bodyPr anchor="t">
            <a:noAutofit/>
          </a:bodyPr>
          <a:lstStyle/>
          <a:p>
            <a:pPr marL="0" indent="0">
              <a:buNone/>
            </a:pPr>
            <a:r>
              <a:rPr lang="uk-UA" sz="4800" dirty="0" err="1">
                <a:solidFill>
                  <a:srgbClr val="595959"/>
                </a:solidFill>
              </a:rPr>
              <a:t>Відеопотік</a:t>
            </a:r>
            <a:r>
              <a:rPr lang="uk-UA" sz="4800" dirty="0">
                <a:solidFill>
                  <a:srgbClr val="595959"/>
                </a:solidFill>
              </a:rPr>
              <a:t> → оптичний потік → </a:t>
            </a:r>
            <a:r>
              <a:rPr lang="uk-UA" sz="4800" dirty="0" err="1">
                <a:solidFill>
                  <a:srgbClr val="595959"/>
                </a:solidFill>
              </a:rPr>
              <a:t>трансформерна</a:t>
            </a:r>
            <a:r>
              <a:rPr lang="uk-UA" sz="4800" dirty="0">
                <a:solidFill>
                  <a:srgbClr val="595959"/>
                </a:solidFill>
              </a:rPr>
              <a:t> мережа → ансамблевий модуль (</a:t>
            </a:r>
            <a:r>
              <a:rPr lang="en-US" sz="4800" dirty="0">
                <a:solidFill>
                  <a:srgbClr val="595959"/>
                </a:solidFill>
              </a:rPr>
              <a:t>Bagging/Boosting) → </a:t>
            </a:r>
            <a:r>
              <a:rPr lang="uk-UA" sz="4800" dirty="0">
                <a:solidFill>
                  <a:srgbClr val="595959"/>
                </a:solidFill>
              </a:rPr>
              <a:t>прогноз параметрів</a:t>
            </a:r>
          </a:p>
        </p:txBody>
      </p:sp>
      <p:sp>
        <p:nvSpPr>
          <p:cNvPr id="4" name="Місце для номера слайда 3">
            <a:extLst>
              <a:ext uri="{FF2B5EF4-FFF2-40B4-BE49-F238E27FC236}">
                <a16:creationId xmlns:a16="http://schemas.microsoft.com/office/drawing/2014/main" id="{6E406717-2F19-DFBF-B5B1-641B92325478}"/>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7" name="TextBox 6">
            <a:extLst>
              <a:ext uri="{FF2B5EF4-FFF2-40B4-BE49-F238E27FC236}">
                <a16:creationId xmlns:a16="http://schemas.microsoft.com/office/drawing/2014/main" id="{017F86CE-7062-D788-7CF2-2E0F56B3B338}"/>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
        <p:nvSpPr>
          <p:cNvPr id="9" name="TextBox 8">
            <a:extLst>
              <a:ext uri="{FF2B5EF4-FFF2-40B4-BE49-F238E27FC236}">
                <a16:creationId xmlns:a16="http://schemas.microsoft.com/office/drawing/2014/main" id="{04094911-5B63-DA12-6633-2BEC77C1653C}"/>
              </a:ext>
            </a:extLst>
          </p:cNvPr>
          <p:cNvSpPr txBox="1"/>
          <p:nvPr/>
        </p:nvSpPr>
        <p:spPr>
          <a:xfrm>
            <a:off x="11752687" y="755881"/>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
        <p:nvSpPr>
          <p:cNvPr id="12" name="TextBox 11">
            <a:extLst>
              <a:ext uri="{FF2B5EF4-FFF2-40B4-BE49-F238E27FC236}">
                <a16:creationId xmlns:a16="http://schemas.microsoft.com/office/drawing/2014/main" id="{6B7F4E9B-311D-A12A-07A3-6D9738D30E15}"/>
              </a:ext>
            </a:extLst>
          </p:cNvPr>
          <p:cNvSpPr txBox="1"/>
          <p:nvPr/>
        </p:nvSpPr>
        <p:spPr>
          <a:xfrm>
            <a:off x="11848544" y="1442759"/>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A045-BBC3-1677-506B-1456398B7593}"/>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03DBC2-7999-8C48-1216-312194D895BF}"/>
              </a:ext>
            </a:extLst>
          </p:cNvPr>
          <p:cNvPicPr>
            <a:picLocks noGrp="1" noChangeAspect="1"/>
          </p:cNvPicPr>
          <p:nvPr>
            <p:ph idx="1"/>
          </p:nvPr>
        </p:nvPicPr>
        <p:blipFill>
          <a:blip r:embed="rId3"/>
          <a:stretch>
            <a:fillRect/>
          </a:stretch>
        </p:blipFill>
        <p:spPr>
          <a:xfrm>
            <a:off x="3119336" y="0"/>
            <a:ext cx="9144000" cy="6858000"/>
          </a:xfrm>
          <a:prstGeom prst="rect">
            <a:avLst/>
          </a:prstGeom>
        </p:spPr>
      </p:pic>
      <p:sp>
        <p:nvSpPr>
          <p:cNvPr id="4" name="Slide Number Placeholder 3">
            <a:extLst>
              <a:ext uri="{FF2B5EF4-FFF2-40B4-BE49-F238E27FC236}">
                <a16:creationId xmlns:a16="http://schemas.microsoft.com/office/drawing/2014/main" id="{311D5734-3313-CD63-26C0-901E3C9785DE}"/>
              </a:ext>
            </a:extLst>
          </p:cNvPr>
          <p:cNvSpPr>
            <a:spLocks noGrp="1"/>
          </p:cNvSpPr>
          <p:nvPr>
            <p:ph type="sldNum" sz="quarter" idx="12"/>
          </p:nvPr>
        </p:nvSpPr>
        <p:spPr/>
        <p:txBody>
          <a:bodyPr/>
          <a:lstStyle/>
          <a:p>
            <a:fld id="{C1FF6DA9-008F-8B48-92A6-B652298478BF}" type="slidenum">
              <a:rPr lang="en-US" smtClean="0"/>
              <a:pPr/>
              <a:t>18</a:t>
            </a:fld>
            <a:endParaRPr lang="en-US" sz="3200" dirty="0"/>
          </a:p>
        </p:txBody>
      </p:sp>
      <p:sp>
        <p:nvSpPr>
          <p:cNvPr id="3" name="TextBox 2">
            <a:extLst>
              <a:ext uri="{FF2B5EF4-FFF2-40B4-BE49-F238E27FC236}">
                <a16:creationId xmlns:a16="http://schemas.microsoft.com/office/drawing/2014/main" id="{A83FA39D-D9D7-E11D-1C76-8ED2209AF8EF}"/>
              </a:ext>
            </a:extLst>
          </p:cNvPr>
          <p:cNvSpPr txBox="1"/>
          <p:nvPr/>
        </p:nvSpPr>
        <p:spPr>
          <a:xfrm>
            <a:off x="0" y="5342"/>
            <a:ext cx="3119336" cy="1754326"/>
          </a:xfrm>
          <a:prstGeom prst="rect">
            <a:avLst/>
          </a:prstGeom>
          <a:noFill/>
        </p:spPr>
        <p:txBody>
          <a:bodyPr wrap="square">
            <a:spAutoFit/>
          </a:bodyPr>
          <a:lstStyle/>
          <a:p>
            <a:r>
              <a:rPr lang="ru-RU" sz="3600" dirty="0"/>
              <a:t>Структура </a:t>
            </a:r>
            <a:r>
              <a:rPr lang="ru-RU" sz="3600" dirty="0" err="1"/>
              <a:t>інформаційної</a:t>
            </a:r>
            <a:r>
              <a:rPr lang="ru-RU" sz="3600" dirty="0"/>
              <a:t> </a:t>
            </a:r>
            <a:r>
              <a:rPr lang="ru-RU" sz="3600" dirty="0" err="1"/>
              <a:t>технології</a:t>
            </a:r>
            <a:endParaRPr lang="en-US" sz="3600" dirty="0"/>
          </a:p>
        </p:txBody>
      </p:sp>
      <p:sp>
        <p:nvSpPr>
          <p:cNvPr id="6" name="Content Placeholder 2">
            <a:extLst>
              <a:ext uri="{FF2B5EF4-FFF2-40B4-BE49-F238E27FC236}">
                <a16:creationId xmlns:a16="http://schemas.microsoft.com/office/drawing/2014/main" id="{DD901EB8-CF8D-AFDD-6893-82FB2A3FECC9}"/>
              </a:ext>
            </a:extLst>
          </p:cNvPr>
          <p:cNvSpPr txBox="1">
            <a:spLocks/>
          </p:cNvSpPr>
          <p:nvPr/>
        </p:nvSpPr>
        <p:spPr>
          <a:xfrm>
            <a:off x="-394370" y="2532643"/>
            <a:ext cx="3513706" cy="38237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uk-UA" sz="2800" dirty="0"/>
              <a:t>Вхідні дані → попередня обробка → три гілки: оптичний потік, структура сцени, виявлення об'єктів → об'єднання → ансамблева корекція → вихід</a:t>
            </a:r>
          </a:p>
        </p:txBody>
      </p:sp>
      <p:sp>
        <p:nvSpPr>
          <p:cNvPr id="7" name="TextBox 6">
            <a:extLst>
              <a:ext uri="{FF2B5EF4-FFF2-40B4-BE49-F238E27FC236}">
                <a16:creationId xmlns:a16="http://schemas.microsoft.com/office/drawing/2014/main" id="{04D541F9-85E5-1080-3B3B-0B33333AA786}"/>
              </a:ext>
            </a:extLst>
          </p:cNvPr>
          <p:cNvSpPr txBox="1"/>
          <p:nvPr/>
        </p:nvSpPr>
        <p:spPr>
          <a:xfrm>
            <a:off x="11622562" y="90497"/>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
        <p:nvSpPr>
          <p:cNvPr id="9" name="TextBox 8">
            <a:extLst>
              <a:ext uri="{FF2B5EF4-FFF2-40B4-BE49-F238E27FC236}">
                <a16:creationId xmlns:a16="http://schemas.microsoft.com/office/drawing/2014/main" id="{10BEAAFB-B5EB-F240-CF02-0BCBF0967A34}"/>
              </a:ext>
            </a:extLst>
          </p:cNvPr>
          <p:cNvSpPr txBox="1"/>
          <p:nvPr/>
        </p:nvSpPr>
        <p:spPr>
          <a:xfrm>
            <a:off x="11751411" y="882505"/>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Tree>
    <p:extLst>
      <p:ext uri="{BB962C8B-B14F-4D97-AF65-F5344CB8AC3E}">
        <p14:creationId xmlns:p14="http://schemas.microsoft.com/office/powerpoint/2010/main" val="1719231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D8DAC-24FD-E7E3-8BBA-D53047BB7CD7}"/>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418CCD-A482-7E5A-62D9-105ADA54EB13}"/>
              </a:ext>
            </a:extLst>
          </p:cNvPr>
          <p:cNvPicPr>
            <a:picLocks noGrp="1" noChangeAspect="1"/>
          </p:cNvPicPr>
          <p:nvPr>
            <p:ph idx="1"/>
          </p:nvPr>
        </p:nvPicPr>
        <p:blipFill>
          <a:blip r:embed="rId3"/>
          <a:stretch>
            <a:fillRect/>
          </a:stretch>
        </p:blipFill>
        <p:spPr>
          <a:xfrm>
            <a:off x="3129064" y="0"/>
            <a:ext cx="9144000" cy="6858000"/>
          </a:xfrm>
          <a:prstGeom prst="rect">
            <a:avLst/>
          </a:prstGeom>
        </p:spPr>
      </p:pic>
      <p:sp>
        <p:nvSpPr>
          <p:cNvPr id="4" name="Slide Number Placeholder 3">
            <a:extLst>
              <a:ext uri="{FF2B5EF4-FFF2-40B4-BE49-F238E27FC236}">
                <a16:creationId xmlns:a16="http://schemas.microsoft.com/office/drawing/2014/main" id="{F15BC701-280D-DF78-1F3C-F4C522796640}"/>
              </a:ext>
            </a:extLst>
          </p:cNvPr>
          <p:cNvSpPr>
            <a:spLocks noGrp="1"/>
          </p:cNvSpPr>
          <p:nvPr>
            <p:ph type="sldNum" sz="quarter" idx="12"/>
          </p:nvPr>
        </p:nvSpPr>
        <p:spPr/>
        <p:txBody>
          <a:bodyPr/>
          <a:lstStyle/>
          <a:p>
            <a:fld id="{C1FF6DA9-008F-8B48-92A6-B652298478BF}" type="slidenum">
              <a:rPr lang="en-US" smtClean="0"/>
              <a:pPr/>
              <a:t>19</a:t>
            </a:fld>
            <a:endParaRPr lang="en-US" sz="3200" dirty="0"/>
          </a:p>
        </p:txBody>
      </p:sp>
      <p:sp>
        <p:nvSpPr>
          <p:cNvPr id="7" name="TextBox 6">
            <a:extLst>
              <a:ext uri="{FF2B5EF4-FFF2-40B4-BE49-F238E27FC236}">
                <a16:creationId xmlns:a16="http://schemas.microsoft.com/office/drawing/2014/main" id="{A9C60BB8-E406-ECB6-0D8B-94FC07E96F0A}"/>
              </a:ext>
            </a:extLst>
          </p:cNvPr>
          <p:cNvSpPr txBox="1"/>
          <p:nvPr/>
        </p:nvSpPr>
        <p:spPr>
          <a:xfrm>
            <a:off x="239949" y="16505"/>
            <a:ext cx="2889115" cy="1261884"/>
          </a:xfrm>
          <a:prstGeom prst="rect">
            <a:avLst/>
          </a:prstGeom>
          <a:noFill/>
        </p:spPr>
        <p:txBody>
          <a:bodyPr wrap="square">
            <a:spAutoFit/>
          </a:bodyPr>
          <a:lstStyle/>
          <a:p>
            <a:r>
              <a:rPr lang="uk-UA" sz="3800" dirty="0"/>
              <a:t>Програмна реалізація</a:t>
            </a:r>
            <a:endParaRPr lang="en-US" dirty="0"/>
          </a:p>
        </p:txBody>
      </p:sp>
      <p:sp>
        <p:nvSpPr>
          <p:cNvPr id="11" name="TextBox 10">
            <a:extLst>
              <a:ext uri="{FF2B5EF4-FFF2-40B4-BE49-F238E27FC236}">
                <a16:creationId xmlns:a16="http://schemas.microsoft.com/office/drawing/2014/main" id="{D7DEF4B0-D9CF-FE9C-D4A7-B5F193ABC63E}"/>
              </a:ext>
            </a:extLst>
          </p:cNvPr>
          <p:cNvSpPr txBox="1"/>
          <p:nvPr/>
        </p:nvSpPr>
        <p:spPr>
          <a:xfrm>
            <a:off x="0" y="1436705"/>
            <a:ext cx="3200400" cy="5262979"/>
          </a:xfrm>
          <a:prstGeom prst="rect">
            <a:avLst/>
          </a:prstGeom>
          <a:noFill/>
        </p:spPr>
        <p:txBody>
          <a:bodyPr wrap="square">
            <a:spAutoFit/>
          </a:bodyPr>
          <a:lstStyle/>
          <a:p>
            <a:r>
              <a:rPr lang="en-US" sz="2800" dirty="0"/>
              <a:t>Video Stream Processing → DETR Model → Optical Flow → Forming and Displaying Results</a:t>
            </a:r>
          </a:p>
          <a:p>
            <a:r>
              <a:rPr lang="uk-UA" sz="2800" dirty="0"/>
              <a:t>Модульна архітектура, можливість заміни компонентів (</a:t>
            </a:r>
            <a:r>
              <a:rPr lang="en-US" sz="2800" dirty="0"/>
              <a:t>YOLO </a:t>
            </a:r>
            <a:r>
              <a:rPr lang="uk-UA" sz="2800" dirty="0"/>
              <a:t>замість </a:t>
            </a:r>
            <a:r>
              <a:rPr lang="en-US" sz="2800" dirty="0"/>
              <a:t>DETR, </a:t>
            </a:r>
            <a:r>
              <a:rPr lang="en-US" sz="2800" dirty="0" err="1"/>
              <a:t>FlowNet</a:t>
            </a:r>
            <a:r>
              <a:rPr lang="en-US" sz="2800" dirty="0"/>
              <a:t> </a:t>
            </a:r>
            <a:r>
              <a:rPr lang="uk-UA" sz="2800" dirty="0"/>
              <a:t>замість </a:t>
            </a:r>
            <a:r>
              <a:rPr lang="en-US" sz="2800" dirty="0" err="1"/>
              <a:t>Farneback</a:t>
            </a:r>
            <a:r>
              <a:rPr lang="en-US" sz="2800" dirty="0"/>
              <a:t>)</a:t>
            </a:r>
          </a:p>
        </p:txBody>
      </p:sp>
      <p:sp>
        <p:nvSpPr>
          <p:cNvPr id="6" name="TextBox 5">
            <a:extLst>
              <a:ext uri="{FF2B5EF4-FFF2-40B4-BE49-F238E27FC236}">
                <a16:creationId xmlns:a16="http://schemas.microsoft.com/office/drawing/2014/main" id="{93D5B1AB-F5DF-F1A2-A641-1BDAAFECE20F}"/>
              </a:ext>
            </a:extLst>
          </p:cNvPr>
          <p:cNvSpPr txBox="1"/>
          <p:nvPr/>
        </p:nvSpPr>
        <p:spPr>
          <a:xfrm>
            <a:off x="10995808" y="2024468"/>
            <a:ext cx="876747" cy="822305"/>
          </a:xfrm>
          <a:prstGeom prst="flowChartDelay">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
        <p:nvSpPr>
          <p:cNvPr id="9" name="TextBox 8">
            <a:extLst>
              <a:ext uri="{FF2B5EF4-FFF2-40B4-BE49-F238E27FC236}">
                <a16:creationId xmlns:a16="http://schemas.microsoft.com/office/drawing/2014/main" id="{5B5F311A-B3AA-E170-D330-1EBD959F9BA0}"/>
              </a:ext>
            </a:extLst>
          </p:cNvPr>
          <p:cNvSpPr txBox="1"/>
          <p:nvPr/>
        </p:nvSpPr>
        <p:spPr>
          <a:xfrm>
            <a:off x="11598925" y="115010"/>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Tree>
    <p:extLst>
      <p:ext uri="{BB962C8B-B14F-4D97-AF65-F5344CB8AC3E}">
        <p14:creationId xmlns:p14="http://schemas.microsoft.com/office/powerpoint/2010/main" val="1064921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3477"/>
            <a:ext cx="12192000" cy="1249394"/>
          </a:xfrm>
        </p:spPr>
        <p:txBody>
          <a:bodyPr vert="horz" lIns="91440" tIns="45720" rIns="91440" bIns="45720" rtlCol="0" anchor="ctr">
            <a:noAutofit/>
          </a:bodyPr>
          <a:lstStyle/>
          <a:p>
            <a:pPr defTabSz="914400">
              <a:lnSpc>
                <a:spcPct val="90000"/>
              </a:lnSpc>
            </a:pPr>
            <a:r>
              <a:rPr lang="en-US" sz="4800" kern="1200" dirty="0" err="1">
                <a:solidFill>
                  <a:schemeClr val="tx1"/>
                </a:solidFill>
                <a:latin typeface="+mj-lt"/>
                <a:ea typeface="+mj-ea"/>
                <a:cs typeface="+mj-cs"/>
              </a:rPr>
              <a:t>Виявлення</a:t>
            </a:r>
            <a:r>
              <a:rPr lang="en-US" sz="4800" kern="1200" dirty="0">
                <a:solidFill>
                  <a:schemeClr val="tx1"/>
                </a:solidFill>
                <a:latin typeface="+mj-lt"/>
                <a:ea typeface="+mj-ea"/>
                <a:cs typeface="+mj-cs"/>
              </a:rPr>
              <a:t> </a:t>
            </a:r>
            <a:r>
              <a:rPr lang="en-US" sz="4800" kern="1200" dirty="0" err="1">
                <a:solidFill>
                  <a:schemeClr val="tx1"/>
                </a:solidFill>
                <a:latin typeface="+mj-lt"/>
                <a:ea typeface="+mj-ea"/>
                <a:cs typeface="+mj-cs"/>
              </a:rPr>
              <a:t>об</a:t>
            </a:r>
            <a:r>
              <a:rPr lang="uk-UA" sz="4800" kern="1200" dirty="0">
                <a:solidFill>
                  <a:schemeClr val="tx1"/>
                </a:solidFill>
                <a:latin typeface="+mj-lt"/>
                <a:ea typeface="+mj-ea"/>
                <a:cs typeface="+mj-cs"/>
              </a:rPr>
              <a:t>'</a:t>
            </a:r>
            <a:r>
              <a:rPr lang="en-US" sz="4800" kern="1200" dirty="0" err="1">
                <a:solidFill>
                  <a:schemeClr val="tx1"/>
                </a:solidFill>
                <a:latin typeface="+mj-lt"/>
                <a:ea typeface="+mj-ea"/>
                <a:cs typeface="+mj-cs"/>
              </a:rPr>
              <a:t>єктів</a:t>
            </a:r>
            <a:r>
              <a:rPr lang="en-US" sz="4800" kern="1200" dirty="0">
                <a:solidFill>
                  <a:schemeClr val="tx1"/>
                </a:solidFill>
                <a:latin typeface="+mj-lt"/>
                <a:ea typeface="+mj-ea"/>
                <a:cs typeface="+mj-cs"/>
              </a:rPr>
              <a:t> DETR – </a:t>
            </a:r>
            <a:r>
              <a:rPr lang="en-US" sz="4800" kern="1200" dirty="0" err="1">
                <a:solidFill>
                  <a:schemeClr val="tx1"/>
                </a:solidFill>
                <a:latin typeface="+mj-lt"/>
                <a:ea typeface="+mj-ea"/>
                <a:cs typeface="+mj-cs"/>
              </a:rPr>
              <a:t>параметри</a:t>
            </a:r>
            <a:endParaRPr lang="en-US" sz="4800" kern="1200" dirty="0">
              <a:solidFill>
                <a:schemeClr val="tx1"/>
              </a:solidFill>
              <a:latin typeface="+mj-lt"/>
              <a:ea typeface="+mj-ea"/>
              <a:cs typeface="+mj-cs"/>
            </a:endParaRPr>
          </a:p>
        </p:txBody>
      </p:sp>
      <p:sp>
        <p:nvSpPr>
          <p:cNvPr id="4" name="Місце для номера слайда 3">
            <a:extLst>
              <a:ext uri="{FF2B5EF4-FFF2-40B4-BE49-F238E27FC236}">
                <a16:creationId xmlns:a16="http://schemas.microsoft.com/office/drawing/2014/main" id="{51E146C8-6262-3682-1908-605922A4EAE5}"/>
              </a:ext>
            </a:extLst>
          </p:cNvPr>
          <p:cNvSpPr>
            <a:spLocks noGrp="1"/>
          </p:cNvSpPr>
          <p:nvPr>
            <p:ph type="sldNum" sz="quarter" idx="12"/>
          </p:nvPr>
        </p:nvSpPr>
        <p:spPr/>
        <p:txBody>
          <a:bodyPr/>
          <a:lstStyle/>
          <a:p>
            <a:fld id="{C1FF6DA9-008F-8B48-92A6-B652298478BF}" type="slidenum">
              <a:rPr lang="en-US" smtClean="0"/>
              <a:t>20</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370945820"/>
              </p:ext>
            </p:extLst>
          </p:nvPr>
        </p:nvGraphicFramePr>
        <p:xfrm>
          <a:off x="0" y="1167319"/>
          <a:ext cx="12996153" cy="5189030"/>
        </p:xfrm>
        <a:graphic>
          <a:graphicData uri="http://schemas.openxmlformats.org/drawingml/2006/table">
            <a:tbl>
              <a:tblPr firstRow="1" bandRow="1">
                <a:tableStyleId>{3B4B98B0-60AC-42C2-AFA5-B58CD77FA1E5}</a:tableStyleId>
              </a:tblPr>
              <a:tblGrid>
                <a:gridCol w="1081217">
                  <a:extLst>
                    <a:ext uri="{9D8B030D-6E8A-4147-A177-3AD203B41FA5}">
                      <a16:colId xmlns:a16="http://schemas.microsoft.com/office/drawing/2014/main" val="20000"/>
                    </a:ext>
                  </a:extLst>
                </a:gridCol>
                <a:gridCol w="1617777">
                  <a:extLst>
                    <a:ext uri="{9D8B030D-6E8A-4147-A177-3AD203B41FA5}">
                      <a16:colId xmlns:a16="http://schemas.microsoft.com/office/drawing/2014/main" val="20001"/>
                    </a:ext>
                  </a:extLst>
                </a:gridCol>
                <a:gridCol w="2059430">
                  <a:extLst>
                    <a:ext uri="{9D8B030D-6E8A-4147-A177-3AD203B41FA5}">
                      <a16:colId xmlns:a16="http://schemas.microsoft.com/office/drawing/2014/main" val="20002"/>
                    </a:ext>
                  </a:extLst>
                </a:gridCol>
                <a:gridCol w="2059430">
                  <a:extLst>
                    <a:ext uri="{9D8B030D-6E8A-4147-A177-3AD203B41FA5}">
                      <a16:colId xmlns:a16="http://schemas.microsoft.com/office/drawing/2014/main" val="20003"/>
                    </a:ext>
                  </a:extLst>
                </a:gridCol>
                <a:gridCol w="2059430">
                  <a:extLst>
                    <a:ext uri="{9D8B030D-6E8A-4147-A177-3AD203B41FA5}">
                      <a16:colId xmlns:a16="http://schemas.microsoft.com/office/drawing/2014/main" val="20004"/>
                    </a:ext>
                  </a:extLst>
                </a:gridCol>
                <a:gridCol w="2059430">
                  <a:extLst>
                    <a:ext uri="{9D8B030D-6E8A-4147-A177-3AD203B41FA5}">
                      <a16:colId xmlns:a16="http://schemas.microsoft.com/office/drawing/2014/main" val="20005"/>
                    </a:ext>
                  </a:extLst>
                </a:gridCol>
                <a:gridCol w="2059439">
                  <a:extLst>
                    <a:ext uri="{9D8B030D-6E8A-4147-A177-3AD203B41FA5}">
                      <a16:colId xmlns:a16="http://schemas.microsoft.com/office/drawing/2014/main" val="20006"/>
                    </a:ext>
                  </a:extLst>
                </a:gridCol>
              </a:tblGrid>
              <a:tr h="741290">
                <a:tc>
                  <a:txBody>
                    <a:bodyPr/>
                    <a:lstStyle/>
                    <a:p>
                      <a:pPr>
                        <a:defRPr b="1"/>
                      </a:pPr>
                      <a:r>
                        <a:rPr lang="en-US" sz="2100"/>
                        <a:t>ID</a:t>
                      </a:r>
                    </a:p>
                  </a:txBody>
                  <a:tcPr marL="106755" marR="106755" marT="53378" marB="53378"/>
                </a:tc>
                <a:tc>
                  <a:txBody>
                    <a:bodyPr/>
                    <a:lstStyle/>
                    <a:p>
                      <a:pPr>
                        <a:defRPr b="1"/>
                      </a:pPr>
                      <a:r>
                        <a:rPr lang="uk-UA" sz="2100"/>
                        <a:t>Клас</a:t>
                      </a:r>
                    </a:p>
                  </a:txBody>
                  <a:tcPr marL="106755" marR="106755" marT="53378" marB="53378"/>
                </a:tc>
                <a:tc>
                  <a:txBody>
                    <a:bodyPr/>
                    <a:lstStyle/>
                    <a:p>
                      <a:pPr>
                        <a:defRPr b="1"/>
                      </a:pPr>
                      <a:r>
                        <a:rPr lang="uk-UA" sz="2100" dirty="0"/>
                        <a:t>Довіра</a:t>
                      </a:r>
                    </a:p>
                  </a:txBody>
                  <a:tcPr marL="106755" marR="106755" marT="53378" marB="53378"/>
                </a:tc>
                <a:tc>
                  <a:txBody>
                    <a:bodyPr/>
                    <a:lstStyle/>
                    <a:p>
                      <a:pPr>
                        <a:defRPr b="1"/>
                      </a:pPr>
                      <a:r>
                        <a:rPr lang="en-US" sz="2100" dirty="0" err="1"/>
                        <a:t>x,y</a:t>
                      </a:r>
                      <a:r>
                        <a:rPr lang="en-US" sz="2100" dirty="0"/>
                        <a:t> (</a:t>
                      </a:r>
                      <a:r>
                        <a:rPr lang="uk-UA" sz="2100" dirty="0" err="1"/>
                        <a:t>пікс</a:t>
                      </a:r>
                      <a:r>
                        <a:rPr lang="uk-UA" sz="2100" dirty="0"/>
                        <a:t>)</a:t>
                      </a:r>
                    </a:p>
                  </a:txBody>
                  <a:tcPr marL="106755" marR="106755" marT="53378" marB="53378"/>
                </a:tc>
                <a:tc>
                  <a:txBody>
                    <a:bodyPr/>
                    <a:lstStyle/>
                    <a:p>
                      <a:pPr>
                        <a:defRPr b="1"/>
                      </a:pPr>
                      <a:r>
                        <a:rPr lang="en-US" sz="2100"/>
                        <a:t>z (</a:t>
                      </a:r>
                      <a:r>
                        <a:rPr lang="uk-UA" sz="2100"/>
                        <a:t>відносна)</a:t>
                      </a:r>
                    </a:p>
                  </a:txBody>
                  <a:tcPr marL="106755" marR="106755" marT="53378" marB="53378"/>
                </a:tc>
                <a:tc>
                  <a:txBody>
                    <a:bodyPr/>
                    <a:lstStyle/>
                    <a:p>
                      <a:pPr>
                        <a:defRPr b="1"/>
                      </a:pPr>
                      <a:r>
                        <a:rPr lang="en-US" sz="2100"/>
                        <a:t>v (px/</a:t>
                      </a:r>
                      <a:r>
                        <a:rPr lang="uk-UA" sz="2100"/>
                        <a:t>кадр)</a:t>
                      </a:r>
                    </a:p>
                  </a:txBody>
                  <a:tcPr marL="106755" marR="106755" marT="53378" marB="53378"/>
                </a:tc>
                <a:tc>
                  <a:txBody>
                    <a:bodyPr/>
                    <a:lstStyle/>
                    <a:p>
                      <a:pPr>
                        <a:defRPr b="1"/>
                      </a:pPr>
                      <a:r>
                        <a:rPr lang="el-GR" sz="2100"/>
                        <a:t>θ (</a:t>
                      </a:r>
                      <a:r>
                        <a:rPr lang="uk-UA" sz="2100"/>
                        <a:t>град)</a:t>
                      </a:r>
                    </a:p>
                  </a:txBody>
                  <a:tcPr marL="106755" marR="106755" marT="53378" marB="53378"/>
                </a:tc>
                <a:extLst>
                  <a:ext uri="{0D108BD9-81ED-4DB2-BD59-A6C34878D82A}">
                    <a16:rowId xmlns:a16="http://schemas.microsoft.com/office/drawing/2014/main" val="10000"/>
                  </a:ext>
                </a:extLst>
              </a:tr>
              <a:tr h="741290">
                <a:tc>
                  <a:txBody>
                    <a:bodyPr/>
                    <a:lstStyle/>
                    <a:p>
                      <a:r>
                        <a:rPr lang="en-US" sz="2100"/>
                        <a:t>0</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658,5;281,0</a:t>
                      </a:r>
                    </a:p>
                  </a:txBody>
                  <a:tcPr marL="106755" marR="106755" marT="53378" marB="53378"/>
                </a:tc>
                <a:tc>
                  <a:txBody>
                    <a:bodyPr/>
                    <a:lstStyle/>
                    <a:p>
                      <a:r>
                        <a:rPr lang="en-US" sz="2100"/>
                        <a:t>93,0</a:t>
                      </a:r>
                    </a:p>
                  </a:txBody>
                  <a:tcPr marL="106755" marR="106755" marT="53378" marB="53378"/>
                </a:tc>
                <a:tc>
                  <a:txBody>
                    <a:bodyPr/>
                    <a:lstStyle/>
                    <a:p>
                      <a:r>
                        <a:rPr lang="en-US" sz="2100" dirty="0"/>
                        <a:t>6,526</a:t>
                      </a:r>
                    </a:p>
                  </a:txBody>
                  <a:tcPr marL="106755" marR="106755" marT="53378" marB="53378"/>
                </a:tc>
                <a:tc>
                  <a:txBody>
                    <a:bodyPr/>
                    <a:lstStyle/>
                    <a:p>
                      <a:r>
                        <a:rPr lang="en-US" sz="2100"/>
                        <a:t>175,5</a:t>
                      </a:r>
                    </a:p>
                  </a:txBody>
                  <a:tcPr marL="106755" marR="106755" marT="53378" marB="53378"/>
                </a:tc>
                <a:extLst>
                  <a:ext uri="{0D108BD9-81ED-4DB2-BD59-A6C34878D82A}">
                    <a16:rowId xmlns:a16="http://schemas.microsoft.com/office/drawing/2014/main" val="10001"/>
                  </a:ext>
                </a:extLst>
              </a:tr>
              <a:tr h="741290">
                <a:tc>
                  <a:txBody>
                    <a:bodyPr/>
                    <a:lstStyle/>
                    <a:p>
                      <a:r>
                        <a:rPr lang="en-US" sz="2100"/>
                        <a:t>1</a:t>
                      </a:r>
                    </a:p>
                  </a:txBody>
                  <a:tcPr marL="106755" marR="106755" marT="53378" marB="53378"/>
                </a:tc>
                <a:tc>
                  <a:txBody>
                    <a:bodyPr/>
                    <a:lstStyle/>
                    <a:p>
                      <a:r>
                        <a:rPr lang="en-US" sz="2100"/>
                        <a:t>3</a:t>
                      </a:r>
                    </a:p>
                  </a:txBody>
                  <a:tcPr marL="106755" marR="106755" marT="53378" marB="53378"/>
                </a:tc>
                <a:tc>
                  <a:txBody>
                    <a:bodyPr/>
                    <a:lstStyle/>
                    <a:p>
                      <a:r>
                        <a:rPr lang="en-US" sz="2100"/>
                        <a:t>0,99</a:t>
                      </a:r>
                    </a:p>
                  </a:txBody>
                  <a:tcPr marL="106755" marR="106755" marT="53378" marB="53378"/>
                </a:tc>
                <a:tc>
                  <a:txBody>
                    <a:bodyPr/>
                    <a:lstStyle/>
                    <a:p>
                      <a:r>
                        <a:rPr lang="en-US" sz="2100"/>
                        <a:t>750,0;70,0</a:t>
                      </a:r>
                    </a:p>
                  </a:txBody>
                  <a:tcPr marL="106755" marR="106755" marT="53378" marB="53378"/>
                </a:tc>
                <a:tc>
                  <a:txBody>
                    <a:bodyPr/>
                    <a:lstStyle/>
                    <a:p>
                      <a:r>
                        <a:rPr lang="en-US" sz="2100"/>
                        <a:t>22,0</a:t>
                      </a:r>
                    </a:p>
                  </a:txBody>
                  <a:tcPr marL="106755" marR="106755" marT="53378" marB="53378"/>
                </a:tc>
                <a:tc>
                  <a:txBody>
                    <a:bodyPr/>
                    <a:lstStyle/>
                    <a:p>
                      <a:r>
                        <a:rPr lang="en-US" sz="2100"/>
                        <a:t>0,017</a:t>
                      </a:r>
                    </a:p>
                  </a:txBody>
                  <a:tcPr marL="106755" marR="106755" marT="53378" marB="53378"/>
                </a:tc>
                <a:tc>
                  <a:txBody>
                    <a:bodyPr/>
                    <a:lstStyle/>
                    <a:p>
                      <a:r>
                        <a:rPr lang="en-US" sz="2100"/>
                        <a:t>-152,4</a:t>
                      </a:r>
                    </a:p>
                  </a:txBody>
                  <a:tcPr marL="106755" marR="106755" marT="53378" marB="53378"/>
                </a:tc>
                <a:extLst>
                  <a:ext uri="{0D108BD9-81ED-4DB2-BD59-A6C34878D82A}">
                    <a16:rowId xmlns:a16="http://schemas.microsoft.com/office/drawing/2014/main" val="10002"/>
                  </a:ext>
                </a:extLst>
              </a:tr>
              <a:tr h="741290">
                <a:tc>
                  <a:txBody>
                    <a:bodyPr/>
                    <a:lstStyle/>
                    <a:p>
                      <a:r>
                        <a:rPr lang="en-US" sz="2100"/>
                        <a:t>2</a:t>
                      </a:r>
                    </a:p>
                  </a:txBody>
                  <a:tcPr marL="106755" marR="106755" marT="53378" marB="53378"/>
                </a:tc>
                <a:tc>
                  <a:txBody>
                    <a:bodyPr/>
                    <a:lstStyle/>
                    <a:p>
                      <a:r>
                        <a:rPr lang="en-US" sz="2100"/>
                        <a:t>8</a:t>
                      </a:r>
                    </a:p>
                  </a:txBody>
                  <a:tcPr marL="106755" marR="106755" marT="53378" marB="53378"/>
                </a:tc>
                <a:tc>
                  <a:txBody>
                    <a:bodyPr/>
                    <a:lstStyle/>
                    <a:p>
                      <a:r>
                        <a:rPr lang="en-US" sz="2100"/>
                        <a:t>0,79</a:t>
                      </a:r>
                    </a:p>
                  </a:txBody>
                  <a:tcPr marL="106755" marR="106755" marT="53378" marB="53378"/>
                </a:tc>
                <a:tc>
                  <a:txBody>
                    <a:bodyPr/>
                    <a:lstStyle/>
                    <a:p>
                      <a:r>
                        <a:rPr lang="en-US" sz="2100"/>
                        <a:t>689,0;70,5</a:t>
                      </a:r>
                    </a:p>
                  </a:txBody>
                  <a:tcPr marL="106755" marR="106755" marT="53378" marB="53378"/>
                </a:tc>
                <a:tc>
                  <a:txBody>
                    <a:bodyPr/>
                    <a:lstStyle/>
                    <a:p>
                      <a:r>
                        <a:rPr lang="en-US" sz="2100"/>
                        <a:t>21,0</a:t>
                      </a:r>
                    </a:p>
                  </a:txBody>
                  <a:tcPr marL="106755" marR="106755" marT="53378" marB="53378"/>
                </a:tc>
                <a:tc>
                  <a:txBody>
                    <a:bodyPr/>
                    <a:lstStyle/>
                    <a:p>
                      <a:r>
                        <a:rPr lang="en-US" sz="2100"/>
                        <a:t>0,017</a:t>
                      </a:r>
                    </a:p>
                  </a:txBody>
                  <a:tcPr marL="106755" marR="106755" marT="53378" marB="53378"/>
                </a:tc>
                <a:tc>
                  <a:txBody>
                    <a:bodyPr/>
                    <a:lstStyle/>
                    <a:p>
                      <a:r>
                        <a:rPr lang="en-US" sz="2100"/>
                        <a:t>-143,5</a:t>
                      </a:r>
                    </a:p>
                  </a:txBody>
                  <a:tcPr marL="106755" marR="106755" marT="53378" marB="53378"/>
                </a:tc>
                <a:extLst>
                  <a:ext uri="{0D108BD9-81ED-4DB2-BD59-A6C34878D82A}">
                    <a16:rowId xmlns:a16="http://schemas.microsoft.com/office/drawing/2014/main" val="10003"/>
                  </a:ext>
                </a:extLst>
              </a:tr>
              <a:tr h="741290">
                <a:tc>
                  <a:txBody>
                    <a:bodyPr/>
                    <a:lstStyle/>
                    <a:p>
                      <a:r>
                        <a:rPr lang="en-US" sz="2100"/>
                        <a:t>3</a:t>
                      </a:r>
                    </a:p>
                  </a:txBody>
                  <a:tcPr marL="106755" marR="106755" marT="53378" marB="53378"/>
                </a:tc>
                <a:tc>
                  <a:txBody>
                    <a:bodyPr/>
                    <a:lstStyle/>
                    <a:p>
                      <a:r>
                        <a:rPr lang="en-US" sz="2100"/>
                        <a:t>8</a:t>
                      </a:r>
                    </a:p>
                  </a:txBody>
                  <a:tcPr marL="106755" marR="106755" marT="53378" marB="53378"/>
                </a:tc>
                <a:tc>
                  <a:txBody>
                    <a:bodyPr/>
                    <a:lstStyle/>
                    <a:p>
                      <a:r>
                        <a:rPr lang="en-US" sz="2100"/>
                        <a:t>0,74</a:t>
                      </a:r>
                    </a:p>
                  </a:txBody>
                  <a:tcPr marL="106755" marR="106755" marT="53378" marB="53378"/>
                </a:tc>
                <a:tc>
                  <a:txBody>
                    <a:bodyPr/>
                    <a:lstStyle/>
                    <a:p>
                      <a:r>
                        <a:rPr lang="en-US" sz="2100"/>
                        <a:t>688,5;70,5</a:t>
                      </a:r>
                    </a:p>
                  </a:txBody>
                  <a:tcPr marL="106755" marR="106755" marT="53378" marB="53378"/>
                </a:tc>
                <a:tc>
                  <a:txBody>
                    <a:bodyPr/>
                    <a:lstStyle/>
                    <a:p>
                      <a:r>
                        <a:rPr lang="en-US" sz="2100"/>
                        <a:t>21,0</a:t>
                      </a:r>
                    </a:p>
                  </a:txBody>
                  <a:tcPr marL="106755" marR="106755" marT="53378" marB="53378"/>
                </a:tc>
                <a:tc>
                  <a:txBody>
                    <a:bodyPr/>
                    <a:lstStyle/>
                    <a:p>
                      <a:r>
                        <a:rPr lang="en-US" sz="2100"/>
                        <a:t>0,017</a:t>
                      </a:r>
                    </a:p>
                  </a:txBody>
                  <a:tcPr marL="106755" marR="106755" marT="53378" marB="53378"/>
                </a:tc>
                <a:tc>
                  <a:txBody>
                    <a:bodyPr/>
                    <a:lstStyle/>
                    <a:p>
                      <a:r>
                        <a:rPr lang="en-US" sz="2100"/>
                        <a:t>-144,8</a:t>
                      </a:r>
                    </a:p>
                  </a:txBody>
                  <a:tcPr marL="106755" marR="106755" marT="53378" marB="53378"/>
                </a:tc>
                <a:extLst>
                  <a:ext uri="{0D108BD9-81ED-4DB2-BD59-A6C34878D82A}">
                    <a16:rowId xmlns:a16="http://schemas.microsoft.com/office/drawing/2014/main" val="10004"/>
                  </a:ext>
                </a:extLst>
              </a:tr>
              <a:tr h="741290">
                <a:tc>
                  <a:txBody>
                    <a:bodyPr/>
                    <a:lstStyle/>
                    <a:p>
                      <a:r>
                        <a:rPr lang="en-US" sz="2100"/>
                        <a:t>4</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277,5;264,0</a:t>
                      </a:r>
                    </a:p>
                  </a:txBody>
                  <a:tcPr marL="106755" marR="106755" marT="53378" marB="53378"/>
                </a:tc>
                <a:tc>
                  <a:txBody>
                    <a:bodyPr/>
                    <a:lstStyle/>
                    <a:p>
                      <a:r>
                        <a:rPr lang="en-US" sz="2100"/>
                        <a:t>94,0</a:t>
                      </a:r>
                    </a:p>
                  </a:txBody>
                  <a:tcPr marL="106755" marR="106755" marT="53378" marB="53378"/>
                </a:tc>
                <a:tc>
                  <a:txBody>
                    <a:bodyPr/>
                    <a:lstStyle/>
                    <a:p>
                      <a:r>
                        <a:rPr lang="en-US" sz="2100"/>
                        <a:t>4,592</a:t>
                      </a:r>
                    </a:p>
                  </a:txBody>
                  <a:tcPr marL="106755" marR="106755" marT="53378" marB="53378"/>
                </a:tc>
                <a:tc>
                  <a:txBody>
                    <a:bodyPr/>
                    <a:lstStyle/>
                    <a:p>
                      <a:r>
                        <a:rPr lang="en-US" sz="2100"/>
                        <a:t>-6,5</a:t>
                      </a:r>
                    </a:p>
                  </a:txBody>
                  <a:tcPr marL="106755" marR="106755" marT="53378" marB="53378"/>
                </a:tc>
                <a:extLst>
                  <a:ext uri="{0D108BD9-81ED-4DB2-BD59-A6C34878D82A}">
                    <a16:rowId xmlns:a16="http://schemas.microsoft.com/office/drawing/2014/main" val="10005"/>
                  </a:ext>
                </a:extLst>
              </a:tr>
              <a:tr h="741290">
                <a:tc>
                  <a:txBody>
                    <a:bodyPr/>
                    <a:lstStyle/>
                    <a:p>
                      <a:r>
                        <a:rPr lang="en-US" sz="2100"/>
                        <a:t>5</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513,5;195,5</a:t>
                      </a:r>
                    </a:p>
                  </a:txBody>
                  <a:tcPr marL="106755" marR="106755" marT="53378" marB="53378"/>
                </a:tc>
                <a:tc>
                  <a:txBody>
                    <a:bodyPr/>
                    <a:lstStyle/>
                    <a:p>
                      <a:r>
                        <a:rPr lang="en-US" sz="2100"/>
                        <a:t>56,0</a:t>
                      </a:r>
                    </a:p>
                  </a:txBody>
                  <a:tcPr marL="106755" marR="106755" marT="53378" marB="53378"/>
                </a:tc>
                <a:tc>
                  <a:txBody>
                    <a:bodyPr/>
                    <a:lstStyle/>
                    <a:p>
                      <a:r>
                        <a:rPr lang="en-US" sz="2100"/>
                        <a:t>1,840</a:t>
                      </a:r>
                    </a:p>
                  </a:txBody>
                  <a:tcPr marL="106755" marR="106755" marT="53378" marB="53378"/>
                </a:tc>
                <a:tc>
                  <a:txBody>
                    <a:bodyPr/>
                    <a:lstStyle/>
                    <a:p>
                      <a:r>
                        <a:rPr lang="en-US" sz="2100" dirty="0"/>
                        <a:t>147,5</a:t>
                      </a:r>
                    </a:p>
                  </a:txBody>
                  <a:tcPr marL="106755" marR="106755" marT="53378" marB="53378"/>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1C1722DF-F196-6524-8BAD-9A320738E53D}"/>
              </a:ext>
            </a:extLst>
          </p:cNvPr>
          <p:cNvSpPr txBox="1"/>
          <p:nvPr/>
        </p:nvSpPr>
        <p:spPr>
          <a:xfrm>
            <a:off x="11485149" y="90497"/>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4506"/>
            <a:ext cx="12192000" cy="564982"/>
          </a:xfrm>
        </p:spPr>
        <p:txBody>
          <a:bodyPr anchor="b">
            <a:normAutofit/>
          </a:bodyPr>
          <a:lstStyle/>
          <a:p>
            <a:pPr>
              <a:lnSpc>
                <a:spcPct val="90000"/>
              </a:lnSpc>
            </a:pPr>
            <a:r>
              <a:rPr lang="uk-UA" sz="3000" dirty="0"/>
              <a:t>Візуалізація ідентифікованих параметрів</a:t>
            </a:r>
          </a:p>
        </p:txBody>
      </p:sp>
      <p:sp>
        <p:nvSpPr>
          <p:cNvPr id="3" name="Content Placeholder 2"/>
          <p:cNvSpPr>
            <a:spLocks noGrp="1"/>
          </p:cNvSpPr>
          <p:nvPr>
            <p:ph idx="1"/>
          </p:nvPr>
        </p:nvSpPr>
        <p:spPr>
          <a:xfrm>
            <a:off x="8112869" y="591052"/>
            <a:ext cx="3948068" cy="5634650"/>
          </a:xfrm>
        </p:spPr>
        <p:txBody>
          <a:bodyPr anchor="t">
            <a:normAutofit/>
          </a:bodyPr>
          <a:lstStyle/>
          <a:p>
            <a:pPr marL="0" indent="0">
              <a:buNone/>
            </a:pPr>
            <a:r>
              <a:rPr lang="uk-UA" sz="3600" dirty="0"/>
              <a:t>На кадрі накладаються </a:t>
            </a:r>
            <a:r>
              <a:rPr lang="en-US" sz="3600" dirty="0"/>
              <a:t>bounding boxes, </a:t>
            </a:r>
            <a:r>
              <a:rPr lang="uk-UA" sz="3600" dirty="0"/>
              <a:t>вектори швидкості, значення глибини</a:t>
            </a:r>
          </a:p>
          <a:p>
            <a:pPr marL="0" indent="0">
              <a:buNone/>
            </a:pPr>
            <a:r>
              <a:rPr lang="uk-UA" sz="3600" dirty="0"/>
              <a:t>Кольорове кодування напрямку руху (</a:t>
            </a:r>
            <a:r>
              <a:rPr lang="en-US" sz="3600" dirty="0"/>
              <a:t>HSV)</a:t>
            </a:r>
          </a:p>
        </p:txBody>
      </p:sp>
      <p:sp>
        <p:nvSpPr>
          <p:cNvPr id="4" name="Місце для номера слайда 3">
            <a:extLst>
              <a:ext uri="{FF2B5EF4-FFF2-40B4-BE49-F238E27FC236}">
                <a16:creationId xmlns:a16="http://schemas.microsoft.com/office/drawing/2014/main" id="{65C7382C-80BA-FE53-48B4-E53A233F8983}"/>
              </a:ext>
            </a:extLst>
          </p:cNvPr>
          <p:cNvSpPr>
            <a:spLocks noGrp="1"/>
          </p:cNvSpPr>
          <p:nvPr>
            <p:ph type="sldNum" sz="quarter" idx="12"/>
          </p:nvPr>
        </p:nvSpPr>
        <p:spPr/>
        <p:txBody>
          <a:bodyPr/>
          <a:lstStyle/>
          <a:p>
            <a:fld id="{C1FF6DA9-008F-8B48-92A6-B652298478BF}" type="slidenum">
              <a:rPr lang="en-US" smtClean="0"/>
              <a:t>21</a:t>
            </a:fld>
            <a:endParaRPr lang="en-US"/>
          </a:p>
        </p:txBody>
      </p:sp>
      <p:pic>
        <p:nvPicPr>
          <p:cNvPr id="5" name="Рисунок 4">
            <a:extLst>
              <a:ext uri="{FF2B5EF4-FFF2-40B4-BE49-F238E27FC236}">
                <a16:creationId xmlns:a16="http://schemas.microsoft.com/office/drawing/2014/main" id="{ED216D28-853D-9942-6251-C2CE62364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0" y="530223"/>
            <a:ext cx="8112868" cy="6355080"/>
          </a:xfrm>
          <a:prstGeom prst="rect">
            <a:avLst/>
          </a:prstGeom>
          <a:noFill/>
        </p:spPr>
      </p:pic>
      <p:sp>
        <p:nvSpPr>
          <p:cNvPr id="7" name="TextBox 6">
            <a:extLst>
              <a:ext uri="{FF2B5EF4-FFF2-40B4-BE49-F238E27FC236}">
                <a16:creationId xmlns:a16="http://schemas.microsoft.com/office/drawing/2014/main" id="{BE32A2D0-9319-FB27-8BD8-6FBFCB00C7AE}"/>
              </a:ext>
            </a:extLst>
          </p:cNvPr>
          <p:cNvSpPr txBox="1"/>
          <p:nvPr/>
        </p:nvSpPr>
        <p:spPr>
          <a:xfrm>
            <a:off x="11485149" y="90497"/>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9183"/>
            <a:ext cx="12192000" cy="554477"/>
          </a:xfrm>
        </p:spPr>
        <p:txBody>
          <a:bodyPr anchor="ctr">
            <a:normAutofit fontScale="90000"/>
          </a:bodyPr>
          <a:lstStyle/>
          <a:p>
            <a:pPr>
              <a:lnSpc>
                <a:spcPct val="90000"/>
              </a:lnSpc>
            </a:pPr>
            <a:r>
              <a:rPr lang="uk-UA" dirty="0"/>
              <a:t>Приклади комбінацій методів</a:t>
            </a:r>
            <a:endParaRPr lang="en-US" dirty="0"/>
          </a:p>
        </p:txBody>
      </p:sp>
      <p:sp>
        <p:nvSpPr>
          <p:cNvPr id="3" name="Content Placeholder 2"/>
          <p:cNvSpPr>
            <a:spLocks noGrp="1"/>
          </p:cNvSpPr>
          <p:nvPr>
            <p:ph idx="1"/>
          </p:nvPr>
        </p:nvSpPr>
        <p:spPr>
          <a:xfrm>
            <a:off x="-350196" y="5285335"/>
            <a:ext cx="12411132" cy="1543482"/>
          </a:xfrm>
        </p:spPr>
        <p:txBody>
          <a:bodyPr anchor="ctr">
            <a:noAutofit/>
          </a:bodyPr>
          <a:lstStyle/>
          <a:p>
            <a:pPr>
              <a:lnSpc>
                <a:spcPct val="90000"/>
              </a:lnSpc>
            </a:pPr>
            <a:r>
              <a:rPr lang="en-US" sz="2400" dirty="0" err="1"/>
              <a:t>Farneback</a:t>
            </a:r>
            <a:r>
              <a:rPr lang="en-US" sz="2400" dirty="0"/>
              <a:t> + </a:t>
            </a:r>
            <a:r>
              <a:rPr lang="en-US" sz="2400" dirty="0" err="1"/>
              <a:t>MiDaS</a:t>
            </a:r>
            <a:r>
              <a:rPr lang="en-US" sz="2400" dirty="0"/>
              <a:t> : </a:t>
            </a:r>
            <a:r>
              <a:rPr lang="uk-UA" sz="2400" dirty="0"/>
              <a:t>класичний оптичний потік + </a:t>
            </a:r>
            <a:r>
              <a:rPr lang="uk-UA" sz="2400" dirty="0" err="1"/>
              <a:t>трансформерна</a:t>
            </a:r>
            <a:r>
              <a:rPr lang="uk-UA" sz="2400" dirty="0"/>
              <a:t> глибина</a:t>
            </a:r>
          </a:p>
          <a:p>
            <a:pPr>
              <a:lnSpc>
                <a:spcPct val="90000"/>
              </a:lnSpc>
            </a:pPr>
            <a:r>
              <a:rPr lang="en-US" sz="2400" dirty="0" err="1"/>
              <a:t>FlowNet</a:t>
            </a:r>
            <a:r>
              <a:rPr lang="en-US" sz="2400" dirty="0"/>
              <a:t> + </a:t>
            </a:r>
            <a:r>
              <a:rPr lang="en-US" sz="2400" dirty="0" err="1"/>
              <a:t>DPT_Large</a:t>
            </a:r>
            <a:r>
              <a:rPr lang="en-US" sz="2400" dirty="0"/>
              <a:t> : </a:t>
            </a:r>
            <a:r>
              <a:rPr lang="uk-UA" sz="2400" dirty="0" err="1"/>
              <a:t>нейромережевий</a:t>
            </a:r>
            <a:r>
              <a:rPr lang="uk-UA" sz="2400" dirty="0"/>
              <a:t> потік + щільний </a:t>
            </a:r>
            <a:r>
              <a:rPr lang="uk-UA" sz="2400" dirty="0" err="1"/>
              <a:t>трансформер</a:t>
            </a:r>
            <a:r>
              <a:rPr lang="uk-UA" sz="2400" dirty="0"/>
              <a:t> глибини</a:t>
            </a:r>
          </a:p>
          <a:p>
            <a:pPr>
              <a:lnSpc>
                <a:spcPct val="90000"/>
              </a:lnSpc>
            </a:pPr>
            <a:r>
              <a:rPr lang="en-US" sz="2400" dirty="0" err="1"/>
              <a:t>GeoNet</a:t>
            </a:r>
            <a:r>
              <a:rPr lang="en-US" sz="2400" dirty="0"/>
              <a:t> </a:t>
            </a:r>
            <a:r>
              <a:rPr lang="uk-UA" sz="2400" dirty="0"/>
              <a:t>сумісна оцінка – найкраща узгодженість руху та глибини</a:t>
            </a:r>
          </a:p>
          <a:p>
            <a:pPr>
              <a:lnSpc>
                <a:spcPct val="90000"/>
              </a:lnSpc>
            </a:pPr>
            <a:r>
              <a:rPr lang="en-US" sz="2400" dirty="0"/>
              <a:t>Horn-Schunck + Bagging : </a:t>
            </a:r>
            <a:r>
              <a:rPr lang="uk-UA" sz="2400" dirty="0"/>
              <a:t>глобальний потік + ансамбль глибини</a:t>
            </a:r>
          </a:p>
        </p:txBody>
      </p:sp>
      <p:sp>
        <p:nvSpPr>
          <p:cNvPr id="6" name="Місце для номера слайда 5">
            <a:extLst>
              <a:ext uri="{FF2B5EF4-FFF2-40B4-BE49-F238E27FC236}">
                <a16:creationId xmlns:a16="http://schemas.microsoft.com/office/drawing/2014/main" id="{3CACBDEA-3AE5-8204-BCD1-5B4BEB4205D2}"/>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5" name="Рисунок 4">
            <a:extLst>
              <a:ext uri="{FF2B5EF4-FFF2-40B4-BE49-F238E27FC236}">
                <a16:creationId xmlns:a16="http://schemas.microsoft.com/office/drawing/2014/main" id="{45D36688-B693-6735-FEE0-CA2CE8321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0" y="583660"/>
            <a:ext cx="6096000" cy="4663441"/>
          </a:xfrm>
          <a:prstGeom prst="rect">
            <a:avLst/>
          </a:prstGeom>
          <a:noFill/>
        </p:spPr>
      </p:pic>
      <p:pic>
        <p:nvPicPr>
          <p:cNvPr id="4" name="Рисунок 3">
            <a:extLst>
              <a:ext uri="{FF2B5EF4-FFF2-40B4-BE49-F238E27FC236}">
                <a16:creationId xmlns:a16="http://schemas.microsoft.com/office/drawing/2014/main" id="{ACA34430-E580-892D-A8F2-9F6A9AD23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6096000" y="583661"/>
            <a:ext cx="6096000" cy="4663440"/>
          </a:xfrm>
          <a:prstGeom prst="rect">
            <a:avLst/>
          </a:prstGeom>
          <a:noFill/>
        </p:spPr>
      </p:pic>
      <p:sp>
        <p:nvSpPr>
          <p:cNvPr id="8" name="TextBox 7">
            <a:extLst>
              <a:ext uri="{FF2B5EF4-FFF2-40B4-BE49-F238E27FC236}">
                <a16:creationId xmlns:a16="http://schemas.microsoft.com/office/drawing/2014/main" id="{7ACC8695-CB6E-E744-1170-0A08258A5119}"/>
              </a:ext>
            </a:extLst>
          </p:cNvPr>
          <p:cNvSpPr txBox="1"/>
          <p:nvPr/>
        </p:nvSpPr>
        <p:spPr>
          <a:xfrm>
            <a:off x="11621623" y="115010"/>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
        <p:nvSpPr>
          <p:cNvPr id="10" name="TextBox 9">
            <a:extLst>
              <a:ext uri="{FF2B5EF4-FFF2-40B4-BE49-F238E27FC236}">
                <a16:creationId xmlns:a16="http://schemas.microsoft.com/office/drawing/2014/main" id="{4970D567-97E2-808D-2889-DA98C713C03E}"/>
              </a:ext>
            </a:extLst>
          </p:cNvPr>
          <p:cNvSpPr txBox="1"/>
          <p:nvPr/>
        </p:nvSpPr>
        <p:spPr>
          <a:xfrm>
            <a:off x="11729989" y="788594"/>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4950" y="574800"/>
            <a:ext cx="4045742" cy="3637909"/>
          </a:xfrm>
        </p:spPr>
        <p:txBody>
          <a:bodyPr vert="horz" lIns="91440" tIns="45720" rIns="91440" bIns="45720" rtlCol="0" anchor="b">
            <a:normAutofit/>
          </a:bodyPr>
          <a:lstStyle/>
          <a:p>
            <a:pPr algn="l" defTabSz="914400">
              <a:lnSpc>
                <a:spcPct val="90000"/>
              </a:lnSpc>
            </a:pPr>
            <a:r>
              <a:rPr lang="en-US" sz="5100" kern="1200" dirty="0">
                <a:solidFill>
                  <a:schemeClr val="tx1"/>
                </a:solidFill>
                <a:latin typeface="+mj-lt"/>
                <a:ea typeface="+mj-ea"/>
                <a:cs typeface="+mj-cs"/>
              </a:rPr>
              <a:t>Порівняння </a:t>
            </a:r>
            <a:r>
              <a:rPr lang="en-US" sz="5100" kern="1200" dirty="0" err="1">
                <a:solidFill>
                  <a:schemeClr val="tx1"/>
                </a:solidFill>
                <a:latin typeface="+mj-lt"/>
                <a:ea typeface="+mj-ea"/>
                <a:cs typeface="+mj-cs"/>
              </a:rPr>
              <a:t>методів</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оптичного</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потоку</a:t>
            </a:r>
            <a:endParaRPr lang="en-US" sz="5100" kern="1200" dirty="0">
              <a:solidFill>
                <a:schemeClr val="tx1"/>
              </a:solidFill>
              <a:latin typeface="+mj-lt"/>
              <a:ea typeface="+mj-ea"/>
              <a:cs typeface="+mj-cs"/>
            </a:endParaRPr>
          </a:p>
        </p:txBody>
      </p:sp>
      <p:sp>
        <p:nvSpPr>
          <p:cNvPr id="4" name="Місце для номера слайда 3">
            <a:extLst>
              <a:ext uri="{FF2B5EF4-FFF2-40B4-BE49-F238E27FC236}">
                <a16:creationId xmlns:a16="http://schemas.microsoft.com/office/drawing/2014/main" id="{BA7A10AB-B5D6-96CC-A2BE-51134121B366}"/>
              </a:ext>
            </a:extLst>
          </p:cNvPr>
          <p:cNvSpPr>
            <a:spLocks noGrp="1"/>
          </p:cNvSpPr>
          <p:nvPr>
            <p:ph type="sldNum" sz="quarter" idx="12"/>
          </p:nvPr>
        </p:nvSpPr>
        <p:spPr/>
        <p:txBody>
          <a:bodyPr/>
          <a:lstStyle/>
          <a:p>
            <a:fld id="{C1FF6DA9-008F-8B48-92A6-B652298478BF}" type="slidenum">
              <a:rPr lang="en-US" smtClean="0"/>
              <a:t>23</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06104107"/>
              </p:ext>
            </p:extLst>
          </p:nvPr>
        </p:nvGraphicFramePr>
        <p:xfrm>
          <a:off x="4134256" y="0"/>
          <a:ext cx="8057743" cy="5694865"/>
        </p:xfrm>
        <a:graphic>
          <a:graphicData uri="http://schemas.openxmlformats.org/drawingml/2006/table">
            <a:tbl>
              <a:tblPr firstRow="1" bandRow="1">
                <a:noFill/>
                <a:tableStyleId>{5C22544A-7EE6-4342-B048-85BDC9FD1C3A}</a:tableStyleId>
              </a:tblPr>
              <a:tblGrid>
                <a:gridCol w="1777842">
                  <a:extLst>
                    <a:ext uri="{9D8B030D-6E8A-4147-A177-3AD203B41FA5}">
                      <a16:colId xmlns:a16="http://schemas.microsoft.com/office/drawing/2014/main" val="20000"/>
                    </a:ext>
                  </a:extLst>
                </a:gridCol>
                <a:gridCol w="1145444">
                  <a:extLst>
                    <a:ext uri="{9D8B030D-6E8A-4147-A177-3AD203B41FA5}">
                      <a16:colId xmlns:a16="http://schemas.microsoft.com/office/drawing/2014/main" val="20001"/>
                    </a:ext>
                  </a:extLst>
                </a:gridCol>
                <a:gridCol w="1145444">
                  <a:extLst>
                    <a:ext uri="{9D8B030D-6E8A-4147-A177-3AD203B41FA5}">
                      <a16:colId xmlns:a16="http://schemas.microsoft.com/office/drawing/2014/main" val="20002"/>
                    </a:ext>
                  </a:extLst>
                </a:gridCol>
                <a:gridCol w="1861569">
                  <a:extLst>
                    <a:ext uri="{9D8B030D-6E8A-4147-A177-3AD203B41FA5}">
                      <a16:colId xmlns:a16="http://schemas.microsoft.com/office/drawing/2014/main" val="20003"/>
                    </a:ext>
                  </a:extLst>
                </a:gridCol>
                <a:gridCol w="2127444">
                  <a:extLst>
                    <a:ext uri="{9D8B030D-6E8A-4147-A177-3AD203B41FA5}">
                      <a16:colId xmlns:a16="http://schemas.microsoft.com/office/drawing/2014/main" val="20004"/>
                    </a:ext>
                  </a:extLst>
                </a:gridCol>
              </a:tblGrid>
              <a:tr h="856235">
                <a:tc>
                  <a:txBody>
                    <a:bodyPr/>
                    <a:lstStyle/>
                    <a:p>
                      <a:pPr>
                        <a:defRPr b="1"/>
                      </a:pPr>
                      <a:r>
                        <a:rPr sz="1500" b="1" cap="all" spc="60" dirty="0" err="1">
                          <a:solidFill>
                            <a:schemeClr val="tx1"/>
                          </a:solidFill>
                        </a:rPr>
                        <a:t>Метод</a:t>
                      </a:r>
                      <a:endParaRPr sz="1500" b="1" cap="all" spc="60" dirty="0">
                        <a:solidFill>
                          <a:schemeClr val="tx1"/>
                        </a:solidFill>
                      </a:endParaRP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EPE</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AAE</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dirty="0">
                          <a:solidFill>
                            <a:schemeClr val="tx1"/>
                          </a:solidFill>
                        </a:rPr>
                        <a:t>v </a:t>
                      </a:r>
                      <a:r>
                        <a:rPr sz="1500" b="1" cap="all" spc="60" dirty="0" err="1">
                          <a:solidFill>
                            <a:schemeClr val="tx1"/>
                          </a:solidFill>
                        </a:rPr>
                        <a:t>об</a:t>
                      </a:r>
                      <a:r>
                        <a:rPr lang="en-US" sz="1500" b="1" cap="all" spc="60" dirty="0" err="1">
                          <a:solidFill>
                            <a:schemeClr val="tx1"/>
                          </a:solidFill>
                        </a:rPr>
                        <a:t>'</a:t>
                      </a:r>
                      <a:r>
                        <a:rPr sz="1500" b="1" cap="all" spc="60" dirty="0" err="1">
                          <a:solidFill>
                            <a:schemeClr val="tx1"/>
                          </a:solidFill>
                        </a:rPr>
                        <a:t>єкта</a:t>
                      </a:r>
                      <a:r>
                        <a:rPr sz="1500" b="1" cap="all" spc="60" dirty="0">
                          <a:solidFill>
                            <a:schemeClr val="tx1"/>
                          </a:solidFill>
                        </a:rPr>
                        <a:t> 0 (</a:t>
                      </a:r>
                      <a:r>
                        <a:rPr sz="1500" b="1" cap="all" spc="60" dirty="0" err="1">
                          <a:solidFill>
                            <a:schemeClr val="tx1"/>
                          </a:solidFill>
                        </a:rPr>
                        <a:t>px</a:t>
                      </a:r>
                      <a:r>
                        <a:rPr sz="1500" b="1" cap="all" spc="60" dirty="0">
                          <a:solidFill>
                            <a:schemeClr val="tx1"/>
                          </a:solidFill>
                        </a:rPr>
                        <a:t>/</a:t>
                      </a:r>
                      <a:r>
                        <a:rPr sz="1500" b="1" cap="all" spc="60" dirty="0" err="1">
                          <a:solidFill>
                            <a:schemeClr val="tx1"/>
                          </a:solidFill>
                        </a:rPr>
                        <a:t>кадр</a:t>
                      </a:r>
                      <a:r>
                        <a:rPr sz="1500" b="1" cap="all" spc="60" dirty="0">
                          <a:solidFill>
                            <a:schemeClr val="tx1"/>
                          </a:solidFill>
                        </a:rPr>
                        <a:t>)</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Примітка</a:t>
                      </a:r>
                    </a:p>
                  </a:txBody>
                  <a:tcPr marL="114841" marR="114841" marT="114841" marB="114841" anchor="b">
                    <a:lnL w="12700" cmpd="sng">
                      <a:noFill/>
                    </a:lnL>
                    <a:lnR w="12700" cmpd="sng">
                      <a:noFill/>
                    </a:lnR>
                    <a:lnT w="12700" cmpd="sng">
                      <a:noFill/>
                    </a:lnT>
                    <a:lnB w="38100" cmpd="sng">
                      <a:noFill/>
                    </a:lnB>
                    <a:noFill/>
                  </a:tcPr>
                </a:tc>
                <a:extLst>
                  <a:ext uri="{0D108BD9-81ED-4DB2-BD59-A6C34878D82A}">
                    <a16:rowId xmlns:a16="http://schemas.microsoft.com/office/drawing/2014/main" val="10000"/>
                  </a:ext>
                </a:extLst>
              </a:tr>
              <a:tr h="967726">
                <a:tc>
                  <a:txBody>
                    <a:bodyPr/>
                    <a:lstStyle/>
                    <a:p>
                      <a:r>
                        <a:rPr sz="2000" cap="none" spc="0" dirty="0" err="1">
                          <a:solidFill>
                            <a:schemeClr val="tx1"/>
                          </a:solidFill>
                        </a:rPr>
                        <a:t>Farneback</a:t>
                      </a:r>
                      <a:r>
                        <a:rPr sz="2000" cap="none" spc="0" dirty="0">
                          <a:solidFill>
                            <a:schemeClr val="tx1"/>
                          </a:solidFill>
                        </a:rPr>
                        <a:t> (ref)</a:t>
                      </a:r>
                    </a:p>
                  </a:txBody>
                  <a:tcPr marL="114841" marR="114841" marT="57420" marB="114841">
                    <a:lnL w="12700" cap="flat" cmpd="sng" algn="ctr">
                      <a:noFill/>
                      <a:prstDash val="solid"/>
                    </a:lnL>
                    <a:lnR w="12700" cmpd="sng">
                      <a:noFill/>
                      <a:prstDash val="solid"/>
                    </a:lnR>
                    <a:lnT w="38100" cmpd="sng">
                      <a:noFill/>
                    </a:lnT>
                    <a:lnB w="12700" cmpd="sng">
                      <a:noFill/>
                      <a:prstDash val="solid"/>
                    </a:lnB>
                    <a:noFill/>
                  </a:tcPr>
                </a:tc>
                <a:tc>
                  <a:txBody>
                    <a:bodyPr/>
                    <a:lstStyle/>
                    <a:p>
                      <a:r>
                        <a:rPr sz="2000" cap="none" spc="0" dirty="0">
                          <a:solidFill>
                            <a:schemeClr val="tx1"/>
                          </a:solidFill>
                        </a:rPr>
                        <a:t>0,000</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Базовий</a:t>
                      </a:r>
                    </a:p>
                  </a:txBody>
                  <a:tcPr marL="114841" marR="114841" marT="57420" marB="114841">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001"/>
                  </a:ext>
                </a:extLst>
              </a:tr>
              <a:tr h="967726">
                <a:tc>
                  <a:txBody>
                    <a:bodyPr/>
                    <a:lstStyle/>
                    <a:p>
                      <a:r>
                        <a:rPr sz="2000" cap="none" spc="0">
                          <a:solidFill>
                            <a:schemeClr val="tx1"/>
                          </a:solidFill>
                        </a:rPr>
                        <a:t>Lucas-Kanade</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dirty="0">
                          <a:solidFill>
                            <a:schemeClr val="tx1"/>
                          </a:solidFill>
                        </a:rPr>
                        <a:t>0,273</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0,152</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0,013</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Розріджений</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967726">
                <a:tc>
                  <a:txBody>
                    <a:bodyPr/>
                    <a:lstStyle/>
                    <a:p>
                      <a:r>
                        <a:rPr sz="2000" cap="none" spc="0">
                          <a:solidFill>
                            <a:schemeClr val="tx1"/>
                          </a:solidFill>
                        </a:rPr>
                        <a:t>Horn-Schunck</a:t>
                      </a:r>
                    </a:p>
                  </a:txBody>
                  <a:tcPr marL="114841" marR="114841" marT="57420" marB="114841">
                    <a:lnL w="12700" cap="flat" cmpd="sng" algn="ctr">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0,266</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0,145</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0,325</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Гладке поле</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3"/>
                  </a:ext>
                </a:extLst>
              </a:tr>
              <a:tr h="967726">
                <a:tc>
                  <a:txBody>
                    <a:bodyPr/>
                    <a:lstStyle/>
                    <a:p>
                      <a:r>
                        <a:rPr sz="2000" cap="none" spc="0">
                          <a:solidFill>
                            <a:schemeClr val="tx1"/>
                          </a:solidFill>
                        </a:rPr>
                        <a:t>FlowNet (проксі)</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Резервний Farneback</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967726">
                <a:tc>
                  <a:txBody>
                    <a:bodyPr/>
                    <a:lstStyle/>
                    <a:p>
                      <a:r>
                        <a:rPr sz="2000" cap="none" spc="0">
                          <a:solidFill>
                            <a:schemeClr val="tx1"/>
                          </a:solidFill>
                        </a:rPr>
                        <a:t>GeoNet (проксі)</a:t>
                      </a:r>
                    </a:p>
                  </a:txBody>
                  <a:tcPr marL="114841" marR="114841" marT="57420" marB="114841">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dirty="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dirty="0" err="1">
                          <a:solidFill>
                            <a:schemeClr val="tx1"/>
                          </a:solidFill>
                        </a:rPr>
                        <a:t>Резервний</a:t>
                      </a:r>
                      <a:r>
                        <a:rPr sz="2000" cap="none" spc="0" dirty="0">
                          <a:solidFill>
                            <a:schemeClr val="tx1"/>
                          </a:solidFill>
                        </a:rPr>
                        <a:t> </a:t>
                      </a:r>
                      <a:r>
                        <a:rPr sz="2000" cap="none" spc="0" dirty="0" err="1">
                          <a:solidFill>
                            <a:schemeClr val="tx1"/>
                          </a:solidFill>
                        </a:rPr>
                        <a:t>Farneback</a:t>
                      </a:r>
                      <a:endParaRPr sz="2000" cap="none" spc="0" dirty="0">
                        <a:solidFill>
                          <a:schemeClr val="tx1"/>
                        </a:solidFill>
                      </a:endParaRP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3E8975-0C24-E30B-2D99-58C99B2A010E}"/>
                  </a:ext>
                </a:extLst>
              </p:cNvPr>
              <p:cNvSpPr txBox="1"/>
              <p:nvPr/>
            </p:nvSpPr>
            <p:spPr>
              <a:xfrm>
                <a:off x="164950" y="215153"/>
                <a:ext cx="4045742" cy="875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EPE</m:t>
                      </m:r>
                      <m:r>
                        <a:rPr lang="uk-UA">
                          <a:latin typeface="Cambria Math" panose="02040503050406030204" pitchFamily="18" charset="0"/>
                        </a:rPr>
                        <m:t>=</m:t>
                      </m:r>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=1</m:t>
                          </m:r>
                        </m:sub>
                        <m:sup>
                          <m:r>
                            <m:rPr>
                              <m:sty m:val="p"/>
                            </m:rPr>
                            <a:rPr lang="uk-UA">
                              <a:latin typeface="Cambria Math" panose="02040503050406030204" pitchFamily="18" charset="0"/>
                            </a:rPr>
                            <m:t>N</m:t>
                          </m:r>
                        </m:sup>
                        <m:e>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r>
                                <a:rPr lang="uk-UA">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e>
                          </m:rad>
                        </m:e>
                      </m:nary>
                    </m:oMath>
                  </m:oMathPara>
                </a14:m>
                <a:endParaRPr lang="en-US" dirty="0"/>
              </a:p>
            </p:txBody>
          </p:sp>
        </mc:Choice>
        <mc:Fallback xmlns="">
          <p:sp>
            <p:nvSpPr>
              <p:cNvPr id="5" name="TextBox 4">
                <a:extLst>
                  <a:ext uri="{FF2B5EF4-FFF2-40B4-BE49-F238E27FC236}">
                    <a16:creationId xmlns:a16="http://schemas.microsoft.com/office/drawing/2014/main" id="{173E8975-0C24-E30B-2D99-58C99B2A010E}"/>
                  </a:ext>
                </a:extLst>
              </p:cNvPr>
              <p:cNvSpPr txBox="1">
                <a:spLocks noRot="1" noChangeAspect="1" noMove="1" noResize="1" noEditPoints="1" noAdjustHandles="1" noChangeArrowheads="1" noChangeShapeType="1" noTextEdit="1"/>
              </p:cNvSpPr>
              <p:nvPr/>
            </p:nvSpPr>
            <p:spPr>
              <a:xfrm>
                <a:off x="164950" y="215153"/>
                <a:ext cx="4045742" cy="87536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F51551E-AE5C-219E-AA0F-BBABE114A3E5}"/>
                  </a:ext>
                </a:extLst>
              </p:cNvPr>
              <p:cNvSpPr txBox="1"/>
              <p:nvPr/>
            </p:nvSpPr>
            <p:spPr>
              <a:xfrm>
                <a:off x="0" y="5694862"/>
                <a:ext cx="6159678" cy="11143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AAE</m:t>
                      </m:r>
                      <m:r>
                        <a:rPr lang="uk-UA">
                          <a:latin typeface="Cambria Math" panose="02040503050406030204" pitchFamily="18" charset="0"/>
                        </a:rPr>
                        <m:t>=</m:t>
                      </m:r>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=1</m:t>
                          </m:r>
                        </m:sub>
                        <m:sup>
                          <m:r>
                            <m:rPr>
                              <m:sty m:val="p"/>
                            </m:rPr>
                            <a:rPr lang="uk-UA">
                              <a:latin typeface="Cambria Math" panose="02040503050406030204" pitchFamily="18" charset="0"/>
                            </a:rPr>
                            <m:t>N</m:t>
                          </m:r>
                        </m:sup>
                        <m:e>
                          <m:func>
                            <m:funcPr>
                              <m:ctrlPr>
                                <a:rPr lang="en-US" i="1">
                                  <a:latin typeface="Cambria Math" panose="02040503050406030204" pitchFamily="18" charset="0"/>
                                </a:rPr>
                              </m:ctrlPr>
                            </m:funcPr>
                            <m:fName>
                              <m:r>
                                <m:rPr>
                                  <m:sty m:val="p"/>
                                </m:rPr>
                                <a:rPr lang="uk-UA">
                                  <a:latin typeface="Cambria Math" panose="02040503050406030204" pitchFamily="18" charset="0"/>
                                </a:rPr>
                                <m:t>arccos</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Sub>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r>
                                        <a:rPr lang="uk-UA">
                                          <a:latin typeface="Cambria Math" panose="02040503050406030204" pitchFamily="18" charset="0"/>
                                        </a:rPr>
                                        <m:t>+</m:t>
                                      </m:r>
                                      <m:sSub>
                                        <m:sSubPr>
                                          <m:ctrlPr>
                                            <a:rPr lang="en-US" i="1">
                                              <a:latin typeface="Cambria Math" panose="02040503050406030204" pitchFamily="18" charset="0"/>
                                            </a:rPr>
                                          </m:ctrlPr>
                                        </m:sSub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Sub>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r>
                                        <a:rPr lang="uk-UA">
                                          <a:latin typeface="Cambria Math" panose="02040503050406030204" pitchFamily="18" charset="0"/>
                                        </a:rPr>
                                        <m:t>+1</m:t>
                                      </m:r>
                                    </m:num>
                                    <m:den>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a:rPr lang="uk-UA">
                                                  <a:latin typeface="Cambria Math" panose="02040503050406030204" pitchFamily="18" charset="0"/>
                                                </a:rPr>
                                                <m:t>2</m:t>
                                              </m:r>
                                            </m:sup>
                                          </m:sSubSup>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a:rPr lang="uk-UA">
                                                  <a:latin typeface="Cambria Math" panose="02040503050406030204" pitchFamily="18" charset="0"/>
                                                </a:rPr>
                                                <m:t>2</m:t>
                                              </m:r>
                                            </m:sup>
                                          </m:sSubSup>
                                          <m:r>
                                            <a:rPr lang="uk-UA">
                                              <a:latin typeface="Cambria Math" panose="02040503050406030204" pitchFamily="18" charset="0"/>
                                            </a:rPr>
                                            <m:t>+1</m:t>
                                          </m:r>
                                        </m:e>
                                      </m:rad>
                                      <m:r>
                                        <a:rPr lang="uk-UA">
                                          <a:latin typeface="Cambria Math" panose="02040503050406030204" pitchFamily="18" charset="0"/>
                                        </a:rPr>
                                        <m:t>⋅</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r>
                                            <a:rPr lang="uk-UA">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r>
                                            <a:rPr lang="uk-UA">
                                              <a:latin typeface="Cambria Math" panose="02040503050406030204" pitchFamily="18" charset="0"/>
                                            </a:rPr>
                                            <m:t>+1</m:t>
                                          </m:r>
                                        </m:e>
                                      </m:rad>
                                    </m:den>
                                  </m:f>
                                </m:e>
                              </m:d>
                            </m:e>
                          </m:func>
                        </m:e>
                      </m:nary>
                    </m:oMath>
                  </m:oMathPara>
                </a14:m>
                <a:endParaRPr lang="en-US" dirty="0"/>
              </a:p>
            </p:txBody>
          </p:sp>
        </mc:Choice>
        <mc:Fallback xmlns="">
          <p:sp>
            <p:nvSpPr>
              <p:cNvPr id="6" name="TextBox 5">
                <a:extLst>
                  <a:ext uri="{FF2B5EF4-FFF2-40B4-BE49-F238E27FC236}">
                    <a16:creationId xmlns:a16="http://schemas.microsoft.com/office/drawing/2014/main" id="{CF51551E-AE5C-219E-AA0F-BBABE114A3E5}"/>
                  </a:ext>
                </a:extLst>
              </p:cNvPr>
              <p:cNvSpPr txBox="1">
                <a:spLocks noRot="1" noChangeAspect="1" noMove="1" noResize="1" noEditPoints="1" noAdjustHandles="1" noChangeArrowheads="1" noChangeShapeType="1" noTextEdit="1"/>
              </p:cNvSpPr>
              <p:nvPr/>
            </p:nvSpPr>
            <p:spPr>
              <a:xfrm>
                <a:off x="0" y="5694862"/>
                <a:ext cx="6159678" cy="1114344"/>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54AC4F2-3116-6161-D13D-E6718DF8B830}"/>
              </a:ext>
            </a:extLst>
          </p:cNvPr>
          <p:cNvSpPr txBox="1"/>
          <p:nvPr/>
        </p:nvSpPr>
        <p:spPr>
          <a:xfrm>
            <a:off x="11604684" y="53140"/>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0607" y="548640"/>
            <a:ext cx="4060085" cy="3664069"/>
          </a:xfrm>
        </p:spPr>
        <p:txBody>
          <a:bodyPr vert="horz" lIns="91440" tIns="45720" rIns="91440" bIns="45720" rtlCol="0" anchor="b">
            <a:normAutofit/>
          </a:bodyPr>
          <a:lstStyle/>
          <a:p>
            <a:pPr algn="l" defTabSz="914400">
              <a:lnSpc>
                <a:spcPct val="90000"/>
              </a:lnSpc>
            </a:pPr>
            <a:r>
              <a:rPr lang="en-US" sz="5100" kern="1200" dirty="0">
                <a:solidFill>
                  <a:schemeClr val="tx1"/>
                </a:solidFill>
                <a:latin typeface="+mj-lt"/>
                <a:ea typeface="+mj-ea"/>
                <a:cs typeface="+mj-cs"/>
              </a:rPr>
              <a:t>Порівняння </a:t>
            </a:r>
            <a:r>
              <a:rPr lang="en-US" sz="5100" kern="1200" dirty="0" err="1">
                <a:solidFill>
                  <a:schemeClr val="tx1"/>
                </a:solidFill>
                <a:latin typeface="+mj-lt"/>
                <a:ea typeface="+mj-ea"/>
                <a:cs typeface="+mj-cs"/>
              </a:rPr>
              <a:t>методів</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оцінювання</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глибини</a:t>
            </a:r>
            <a:endParaRPr lang="en-US" sz="5100" kern="1200" dirty="0">
              <a:solidFill>
                <a:schemeClr val="tx1"/>
              </a:solidFill>
              <a:latin typeface="+mj-lt"/>
              <a:ea typeface="+mj-ea"/>
              <a:cs typeface="+mj-cs"/>
            </a:endParaRPr>
          </a:p>
        </p:txBody>
      </p:sp>
      <p:sp>
        <p:nvSpPr>
          <p:cNvPr id="4" name="Місце для номера слайда 3">
            <a:extLst>
              <a:ext uri="{FF2B5EF4-FFF2-40B4-BE49-F238E27FC236}">
                <a16:creationId xmlns:a16="http://schemas.microsoft.com/office/drawing/2014/main" id="{C87C51A0-619A-D7ED-BF70-E6DC73C0AD3C}"/>
              </a:ext>
            </a:extLst>
          </p:cNvPr>
          <p:cNvSpPr>
            <a:spLocks noGrp="1"/>
          </p:cNvSpPr>
          <p:nvPr>
            <p:ph type="sldNum" sz="quarter" idx="12"/>
          </p:nvPr>
        </p:nvSpPr>
        <p:spPr/>
        <p:txBody>
          <a:bodyPr/>
          <a:lstStyle/>
          <a:p>
            <a:fld id="{C1FF6DA9-008F-8B48-92A6-B652298478BF}" type="slidenum">
              <a:rPr lang="en-US" smtClean="0"/>
              <a:t>24</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568728291"/>
              </p:ext>
            </p:extLst>
          </p:nvPr>
        </p:nvGraphicFramePr>
        <p:xfrm>
          <a:off x="3663886" y="920903"/>
          <a:ext cx="8528113" cy="5388454"/>
        </p:xfrm>
        <a:graphic>
          <a:graphicData uri="http://schemas.openxmlformats.org/drawingml/2006/table">
            <a:tbl>
              <a:tblPr firstRow="1" bandRow="1">
                <a:noFill/>
                <a:tableStyleId>{5C22544A-7EE6-4342-B048-85BDC9FD1C3A}</a:tableStyleId>
              </a:tblPr>
              <a:tblGrid>
                <a:gridCol w="1617748">
                  <a:extLst>
                    <a:ext uri="{9D8B030D-6E8A-4147-A177-3AD203B41FA5}">
                      <a16:colId xmlns:a16="http://schemas.microsoft.com/office/drawing/2014/main" val="20000"/>
                    </a:ext>
                  </a:extLst>
                </a:gridCol>
                <a:gridCol w="1575660">
                  <a:extLst>
                    <a:ext uri="{9D8B030D-6E8A-4147-A177-3AD203B41FA5}">
                      <a16:colId xmlns:a16="http://schemas.microsoft.com/office/drawing/2014/main" val="20001"/>
                    </a:ext>
                  </a:extLst>
                </a:gridCol>
                <a:gridCol w="1395929">
                  <a:extLst>
                    <a:ext uri="{9D8B030D-6E8A-4147-A177-3AD203B41FA5}">
                      <a16:colId xmlns:a16="http://schemas.microsoft.com/office/drawing/2014/main" val="20002"/>
                    </a:ext>
                  </a:extLst>
                </a:gridCol>
                <a:gridCol w="1341633">
                  <a:extLst>
                    <a:ext uri="{9D8B030D-6E8A-4147-A177-3AD203B41FA5}">
                      <a16:colId xmlns:a16="http://schemas.microsoft.com/office/drawing/2014/main" val="20003"/>
                    </a:ext>
                  </a:extLst>
                </a:gridCol>
                <a:gridCol w="1231172">
                  <a:extLst>
                    <a:ext uri="{9D8B030D-6E8A-4147-A177-3AD203B41FA5}">
                      <a16:colId xmlns:a16="http://schemas.microsoft.com/office/drawing/2014/main" val="20004"/>
                    </a:ext>
                  </a:extLst>
                </a:gridCol>
                <a:gridCol w="1365971">
                  <a:extLst>
                    <a:ext uri="{9D8B030D-6E8A-4147-A177-3AD203B41FA5}">
                      <a16:colId xmlns:a16="http://schemas.microsoft.com/office/drawing/2014/main" val="20005"/>
                    </a:ext>
                  </a:extLst>
                </a:gridCol>
              </a:tblGrid>
              <a:tr h="1083839">
                <a:tc>
                  <a:txBody>
                    <a:bodyPr/>
                    <a:lstStyle/>
                    <a:p>
                      <a:pPr>
                        <a:defRPr b="1"/>
                      </a:pPr>
                      <a:r>
                        <a:rPr sz="1800" dirty="0" err="1">
                          <a:solidFill>
                            <a:schemeClr val="tx1">
                              <a:lumMod val="75000"/>
                              <a:lumOff val="25000"/>
                            </a:schemeClr>
                          </a:solidFill>
                        </a:rPr>
                        <a:t>Метод</a:t>
                      </a:r>
                      <a:endParaRPr sz="1800" dirty="0">
                        <a:solidFill>
                          <a:schemeClr val="tx1">
                            <a:lumMod val="75000"/>
                            <a:lumOff val="25000"/>
                          </a:schemeClr>
                        </a:solidFill>
                      </a:endParaRP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RMSE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MAE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dirty="0">
                          <a:solidFill>
                            <a:schemeClr val="tx1">
                              <a:lumMod val="75000"/>
                              <a:lumOff val="25000"/>
                            </a:schemeClr>
                          </a:solidFill>
                        </a:rPr>
                        <a:t>PSNR (</a:t>
                      </a:r>
                      <a:r>
                        <a:rPr sz="1800" dirty="0" err="1">
                          <a:solidFill>
                            <a:schemeClr val="tx1">
                              <a:lumMod val="75000"/>
                              <a:lumOff val="25000"/>
                            </a:schemeClr>
                          </a:solidFill>
                        </a:rPr>
                        <a:t>дБ</a:t>
                      </a:r>
                      <a:r>
                        <a:rPr sz="1800" dirty="0">
                          <a:solidFill>
                            <a:schemeClr val="tx1">
                              <a:lumMod val="75000"/>
                              <a:lumOff val="25000"/>
                            </a:schemeClr>
                          </a:solidFill>
                        </a:rPr>
                        <a:t>)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IoU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Dice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10000"/>
                  </a:ext>
                </a:extLst>
              </a:tr>
              <a:tr h="614945">
                <a:tc>
                  <a:txBody>
                    <a:bodyPr/>
                    <a:lstStyle/>
                    <a:p>
                      <a:r>
                        <a:rPr sz="1400">
                          <a:solidFill>
                            <a:schemeClr val="tx1">
                              <a:lumMod val="75000"/>
                              <a:lumOff val="25000"/>
                            </a:schemeClr>
                          </a:solidFill>
                        </a:rPr>
                        <a:t>MiDaS (ref)</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1"/>
                  </a:ext>
                </a:extLst>
              </a:tr>
              <a:tr h="614945">
                <a:tc>
                  <a:txBody>
                    <a:bodyPr/>
                    <a:lstStyle/>
                    <a:p>
                      <a:r>
                        <a:rPr sz="1400">
                          <a:solidFill>
                            <a:schemeClr val="tx1">
                              <a:lumMod val="75000"/>
                              <a:lumOff val="25000"/>
                            </a:schemeClr>
                          </a:solidFill>
                        </a:rPr>
                        <a:t>DPT_Large</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12,593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9,057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26,128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0,954</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0,976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2"/>
                  </a:ext>
                </a:extLst>
              </a:tr>
              <a:tr h="614945">
                <a:tc>
                  <a:txBody>
                    <a:bodyPr/>
                    <a:lstStyle/>
                    <a:p>
                      <a:r>
                        <a:rPr sz="1400">
                          <a:solidFill>
                            <a:schemeClr val="tx1">
                              <a:lumMod val="75000"/>
                              <a:lumOff val="25000"/>
                            </a:schemeClr>
                          </a:solidFill>
                        </a:rPr>
                        <a:t>GeoNet</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dirty="0">
                          <a:solidFill>
                            <a:schemeClr val="tx1">
                              <a:lumMod val="75000"/>
                              <a:lumOff val="25000"/>
                            </a:schemeClr>
                          </a:solidFill>
                        </a:rPr>
                        <a:t>1,660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0,977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43,727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3"/>
                  </a:ext>
                </a:extLst>
              </a:tr>
              <a:tr h="614945">
                <a:tc>
                  <a:txBody>
                    <a:bodyPr/>
                    <a:lstStyle/>
                    <a:p>
                      <a:r>
                        <a:rPr sz="1400">
                          <a:solidFill>
                            <a:schemeClr val="tx1">
                              <a:lumMod val="75000"/>
                              <a:lumOff val="25000"/>
                            </a:schemeClr>
                          </a:solidFill>
                        </a:rPr>
                        <a:t>Bagging</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dirty="0">
                          <a:solidFill>
                            <a:schemeClr val="tx1">
                              <a:lumMod val="75000"/>
                              <a:lumOff val="25000"/>
                            </a:schemeClr>
                          </a:solidFill>
                          <a:highlight>
                            <a:srgbClr val="C0C0C0"/>
                          </a:highlight>
                        </a:rPr>
                        <a:t>0,713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dirty="0">
                          <a:solidFill>
                            <a:schemeClr val="tx1">
                              <a:lumMod val="75000"/>
                              <a:lumOff val="25000"/>
                            </a:schemeClr>
                          </a:solidFill>
                          <a:highlight>
                            <a:srgbClr val="C0C0C0"/>
                          </a:highlight>
                        </a:rPr>
                        <a:t>0,474</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dirty="0">
                          <a:solidFill>
                            <a:schemeClr val="tx1">
                              <a:lumMod val="75000"/>
                              <a:lumOff val="25000"/>
                            </a:schemeClr>
                          </a:solidFill>
                          <a:highlight>
                            <a:srgbClr val="C0C0C0"/>
                          </a:highlight>
                        </a:rPr>
                        <a:t>51,065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dirty="0">
                          <a:solidFill>
                            <a:schemeClr val="tx1">
                              <a:lumMod val="75000"/>
                              <a:lumOff val="25000"/>
                            </a:schemeClr>
                          </a:solidFill>
                          <a:highlight>
                            <a:srgbClr val="C0C0C0"/>
                          </a:highlight>
                        </a:rPr>
                        <a:t>0,996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dirty="0">
                          <a:solidFill>
                            <a:schemeClr val="tx1">
                              <a:lumMod val="75000"/>
                              <a:lumOff val="25000"/>
                            </a:schemeClr>
                          </a:solidFill>
                          <a:highlight>
                            <a:srgbClr val="C0C0C0"/>
                          </a:highlight>
                        </a:rPr>
                        <a:t>0,998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4"/>
                  </a:ext>
                </a:extLst>
              </a:tr>
              <a:tr h="614945">
                <a:tc>
                  <a:txBody>
                    <a:bodyPr/>
                    <a:lstStyle/>
                    <a:p>
                      <a:r>
                        <a:rPr sz="1400">
                          <a:solidFill>
                            <a:schemeClr val="tx1">
                              <a:lumMod val="75000"/>
                              <a:lumOff val="25000"/>
                            </a:schemeClr>
                          </a:solidFill>
                        </a:rPr>
                        <a:t>Boosting</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5,088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0,925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34,000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0,981</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5"/>
                  </a:ext>
                </a:extLst>
              </a:tr>
              <a:tr h="614945">
                <a:tc>
                  <a:txBody>
                    <a:bodyPr/>
                    <a:lstStyle/>
                    <a:p>
                      <a:r>
                        <a:rPr sz="1400" dirty="0">
                          <a:solidFill>
                            <a:schemeClr val="tx1">
                              <a:lumMod val="75000"/>
                              <a:lumOff val="25000"/>
                            </a:schemeClr>
                          </a:solidFill>
                        </a:rPr>
                        <a:t>Blur</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106,022</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95,356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7,623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0,117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0,209</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6"/>
                  </a:ext>
                </a:extLst>
              </a:tr>
              <a:tr h="614945">
                <a:tc>
                  <a:txBody>
                    <a:bodyPr/>
                    <a:lstStyle/>
                    <a:p>
                      <a:r>
                        <a:rPr sz="1400">
                          <a:solidFill>
                            <a:schemeClr val="tx1">
                              <a:lumMod val="75000"/>
                              <a:lumOff val="25000"/>
                            </a:schemeClr>
                          </a:solidFill>
                        </a:rPr>
                        <a:t>Gradient</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124,586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99,958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6,221</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0,148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dirty="0">
                          <a:solidFill>
                            <a:schemeClr val="tx1">
                              <a:lumMod val="75000"/>
                              <a:lumOff val="25000"/>
                            </a:schemeClr>
                          </a:solidFill>
                        </a:rPr>
                        <a:t>0,257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10007"/>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9E4697-0515-6758-83B6-A52E868C13F6}"/>
                  </a:ext>
                </a:extLst>
              </p:cNvPr>
              <p:cNvSpPr txBox="1"/>
              <p:nvPr/>
            </p:nvSpPr>
            <p:spPr>
              <a:xfrm>
                <a:off x="-150607" y="113739"/>
                <a:ext cx="3661705" cy="11591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RMSE</m:t>
                      </m:r>
                      <m:r>
                        <a:rPr lang="uk-UA">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=1</m:t>
                              </m:r>
                            </m:sub>
                            <m:sup>
                              <m:r>
                                <m:rPr>
                                  <m:sty m:val="p"/>
                                </m:rPr>
                                <a:rPr lang="uk-UA">
                                  <a:latin typeface="Cambria Math" panose="02040503050406030204" pitchFamily="18" charset="0"/>
                                </a:rPr>
                                <m:t>N</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e>
                          </m:nary>
                        </m:e>
                      </m:rad>
                    </m:oMath>
                  </m:oMathPara>
                </a14:m>
                <a:endParaRPr lang="en-US" dirty="0"/>
              </a:p>
            </p:txBody>
          </p:sp>
        </mc:Choice>
        <mc:Fallback xmlns="">
          <p:sp>
            <p:nvSpPr>
              <p:cNvPr id="5" name="TextBox 4">
                <a:extLst>
                  <a:ext uri="{FF2B5EF4-FFF2-40B4-BE49-F238E27FC236}">
                    <a16:creationId xmlns:a16="http://schemas.microsoft.com/office/drawing/2014/main" id="{2A9E4697-0515-6758-83B6-A52E868C13F6}"/>
                  </a:ext>
                </a:extLst>
              </p:cNvPr>
              <p:cNvSpPr txBox="1">
                <a:spLocks noRot="1" noChangeAspect="1" noMove="1" noResize="1" noEditPoints="1" noAdjustHandles="1" noChangeArrowheads="1" noChangeShapeType="1" noTextEdit="1"/>
              </p:cNvSpPr>
              <p:nvPr/>
            </p:nvSpPr>
            <p:spPr>
              <a:xfrm>
                <a:off x="-150607" y="113739"/>
                <a:ext cx="3661705" cy="11591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ED97D6-239C-7D85-F1BD-5E426D963714}"/>
                  </a:ext>
                </a:extLst>
              </p:cNvPr>
              <p:cNvSpPr txBox="1"/>
              <p:nvPr/>
            </p:nvSpPr>
            <p:spPr>
              <a:xfrm>
                <a:off x="3399416" y="45535"/>
                <a:ext cx="2581836" cy="875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MAE</m:t>
                      </m:r>
                      <m:r>
                        <a:rPr lang="uk-UA">
                          <a:latin typeface="Cambria Math" panose="02040503050406030204" pitchFamily="18" charset="0"/>
                        </a:rPr>
                        <m:t>=</m:t>
                      </m:r>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=1</m:t>
                          </m:r>
                        </m:sub>
                        <m:sup>
                          <m:r>
                            <m:rPr>
                              <m:sty m:val="p"/>
                            </m:rPr>
                            <a:rPr lang="uk-UA">
                              <a:latin typeface="Cambria Math" panose="02040503050406030204" pitchFamily="18" charset="0"/>
                            </a:rPr>
                            <m:t>N</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nary>
                    </m:oMath>
                  </m:oMathPara>
                </a14:m>
                <a:endParaRPr lang="en-US" dirty="0"/>
              </a:p>
            </p:txBody>
          </p:sp>
        </mc:Choice>
        <mc:Fallback xmlns="">
          <p:sp>
            <p:nvSpPr>
              <p:cNvPr id="6" name="TextBox 5">
                <a:extLst>
                  <a:ext uri="{FF2B5EF4-FFF2-40B4-BE49-F238E27FC236}">
                    <a16:creationId xmlns:a16="http://schemas.microsoft.com/office/drawing/2014/main" id="{1FED97D6-239C-7D85-F1BD-5E426D963714}"/>
                  </a:ext>
                </a:extLst>
              </p:cNvPr>
              <p:cNvSpPr txBox="1">
                <a:spLocks noRot="1" noChangeAspect="1" noMove="1" noResize="1" noEditPoints="1" noAdjustHandles="1" noChangeArrowheads="1" noChangeShapeType="1" noTextEdit="1"/>
              </p:cNvSpPr>
              <p:nvPr/>
            </p:nvSpPr>
            <p:spPr>
              <a:xfrm>
                <a:off x="3399416" y="45535"/>
                <a:ext cx="2581836" cy="8753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5114104-AC84-C043-7D2B-0A06F22D51C7}"/>
                  </a:ext>
                </a:extLst>
              </p:cNvPr>
              <p:cNvSpPr txBox="1"/>
              <p:nvPr/>
            </p:nvSpPr>
            <p:spPr>
              <a:xfrm>
                <a:off x="6038626" y="119529"/>
                <a:ext cx="3047999" cy="7273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PSNR</m:t>
                      </m:r>
                      <m:r>
                        <a:rPr lang="uk-UA">
                          <a:latin typeface="Cambria Math" panose="02040503050406030204" pitchFamily="18" charset="0"/>
                        </a:rPr>
                        <m:t>=10</m:t>
                      </m:r>
                      <m:sSub>
                        <m:sSubPr>
                          <m:ctrlPr>
                            <a:rPr lang="en-US" i="1">
                              <a:latin typeface="Cambria Math" panose="02040503050406030204" pitchFamily="18" charset="0"/>
                            </a:rPr>
                          </m:ctrlPr>
                        </m:sSubPr>
                        <m:e>
                          <m:r>
                            <m:rPr>
                              <m:sty m:val="p"/>
                            </m:rPr>
                            <a:rPr lang="uk-UA">
                              <a:latin typeface="Cambria Math" panose="02040503050406030204" pitchFamily="18" charset="0"/>
                            </a:rPr>
                            <m:t>log</m:t>
                          </m:r>
                        </m:e>
                        <m:sub>
                          <m:r>
                            <a:rPr lang="uk-UA">
                              <a:latin typeface="Cambria Math" panose="02040503050406030204" pitchFamily="18" charset="0"/>
                            </a:rPr>
                            <m:t>10</m:t>
                          </m:r>
                        </m:sub>
                      </m:sSub>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m:rPr>
                                      <m:sty m:val="p"/>
                                    </m:rPr>
                                    <a:rPr lang="uk-UA">
                                      <a:latin typeface="Cambria Math" panose="02040503050406030204" pitchFamily="18" charset="0"/>
                                    </a:rPr>
                                    <m:t>MAX</m:t>
                                  </m:r>
                                </m:e>
                                <m:sup>
                                  <m:r>
                                    <a:rPr lang="uk-UA">
                                      <a:latin typeface="Cambria Math" panose="02040503050406030204" pitchFamily="18" charset="0"/>
                                    </a:rPr>
                                    <m:t>2</m:t>
                                  </m:r>
                                </m:sup>
                              </m:sSup>
                            </m:num>
                            <m:den>
                              <m:r>
                                <m:rPr>
                                  <m:sty m:val="p"/>
                                </m:rPr>
                                <a:rPr lang="uk-UA" smtClean="0">
                                  <a:latin typeface="Cambria Math" panose="02040503050406030204" pitchFamily="18" charset="0"/>
                                </a:rPr>
                                <m:t>MSE</m:t>
                              </m:r>
                            </m:den>
                          </m:f>
                        </m:e>
                      </m:d>
                    </m:oMath>
                  </m:oMathPara>
                </a14:m>
                <a:endParaRPr lang="en-US" dirty="0"/>
              </a:p>
            </p:txBody>
          </p:sp>
        </mc:Choice>
        <mc:Fallback xmlns="">
          <p:sp>
            <p:nvSpPr>
              <p:cNvPr id="7" name="TextBox 6">
                <a:extLst>
                  <a:ext uri="{FF2B5EF4-FFF2-40B4-BE49-F238E27FC236}">
                    <a16:creationId xmlns:a16="http://schemas.microsoft.com/office/drawing/2014/main" id="{55114104-AC84-C043-7D2B-0A06F22D51C7}"/>
                  </a:ext>
                </a:extLst>
              </p:cNvPr>
              <p:cNvSpPr txBox="1">
                <a:spLocks noRot="1" noChangeAspect="1" noMove="1" noResize="1" noEditPoints="1" noAdjustHandles="1" noChangeArrowheads="1" noChangeShapeType="1" noTextEdit="1"/>
              </p:cNvSpPr>
              <p:nvPr/>
            </p:nvSpPr>
            <p:spPr>
              <a:xfrm>
                <a:off x="6038626" y="119529"/>
                <a:ext cx="3047999" cy="72737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4C73D6-3888-C715-66F3-3EE252451552}"/>
                  </a:ext>
                </a:extLst>
              </p:cNvPr>
              <p:cNvSpPr txBox="1"/>
              <p:nvPr/>
            </p:nvSpPr>
            <p:spPr>
              <a:xfrm>
                <a:off x="-632298" y="4348536"/>
                <a:ext cx="4296184" cy="7899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sz="2400">
                          <a:latin typeface="Cambria Math" panose="02040503050406030204" pitchFamily="18" charset="0"/>
                        </a:rPr>
                        <m:t>IoU</m:t>
                      </m:r>
                      <m:r>
                        <a:rPr lang="uk-UA" sz="2400">
                          <a:latin typeface="Cambria Math" panose="02040503050406030204" pitchFamily="18" charset="0"/>
                        </a:rPr>
                        <m:t>=</m:t>
                      </m:r>
                      <m:f>
                        <m:fPr>
                          <m:ctrlPr>
                            <a:rPr lang="en-US" sz="2400" i="1">
                              <a:latin typeface="Cambria Math" panose="02040503050406030204" pitchFamily="18" charset="0"/>
                            </a:rPr>
                          </m:ctrlPr>
                        </m:fPr>
                        <m:num>
                          <m:r>
                            <m:rPr>
                              <m:sty m:val="p"/>
                            </m:rPr>
                            <a:rPr lang="uk-UA" sz="2400">
                              <a:latin typeface="Cambria Math" panose="02040503050406030204" pitchFamily="18" charset="0"/>
                            </a:rPr>
                            <m:t>TP</m:t>
                          </m:r>
                        </m:num>
                        <m:den>
                          <m:r>
                            <m:rPr>
                              <m:sty m:val="p"/>
                            </m:rPr>
                            <a:rPr lang="uk-UA" sz="2400">
                              <a:latin typeface="Cambria Math" panose="02040503050406030204" pitchFamily="18" charset="0"/>
                            </a:rPr>
                            <m:t>TP</m:t>
                          </m:r>
                          <m:r>
                            <a:rPr lang="uk-UA" sz="2400">
                              <a:latin typeface="Cambria Math" panose="02040503050406030204" pitchFamily="18" charset="0"/>
                            </a:rPr>
                            <m:t>+</m:t>
                          </m:r>
                          <m:r>
                            <m:rPr>
                              <m:sty m:val="p"/>
                            </m:rPr>
                            <a:rPr lang="uk-UA" sz="2400">
                              <a:latin typeface="Cambria Math" panose="02040503050406030204" pitchFamily="18" charset="0"/>
                            </a:rPr>
                            <m:t>FP</m:t>
                          </m:r>
                          <m:r>
                            <a:rPr lang="uk-UA" sz="2400">
                              <a:latin typeface="Cambria Math" panose="02040503050406030204" pitchFamily="18" charset="0"/>
                            </a:rPr>
                            <m:t>+</m:t>
                          </m:r>
                          <m:r>
                            <m:rPr>
                              <m:sty m:val="p"/>
                            </m:rPr>
                            <a:rPr lang="uk-UA" sz="2400">
                              <a:latin typeface="Cambria Math" panose="02040503050406030204" pitchFamily="18" charset="0"/>
                            </a:rPr>
                            <m:t>FN</m:t>
                          </m:r>
                        </m:den>
                      </m:f>
                    </m:oMath>
                  </m:oMathPara>
                </a14:m>
                <a:endParaRPr lang="en-US" sz="2400" dirty="0"/>
              </a:p>
            </p:txBody>
          </p:sp>
        </mc:Choice>
        <mc:Fallback xmlns="">
          <p:sp>
            <p:nvSpPr>
              <p:cNvPr id="9" name="TextBox 8">
                <a:extLst>
                  <a:ext uri="{FF2B5EF4-FFF2-40B4-BE49-F238E27FC236}">
                    <a16:creationId xmlns:a16="http://schemas.microsoft.com/office/drawing/2014/main" id="{294C73D6-3888-C715-66F3-3EE252451552}"/>
                  </a:ext>
                </a:extLst>
              </p:cNvPr>
              <p:cNvSpPr txBox="1">
                <a:spLocks noRot="1" noChangeAspect="1" noMove="1" noResize="1" noEditPoints="1" noAdjustHandles="1" noChangeArrowheads="1" noChangeShapeType="1" noTextEdit="1"/>
              </p:cNvSpPr>
              <p:nvPr/>
            </p:nvSpPr>
            <p:spPr>
              <a:xfrm>
                <a:off x="-632298" y="4348536"/>
                <a:ext cx="4296184" cy="78996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8082B1F-A70F-3AA6-168F-35FC94B413E7}"/>
                  </a:ext>
                </a:extLst>
              </p:cNvPr>
              <p:cNvSpPr txBox="1"/>
              <p:nvPr/>
            </p:nvSpPr>
            <p:spPr>
              <a:xfrm>
                <a:off x="-197742" y="5327728"/>
                <a:ext cx="3708840"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D</m:t>
                      </m:r>
                      <m:r>
                        <m:rPr>
                          <m:sty m:val="p"/>
                        </m:rPr>
                        <a:rPr lang="en-US" sz="2400" i="0">
                          <a:latin typeface="Cambria Math" panose="02040503050406030204" pitchFamily="18" charset="0"/>
                        </a:rPr>
                        <m:t>ice</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2</m:t>
                          </m:r>
                          <m:r>
                            <m:rPr>
                              <m:sty m:val="p"/>
                            </m:rPr>
                            <a:rPr lang="en-US" sz="2400" i="0">
                              <a:latin typeface="Cambria Math" panose="02040503050406030204" pitchFamily="18" charset="0"/>
                            </a:rPr>
                            <m:t>TP</m:t>
                          </m:r>
                        </m:num>
                        <m:den>
                          <m:r>
                            <a:rPr lang="en-US" sz="2400" i="0">
                              <a:latin typeface="Cambria Math" panose="02040503050406030204" pitchFamily="18" charset="0"/>
                            </a:rPr>
                            <m:t>2</m:t>
                          </m:r>
                          <m:r>
                            <m:rPr>
                              <m:sty m:val="p"/>
                            </m:rPr>
                            <a:rPr lang="en-US" sz="2400" i="0">
                              <a:latin typeface="Cambria Math" panose="02040503050406030204" pitchFamily="18" charset="0"/>
                            </a:rPr>
                            <m:t>TP</m:t>
                          </m:r>
                          <m:r>
                            <a:rPr lang="en-US" sz="2400" i="0">
                              <a:latin typeface="Cambria Math" panose="02040503050406030204" pitchFamily="18" charset="0"/>
                            </a:rPr>
                            <m:t>+</m:t>
                          </m:r>
                          <m:r>
                            <m:rPr>
                              <m:sty m:val="p"/>
                            </m:rPr>
                            <a:rPr lang="en-US" sz="2400" i="0">
                              <a:latin typeface="Cambria Math" panose="02040503050406030204" pitchFamily="18" charset="0"/>
                            </a:rPr>
                            <m:t>FP</m:t>
                          </m:r>
                          <m:r>
                            <a:rPr lang="en-US" sz="2400" i="0">
                              <a:latin typeface="Cambria Math" panose="02040503050406030204" pitchFamily="18" charset="0"/>
                            </a:rPr>
                            <m:t>+</m:t>
                          </m:r>
                          <m:r>
                            <m:rPr>
                              <m:sty m:val="p"/>
                            </m:rPr>
                            <a:rPr lang="en-US" sz="2400" i="0">
                              <a:latin typeface="Cambria Math" panose="02040503050406030204" pitchFamily="18" charset="0"/>
                            </a:rPr>
                            <m:t>FN</m:t>
                          </m:r>
                        </m:den>
                      </m:f>
                    </m:oMath>
                  </m:oMathPara>
                </a14:m>
                <a:endParaRPr lang="en-US" sz="2400" dirty="0"/>
              </a:p>
            </p:txBody>
          </p:sp>
        </mc:Choice>
        <mc:Fallback xmlns="">
          <p:sp>
            <p:nvSpPr>
              <p:cNvPr id="12" name="TextBox 11">
                <a:extLst>
                  <a:ext uri="{FF2B5EF4-FFF2-40B4-BE49-F238E27FC236}">
                    <a16:creationId xmlns:a16="http://schemas.microsoft.com/office/drawing/2014/main" id="{68082B1F-A70F-3AA6-168F-35FC94B413E7}"/>
                  </a:ext>
                </a:extLst>
              </p:cNvPr>
              <p:cNvSpPr txBox="1">
                <a:spLocks noRot="1" noChangeAspect="1" noMove="1" noResize="1" noEditPoints="1" noAdjustHandles="1" noChangeArrowheads="1" noChangeShapeType="1" noTextEdit="1"/>
              </p:cNvSpPr>
              <p:nvPr/>
            </p:nvSpPr>
            <p:spPr>
              <a:xfrm>
                <a:off x="-197742" y="5327728"/>
                <a:ext cx="3708840" cy="79239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4190E37-8A4A-A4DF-A068-40FC463E4D84}"/>
                  </a:ext>
                </a:extLst>
              </p:cNvPr>
              <p:cNvSpPr txBox="1"/>
              <p:nvPr/>
            </p:nvSpPr>
            <p:spPr>
              <a:xfrm>
                <a:off x="9143999" y="113739"/>
                <a:ext cx="2230419" cy="7013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sz="1400">
                          <a:latin typeface="Cambria Math" panose="02040503050406030204" pitchFamily="18" charset="0"/>
                        </a:rPr>
                        <m:t>MSE</m:t>
                      </m:r>
                      <m:r>
                        <a:rPr lang="uk-UA" sz="1400">
                          <a:latin typeface="Cambria Math" panose="02040503050406030204" pitchFamily="18" charset="0"/>
                        </a:rPr>
                        <m:t>=</m:t>
                      </m:r>
                      <m:f>
                        <m:fPr>
                          <m:ctrlPr>
                            <a:rPr lang="en-US" sz="1400" i="1">
                              <a:latin typeface="Cambria Math" panose="02040503050406030204" pitchFamily="18" charset="0"/>
                            </a:rPr>
                          </m:ctrlPr>
                        </m:fPr>
                        <m:num>
                          <m:r>
                            <a:rPr lang="uk-UA" sz="1400">
                              <a:latin typeface="Cambria Math" panose="02040503050406030204" pitchFamily="18" charset="0"/>
                            </a:rPr>
                            <m:t>1</m:t>
                          </m:r>
                        </m:num>
                        <m:den>
                          <m:r>
                            <m:rPr>
                              <m:sty m:val="p"/>
                            </m:rPr>
                            <a:rPr lang="uk-UA" sz="1400">
                              <a:latin typeface="Cambria Math" panose="02040503050406030204" pitchFamily="18" charset="0"/>
                            </a:rPr>
                            <m:t>N</m:t>
                          </m:r>
                        </m:den>
                      </m:f>
                      <m:nary>
                        <m:naryPr>
                          <m:chr m:val="∑"/>
                          <m:limLoc m:val="undOvr"/>
                          <m:ctrlPr>
                            <a:rPr lang="en-US" sz="1400" i="1">
                              <a:latin typeface="Cambria Math" panose="02040503050406030204" pitchFamily="18" charset="0"/>
                            </a:rPr>
                          </m:ctrlPr>
                        </m:naryPr>
                        <m:sub>
                          <m:r>
                            <m:rPr>
                              <m:sty m:val="p"/>
                            </m:rPr>
                            <a:rPr lang="uk-UA" sz="1400">
                              <a:latin typeface="Cambria Math" panose="02040503050406030204" pitchFamily="18" charset="0"/>
                            </a:rPr>
                            <m:t>i</m:t>
                          </m:r>
                          <m:r>
                            <a:rPr lang="uk-UA" sz="1400">
                              <a:latin typeface="Cambria Math" panose="02040503050406030204" pitchFamily="18" charset="0"/>
                            </a:rPr>
                            <m:t>=1</m:t>
                          </m:r>
                        </m:sub>
                        <m:sup>
                          <m:r>
                            <m:rPr>
                              <m:sty m:val="p"/>
                            </m:rPr>
                            <a:rPr lang="uk-UA" sz="1400">
                              <a:latin typeface="Cambria Math" panose="02040503050406030204" pitchFamily="18" charset="0"/>
                            </a:rPr>
                            <m:t>N</m:t>
                          </m:r>
                        </m:sup>
                        <m:e>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uk-UA" sz="1400">
                                          <a:latin typeface="Cambria Math" panose="02040503050406030204" pitchFamily="18" charset="0"/>
                                        </a:rPr>
                                        <m:t>D</m:t>
                                      </m:r>
                                    </m:e>
                                    <m:sub>
                                      <m:r>
                                        <m:rPr>
                                          <m:sty m:val="p"/>
                                        </m:rPr>
                                        <a:rPr lang="uk-UA" sz="1400">
                                          <a:latin typeface="Cambria Math" panose="02040503050406030204" pitchFamily="18" charset="0"/>
                                        </a:rPr>
                                        <m:t>i</m:t>
                                      </m:r>
                                    </m:sub>
                                  </m:sSub>
                                  <m:r>
                                    <a:rPr lang="uk-UA" sz="1400">
                                      <a:latin typeface="Cambria Math" panose="02040503050406030204" pitchFamily="18" charset="0"/>
                                    </a:rPr>
                                    <m:t>−</m:t>
                                  </m:r>
                                  <m:sSubSup>
                                    <m:sSubSupPr>
                                      <m:ctrlPr>
                                        <a:rPr lang="en-US" sz="1400" i="1">
                                          <a:latin typeface="Cambria Math" panose="02040503050406030204" pitchFamily="18" charset="0"/>
                                        </a:rPr>
                                      </m:ctrlPr>
                                    </m:sSubSupPr>
                                    <m:e>
                                      <m:r>
                                        <m:rPr>
                                          <m:sty m:val="p"/>
                                        </m:rPr>
                                        <a:rPr lang="uk-UA" sz="1400">
                                          <a:latin typeface="Cambria Math" panose="02040503050406030204" pitchFamily="18" charset="0"/>
                                        </a:rPr>
                                        <m:t>D</m:t>
                                      </m:r>
                                    </m:e>
                                    <m:sub>
                                      <m:r>
                                        <m:rPr>
                                          <m:sty m:val="p"/>
                                        </m:rPr>
                                        <a:rPr lang="uk-UA" sz="1400">
                                          <a:latin typeface="Cambria Math" panose="02040503050406030204" pitchFamily="18" charset="0"/>
                                        </a:rPr>
                                        <m:t>i</m:t>
                                      </m:r>
                                    </m:sub>
                                    <m:sup>
                                      <m:r>
                                        <m:rPr>
                                          <m:sty m:val="p"/>
                                        </m:rPr>
                                        <a:rPr lang="uk-UA" sz="1400">
                                          <a:latin typeface="Cambria Math" panose="02040503050406030204" pitchFamily="18" charset="0"/>
                                        </a:rPr>
                                        <m:t>qt</m:t>
                                      </m:r>
                                    </m:sup>
                                  </m:sSubSup>
                                </m:e>
                              </m:d>
                            </m:e>
                            <m:sup>
                              <m:r>
                                <a:rPr lang="uk-UA" sz="1400">
                                  <a:latin typeface="Cambria Math" panose="02040503050406030204" pitchFamily="18" charset="0"/>
                                </a:rPr>
                                <m:t>2</m:t>
                              </m:r>
                            </m:sup>
                          </m:sSup>
                        </m:e>
                      </m:nary>
                    </m:oMath>
                  </m:oMathPara>
                </a14:m>
                <a:endParaRPr lang="en-US" sz="1400" dirty="0"/>
              </a:p>
            </p:txBody>
          </p:sp>
        </mc:Choice>
        <mc:Fallback xmlns="">
          <p:sp>
            <p:nvSpPr>
              <p:cNvPr id="13" name="TextBox 12">
                <a:extLst>
                  <a:ext uri="{FF2B5EF4-FFF2-40B4-BE49-F238E27FC236}">
                    <a16:creationId xmlns:a16="http://schemas.microsoft.com/office/drawing/2014/main" id="{34190E37-8A4A-A4DF-A068-40FC463E4D84}"/>
                  </a:ext>
                </a:extLst>
              </p:cNvPr>
              <p:cNvSpPr txBox="1">
                <a:spLocks noRot="1" noChangeAspect="1" noMove="1" noResize="1" noEditPoints="1" noAdjustHandles="1" noChangeArrowheads="1" noChangeShapeType="1" noTextEdit="1"/>
              </p:cNvSpPr>
              <p:nvPr/>
            </p:nvSpPr>
            <p:spPr>
              <a:xfrm>
                <a:off x="9143999" y="113739"/>
                <a:ext cx="2230419" cy="701346"/>
              </a:xfrm>
              <a:prstGeom prst="rect">
                <a:avLst/>
              </a:prstGeom>
              <a:blipFill>
                <a:blip r:embed="rId8"/>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0DB8BE33-ACC0-E916-11C6-EFB4457ECC0B}"/>
              </a:ext>
            </a:extLst>
          </p:cNvPr>
          <p:cNvSpPr txBox="1"/>
          <p:nvPr/>
        </p:nvSpPr>
        <p:spPr>
          <a:xfrm>
            <a:off x="11604684" y="53140"/>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
        <p:nvSpPr>
          <p:cNvPr id="16" name="TextBox 15">
            <a:extLst>
              <a:ext uri="{FF2B5EF4-FFF2-40B4-BE49-F238E27FC236}">
                <a16:creationId xmlns:a16="http://schemas.microsoft.com/office/drawing/2014/main" id="{ADA4804D-1E39-DA06-715C-6720477E944A}"/>
              </a:ext>
            </a:extLst>
          </p:cNvPr>
          <p:cNvSpPr txBox="1"/>
          <p:nvPr/>
        </p:nvSpPr>
        <p:spPr>
          <a:xfrm>
            <a:off x="11750898" y="693289"/>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
        <p:nvSpPr>
          <p:cNvPr id="18" name="TextBox 17">
            <a:extLst>
              <a:ext uri="{FF2B5EF4-FFF2-40B4-BE49-F238E27FC236}">
                <a16:creationId xmlns:a16="http://schemas.microsoft.com/office/drawing/2014/main" id="{100D2806-2728-EC9F-3757-A9BBA46CE805}"/>
              </a:ext>
            </a:extLst>
          </p:cNvPr>
          <p:cNvSpPr txBox="1"/>
          <p:nvPr/>
        </p:nvSpPr>
        <p:spPr>
          <a:xfrm>
            <a:off x="11821736" y="1333438"/>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510158-5592-8D5D-472D-03184D2B2667}"/>
              </a:ext>
            </a:extLst>
          </p:cNvPr>
          <p:cNvPicPr>
            <a:picLocks noChangeAspect="1"/>
          </p:cNvPicPr>
          <p:nvPr/>
        </p:nvPicPr>
        <p:blipFill>
          <a:blip r:embed="rId3">
            <a:duotone>
              <a:schemeClr val="bg2">
                <a:shade val="45000"/>
                <a:satMod val="135000"/>
              </a:schemeClr>
              <a:prstClr val="white"/>
            </a:duotone>
          </a:blip>
          <a:srcRect t="25000"/>
          <a:stretch>
            <a:fillRect/>
          </a:stretch>
        </p:blipFill>
        <p:spPr>
          <a:xfrm>
            <a:off x="20" y="10"/>
            <a:ext cx="12191980" cy="6857990"/>
          </a:xfrm>
          <a:prstGeom prst="rect">
            <a:avLst/>
          </a:prstGeom>
        </p:spPr>
      </p:pic>
      <p:sp>
        <p:nvSpPr>
          <p:cNvPr id="2" name="Title 1"/>
          <p:cNvSpPr>
            <a:spLocks noGrp="1"/>
          </p:cNvSpPr>
          <p:nvPr>
            <p:ph type="title"/>
          </p:nvPr>
        </p:nvSpPr>
        <p:spPr>
          <a:xfrm>
            <a:off x="838200" y="136525"/>
            <a:ext cx="10515600" cy="855065"/>
          </a:xfrm>
        </p:spPr>
        <p:txBody>
          <a:bodyPr>
            <a:normAutofit/>
          </a:bodyPr>
          <a:lstStyle/>
          <a:p>
            <a:r>
              <a:rPr dirty="0"/>
              <a:t>Аналіз </a:t>
            </a:r>
            <a:r>
              <a:rPr dirty="0" err="1"/>
              <a:t>отриманих</a:t>
            </a:r>
            <a:r>
              <a:rPr dirty="0"/>
              <a:t> </a:t>
            </a:r>
            <a:r>
              <a:rPr dirty="0" err="1"/>
              <a:t>результатів</a:t>
            </a:r>
            <a:endParaRPr dirty="0"/>
          </a:p>
        </p:txBody>
      </p:sp>
      <p:graphicFrame>
        <p:nvGraphicFramePr>
          <p:cNvPr id="5" name="Content Placeholder 2">
            <a:extLst>
              <a:ext uri="{FF2B5EF4-FFF2-40B4-BE49-F238E27FC236}">
                <a16:creationId xmlns:a16="http://schemas.microsoft.com/office/drawing/2014/main" id="{5B65987F-CB94-669D-5E27-54A4A1799994}"/>
              </a:ext>
            </a:extLst>
          </p:cNvPr>
          <p:cNvGraphicFramePr>
            <a:graphicFrameLocks noGrp="1"/>
          </p:cNvGraphicFramePr>
          <p:nvPr>
            <p:ph idx="1"/>
            <p:extLst>
              <p:ext uri="{D42A27DB-BD31-4B8C-83A1-F6EECF244321}">
                <p14:modId xmlns:p14="http://schemas.microsoft.com/office/powerpoint/2010/main" val="3860460013"/>
              </p:ext>
            </p:extLst>
          </p:nvPr>
        </p:nvGraphicFramePr>
        <p:xfrm>
          <a:off x="20" y="991590"/>
          <a:ext cx="12191980" cy="52282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B41F0A67-ED18-82E2-E22F-A45BDAD0A379}"/>
              </a:ext>
            </a:extLst>
          </p:cNvPr>
          <p:cNvSpPr>
            <a:spLocks noGrp="1"/>
          </p:cNvSpPr>
          <p:nvPr>
            <p:ph type="sldNum" sz="quarter" idx="12"/>
          </p:nvPr>
        </p:nvSpPr>
        <p:spPr/>
        <p:txBody>
          <a:bodyPr/>
          <a:lstStyle/>
          <a:p>
            <a:fld id="{C1FF6DA9-008F-8B48-92A6-B652298478BF}" type="slidenum">
              <a:rPr lang="en-US" smtClean="0"/>
              <a:t>25</a:t>
            </a:fld>
            <a:endParaRPr lang="en-US" dirty="0"/>
          </a:p>
        </p:txBody>
      </p:sp>
      <p:sp>
        <p:nvSpPr>
          <p:cNvPr id="7" name="TextBox 6">
            <a:extLst>
              <a:ext uri="{FF2B5EF4-FFF2-40B4-BE49-F238E27FC236}">
                <a16:creationId xmlns:a16="http://schemas.microsoft.com/office/drawing/2014/main" id="{DBFB7936-626E-DBE0-91A0-DA74BD1707B0}"/>
              </a:ext>
            </a:extLst>
          </p:cNvPr>
          <p:cNvSpPr txBox="1"/>
          <p:nvPr/>
        </p:nvSpPr>
        <p:spPr>
          <a:xfrm>
            <a:off x="11604684" y="53140"/>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
        <p:nvSpPr>
          <p:cNvPr id="9" name="TextBox 8">
            <a:extLst>
              <a:ext uri="{FF2B5EF4-FFF2-40B4-BE49-F238E27FC236}">
                <a16:creationId xmlns:a16="http://schemas.microsoft.com/office/drawing/2014/main" id="{E7B435CA-6409-8F51-DA9F-6EFCA82409A2}"/>
              </a:ext>
            </a:extLst>
          </p:cNvPr>
          <p:cNvSpPr txBox="1"/>
          <p:nvPr/>
        </p:nvSpPr>
        <p:spPr>
          <a:xfrm>
            <a:off x="11752667" y="711515"/>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
        <p:nvSpPr>
          <p:cNvPr id="12" name="TextBox 11">
            <a:extLst>
              <a:ext uri="{FF2B5EF4-FFF2-40B4-BE49-F238E27FC236}">
                <a16:creationId xmlns:a16="http://schemas.microsoft.com/office/drawing/2014/main" id="{119E5996-F3C6-A969-067F-A4A7D8C497D2}"/>
              </a:ext>
            </a:extLst>
          </p:cNvPr>
          <p:cNvSpPr txBox="1"/>
          <p:nvPr/>
        </p:nvSpPr>
        <p:spPr>
          <a:xfrm>
            <a:off x="11961194" y="1369890"/>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116232"/>
            <a:ext cx="12192000" cy="551280"/>
          </a:xfrm>
          <a:prstGeom prst="rect">
            <a:avLst/>
          </a:prstGeom>
          <a:noFill/>
          <a:ln/>
        </p:spPr>
        <p:txBody>
          <a:bodyPr wrap="square" lIns="381" tIns="381" rIns="381" bIns="381" rtlCol="0" anchor="ctr">
            <a:normAutofit/>
          </a:bodyPr>
          <a:lstStyle/>
          <a:p>
            <a:pPr marL="0" indent="0" algn="ctr">
              <a:buNone/>
            </a:pPr>
            <a:r>
              <a:rPr lang="en-US" sz="3600" b="1" dirty="0">
                <a:solidFill>
                  <a:srgbClr val="1F4E79"/>
                </a:solidFill>
              </a:rPr>
              <a:t>Кількісне підтвердження досягнення мети</a:t>
            </a:r>
            <a:endParaRPr lang="en-US" sz="3600" dirty="0"/>
          </a:p>
        </p:txBody>
      </p:sp>
      <p:sp>
        <p:nvSpPr>
          <p:cNvPr id="3" name="Text 1"/>
          <p:cNvSpPr/>
          <p:nvPr/>
        </p:nvSpPr>
        <p:spPr>
          <a:xfrm>
            <a:off x="530352" y="713232"/>
            <a:ext cx="10972800" cy="228600"/>
          </a:xfrm>
          <a:prstGeom prst="rect">
            <a:avLst/>
          </a:prstGeom>
          <a:noFill/>
          <a:ln/>
        </p:spPr>
        <p:txBody>
          <a:bodyPr wrap="square" lIns="254" tIns="254" rIns="254" bIns="254" rtlCol="0" anchor="ctr">
            <a:normAutofit/>
          </a:bodyPr>
          <a:lstStyle/>
          <a:p>
            <a:pPr marL="0" indent="0">
              <a:buNone/>
            </a:pPr>
            <a:r>
              <a:rPr lang="en-US" sz="1150" dirty="0">
                <a:solidFill>
                  <a:srgbClr val="5B677A"/>
                </a:solidFill>
              </a:rPr>
              <a:t>Мета: підвищення точності, надійності </a:t>
            </a:r>
            <a:r>
              <a:rPr lang="en-US" sz="1150" dirty="0" err="1">
                <a:solidFill>
                  <a:srgbClr val="5B677A"/>
                </a:solidFill>
              </a:rPr>
              <a:t>та</a:t>
            </a:r>
            <a:r>
              <a:rPr lang="en-US" sz="1150" dirty="0">
                <a:solidFill>
                  <a:srgbClr val="5B677A"/>
                </a:solidFill>
              </a:rPr>
              <a:t> </a:t>
            </a:r>
            <a:r>
              <a:rPr lang="en-US" sz="1150" dirty="0" err="1">
                <a:solidFill>
                  <a:srgbClr val="5B677A"/>
                </a:solidFill>
              </a:rPr>
              <a:t>адаптивності</a:t>
            </a:r>
            <a:endParaRPr lang="en-US" sz="1150" dirty="0"/>
          </a:p>
        </p:txBody>
      </p:sp>
      <p:sp>
        <p:nvSpPr>
          <p:cNvPr id="4" name="Shape 2"/>
          <p:cNvSpPr/>
          <p:nvPr/>
        </p:nvSpPr>
        <p:spPr>
          <a:xfrm>
            <a:off x="502920" y="1179772"/>
            <a:ext cx="2103120" cy="1316736"/>
          </a:xfrm>
          <a:prstGeom prst="roundRect">
            <a:avLst>
              <a:gd name="adj" fmla="val 6400"/>
            </a:avLst>
          </a:prstGeom>
          <a:solidFill>
            <a:srgbClr val="FFFFFF"/>
          </a:solidFill>
          <a:ln w="762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5" name="Text 3"/>
          <p:cNvSpPr/>
          <p:nvPr/>
        </p:nvSpPr>
        <p:spPr>
          <a:xfrm>
            <a:off x="630936" y="1280160"/>
            <a:ext cx="1847088" cy="201168"/>
          </a:xfrm>
          <a:prstGeom prst="rect">
            <a:avLst/>
          </a:prstGeom>
          <a:noFill/>
          <a:ln/>
        </p:spPr>
        <p:txBody>
          <a:bodyPr wrap="square" lIns="254" tIns="254" rIns="254" bIns="254" rtlCol="0" anchor="ctr">
            <a:normAutofit/>
          </a:bodyPr>
          <a:lstStyle/>
          <a:p>
            <a:pPr marL="0" indent="0">
              <a:buNone/>
            </a:pPr>
            <a:r>
              <a:rPr lang="en-US" sz="1200" b="1" dirty="0">
                <a:solidFill>
                  <a:srgbClr val="5B677A"/>
                </a:solidFill>
              </a:rPr>
              <a:t>ТОЧНІСТЬ ГЛИБИНИ</a:t>
            </a:r>
            <a:endParaRPr lang="en-US" sz="1200" dirty="0"/>
          </a:p>
        </p:txBody>
      </p:sp>
      <p:sp>
        <p:nvSpPr>
          <p:cNvPr id="6" name="Text 4"/>
          <p:cNvSpPr/>
          <p:nvPr/>
        </p:nvSpPr>
        <p:spPr>
          <a:xfrm>
            <a:off x="630936" y="1545336"/>
            <a:ext cx="1847088" cy="320040"/>
          </a:xfrm>
          <a:prstGeom prst="rect">
            <a:avLst/>
          </a:prstGeom>
          <a:noFill/>
          <a:ln/>
        </p:spPr>
        <p:txBody>
          <a:bodyPr wrap="square" lIns="254" tIns="254" rIns="254" bIns="254" rtlCol="0" anchor="ctr">
            <a:normAutofit lnSpcReduction="10000"/>
          </a:bodyPr>
          <a:lstStyle/>
          <a:p>
            <a:pPr marL="0" indent="0" algn="ctr">
              <a:buNone/>
            </a:pPr>
            <a:r>
              <a:rPr lang="en-US" sz="2300" b="1" dirty="0">
                <a:solidFill>
                  <a:srgbClr val="2F75B5"/>
                </a:solidFill>
              </a:rPr>
              <a:t>RMSE 0,713</a:t>
            </a:r>
            <a:endParaRPr lang="en-US" sz="2300" dirty="0"/>
          </a:p>
        </p:txBody>
      </p:sp>
      <p:sp>
        <p:nvSpPr>
          <p:cNvPr id="7" name="Text 5"/>
          <p:cNvSpPr/>
          <p:nvPr/>
        </p:nvSpPr>
        <p:spPr>
          <a:xfrm>
            <a:off x="630936" y="1975104"/>
            <a:ext cx="1847088" cy="246888"/>
          </a:xfrm>
          <a:prstGeom prst="rect">
            <a:avLst/>
          </a:prstGeom>
          <a:noFill/>
          <a:ln/>
        </p:spPr>
        <p:txBody>
          <a:bodyPr wrap="square" lIns="254" tIns="254" rIns="254" bIns="254" rtlCol="0" anchor="t">
            <a:noAutofit/>
          </a:bodyPr>
          <a:lstStyle/>
          <a:p>
            <a:pPr marL="0" indent="0">
              <a:buNone/>
            </a:pPr>
            <a:r>
              <a:rPr lang="en-US" sz="1200" dirty="0">
                <a:solidFill>
                  <a:srgbClr val="1F2937"/>
                </a:solidFill>
              </a:rPr>
              <a:t>Найкращий результат для Bagging; MAE = 0,474.</a:t>
            </a:r>
            <a:endParaRPr lang="en-US" sz="1200" dirty="0"/>
          </a:p>
        </p:txBody>
      </p:sp>
      <p:sp>
        <p:nvSpPr>
          <p:cNvPr id="8" name="Shape 6"/>
          <p:cNvSpPr/>
          <p:nvPr/>
        </p:nvSpPr>
        <p:spPr>
          <a:xfrm>
            <a:off x="2788920" y="1142999"/>
            <a:ext cx="2157984" cy="1289306"/>
          </a:xfrm>
          <a:prstGeom prst="roundRect">
            <a:avLst>
              <a:gd name="adj" fmla="val 6400"/>
            </a:avLst>
          </a:prstGeom>
          <a:solidFill>
            <a:srgbClr val="FFFFFF"/>
          </a:solidFill>
          <a:ln w="762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9" name="Text 7"/>
          <p:cNvSpPr/>
          <p:nvPr/>
        </p:nvSpPr>
        <p:spPr>
          <a:xfrm>
            <a:off x="2916936" y="1280160"/>
            <a:ext cx="1847088" cy="201168"/>
          </a:xfrm>
          <a:prstGeom prst="rect">
            <a:avLst/>
          </a:prstGeom>
          <a:noFill/>
          <a:ln/>
        </p:spPr>
        <p:txBody>
          <a:bodyPr wrap="square" lIns="254" tIns="254" rIns="254" bIns="254" rtlCol="0" anchor="ctr">
            <a:normAutofit/>
          </a:bodyPr>
          <a:lstStyle/>
          <a:p>
            <a:pPr marL="0" indent="0">
              <a:buNone/>
            </a:pPr>
            <a:r>
              <a:rPr lang="en-US" sz="1200" b="1" dirty="0">
                <a:solidFill>
                  <a:srgbClr val="5B677A"/>
                </a:solidFill>
              </a:rPr>
              <a:t>ЯКІСТЬ КАРТИ</a:t>
            </a:r>
            <a:endParaRPr lang="en-US" sz="1200" dirty="0"/>
          </a:p>
        </p:txBody>
      </p:sp>
      <p:sp>
        <p:nvSpPr>
          <p:cNvPr id="10" name="Text 8"/>
          <p:cNvSpPr/>
          <p:nvPr/>
        </p:nvSpPr>
        <p:spPr>
          <a:xfrm>
            <a:off x="2916936" y="1545336"/>
            <a:ext cx="1847088" cy="320040"/>
          </a:xfrm>
          <a:prstGeom prst="rect">
            <a:avLst/>
          </a:prstGeom>
          <a:noFill/>
          <a:ln/>
        </p:spPr>
        <p:txBody>
          <a:bodyPr wrap="square" lIns="254" tIns="254" rIns="254" bIns="254" rtlCol="0" anchor="ctr">
            <a:normAutofit fontScale="92500" lnSpcReduction="10000"/>
          </a:bodyPr>
          <a:lstStyle/>
          <a:p>
            <a:pPr marL="0" indent="0" algn="ctr">
              <a:buNone/>
            </a:pPr>
            <a:r>
              <a:rPr lang="en-US" sz="2300" b="1" dirty="0">
                <a:solidFill>
                  <a:srgbClr val="0F766E"/>
                </a:solidFill>
              </a:rPr>
              <a:t>PSNR 51,065 дБ</a:t>
            </a:r>
            <a:endParaRPr lang="en-US" sz="2300" dirty="0"/>
          </a:p>
        </p:txBody>
      </p:sp>
      <p:sp>
        <p:nvSpPr>
          <p:cNvPr id="11" name="Text 9"/>
          <p:cNvSpPr/>
          <p:nvPr/>
        </p:nvSpPr>
        <p:spPr>
          <a:xfrm>
            <a:off x="2916936" y="1975104"/>
            <a:ext cx="1847088" cy="246888"/>
          </a:xfrm>
          <a:prstGeom prst="rect">
            <a:avLst/>
          </a:prstGeom>
          <a:noFill/>
          <a:ln/>
        </p:spPr>
        <p:txBody>
          <a:bodyPr wrap="square" lIns="254" tIns="254" rIns="254" bIns="254" rtlCol="0" anchor="t">
            <a:noAutofit/>
          </a:bodyPr>
          <a:lstStyle/>
          <a:p>
            <a:pPr marL="0" indent="0">
              <a:buNone/>
            </a:pPr>
            <a:r>
              <a:rPr lang="en-US" sz="1200" dirty="0">
                <a:solidFill>
                  <a:srgbClr val="1F2937"/>
                </a:solidFill>
              </a:rPr>
              <a:t>Висока якість відновлення карти глибини.</a:t>
            </a:r>
            <a:endParaRPr lang="en-US" sz="1200" dirty="0"/>
          </a:p>
        </p:txBody>
      </p:sp>
      <p:sp>
        <p:nvSpPr>
          <p:cNvPr id="12" name="Shape 10"/>
          <p:cNvSpPr/>
          <p:nvPr/>
        </p:nvSpPr>
        <p:spPr>
          <a:xfrm>
            <a:off x="5074920" y="1142999"/>
            <a:ext cx="2103120" cy="1289305"/>
          </a:xfrm>
          <a:prstGeom prst="roundRect">
            <a:avLst>
              <a:gd name="adj" fmla="val 6400"/>
            </a:avLst>
          </a:prstGeom>
          <a:solidFill>
            <a:srgbClr val="FFFFFF"/>
          </a:solidFill>
          <a:ln w="762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3" name="Text 11"/>
          <p:cNvSpPr/>
          <p:nvPr/>
        </p:nvSpPr>
        <p:spPr>
          <a:xfrm>
            <a:off x="5202936" y="1280160"/>
            <a:ext cx="1847088" cy="201168"/>
          </a:xfrm>
          <a:prstGeom prst="rect">
            <a:avLst/>
          </a:prstGeom>
          <a:noFill/>
          <a:ln/>
        </p:spPr>
        <p:txBody>
          <a:bodyPr wrap="square" lIns="254" tIns="254" rIns="254" bIns="254" rtlCol="0" anchor="ctr">
            <a:noAutofit/>
          </a:bodyPr>
          <a:lstStyle/>
          <a:p>
            <a:pPr marL="0" indent="0">
              <a:buNone/>
            </a:pPr>
            <a:r>
              <a:rPr lang="en-US" sz="1200" b="1" dirty="0">
                <a:solidFill>
                  <a:srgbClr val="5B677A"/>
                </a:solidFill>
              </a:rPr>
              <a:t>СТРУКТУРНА УЗГОДЖЕНІСТЬ</a:t>
            </a:r>
            <a:endParaRPr lang="en-US" sz="1200" dirty="0"/>
          </a:p>
        </p:txBody>
      </p:sp>
      <p:sp>
        <p:nvSpPr>
          <p:cNvPr id="14" name="Text 12"/>
          <p:cNvSpPr/>
          <p:nvPr/>
        </p:nvSpPr>
        <p:spPr>
          <a:xfrm>
            <a:off x="5202936" y="1545336"/>
            <a:ext cx="1847088" cy="320040"/>
          </a:xfrm>
          <a:prstGeom prst="rect">
            <a:avLst/>
          </a:prstGeom>
          <a:noFill/>
          <a:ln/>
        </p:spPr>
        <p:txBody>
          <a:bodyPr wrap="square" lIns="254" tIns="254" rIns="254" bIns="254" rtlCol="0" anchor="ctr">
            <a:normAutofit lnSpcReduction="10000"/>
          </a:bodyPr>
          <a:lstStyle/>
          <a:p>
            <a:pPr marL="0" indent="0" algn="ctr">
              <a:buNone/>
            </a:pPr>
            <a:r>
              <a:rPr lang="en-US" sz="2300" b="1" dirty="0">
                <a:solidFill>
                  <a:srgbClr val="2E7D32"/>
                </a:solidFill>
              </a:rPr>
              <a:t>IoU 0,996</a:t>
            </a:r>
            <a:endParaRPr lang="en-US" sz="2300" dirty="0"/>
          </a:p>
        </p:txBody>
      </p:sp>
      <p:sp>
        <p:nvSpPr>
          <p:cNvPr id="15" name="Text 13"/>
          <p:cNvSpPr/>
          <p:nvPr/>
        </p:nvSpPr>
        <p:spPr>
          <a:xfrm>
            <a:off x="5202936" y="1975104"/>
            <a:ext cx="1847088" cy="246888"/>
          </a:xfrm>
          <a:prstGeom prst="rect">
            <a:avLst/>
          </a:prstGeom>
          <a:noFill/>
          <a:ln/>
        </p:spPr>
        <p:txBody>
          <a:bodyPr wrap="square" lIns="254" tIns="254" rIns="254" bIns="254" rtlCol="0" anchor="t">
            <a:noAutofit/>
          </a:bodyPr>
          <a:lstStyle/>
          <a:p>
            <a:pPr marL="0" indent="0">
              <a:buNone/>
            </a:pPr>
            <a:r>
              <a:rPr lang="en-US" sz="1200" dirty="0">
                <a:solidFill>
                  <a:srgbClr val="1F2937"/>
                </a:solidFill>
              </a:rPr>
              <a:t>Відмінна узгодженість із референсною картою.</a:t>
            </a:r>
            <a:endParaRPr lang="en-US" sz="1200" dirty="0"/>
          </a:p>
        </p:txBody>
      </p:sp>
      <p:sp>
        <p:nvSpPr>
          <p:cNvPr id="16" name="Shape 14"/>
          <p:cNvSpPr/>
          <p:nvPr/>
        </p:nvSpPr>
        <p:spPr>
          <a:xfrm>
            <a:off x="7360920" y="1143000"/>
            <a:ext cx="2103120" cy="1316736"/>
          </a:xfrm>
          <a:prstGeom prst="roundRect">
            <a:avLst>
              <a:gd name="adj" fmla="val 6400"/>
            </a:avLst>
          </a:prstGeom>
          <a:solidFill>
            <a:srgbClr val="FFFFFF"/>
          </a:solidFill>
          <a:ln w="762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7" name="Text 15"/>
          <p:cNvSpPr/>
          <p:nvPr/>
        </p:nvSpPr>
        <p:spPr>
          <a:xfrm>
            <a:off x="7488936" y="1280160"/>
            <a:ext cx="1847088" cy="201168"/>
          </a:xfrm>
          <a:prstGeom prst="rect">
            <a:avLst/>
          </a:prstGeom>
          <a:noFill/>
          <a:ln/>
        </p:spPr>
        <p:txBody>
          <a:bodyPr wrap="square" lIns="254" tIns="254" rIns="254" bIns="254" rtlCol="0" anchor="ctr">
            <a:normAutofit/>
          </a:bodyPr>
          <a:lstStyle/>
          <a:p>
            <a:pPr marL="0" indent="0">
              <a:buNone/>
            </a:pPr>
            <a:r>
              <a:rPr lang="en-US" sz="1050" b="1" dirty="0">
                <a:solidFill>
                  <a:srgbClr val="5B677A"/>
                </a:solidFill>
              </a:rPr>
              <a:t>СЕГМЕНТАЦІЙНА ЯКІСТЬ</a:t>
            </a:r>
            <a:endParaRPr lang="en-US" sz="1050" dirty="0"/>
          </a:p>
        </p:txBody>
      </p:sp>
      <p:sp>
        <p:nvSpPr>
          <p:cNvPr id="18" name="Text 16"/>
          <p:cNvSpPr/>
          <p:nvPr/>
        </p:nvSpPr>
        <p:spPr>
          <a:xfrm>
            <a:off x="7488936" y="1545336"/>
            <a:ext cx="1847088" cy="320040"/>
          </a:xfrm>
          <a:prstGeom prst="rect">
            <a:avLst/>
          </a:prstGeom>
          <a:noFill/>
          <a:ln/>
        </p:spPr>
        <p:txBody>
          <a:bodyPr wrap="square" lIns="254" tIns="254" rIns="254" bIns="254" rtlCol="0" anchor="ctr">
            <a:normAutofit lnSpcReduction="10000"/>
          </a:bodyPr>
          <a:lstStyle/>
          <a:p>
            <a:pPr marL="0" indent="0" algn="ctr">
              <a:buNone/>
            </a:pPr>
            <a:r>
              <a:rPr lang="en-US" sz="2300" b="1" dirty="0">
                <a:solidFill>
                  <a:srgbClr val="C65911"/>
                </a:solidFill>
              </a:rPr>
              <a:t>Dice 0,998</a:t>
            </a:r>
            <a:endParaRPr lang="en-US" sz="2300" dirty="0"/>
          </a:p>
        </p:txBody>
      </p:sp>
      <p:sp>
        <p:nvSpPr>
          <p:cNvPr id="19" name="Text 17"/>
          <p:cNvSpPr/>
          <p:nvPr/>
        </p:nvSpPr>
        <p:spPr>
          <a:xfrm>
            <a:off x="7488936" y="1975104"/>
            <a:ext cx="1847088" cy="246888"/>
          </a:xfrm>
          <a:prstGeom prst="rect">
            <a:avLst/>
          </a:prstGeom>
          <a:noFill/>
          <a:ln/>
        </p:spPr>
        <p:txBody>
          <a:bodyPr wrap="square" lIns="254" tIns="254" rIns="254" bIns="254" rtlCol="0" anchor="t">
            <a:noAutofit/>
          </a:bodyPr>
          <a:lstStyle/>
          <a:p>
            <a:pPr marL="0" indent="0">
              <a:buNone/>
            </a:pPr>
            <a:r>
              <a:rPr lang="en-US" sz="1200" dirty="0">
                <a:solidFill>
                  <a:srgbClr val="1F2937"/>
                </a:solidFill>
              </a:rPr>
              <a:t>Показник близький до ідеального збігу.</a:t>
            </a:r>
            <a:endParaRPr lang="en-US" sz="1200" dirty="0"/>
          </a:p>
        </p:txBody>
      </p:sp>
      <p:sp>
        <p:nvSpPr>
          <p:cNvPr id="20" name="Shape 18"/>
          <p:cNvSpPr/>
          <p:nvPr/>
        </p:nvSpPr>
        <p:spPr>
          <a:xfrm>
            <a:off x="9646920" y="1143000"/>
            <a:ext cx="2042160" cy="1316736"/>
          </a:xfrm>
          <a:prstGeom prst="roundRect">
            <a:avLst>
              <a:gd name="adj" fmla="val 6400"/>
            </a:avLst>
          </a:prstGeom>
          <a:solidFill>
            <a:srgbClr val="FFFFFF"/>
          </a:solidFill>
          <a:ln w="762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21" name="Text 19"/>
          <p:cNvSpPr/>
          <p:nvPr/>
        </p:nvSpPr>
        <p:spPr>
          <a:xfrm>
            <a:off x="9774936" y="1280160"/>
            <a:ext cx="1801368" cy="201168"/>
          </a:xfrm>
          <a:prstGeom prst="rect">
            <a:avLst/>
          </a:prstGeom>
          <a:noFill/>
          <a:ln/>
        </p:spPr>
        <p:txBody>
          <a:bodyPr wrap="square" lIns="254" tIns="254" rIns="254" bIns="254" rtlCol="0" anchor="ctr">
            <a:normAutofit/>
          </a:bodyPr>
          <a:lstStyle/>
          <a:p>
            <a:pPr marL="0" indent="0">
              <a:buNone/>
            </a:pPr>
            <a:r>
              <a:rPr lang="en-US" sz="1050" b="1" dirty="0">
                <a:solidFill>
                  <a:srgbClr val="5B677A"/>
                </a:solidFill>
              </a:rPr>
              <a:t>ДЕТЕКЦІЯ</a:t>
            </a:r>
            <a:endParaRPr lang="en-US" sz="1050" dirty="0"/>
          </a:p>
        </p:txBody>
      </p:sp>
      <p:sp>
        <p:nvSpPr>
          <p:cNvPr id="22" name="Text 20"/>
          <p:cNvSpPr/>
          <p:nvPr/>
        </p:nvSpPr>
        <p:spPr>
          <a:xfrm>
            <a:off x="9774936" y="1545336"/>
            <a:ext cx="1801368" cy="320040"/>
          </a:xfrm>
          <a:prstGeom prst="rect">
            <a:avLst/>
          </a:prstGeom>
          <a:noFill/>
          <a:ln/>
        </p:spPr>
        <p:txBody>
          <a:bodyPr wrap="square" lIns="254" tIns="254" rIns="254" bIns="254" rtlCol="0" anchor="ctr">
            <a:normAutofit lnSpcReduction="10000"/>
          </a:bodyPr>
          <a:lstStyle/>
          <a:p>
            <a:pPr marL="0" indent="0" algn="ctr">
              <a:buNone/>
            </a:pPr>
            <a:r>
              <a:rPr lang="en-US" sz="2300" b="1" dirty="0">
                <a:solidFill>
                  <a:srgbClr val="A23B3B"/>
                </a:solidFill>
              </a:rPr>
              <a:t>0,74–1,00</a:t>
            </a:r>
            <a:endParaRPr lang="en-US" sz="2300" dirty="0"/>
          </a:p>
        </p:txBody>
      </p:sp>
      <p:sp>
        <p:nvSpPr>
          <p:cNvPr id="23" name="Text 21"/>
          <p:cNvSpPr/>
          <p:nvPr/>
        </p:nvSpPr>
        <p:spPr>
          <a:xfrm>
            <a:off x="9774936" y="1975104"/>
            <a:ext cx="1801368" cy="246888"/>
          </a:xfrm>
          <a:prstGeom prst="rect">
            <a:avLst/>
          </a:prstGeom>
          <a:noFill/>
          <a:ln/>
        </p:spPr>
        <p:txBody>
          <a:bodyPr wrap="square" lIns="254" tIns="254" rIns="254" bIns="254" rtlCol="0" anchor="t">
            <a:noAutofit/>
          </a:bodyPr>
          <a:lstStyle/>
          <a:p>
            <a:pPr marL="0" indent="0">
              <a:buNone/>
            </a:pPr>
            <a:r>
              <a:rPr lang="en-US" sz="1200" dirty="0">
                <a:solidFill>
                  <a:srgbClr val="1F2937"/>
                </a:solidFill>
              </a:rPr>
              <a:t>Довіра DETR для 6 </a:t>
            </a:r>
            <a:r>
              <a:rPr lang="en-US" sz="1200" dirty="0" err="1">
                <a:solidFill>
                  <a:srgbClr val="1F2937"/>
                </a:solidFill>
              </a:rPr>
              <a:t>виявлених</a:t>
            </a:r>
            <a:r>
              <a:rPr lang="en-US" sz="1200" dirty="0">
                <a:solidFill>
                  <a:srgbClr val="1F2937"/>
                </a:solidFill>
              </a:rPr>
              <a:t> </a:t>
            </a:r>
            <a:r>
              <a:rPr lang="en-US" sz="1200" dirty="0" err="1">
                <a:solidFill>
                  <a:srgbClr val="1F2937"/>
                </a:solidFill>
              </a:rPr>
              <a:t>об'єктів</a:t>
            </a:r>
            <a:r>
              <a:rPr lang="en-US" sz="1200" dirty="0">
                <a:solidFill>
                  <a:srgbClr val="1F2937"/>
                </a:solidFill>
              </a:rPr>
              <a:t>.</a:t>
            </a:r>
            <a:endParaRPr lang="en-US" sz="1200" dirty="0"/>
          </a:p>
        </p:txBody>
      </p:sp>
      <p:sp>
        <p:nvSpPr>
          <p:cNvPr id="24" name="Shape 22"/>
          <p:cNvSpPr/>
          <p:nvPr/>
        </p:nvSpPr>
        <p:spPr>
          <a:xfrm>
            <a:off x="99160" y="2935224"/>
            <a:ext cx="11993680" cy="3255264"/>
          </a:xfrm>
          <a:prstGeom prst="roundRect">
            <a:avLst>
              <a:gd name="adj" fmla="val 2553"/>
            </a:avLst>
          </a:prstGeom>
          <a:solidFill>
            <a:srgbClr val="FFFFFF"/>
          </a:solidFill>
          <a:ln w="12700">
            <a:solidFill>
              <a:srgbClr val="D8E0EA"/>
            </a:solidFill>
            <a:prstDash val="solid"/>
          </a:ln>
        </p:spPr>
        <p:txBody>
          <a:bodyPr/>
          <a:lstStyle/>
          <a:p>
            <a:endParaRPr lang="en-US"/>
          </a:p>
        </p:txBody>
      </p:sp>
      <p:sp>
        <p:nvSpPr>
          <p:cNvPr id="25" name="Text 23"/>
          <p:cNvSpPr/>
          <p:nvPr/>
        </p:nvSpPr>
        <p:spPr>
          <a:xfrm>
            <a:off x="266021" y="2941673"/>
            <a:ext cx="2630359" cy="401557"/>
          </a:xfrm>
          <a:prstGeom prst="rect">
            <a:avLst/>
          </a:prstGeom>
          <a:noFill/>
          <a:ln/>
        </p:spPr>
        <p:txBody>
          <a:bodyPr wrap="square" lIns="254" tIns="254" rIns="254" bIns="254" rtlCol="0" anchor="ctr"/>
          <a:lstStyle/>
          <a:p>
            <a:pPr marL="0" indent="0">
              <a:buNone/>
            </a:pPr>
            <a:r>
              <a:rPr lang="en-US" sz="2800" b="1" dirty="0">
                <a:solidFill>
                  <a:srgbClr val="1F4E79"/>
                </a:solidFill>
              </a:rPr>
              <a:t>Параметр мети</a:t>
            </a:r>
            <a:endParaRPr lang="en-US" sz="2800" dirty="0"/>
          </a:p>
        </p:txBody>
      </p:sp>
      <p:sp>
        <p:nvSpPr>
          <p:cNvPr id="26" name="Text 24"/>
          <p:cNvSpPr/>
          <p:nvPr/>
        </p:nvSpPr>
        <p:spPr>
          <a:xfrm>
            <a:off x="3063241" y="3047685"/>
            <a:ext cx="4759360" cy="251439"/>
          </a:xfrm>
          <a:prstGeom prst="rect">
            <a:avLst/>
          </a:prstGeom>
          <a:noFill/>
          <a:ln/>
        </p:spPr>
        <p:txBody>
          <a:bodyPr wrap="square" lIns="254" tIns="254" rIns="254" bIns="254" rtlCol="0" anchor="ctr"/>
          <a:lstStyle/>
          <a:p>
            <a:pPr marL="0" indent="0">
              <a:buNone/>
            </a:pPr>
            <a:r>
              <a:rPr lang="en-US" sz="2800" b="1" dirty="0">
                <a:solidFill>
                  <a:srgbClr val="1F4E79"/>
                </a:solidFill>
              </a:rPr>
              <a:t>Кількісний показник у роботі</a:t>
            </a:r>
            <a:endParaRPr lang="en-US" sz="2800" dirty="0"/>
          </a:p>
        </p:txBody>
      </p:sp>
      <p:sp>
        <p:nvSpPr>
          <p:cNvPr id="27" name="Text 25"/>
          <p:cNvSpPr/>
          <p:nvPr/>
        </p:nvSpPr>
        <p:spPr>
          <a:xfrm>
            <a:off x="7927720" y="3070546"/>
            <a:ext cx="4060000" cy="228578"/>
          </a:xfrm>
          <a:prstGeom prst="rect">
            <a:avLst/>
          </a:prstGeom>
          <a:noFill/>
          <a:ln/>
        </p:spPr>
        <p:txBody>
          <a:bodyPr wrap="square" lIns="254" tIns="254" rIns="254" bIns="254" rtlCol="0" anchor="ctr"/>
          <a:lstStyle/>
          <a:p>
            <a:pPr marL="0" indent="0">
              <a:buNone/>
            </a:pPr>
            <a:r>
              <a:rPr lang="en-US" sz="2800" b="1" dirty="0">
                <a:solidFill>
                  <a:srgbClr val="1F4E79"/>
                </a:solidFill>
              </a:rPr>
              <a:t>Інтерпретація досягнення</a:t>
            </a:r>
            <a:endParaRPr lang="en-US" sz="2800" dirty="0"/>
          </a:p>
        </p:txBody>
      </p:sp>
      <p:sp>
        <p:nvSpPr>
          <p:cNvPr id="28" name="Shape 26"/>
          <p:cNvSpPr/>
          <p:nvPr/>
        </p:nvSpPr>
        <p:spPr>
          <a:xfrm>
            <a:off x="332392" y="3429000"/>
            <a:ext cx="11545078" cy="0"/>
          </a:xfrm>
          <a:prstGeom prst="line">
            <a:avLst/>
          </a:prstGeom>
          <a:noFill/>
          <a:ln w="6350">
            <a:solidFill>
              <a:srgbClr val="E3E8F0"/>
            </a:solidFill>
            <a:prstDash val="solid"/>
          </a:ln>
        </p:spPr>
        <p:txBody>
          <a:bodyPr/>
          <a:lstStyle/>
          <a:p>
            <a:endParaRPr lang="en-US"/>
          </a:p>
        </p:txBody>
      </p:sp>
      <p:sp>
        <p:nvSpPr>
          <p:cNvPr id="29" name="Text 27"/>
          <p:cNvSpPr/>
          <p:nvPr/>
        </p:nvSpPr>
        <p:spPr>
          <a:xfrm>
            <a:off x="287811" y="3611079"/>
            <a:ext cx="2148840" cy="256032"/>
          </a:xfrm>
          <a:prstGeom prst="rect">
            <a:avLst/>
          </a:prstGeom>
          <a:noFill/>
          <a:ln/>
        </p:spPr>
        <p:txBody>
          <a:bodyPr wrap="square" lIns="254" tIns="254" rIns="254" bIns="254" rtlCol="0" anchor="ctr">
            <a:noAutofit/>
          </a:bodyPr>
          <a:lstStyle/>
          <a:p>
            <a:pPr marL="0" indent="0">
              <a:buNone/>
            </a:pPr>
            <a:r>
              <a:rPr lang="en-US" sz="2800" b="1" dirty="0">
                <a:solidFill>
                  <a:srgbClr val="1F2937"/>
                </a:solidFill>
              </a:rPr>
              <a:t>Точність</a:t>
            </a:r>
            <a:endParaRPr lang="en-US" sz="2800" dirty="0"/>
          </a:p>
        </p:txBody>
      </p:sp>
      <p:sp>
        <p:nvSpPr>
          <p:cNvPr id="30" name="Text 28"/>
          <p:cNvSpPr/>
          <p:nvPr/>
        </p:nvSpPr>
        <p:spPr>
          <a:xfrm>
            <a:off x="3063240" y="3542027"/>
            <a:ext cx="4759361" cy="534921"/>
          </a:xfrm>
          <a:prstGeom prst="rect">
            <a:avLst/>
          </a:prstGeom>
          <a:noFill/>
          <a:ln/>
        </p:spPr>
        <p:txBody>
          <a:bodyPr wrap="square" lIns="254" tIns="254" rIns="254" bIns="254" rtlCol="0" anchor="ctr">
            <a:noAutofit/>
          </a:bodyPr>
          <a:lstStyle/>
          <a:p>
            <a:pPr marL="0" indent="0">
              <a:buNone/>
            </a:pPr>
            <a:r>
              <a:rPr lang="en-US" dirty="0">
                <a:solidFill>
                  <a:srgbClr val="1F2937"/>
                </a:solidFill>
              </a:rPr>
              <a:t>Bagging: RMSE=0,713; MAE=0,474; PSNR=51,065 дБ; IoU=0,996; Dice=0,998</a:t>
            </a:r>
            <a:endParaRPr lang="en-US" dirty="0"/>
          </a:p>
        </p:txBody>
      </p:sp>
      <p:sp>
        <p:nvSpPr>
          <p:cNvPr id="31" name="Text 29"/>
          <p:cNvSpPr/>
          <p:nvPr/>
        </p:nvSpPr>
        <p:spPr>
          <a:xfrm>
            <a:off x="7918638" y="3622196"/>
            <a:ext cx="3868040" cy="256032"/>
          </a:xfrm>
          <a:prstGeom prst="rect">
            <a:avLst/>
          </a:prstGeom>
          <a:noFill/>
          <a:ln/>
        </p:spPr>
        <p:txBody>
          <a:bodyPr wrap="square" lIns="254" tIns="254" rIns="254" bIns="254" rtlCol="0" anchor="ctr">
            <a:noAutofit/>
          </a:bodyPr>
          <a:lstStyle/>
          <a:p>
            <a:pPr marL="0" indent="0">
              <a:buNone/>
            </a:pPr>
            <a:r>
              <a:rPr lang="en-US" sz="1600" dirty="0">
                <a:solidFill>
                  <a:srgbClr val="1F2937"/>
                </a:solidFill>
              </a:rPr>
              <a:t>Кількісно підтверджено найменшу похибку та високу якість оцінювання глибини.</a:t>
            </a:r>
            <a:endParaRPr lang="en-US" sz="1600" dirty="0"/>
          </a:p>
        </p:txBody>
      </p:sp>
      <p:sp>
        <p:nvSpPr>
          <p:cNvPr id="32" name="Shape 30"/>
          <p:cNvSpPr/>
          <p:nvPr/>
        </p:nvSpPr>
        <p:spPr>
          <a:xfrm>
            <a:off x="287812" y="4126862"/>
            <a:ext cx="11589658" cy="0"/>
          </a:xfrm>
          <a:prstGeom prst="line">
            <a:avLst/>
          </a:prstGeom>
          <a:noFill/>
          <a:ln w="6350">
            <a:solidFill>
              <a:srgbClr val="E3E8F0"/>
            </a:solidFill>
            <a:prstDash val="solid"/>
          </a:ln>
        </p:spPr>
        <p:txBody>
          <a:bodyPr/>
          <a:lstStyle/>
          <a:p>
            <a:endParaRPr lang="en-US"/>
          </a:p>
        </p:txBody>
      </p:sp>
      <p:sp>
        <p:nvSpPr>
          <p:cNvPr id="33" name="Text 31"/>
          <p:cNvSpPr/>
          <p:nvPr/>
        </p:nvSpPr>
        <p:spPr>
          <a:xfrm>
            <a:off x="287813" y="4230513"/>
            <a:ext cx="2148840" cy="256032"/>
          </a:xfrm>
          <a:prstGeom prst="rect">
            <a:avLst/>
          </a:prstGeom>
          <a:noFill/>
          <a:ln/>
        </p:spPr>
        <p:txBody>
          <a:bodyPr wrap="square" lIns="254" tIns="254" rIns="254" bIns="254" rtlCol="0" anchor="ctr">
            <a:noAutofit/>
          </a:bodyPr>
          <a:lstStyle/>
          <a:p>
            <a:pPr marL="0" indent="0">
              <a:buNone/>
            </a:pPr>
            <a:r>
              <a:rPr lang="en-US" sz="2800" b="1" dirty="0">
                <a:solidFill>
                  <a:srgbClr val="1F2937"/>
                </a:solidFill>
              </a:rPr>
              <a:t>Надійність</a:t>
            </a:r>
            <a:endParaRPr lang="en-US" sz="2800" dirty="0"/>
          </a:p>
        </p:txBody>
      </p:sp>
      <p:sp>
        <p:nvSpPr>
          <p:cNvPr id="34" name="Text 32"/>
          <p:cNvSpPr/>
          <p:nvPr/>
        </p:nvSpPr>
        <p:spPr>
          <a:xfrm>
            <a:off x="3063241" y="4229099"/>
            <a:ext cx="4759360" cy="351365"/>
          </a:xfrm>
          <a:prstGeom prst="rect">
            <a:avLst/>
          </a:prstGeom>
          <a:noFill/>
          <a:ln/>
        </p:spPr>
        <p:txBody>
          <a:bodyPr wrap="square" lIns="254" tIns="254" rIns="254" bIns="254" rtlCol="0" anchor="ctr">
            <a:noAutofit/>
          </a:bodyPr>
          <a:lstStyle/>
          <a:p>
            <a:pPr marL="0" indent="0">
              <a:buNone/>
            </a:pPr>
            <a:r>
              <a:rPr lang="en-US" dirty="0">
                <a:solidFill>
                  <a:srgbClr val="1F2937"/>
                </a:solidFill>
              </a:rPr>
              <a:t>DETR: 6 </a:t>
            </a:r>
            <a:r>
              <a:rPr lang="en-US" dirty="0" err="1">
                <a:solidFill>
                  <a:srgbClr val="1F2937"/>
                </a:solidFill>
              </a:rPr>
              <a:t>об'єктів</a:t>
            </a:r>
            <a:r>
              <a:rPr lang="en-US" dirty="0">
                <a:solidFill>
                  <a:srgbClr val="1F2937"/>
                </a:solidFill>
              </a:rPr>
              <a:t> із довірою 0,74–1,00; IoU=0,996; Dice=0,998</a:t>
            </a:r>
            <a:endParaRPr lang="en-US" dirty="0"/>
          </a:p>
        </p:txBody>
      </p:sp>
      <p:sp>
        <p:nvSpPr>
          <p:cNvPr id="35" name="Text 33"/>
          <p:cNvSpPr/>
          <p:nvPr/>
        </p:nvSpPr>
        <p:spPr>
          <a:xfrm>
            <a:off x="7918638" y="4243399"/>
            <a:ext cx="3858963" cy="256032"/>
          </a:xfrm>
          <a:prstGeom prst="rect">
            <a:avLst/>
          </a:prstGeom>
          <a:noFill/>
          <a:ln/>
        </p:spPr>
        <p:txBody>
          <a:bodyPr wrap="square" lIns="254" tIns="254" rIns="254" bIns="254" rtlCol="0" anchor="ctr">
            <a:noAutofit/>
          </a:bodyPr>
          <a:lstStyle/>
          <a:p>
            <a:pPr marL="0" indent="0">
              <a:buNone/>
            </a:pPr>
            <a:r>
              <a:rPr lang="en-US" sz="1600" dirty="0">
                <a:solidFill>
                  <a:srgbClr val="1F2937"/>
                </a:solidFill>
              </a:rPr>
              <a:t>Система стабільно </a:t>
            </a:r>
            <a:r>
              <a:rPr lang="en-US" sz="1600" dirty="0" err="1">
                <a:solidFill>
                  <a:srgbClr val="1F2937"/>
                </a:solidFill>
              </a:rPr>
              <a:t>виявляє</a:t>
            </a:r>
            <a:r>
              <a:rPr lang="en-US" sz="1600" dirty="0">
                <a:solidFill>
                  <a:srgbClr val="1F2937"/>
                </a:solidFill>
              </a:rPr>
              <a:t> </a:t>
            </a:r>
            <a:r>
              <a:rPr lang="en-US" sz="1600" dirty="0" err="1">
                <a:solidFill>
                  <a:srgbClr val="1F2937"/>
                </a:solidFill>
              </a:rPr>
              <a:t>об'єкти</a:t>
            </a:r>
            <a:r>
              <a:rPr lang="en-US" sz="1600" dirty="0">
                <a:solidFill>
                  <a:srgbClr val="1F2937"/>
                </a:solidFill>
              </a:rPr>
              <a:t> та дає узгоджені оцінки параметрів.</a:t>
            </a:r>
            <a:endParaRPr lang="en-US" sz="1600" dirty="0"/>
          </a:p>
        </p:txBody>
      </p:sp>
      <p:sp>
        <p:nvSpPr>
          <p:cNvPr id="36" name="Shape 34"/>
          <p:cNvSpPr/>
          <p:nvPr/>
        </p:nvSpPr>
        <p:spPr>
          <a:xfrm>
            <a:off x="287811" y="4655658"/>
            <a:ext cx="11589659" cy="0"/>
          </a:xfrm>
          <a:prstGeom prst="line">
            <a:avLst/>
          </a:prstGeom>
          <a:noFill/>
          <a:ln w="6350">
            <a:solidFill>
              <a:srgbClr val="E3E8F0"/>
            </a:solidFill>
            <a:prstDash val="solid"/>
          </a:ln>
        </p:spPr>
        <p:txBody>
          <a:bodyPr/>
          <a:lstStyle/>
          <a:p>
            <a:endParaRPr lang="en-US"/>
          </a:p>
        </p:txBody>
      </p:sp>
      <p:sp>
        <p:nvSpPr>
          <p:cNvPr id="37" name="Text 35"/>
          <p:cNvSpPr/>
          <p:nvPr/>
        </p:nvSpPr>
        <p:spPr>
          <a:xfrm>
            <a:off x="287812" y="4799415"/>
            <a:ext cx="2148840" cy="256032"/>
          </a:xfrm>
          <a:prstGeom prst="rect">
            <a:avLst/>
          </a:prstGeom>
          <a:noFill/>
          <a:ln/>
        </p:spPr>
        <p:txBody>
          <a:bodyPr wrap="square" lIns="254" tIns="254" rIns="254" bIns="254" rtlCol="0" anchor="ctr">
            <a:noAutofit/>
          </a:bodyPr>
          <a:lstStyle/>
          <a:p>
            <a:pPr marL="0" indent="0">
              <a:buNone/>
            </a:pPr>
            <a:r>
              <a:rPr lang="en-US" sz="2800" b="1" dirty="0">
                <a:solidFill>
                  <a:srgbClr val="1F2937"/>
                </a:solidFill>
              </a:rPr>
              <a:t>Адаптивність</a:t>
            </a:r>
            <a:endParaRPr lang="en-US" sz="2800" dirty="0"/>
          </a:p>
        </p:txBody>
      </p:sp>
      <p:sp>
        <p:nvSpPr>
          <p:cNvPr id="38" name="Text 36"/>
          <p:cNvSpPr/>
          <p:nvPr/>
        </p:nvSpPr>
        <p:spPr>
          <a:xfrm>
            <a:off x="3063241" y="4799415"/>
            <a:ext cx="4567398" cy="368046"/>
          </a:xfrm>
          <a:prstGeom prst="rect">
            <a:avLst/>
          </a:prstGeom>
          <a:noFill/>
          <a:ln/>
        </p:spPr>
        <p:txBody>
          <a:bodyPr wrap="square" lIns="254" tIns="254" rIns="254" bIns="254" rtlCol="0" anchor="ctr">
            <a:noAutofit/>
          </a:bodyPr>
          <a:lstStyle/>
          <a:p>
            <a:pPr marL="0" indent="0">
              <a:buNone/>
            </a:pPr>
            <a:r>
              <a:rPr lang="en-US" dirty="0">
                <a:solidFill>
                  <a:srgbClr val="1F2937"/>
                </a:solidFill>
              </a:rPr>
              <a:t>Порівняно 35 комбінацій: 5 методів оптичного потоку × 7 методів глибини</a:t>
            </a:r>
            <a:endParaRPr lang="en-US" dirty="0"/>
          </a:p>
        </p:txBody>
      </p:sp>
      <p:sp>
        <p:nvSpPr>
          <p:cNvPr id="39" name="Text 37"/>
          <p:cNvSpPr/>
          <p:nvPr/>
        </p:nvSpPr>
        <p:spPr>
          <a:xfrm>
            <a:off x="7918639" y="4728228"/>
            <a:ext cx="4060000" cy="514397"/>
          </a:xfrm>
          <a:prstGeom prst="rect">
            <a:avLst/>
          </a:prstGeom>
          <a:noFill/>
          <a:ln/>
        </p:spPr>
        <p:txBody>
          <a:bodyPr wrap="square" lIns="254" tIns="254" rIns="254" bIns="254" rtlCol="0" anchor="ctr">
            <a:noAutofit/>
          </a:bodyPr>
          <a:lstStyle/>
          <a:p>
            <a:pPr marL="0" indent="0">
              <a:buNone/>
            </a:pPr>
            <a:r>
              <a:rPr lang="en-US" sz="1600" dirty="0">
                <a:solidFill>
                  <a:srgbClr val="1F2937"/>
                </a:solidFill>
              </a:rPr>
              <a:t>Підтверджено можливість вибору ефективної конфігурації під умови сцени.</a:t>
            </a:r>
            <a:endParaRPr lang="en-US" sz="1600" dirty="0"/>
          </a:p>
        </p:txBody>
      </p:sp>
      <p:sp>
        <p:nvSpPr>
          <p:cNvPr id="40" name="Shape 38"/>
          <p:cNvSpPr/>
          <p:nvPr/>
        </p:nvSpPr>
        <p:spPr>
          <a:xfrm>
            <a:off x="287812" y="5315198"/>
            <a:ext cx="11589659" cy="0"/>
          </a:xfrm>
          <a:prstGeom prst="line">
            <a:avLst/>
          </a:prstGeom>
          <a:noFill/>
          <a:ln w="6350">
            <a:solidFill>
              <a:srgbClr val="E3E8F0"/>
            </a:solidFill>
            <a:prstDash val="solid"/>
          </a:ln>
        </p:spPr>
        <p:txBody>
          <a:bodyPr/>
          <a:lstStyle/>
          <a:p>
            <a:endParaRPr lang="en-US"/>
          </a:p>
        </p:txBody>
      </p:sp>
      <p:sp>
        <p:nvSpPr>
          <p:cNvPr id="41" name="Text 39"/>
          <p:cNvSpPr/>
          <p:nvPr/>
        </p:nvSpPr>
        <p:spPr>
          <a:xfrm>
            <a:off x="287813" y="5390389"/>
            <a:ext cx="2460190" cy="256032"/>
          </a:xfrm>
          <a:prstGeom prst="rect">
            <a:avLst/>
          </a:prstGeom>
          <a:noFill/>
          <a:ln/>
        </p:spPr>
        <p:txBody>
          <a:bodyPr wrap="square" lIns="254" tIns="254" rIns="254" bIns="254" rtlCol="0" anchor="ctr">
            <a:noAutofit/>
          </a:bodyPr>
          <a:lstStyle/>
          <a:p>
            <a:pPr marL="0" indent="0">
              <a:buNone/>
            </a:pPr>
            <a:r>
              <a:rPr lang="en-US" b="1" dirty="0">
                <a:solidFill>
                  <a:srgbClr val="1F2937"/>
                </a:solidFill>
              </a:rPr>
              <a:t>Працездатність</a:t>
            </a:r>
            <a:endParaRPr lang="en-US" dirty="0"/>
          </a:p>
        </p:txBody>
      </p:sp>
      <p:sp>
        <p:nvSpPr>
          <p:cNvPr id="42" name="Text 40"/>
          <p:cNvSpPr/>
          <p:nvPr/>
        </p:nvSpPr>
        <p:spPr>
          <a:xfrm>
            <a:off x="3063241" y="5344770"/>
            <a:ext cx="4540160" cy="726943"/>
          </a:xfrm>
          <a:prstGeom prst="rect">
            <a:avLst/>
          </a:prstGeom>
          <a:noFill/>
          <a:ln/>
        </p:spPr>
        <p:txBody>
          <a:bodyPr wrap="square" lIns="254" tIns="254" rIns="254" bIns="254" rtlCol="0" anchor="ctr">
            <a:noAutofit/>
          </a:bodyPr>
          <a:lstStyle/>
          <a:p>
            <a:pPr marL="0" indent="0">
              <a:buNone/>
            </a:pPr>
            <a:r>
              <a:rPr lang="en-US" sz="1600" dirty="0" err="1">
                <a:solidFill>
                  <a:srgbClr val="1F2937"/>
                </a:solidFill>
              </a:rPr>
              <a:t>Тест</a:t>
            </a:r>
            <a:r>
              <a:rPr lang="en-US" sz="1600" dirty="0">
                <a:solidFill>
                  <a:srgbClr val="1F2937"/>
                </a:solidFill>
              </a:rPr>
              <a:t> vtest.avi; </a:t>
            </a:r>
            <a:r>
              <a:rPr lang="en-US" sz="1600" dirty="0" err="1">
                <a:solidFill>
                  <a:srgbClr val="1F2937"/>
                </a:solidFill>
              </a:rPr>
              <a:t>швидкості</a:t>
            </a:r>
            <a:r>
              <a:rPr lang="en-US" sz="1600" dirty="0">
                <a:solidFill>
                  <a:srgbClr val="1F2937"/>
                </a:solidFill>
              </a:rPr>
              <a:t>: 6,526 </a:t>
            </a:r>
            <a:r>
              <a:rPr lang="en-US" sz="1600" dirty="0" err="1">
                <a:solidFill>
                  <a:srgbClr val="1F2937"/>
                </a:solidFill>
              </a:rPr>
              <a:t>та</a:t>
            </a:r>
            <a:r>
              <a:rPr lang="en-US" sz="1600" dirty="0">
                <a:solidFill>
                  <a:srgbClr val="1F2937"/>
                </a:solidFill>
              </a:rPr>
              <a:t> 4,592 </a:t>
            </a:r>
            <a:r>
              <a:rPr lang="en-US" sz="1600" dirty="0" err="1">
                <a:solidFill>
                  <a:srgbClr val="1F2937"/>
                </a:solidFill>
              </a:rPr>
              <a:t>px</a:t>
            </a:r>
            <a:r>
              <a:rPr lang="en-US" sz="1600" dirty="0">
                <a:solidFill>
                  <a:srgbClr val="1F2937"/>
                </a:solidFill>
              </a:rPr>
              <a:t>/</a:t>
            </a:r>
            <a:r>
              <a:rPr lang="en-US" sz="1600" dirty="0" err="1">
                <a:solidFill>
                  <a:srgbClr val="1F2937"/>
                </a:solidFill>
              </a:rPr>
              <a:t>кадр</a:t>
            </a:r>
            <a:r>
              <a:rPr lang="en-US" sz="1600" dirty="0">
                <a:solidFill>
                  <a:srgbClr val="1F2937"/>
                </a:solidFill>
              </a:rPr>
              <a:t> </a:t>
            </a:r>
            <a:r>
              <a:rPr lang="en-US" sz="1600" dirty="0" err="1">
                <a:solidFill>
                  <a:srgbClr val="1F2937"/>
                </a:solidFill>
              </a:rPr>
              <a:t>для</a:t>
            </a:r>
            <a:r>
              <a:rPr lang="en-US" sz="1600" dirty="0">
                <a:solidFill>
                  <a:srgbClr val="1F2937"/>
                </a:solidFill>
              </a:rPr>
              <a:t> </a:t>
            </a:r>
            <a:r>
              <a:rPr lang="en-US" sz="1600" dirty="0" err="1">
                <a:solidFill>
                  <a:srgbClr val="1F2937"/>
                </a:solidFill>
              </a:rPr>
              <a:t>найрухоміших</a:t>
            </a:r>
            <a:r>
              <a:rPr lang="en-US" sz="1600" dirty="0">
                <a:solidFill>
                  <a:srgbClr val="1F2937"/>
                </a:solidFill>
              </a:rPr>
              <a:t> </a:t>
            </a:r>
            <a:r>
              <a:rPr lang="en-US" sz="1600" dirty="0" err="1">
                <a:solidFill>
                  <a:srgbClr val="1F2937"/>
                </a:solidFill>
              </a:rPr>
              <a:t>об'єктів</a:t>
            </a:r>
            <a:r>
              <a:rPr lang="uk-UA" sz="1600" dirty="0">
                <a:solidFill>
                  <a:srgbClr val="1F2937"/>
                </a:solidFill>
              </a:rPr>
              <a:t>, модель </a:t>
            </a:r>
            <a:r>
              <a:rPr lang="en-US" sz="1600" dirty="0" err="1">
                <a:solidFill>
                  <a:srgbClr val="1F2937"/>
                </a:solidFill>
              </a:rPr>
              <a:t>facebook</a:t>
            </a:r>
            <a:r>
              <a:rPr lang="en-US" sz="1600" dirty="0">
                <a:solidFill>
                  <a:srgbClr val="1F2937"/>
                </a:solidFill>
              </a:rPr>
              <a:t>/detr-resnet-50</a:t>
            </a:r>
            <a:endParaRPr lang="en-US" sz="1600" dirty="0"/>
          </a:p>
        </p:txBody>
      </p:sp>
      <p:sp>
        <p:nvSpPr>
          <p:cNvPr id="43" name="Text 41"/>
          <p:cNvSpPr/>
          <p:nvPr/>
        </p:nvSpPr>
        <p:spPr>
          <a:xfrm>
            <a:off x="7918639" y="5387768"/>
            <a:ext cx="3858963" cy="532974"/>
          </a:xfrm>
          <a:prstGeom prst="rect">
            <a:avLst/>
          </a:prstGeom>
          <a:noFill/>
          <a:ln/>
        </p:spPr>
        <p:txBody>
          <a:bodyPr wrap="square" lIns="254" tIns="254" rIns="254" bIns="254" rtlCol="0" anchor="ctr">
            <a:noAutofit/>
          </a:bodyPr>
          <a:lstStyle/>
          <a:p>
            <a:pPr marL="0" indent="0">
              <a:buNone/>
            </a:pPr>
            <a:r>
              <a:rPr lang="en-US" sz="1600" dirty="0">
                <a:solidFill>
                  <a:srgbClr val="1F2937"/>
                </a:solidFill>
              </a:rPr>
              <a:t>Реалізовано повний цикл: відео → детекція → потік → глибина → параметри.</a:t>
            </a:r>
            <a:endParaRPr lang="en-US" sz="1600" dirty="0"/>
          </a:p>
        </p:txBody>
      </p:sp>
      <p:sp>
        <p:nvSpPr>
          <p:cNvPr id="44" name="Shape 42"/>
          <p:cNvSpPr/>
          <p:nvPr/>
        </p:nvSpPr>
        <p:spPr>
          <a:xfrm>
            <a:off x="99160" y="6249924"/>
            <a:ext cx="10835640" cy="576072"/>
          </a:xfrm>
          <a:prstGeom prst="roundRect">
            <a:avLst>
              <a:gd name="adj" fmla="val 9524"/>
            </a:avLst>
          </a:prstGeom>
          <a:solidFill>
            <a:srgbClr val="E7F6F4"/>
          </a:solidFill>
          <a:ln w="12700">
            <a:solidFill>
              <a:srgbClr val="B6DEDA"/>
            </a:solidFill>
            <a:prstDash val="solid"/>
          </a:ln>
        </p:spPr>
        <p:txBody>
          <a:bodyPr/>
          <a:lstStyle/>
          <a:p>
            <a:endParaRPr lang="en-US"/>
          </a:p>
        </p:txBody>
      </p:sp>
      <p:sp>
        <p:nvSpPr>
          <p:cNvPr id="45" name="Text 43"/>
          <p:cNvSpPr/>
          <p:nvPr/>
        </p:nvSpPr>
        <p:spPr>
          <a:xfrm>
            <a:off x="204281" y="6382512"/>
            <a:ext cx="10378440" cy="310896"/>
          </a:xfrm>
          <a:prstGeom prst="rect">
            <a:avLst/>
          </a:prstGeom>
          <a:noFill/>
          <a:ln/>
        </p:spPr>
        <p:txBody>
          <a:bodyPr wrap="square" lIns="254" tIns="254" rIns="254" bIns="254" rtlCol="0" anchor="ctr">
            <a:noAutofit/>
          </a:bodyPr>
          <a:lstStyle/>
          <a:p>
            <a:pPr marL="0" indent="0" algn="ctr">
              <a:buNone/>
            </a:pPr>
            <a:r>
              <a:rPr lang="en-US" b="1" dirty="0">
                <a:solidFill>
                  <a:srgbClr val="1F2937"/>
                </a:solidFill>
              </a:rPr>
              <a:t>Висновок: мета досягнута кількісно за трьома групами показників — точність, надійність і адаптивність; найкращою конфігурацією для карти глибини є Bagging.</a:t>
            </a:r>
            <a:endParaRPr lang="en-US" dirty="0"/>
          </a:p>
        </p:txBody>
      </p:sp>
      <p:sp>
        <p:nvSpPr>
          <p:cNvPr id="46" name="Slide Number Placeholder 0"/>
          <p:cNvSpPr>
            <a:spLocks noGrp="1"/>
          </p:cNvSpPr>
          <p:nvPr>
            <p:ph type="sldNum" sz="quarter" idx="4294967295"/>
          </p:nvPr>
        </p:nvSpPr>
        <p:spPr>
          <a:xfrm>
            <a:off x="11206264" y="6400800"/>
            <a:ext cx="886576" cy="384048"/>
          </a:xfrm>
          <a:prstGeom prst="foldedCorner">
            <a:avLst/>
          </a:prstGeom>
          <a:extLst>
            <a:ext uri="{C572A759-6A51-4108-AA02-DFA0A04FC94B}">
              <ma14:wrappingTextBoxFlag xmlns:ma14="http://schemas.microsoft.com/office/mac/drawingml/2011/main" xmlns="" val="0"/>
            </a:ext>
          </a:extLst>
        </p:spPr>
        <p:style>
          <a:lnRef idx="2">
            <a:schemeClr val="dk1"/>
          </a:lnRef>
          <a:fillRef idx="1">
            <a:schemeClr val="lt1"/>
          </a:fillRef>
          <a:effectRef idx="0">
            <a:schemeClr val="dk1"/>
          </a:effectRef>
          <a:fontRef idx="minor">
            <a:schemeClr val="dk1"/>
          </a:fontRef>
        </p:style>
        <p:txBody>
          <a:bodyPr/>
          <a:lstStyle>
            <a:lvl1pPr>
              <a:defRPr sz="800">
                <a:solidFill>
                  <a:srgbClr val="55616E"/>
                </a:solidFill>
                <a:latin typeface="Arial"/>
                <a:ea typeface="Arial"/>
                <a:cs typeface="Arial"/>
              </a:defRPr>
            </a:lvl1pPr>
          </a:lstStyle>
          <a:p>
            <a:pPr algn="l"/>
            <a:fld id="{F7021451-1387-4CA6-816F-3879F97B5CBC}" type="slidenum">
              <a:rPr lang="en-US" sz="3200" b="0">
                <a:latin typeface="Calibri" panose="020F0502020204030204" pitchFamily="34" charset="0"/>
                <a:cs typeface="Calibri" panose="020F0502020204030204" pitchFamily="34" charset="0"/>
              </a:rPr>
              <a:t>26</a:t>
            </a:fld>
            <a:endParaRPr lang="en-US" sz="3200" dirty="0">
              <a:latin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6BE76392-BF04-93AA-BA27-9AD403F5D4FE}"/>
              </a:ext>
            </a:extLst>
          </p:cNvPr>
          <p:cNvSpPr txBox="1"/>
          <p:nvPr/>
        </p:nvSpPr>
        <p:spPr>
          <a:xfrm>
            <a:off x="11604684" y="53140"/>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
        <p:nvSpPr>
          <p:cNvPr id="51" name="TextBox 50">
            <a:extLst>
              <a:ext uri="{FF2B5EF4-FFF2-40B4-BE49-F238E27FC236}">
                <a16:creationId xmlns:a16="http://schemas.microsoft.com/office/drawing/2014/main" id="{47C45203-CC7E-231C-E4B8-CF619DCDB6CF}"/>
              </a:ext>
            </a:extLst>
          </p:cNvPr>
          <p:cNvSpPr txBox="1"/>
          <p:nvPr/>
        </p:nvSpPr>
        <p:spPr>
          <a:xfrm>
            <a:off x="11739902" y="731847"/>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
        <p:nvSpPr>
          <p:cNvPr id="53" name="TextBox 52">
            <a:extLst>
              <a:ext uri="{FF2B5EF4-FFF2-40B4-BE49-F238E27FC236}">
                <a16:creationId xmlns:a16="http://schemas.microsoft.com/office/drawing/2014/main" id="{0492CA3D-A60A-5398-2A70-64A1700701E0}"/>
              </a:ext>
            </a:extLst>
          </p:cNvPr>
          <p:cNvSpPr txBox="1"/>
          <p:nvPr/>
        </p:nvSpPr>
        <p:spPr>
          <a:xfrm>
            <a:off x="11877471" y="1429708"/>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1A617B-4A6B-B2A8-22A9-E358E511D1D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B294DE3-43E0-6A25-9384-5C52C9A2861F}"/>
              </a:ext>
            </a:extLst>
          </p:cNvPr>
          <p:cNvPicPr>
            <a:picLocks noChangeAspect="1"/>
          </p:cNvPicPr>
          <p:nvPr/>
        </p:nvPicPr>
        <p:blipFill>
          <a:blip r:embed="rId3">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85A76AD-AC0F-3922-7A47-5E4CE66FBD8D}"/>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r>
              <a:rPr lang="en-US" dirty="0"/>
              <a:t> 1</a:t>
            </a:r>
            <a:endParaRPr dirty="0"/>
          </a:p>
        </p:txBody>
      </p:sp>
      <p:graphicFrame>
        <p:nvGraphicFramePr>
          <p:cNvPr id="5" name="Content Placeholder 2">
            <a:extLst>
              <a:ext uri="{FF2B5EF4-FFF2-40B4-BE49-F238E27FC236}">
                <a16:creationId xmlns:a16="http://schemas.microsoft.com/office/drawing/2014/main" id="{7DC09827-52A8-EA66-38BB-464F5479157E}"/>
              </a:ext>
            </a:extLst>
          </p:cNvPr>
          <p:cNvGraphicFramePr>
            <a:graphicFrameLocks noGrp="1"/>
          </p:cNvGraphicFramePr>
          <p:nvPr>
            <p:ph idx="1"/>
            <p:extLst>
              <p:ext uri="{D42A27DB-BD31-4B8C-83A1-F6EECF244321}">
                <p14:modId xmlns:p14="http://schemas.microsoft.com/office/powerpoint/2010/main" val="4167532944"/>
              </p:ext>
            </p:extLst>
          </p:nvPr>
        </p:nvGraphicFramePr>
        <p:xfrm>
          <a:off x="20" y="785308"/>
          <a:ext cx="12191960" cy="55710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D54EBC6E-FE6A-CEC4-941C-38E2064A0B00}"/>
              </a:ext>
            </a:extLst>
          </p:cNvPr>
          <p:cNvSpPr>
            <a:spLocks noGrp="1"/>
          </p:cNvSpPr>
          <p:nvPr>
            <p:ph type="sldNum" sz="quarter" idx="12"/>
          </p:nvPr>
        </p:nvSpPr>
        <p:spPr/>
        <p:txBody>
          <a:bodyPr/>
          <a:lstStyle/>
          <a:p>
            <a:fld id="{C1FF6DA9-008F-8B48-92A6-B652298478BF}" type="slidenum">
              <a:rPr lang="en-US" smtClean="0"/>
              <a:t>27</a:t>
            </a:fld>
            <a:endParaRPr lang="en-US" dirty="0"/>
          </a:p>
        </p:txBody>
      </p:sp>
      <p:sp>
        <p:nvSpPr>
          <p:cNvPr id="7" name="TextBox 6">
            <a:extLst>
              <a:ext uri="{FF2B5EF4-FFF2-40B4-BE49-F238E27FC236}">
                <a16:creationId xmlns:a16="http://schemas.microsoft.com/office/drawing/2014/main" id="{65CCF986-F042-901A-CE5A-0714916FE984}"/>
              </a:ext>
            </a:extLst>
          </p:cNvPr>
          <p:cNvSpPr txBox="1"/>
          <p:nvPr/>
        </p:nvSpPr>
        <p:spPr>
          <a:xfrm>
            <a:off x="11485149" y="90497"/>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extLst>
      <p:ext uri="{BB962C8B-B14F-4D97-AF65-F5344CB8AC3E}">
        <p14:creationId xmlns:p14="http://schemas.microsoft.com/office/powerpoint/2010/main" val="256836806"/>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BD4D79A-DC76-F98B-25E7-13D9B7BA17F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2A6E532-953B-813F-01AB-C0E71E64367E}"/>
              </a:ext>
            </a:extLst>
          </p:cNvPr>
          <p:cNvPicPr>
            <a:picLocks noChangeAspect="1"/>
          </p:cNvPicPr>
          <p:nvPr/>
        </p:nvPicPr>
        <p:blipFill>
          <a:blip r:embed="rId3">
            <a:alphaModFix amt="25000"/>
            <a:duotone>
              <a:prstClr val="black"/>
              <a:srgbClr val="FFC000">
                <a:tint val="45000"/>
                <a:satMod val="400000"/>
              </a:srgbClr>
            </a:duotone>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67516B3-5E0F-255D-3670-336754426AA7}"/>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r>
              <a:rPr lang="en-US" dirty="0"/>
              <a:t> 2</a:t>
            </a:r>
            <a:endParaRPr dirty="0"/>
          </a:p>
        </p:txBody>
      </p:sp>
      <p:graphicFrame>
        <p:nvGraphicFramePr>
          <p:cNvPr id="5" name="Content Placeholder 2">
            <a:extLst>
              <a:ext uri="{FF2B5EF4-FFF2-40B4-BE49-F238E27FC236}">
                <a16:creationId xmlns:a16="http://schemas.microsoft.com/office/drawing/2014/main" id="{81629F49-C157-EF00-39F2-54EFD859AAEF}"/>
              </a:ext>
            </a:extLst>
          </p:cNvPr>
          <p:cNvGraphicFramePr>
            <a:graphicFrameLocks noGrp="1"/>
          </p:cNvGraphicFramePr>
          <p:nvPr>
            <p:ph idx="1"/>
            <p:extLst>
              <p:ext uri="{D42A27DB-BD31-4B8C-83A1-F6EECF244321}">
                <p14:modId xmlns:p14="http://schemas.microsoft.com/office/powerpoint/2010/main" val="1548453561"/>
              </p:ext>
            </p:extLst>
          </p:nvPr>
        </p:nvGraphicFramePr>
        <p:xfrm>
          <a:off x="20" y="785308"/>
          <a:ext cx="12191960" cy="60726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6BC7FE22-990C-DE43-F507-45BE629F0056}"/>
              </a:ext>
            </a:extLst>
          </p:cNvPr>
          <p:cNvSpPr>
            <a:spLocks noGrp="1"/>
          </p:cNvSpPr>
          <p:nvPr>
            <p:ph type="sldNum" sz="quarter" idx="12"/>
          </p:nvPr>
        </p:nvSpPr>
        <p:spPr/>
        <p:txBody>
          <a:bodyPr/>
          <a:lstStyle/>
          <a:p>
            <a:fld id="{C1FF6DA9-008F-8B48-92A6-B652298478BF}" type="slidenum">
              <a:rPr lang="en-US" smtClean="0"/>
              <a:t>28</a:t>
            </a:fld>
            <a:endParaRPr lang="en-US" dirty="0"/>
          </a:p>
        </p:txBody>
      </p:sp>
      <p:sp>
        <p:nvSpPr>
          <p:cNvPr id="7" name="TextBox 6">
            <a:extLst>
              <a:ext uri="{FF2B5EF4-FFF2-40B4-BE49-F238E27FC236}">
                <a16:creationId xmlns:a16="http://schemas.microsoft.com/office/drawing/2014/main" id="{DE5A0706-9045-0D9A-A3FD-4D5AE06CD24B}"/>
              </a:ext>
            </a:extLst>
          </p:cNvPr>
          <p:cNvSpPr txBox="1"/>
          <p:nvPr/>
        </p:nvSpPr>
        <p:spPr>
          <a:xfrm>
            <a:off x="11598925" y="115010"/>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Tree>
    <p:extLst>
      <p:ext uri="{BB962C8B-B14F-4D97-AF65-F5344CB8AC3E}">
        <p14:creationId xmlns:p14="http://schemas.microsoft.com/office/powerpoint/2010/main" val="1964959919"/>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61A18A6-FCEF-25D6-98BD-F6BA6DCDA4E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BE471FC-ABCB-6394-91A4-A02CBB14948B}"/>
              </a:ext>
            </a:extLst>
          </p:cNvPr>
          <p:cNvPicPr>
            <a:picLocks noChangeAspect="1"/>
          </p:cNvPicPr>
          <p:nvPr/>
        </p:nvPicPr>
        <p:blipFill>
          <a:blip r:embed="rId3">
            <a:duotone>
              <a:prstClr val="black"/>
              <a:schemeClr val="tx2">
                <a:tint val="45000"/>
                <a:satMod val="400000"/>
              </a:schemeClr>
            </a:duotone>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D58E1B8-34F0-1885-CB8F-625D142340B4}"/>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r>
              <a:rPr lang="en-US" dirty="0"/>
              <a:t> 3</a:t>
            </a:r>
            <a:endParaRPr dirty="0"/>
          </a:p>
        </p:txBody>
      </p:sp>
      <p:graphicFrame>
        <p:nvGraphicFramePr>
          <p:cNvPr id="5" name="Content Placeholder 2">
            <a:extLst>
              <a:ext uri="{FF2B5EF4-FFF2-40B4-BE49-F238E27FC236}">
                <a16:creationId xmlns:a16="http://schemas.microsoft.com/office/drawing/2014/main" id="{9DD365E7-6500-4389-720E-D0340218FFD7}"/>
              </a:ext>
            </a:extLst>
          </p:cNvPr>
          <p:cNvGraphicFramePr>
            <a:graphicFrameLocks noGrp="1"/>
          </p:cNvGraphicFramePr>
          <p:nvPr>
            <p:ph idx="1"/>
            <p:extLst>
              <p:ext uri="{D42A27DB-BD31-4B8C-83A1-F6EECF244321}">
                <p14:modId xmlns:p14="http://schemas.microsoft.com/office/powerpoint/2010/main" val="1535166282"/>
              </p:ext>
            </p:extLst>
          </p:nvPr>
        </p:nvGraphicFramePr>
        <p:xfrm>
          <a:off x="20" y="785308"/>
          <a:ext cx="12191960" cy="55710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F1E45BE7-FBD9-934A-F925-605172FDBDF5}"/>
              </a:ext>
            </a:extLst>
          </p:cNvPr>
          <p:cNvSpPr>
            <a:spLocks noGrp="1"/>
          </p:cNvSpPr>
          <p:nvPr>
            <p:ph type="sldNum" sz="quarter" idx="12"/>
          </p:nvPr>
        </p:nvSpPr>
        <p:spPr/>
        <p:txBody>
          <a:bodyPr/>
          <a:lstStyle/>
          <a:p>
            <a:fld id="{C1FF6DA9-008F-8B48-92A6-B652298478BF}" type="slidenum">
              <a:rPr lang="en-US" smtClean="0"/>
              <a:t>29</a:t>
            </a:fld>
            <a:endParaRPr lang="en-US" dirty="0"/>
          </a:p>
        </p:txBody>
      </p:sp>
      <p:sp>
        <p:nvSpPr>
          <p:cNvPr id="7" name="TextBox 6">
            <a:extLst>
              <a:ext uri="{FF2B5EF4-FFF2-40B4-BE49-F238E27FC236}">
                <a16:creationId xmlns:a16="http://schemas.microsoft.com/office/drawing/2014/main" id="{FEC88895-4694-0C7F-5D9F-8DD106A477EC}"/>
              </a:ext>
            </a:extLst>
          </p:cNvPr>
          <p:cNvSpPr txBox="1"/>
          <p:nvPr/>
        </p:nvSpPr>
        <p:spPr>
          <a:xfrm>
            <a:off x="11621623" y="115010"/>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Tree>
    <p:extLst>
      <p:ext uri="{BB962C8B-B14F-4D97-AF65-F5344CB8AC3E}">
        <p14:creationId xmlns:p14="http://schemas.microsoft.com/office/powerpoint/2010/main" val="2804404579"/>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BE9EBA7-D54E-1A79-C905-CB06C7F4210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D0C4AF6-542B-59CA-3816-DFB34C631477}"/>
              </a:ext>
            </a:extLst>
          </p:cNvPr>
          <p:cNvPicPr>
            <a:picLocks noChangeAspect="1"/>
          </p:cNvPicPr>
          <p:nvPr/>
        </p:nvPicPr>
        <p:blipFill>
          <a:blip r:embed="rId3">
            <a:duotone>
              <a:prstClr val="black"/>
              <a:schemeClr val="tx2">
                <a:tint val="45000"/>
                <a:satMod val="400000"/>
              </a:schemeClr>
            </a:duotone>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F02BBC8-16C8-229A-EB71-D881881FDBFF}"/>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r>
              <a:rPr lang="en-US" dirty="0"/>
              <a:t> 4</a:t>
            </a:r>
            <a:endParaRPr dirty="0"/>
          </a:p>
        </p:txBody>
      </p:sp>
      <p:graphicFrame>
        <p:nvGraphicFramePr>
          <p:cNvPr id="5" name="Content Placeholder 2">
            <a:extLst>
              <a:ext uri="{FF2B5EF4-FFF2-40B4-BE49-F238E27FC236}">
                <a16:creationId xmlns:a16="http://schemas.microsoft.com/office/drawing/2014/main" id="{31A5BFAC-482B-E376-E0AB-886F20CDB446}"/>
              </a:ext>
            </a:extLst>
          </p:cNvPr>
          <p:cNvGraphicFramePr>
            <a:graphicFrameLocks noGrp="1"/>
          </p:cNvGraphicFramePr>
          <p:nvPr>
            <p:ph idx="1"/>
            <p:extLst>
              <p:ext uri="{D42A27DB-BD31-4B8C-83A1-F6EECF244321}">
                <p14:modId xmlns:p14="http://schemas.microsoft.com/office/powerpoint/2010/main" val="830119749"/>
              </p:ext>
            </p:extLst>
          </p:nvPr>
        </p:nvGraphicFramePr>
        <p:xfrm>
          <a:off x="20" y="785308"/>
          <a:ext cx="12191960" cy="55710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19D7066E-26CD-5477-AEFE-285173D38A91}"/>
              </a:ext>
            </a:extLst>
          </p:cNvPr>
          <p:cNvSpPr>
            <a:spLocks noGrp="1"/>
          </p:cNvSpPr>
          <p:nvPr>
            <p:ph type="sldNum" sz="quarter" idx="12"/>
          </p:nvPr>
        </p:nvSpPr>
        <p:spPr/>
        <p:txBody>
          <a:bodyPr/>
          <a:lstStyle/>
          <a:p>
            <a:fld id="{C1FF6DA9-008F-8B48-92A6-B652298478BF}" type="slidenum">
              <a:rPr lang="en-US" smtClean="0"/>
              <a:t>30</a:t>
            </a:fld>
            <a:endParaRPr lang="en-US" dirty="0"/>
          </a:p>
        </p:txBody>
      </p:sp>
      <p:sp>
        <p:nvSpPr>
          <p:cNvPr id="9" name="TextBox 8">
            <a:extLst>
              <a:ext uri="{FF2B5EF4-FFF2-40B4-BE49-F238E27FC236}">
                <a16:creationId xmlns:a16="http://schemas.microsoft.com/office/drawing/2014/main" id="{2CE42462-D6F9-0B49-F67D-8918D7B7731A}"/>
              </a:ext>
            </a:extLst>
          </p:cNvPr>
          <p:cNvSpPr txBox="1"/>
          <p:nvPr/>
        </p:nvSpPr>
        <p:spPr>
          <a:xfrm>
            <a:off x="11622562" y="90497"/>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Tree>
    <p:extLst>
      <p:ext uri="{BB962C8B-B14F-4D97-AF65-F5344CB8AC3E}">
        <p14:creationId xmlns:p14="http://schemas.microsoft.com/office/powerpoint/2010/main" val="639580225"/>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FA398C2-7130-8B3A-FCAC-5EE5C4870F8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A4C09C-88C6-BEC3-6669-8BA45B4995A9}"/>
              </a:ext>
            </a:extLst>
          </p:cNvPr>
          <p:cNvPicPr>
            <a:picLocks noChangeAspect="1"/>
          </p:cNvPicPr>
          <p:nvPr/>
        </p:nvPicPr>
        <p:blipFill>
          <a:blip r:embed="rId3">
            <a:duotone>
              <a:prstClr val="black"/>
              <a:schemeClr val="tx2">
                <a:tint val="45000"/>
                <a:satMod val="400000"/>
              </a:schemeClr>
            </a:duotone>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19AB264-A5C5-CD19-20BF-00DFB9945469}"/>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r>
              <a:rPr lang="en-US" dirty="0"/>
              <a:t> 5</a:t>
            </a:r>
            <a:endParaRPr dirty="0"/>
          </a:p>
        </p:txBody>
      </p:sp>
      <p:graphicFrame>
        <p:nvGraphicFramePr>
          <p:cNvPr id="5" name="Content Placeholder 2">
            <a:extLst>
              <a:ext uri="{FF2B5EF4-FFF2-40B4-BE49-F238E27FC236}">
                <a16:creationId xmlns:a16="http://schemas.microsoft.com/office/drawing/2014/main" id="{02060D14-4777-BD52-AE84-6E9B6A25ACBE}"/>
              </a:ext>
            </a:extLst>
          </p:cNvPr>
          <p:cNvGraphicFramePr>
            <a:graphicFrameLocks noGrp="1"/>
          </p:cNvGraphicFramePr>
          <p:nvPr>
            <p:ph idx="1"/>
            <p:extLst>
              <p:ext uri="{D42A27DB-BD31-4B8C-83A1-F6EECF244321}">
                <p14:modId xmlns:p14="http://schemas.microsoft.com/office/powerpoint/2010/main" val="1207112883"/>
              </p:ext>
            </p:extLst>
          </p:nvPr>
        </p:nvGraphicFramePr>
        <p:xfrm>
          <a:off x="20" y="785307"/>
          <a:ext cx="12191960" cy="57516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C815F6AC-5A60-ABC5-FD17-ED736030741F}"/>
              </a:ext>
            </a:extLst>
          </p:cNvPr>
          <p:cNvSpPr>
            <a:spLocks noGrp="1"/>
          </p:cNvSpPr>
          <p:nvPr>
            <p:ph type="sldNum" sz="quarter" idx="12"/>
          </p:nvPr>
        </p:nvSpPr>
        <p:spPr/>
        <p:txBody>
          <a:bodyPr/>
          <a:lstStyle/>
          <a:p>
            <a:fld id="{C1FF6DA9-008F-8B48-92A6-B652298478BF}" type="slidenum">
              <a:rPr lang="en-US" smtClean="0"/>
              <a:t>31</a:t>
            </a:fld>
            <a:endParaRPr lang="en-US" dirty="0"/>
          </a:p>
        </p:txBody>
      </p:sp>
      <p:sp>
        <p:nvSpPr>
          <p:cNvPr id="7" name="TextBox 6">
            <a:extLst>
              <a:ext uri="{FF2B5EF4-FFF2-40B4-BE49-F238E27FC236}">
                <a16:creationId xmlns:a16="http://schemas.microsoft.com/office/drawing/2014/main" id="{54024FEC-3889-BBC7-1DFF-34574DCD1CB7}"/>
              </a:ext>
            </a:extLst>
          </p:cNvPr>
          <p:cNvSpPr txBox="1"/>
          <p:nvPr/>
        </p:nvSpPr>
        <p:spPr>
          <a:xfrm>
            <a:off x="11604684" y="53140"/>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Tree>
    <p:extLst>
      <p:ext uri="{BB962C8B-B14F-4D97-AF65-F5344CB8AC3E}">
        <p14:creationId xmlns:p14="http://schemas.microsoft.com/office/powerpoint/2010/main" val="1687661254"/>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91E3E87-690F-1125-0EAD-6930F592B81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F1E8F69-E7EA-E2B7-653B-190008B8C81D}"/>
              </a:ext>
            </a:extLst>
          </p:cNvPr>
          <p:cNvPicPr>
            <a:picLocks noChangeAspect="1"/>
          </p:cNvPicPr>
          <p:nvPr/>
        </p:nvPicPr>
        <p:blipFill>
          <a:blip r:embed="rId3">
            <a:duotone>
              <a:prstClr val="black"/>
              <a:schemeClr val="tx2">
                <a:tint val="45000"/>
                <a:satMod val="400000"/>
              </a:schemeClr>
            </a:duotone>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7F79803-0481-5154-C387-D9FBC0AC0065}"/>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r>
              <a:rPr lang="en-US" dirty="0"/>
              <a:t> 6</a:t>
            </a:r>
            <a:endParaRPr dirty="0"/>
          </a:p>
        </p:txBody>
      </p:sp>
      <p:graphicFrame>
        <p:nvGraphicFramePr>
          <p:cNvPr id="5" name="Content Placeholder 2">
            <a:extLst>
              <a:ext uri="{FF2B5EF4-FFF2-40B4-BE49-F238E27FC236}">
                <a16:creationId xmlns:a16="http://schemas.microsoft.com/office/drawing/2014/main" id="{D28AD982-90F2-AF0F-0732-0ED6A9BBDF97}"/>
              </a:ext>
            </a:extLst>
          </p:cNvPr>
          <p:cNvGraphicFramePr>
            <a:graphicFrameLocks noGrp="1"/>
          </p:cNvGraphicFramePr>
          <p:nvPr>
            <p:ph idx="1"/>
            <p:extLst>
              <p:ext uri="{D42A27DB-BD31-4B8C-83A1-F6EECF244321}">
                <p14:modId xmlns:p14="http://schemas.microsoft.com/office/powerpoint/2010/main" val="1467175861"/>
              </p:ext>
            </p:extLst>
          </p:nvPr>
        </p:nvGraphicFramePr>
        <p:xfrm>
          <a:off x="20" y="785308"/>
          <a:ext cx="12191960" cy="57808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52EE4404-8F8F-19F7-2326-B99EC2EB2939}"/>
              </a:ext>
            </a:extLst>
          </p:cNvPr>
          <p:cNvSpPr>
            <a:spLocks noGrp="1"/>
          </p:cNvSpPr>
          <p:nvPr>
            <p:ph type="sldNum" sz="quarter" idx="12"/>
          </p:nvPr>
        </p:nvSpPr>
        <p:spPr/>
        <p:txBody>
          <a:bodyPr/>
          <a:lstStyle/>
          <a:p>
            <a:fld id="{C1FF6DA9-008F-8B48-92A6-B652298478BF}" type="slidenum">
              <a:rPr lang="en-US" smtClean="0"/>
              <a:t>32</a:t>
            </a:fld>
            <a:endParaRPr lang="en-US" dirty="0"/>
          </a:p>
        </p:txBody>
      </p:sp>
      <p:sp>
        <p:nvSpPr>
          <p:cNvPr id="7" name="TextBox 6">
            <a:extLst>
              <a:ext uri="{FF2B5EF4-FFF2-40B4-BE49-F238E27FC236}">
                <a16:creationId xmlns:a16="http://schemas.microsoft.com/office/drawing/2014/main" id="{AE5EE90C-8432-A28E-771E-DD2A08481730}"/>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Tree>
    <p:extLst>
      <p:ext uri="{BB962C8B-B14F-4D97-AF65-F5344CB8AC3E}">
        <p14:creationId xmlns:p14="http://schemas.microsoft.com/office/powerpoint/2010/main" val="3134137099"/>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3F87F-9A43-6673-0AD8-C652A7AA8A8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EF4C66C-D3AA-E565-6BB8-BC806822D24D}"/>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8E67039-CDDE-A28E-BC93-EF1AA4321D76}"/>
              </a:ext>
            </a:extLst>
          </p:cNvPr>
          <p:cNvSpPr>
            <a:spLocks noGrp="1"/>
          </p:cNvSpPr>
          <p:nvPr>
            <p:ph type="title"/>
          </p:nvPr>
        </p:nvSpPr>
        <p:spPr>
          <a:xfrm>
            <a:off x="838200" y="179555"/>
            <a:ext cx="10515600" cy="668712"/>
          </a:xfrm>
        </p:spPr>
        <p:txBody>
          <a:bodyPr>
            <a:normAutofit fontScale="90000"/>
          </a:bodyPr>
          <a:lstStyle/>
          <a:p>
            <a:r>
              <a:rPr dirty="0" err="1"/>
              <a:t>Практичне</a:t>
            </a:r>
            <a:r>
              <a:rPr dirty="0"/>
              <a:t> </a:t>
            </a:r>
            <a:r>
              <a:rPr dirty="0" err="1"/>
              <a:t>значення</a:t>
            </a:r>
            <a:endParaRPr dirty="0"/>
          </a:p>
        </p:txBody>
      </p:sp>
      <p:graphicFrame>
        <p:nvGraphicFramePr>
          <p:cNvPr id="5" name="Content Placeholder 2">
            <a:extLst>
              <a:ext uri="{FF2B5EF4-FFF2-40B4-BE49-F238E27FC236}">
                <a16:creationId xmlns:a16="http://schemas.microsoft.com/office/drawing/2014/main" id="{D5363CFC-C1C0-6E3D-C68A-A3554180E1D2}"/>
              </a:ext>
            </a:extLst>
          </p:cNvPr>
          <p:cNvGraphicFramePr>
            <a:graphicFrameLocks noGrp="1"/>
          </p:cNvGraphicFramePr>
          <p:nvPr>
            <p:ph idx="1"/>
            <p:extLst>
              <p:ext uri="{D42A27DB-BD31-4B8C-83A1-F6EECF244321}">
                <p14:modId xmlns:p14="http://schemas.microsoft.com/office/powerpoint/2010/main" val="2401688187"/>
              </p:ext>
            </p:extLst>
          </p:nvPr>
        </p:nvGraphicFramePr>
        <p:xfrm>
          <a:off x="20" y="848267"/>
          <a:ext cx="12191980" cy="53715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554CE05B-D92C-9BC7-6C84-9BFD4642019C}"/>
              </a:ext>
            </a:extLst>
          </p:cNvPr>
          <p:cNvSpPr>
            <a:spLocks noGrp="1"/>
          </p:cNvSpPr>
          <p:nvPr>
            <p:ph type="sldNum" sz="quarter" idx="12"/>
          </p:nvPr>
        </p:nvSpPr>
        <p:spPr/>
        <p:txBody>
          <a:bodyPr/>
          <a:lstStyle/>
          <a:p>
            <a:fld id="{C1FF6DA9-008F-8B48-92A6-B652298478BF}" type="slidenum">
              <a:rPr lang="en-US" smtClean="0"/>
              <a:t>33</a:t>
            </a:fld>
            <a:endParaRPr lang="en-US"/>
          </a:p>
        </p:txBody>
      </p:sp>
    </p:spTree>
    <p:extLst>
      <p:ext uri="{BB962C8B-B14F-4D97-AF65-F5344CB8AC3E}">
        <p14:creationId xmlns:p14="http://schemas.microsoft.com/office/powerpoint/2010/main" val="2956605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0788F3-B93A-C37C-D072-A59C9BEA0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A3870-F82E-B6E8-544A-0341FEF716BB}"/>
              </a:ext>
            </a:extLst>
          </p:cNvPr>
          <p:cNvSpPr>
            <a:spLocks noGrp="1"/>
          </p:cNvSpPr>
          <p:nvPr>
            <p:ph type="title"/>
          </p:nvPr>
        </p:nvSpPr>
        <p:spPr>
          <a:xfrm>
            <a:off x="1137036" y="33074"/>
            <a:ext cx="9543405" cy="784049"/>
          </a:xfrm>
        </p:spPr>
        <p:txBody>
          <a:bodyPr>
            <a:normAutofit/>
          </a:bodyPr>
          <a:lstStyle/>
          <a:p>
            <a:r>
              <a:rPr lang="uk-UA" dirty="0">
                <a:solidFill>
                  <a:schemeClr val="tx1">
                    <a:lumMod val="85000"/>
                    <a:lumOff val="15000"/>
                  </a:schemeClr>
                </a:solidFill>
              </a:rPr>
              <a:t>Апробація та публікації</a:t>
            </a:r>
          </a:p>
        </p:txBody>
      </p:sp>
      <p:sp>
        <p:nvSpPr>
          <p:cNvPr id="3" name="Content Placeholder 2">
            <a:extLst>
              <a:ext uri="{FF2B5EF4-FFF2-40B4-BE49-F238E27FC236}">
                <a16:creationId xmlns:a16="http://schemas.microsoft.com/office/drawing/2014/main" id="{FF8ED3D0-EABC-0215-B58E-670F28C5756B}"/>
              </a:ext>
            </a:extLst>
          </p:cNvPr>
          <p:cNvSpPr>
            <a:spLocks noGrp="1"/>
          </p:cNvSpPr>
          <p:nvPr>
            <p:ph idx="1"/>
          </p:nvPr>
        </p:nvSpPr>
        <p:spPr>
          <a:xfrm>
            <a:off x="-279700" y="1602889"/>
            <a:ext cx="12471699" cy="4231482"/>
          </a:xfrm>
        </p:spPr>
        <p:txBody>
          <a:bodyPr anchor="ctr">
            <a:noAutofit/>
          </a:bodyPr>
          <a:lstStyle/>
          <a:p>
            <a:r>
              <a:rPr lang="uk-UA" sz="4000" dirty="0">
                <a:solidFill>
                  <a:schemeClr val="tx1">
                    <a:lumMod val="85000"/>
                    <a:lumOff val="15000"/>
                  </a:schemeClr>
                </a:solidFill>
              </a:rPr>
              <a:t>15 наукових праць: 7 статей у фахових виданнях категорії Б, 8 матеріалів апробаційного характеру</a:t>
            </a:r>
          </a:p>
          <a:p>
            <a:r>
              <a:rPr lang="uk-UA" sz="4000" dirty="0">
                <a:solidFill>
                  <a:schemeClr val="tx1">
                    <a:lumMod val="85000"/>
                    <a:lumOff val="15000"/>
                  </a:schemeClr>
                </a:solidFill>
              </a:rPr>
              <a:t>Апробація: </a:t>
            </a:r>
            <a:r>
              <a:rPr lang="en-US" sz="4000" dirty="0" err="1">
                <a:solidFill>
                  <a:schemeClr val="tx1">
                    <a:lumMod val="85000"/>
                    <a:lumOff val="15000"/>
                  </a:schemeClr>
                </a:solidFill>
              </a:rPr>
              <a:t>MicroCAD</a:t>
            </a:r>
            <a:r>
              <a:rPr lang="en-US" sz="4000" dirty="0">
                <a:solidFill>
                  <a:schemeClr val="tx1">
                    <a:lumMod val="85000"/>
                    <a:lumOff val="15000"/>
                  </a:schemeClr>
                </a:solidFill>
              </a:rPr>
              <a:t> (2023-2025), </a:t>
            </a:r>
            <a:r>
              <a:rPr lang="en-US" sz="4000" dirty="0" err="1">
                <a:solidFill>
                  <a:schemeClr val="tx1">
                    <a:lumMod val="85000"/>
                    <a:lumOff val="15000"/>
                  </a:schemeClr>
                </a:solidFill>
              </a:rPr>
              <a:t>KhPIWeek</a:t>
            </a:r>
            <a:r>
              <a:rPr lang="en-US" sz="4000" dirty="0">
                <a:solidFill>
                  <a:schemeClr val="tx1">
                    <a:lumMod val="85000"/>
                    <a:lumOff val="15000"/>
                  </a:schemeClr>
                </a:solidFill>
              </a:rPr>
              <a:t> (2025), </a:t>
            </a:r>
            <a:r>
              <a:rPr lang="uk-UA" sz="4000" dirty="0">
                <a:solidFill>
                  <a:schemeClr val="tx1">
                    <a:lumMod val="85000"/>
                    <a:lumOff val="15000"/>
                  </a:schemeClr>
                </a:solidFill>
              </a:rPr>
              <a:t>конференції магістрантів та аспірантів НТУ «ХПІ» (2024,2025)</a:t>
            </a:r>
          </a:p>
          <a:p>
            <a:r>
              <a:rPr lang="uk-UA" sz="4000" dirty="0">
                <a:solidFill>
                  <a:schemeClr val="tx1">
                    <a:lumMod val="85000"/>
                    <a:lumOff val="15000"/>
                  </a:schemeClr>
                </a:solidFill>
              </a:rPr>
              <a:t>Впровадження: НТУ «ХПІ», ТОВ «Метінвест Політехніка», Радіоастрономічний інститут НАН України</a:t>
            </a:r>
          </a:p>
        </p:txBody>
      </p:sp>
      <p:sp>
        <p:nvSpPr>
          <p:cNvPr id="4" name="Місце для номера слайда 3">
            <a:extLst>
              <a:ext uri="{FF2B5EF4-FFF2-40B4-BE49-F238E27FC236}">
                <a16:creationId xmlns:a16="http://schemas.microsoft.com/office/drawing/2014/main" id="{6C688D21-85AB-CF0A-D68E-D4F65E25E58C}"/>
              </a:ext>
            </a:extLst>
          </p:cNvPr>
          <p:cNvSpPr>
            <a:spLocks noGrp="1"/>
          </p:cNvSpPr>
          <p:nvPr>
            <p:ph type="sldNum" sz="quarter" idx="12"/>
          </p:nvPr>
        </p:nvSpPr>
        <p:spPr/>
        <p:txBody>
          <a:bodyPr/>
          <a:lstStyle/>
          <a:p>
            <a:fld id="{C1FF6DA9-008F-8B48-92A6-B652298478BF}" type="slidenum">
              <a:rPr lang="en-US" smtClean="0"/>
              <a:t>34</a:t>
            </a:fld>
            <a:endParaRPr lang="en-US"/>
          </a:p>
        </p:txBody>
      </p:sp>
    </p:spTree>
    <p:extLst>
      <p:ext uri="{BB962C8B-B14F-4D97-AF65-F5344CB8AC3E}">
        <p14:creationId xmlns:p14="http://schemas.microsoft.com/office/powerpoint/2010/main" val="15614516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FA667C-F6C9-4734-FE01-32070465ED04}"/>
              </a:ext>
            </a:extLst>
          </p:cNvPr>
          <p:cNvSpPr>
            <a:spLocks noGrp="1"/>
          </p:cNvSpPr>
          <p:nvPr>
            <p:ph type="title"/>
          </p:nvPr>
        </p:nvSpPr>
        <p:spPr>
          <a:xfrm>
            <a:off x="838200" y="15766"/>
            <a:ext cx="10515600" cy="548614"/>
          </a:xfrm>
        </p:spPr>
        <p:txBody>
          <a:bodyPr>
            <a:normAutofit fontScale="90000"/>
          </a:bodyPr>
          <a:lstStyle/>
          <a:p>
            <a:r>
              <a:rPr lang="uk-UA" sz="5400" dirty="0"/>
              <a:t>Висновки</a:t>
            </a:r>
            <a:r>
              <a:rPr lang="en-US" sz="5400" dirty="0"/>
              <a:t> 1</a:t>
            </a:r>
          </a:p>
        </p:txBody>
      </p:sp>
      <p:sp>
        <p:nvSpPr>
          <p:cNvPr id="3" name="Місце для вмісту 2">
            <a:extLst>
              <a:ext uri="{FF2B5EF4-FFF2-40B4-BE49-F238E27FC236}">
                <a16:creationId xmlns:a16="http://schemas.microsoft.com/office/drawing/2014/main" id="{3871C243-AE10-82A9-64E1-509049F479AD}"/>
              </a:ext>
            </a:extLst>
          </p:cNvPr>
          <p:cNvSpPr>
            <a:spLocks noGrp="1"/>
          </p:cNvSpPr>
          <p:nvPr>
            <p:ph idx="1"/>
          </p:nvPr>
        </p:nvSpPr>
        <p:spPr>
          <a:xfrm>
            <a:off x="-269480" y="564380"/>
            <a:ext cx="12458431" cy="6191422"/>
          </a:xfrm>
          <a:solidFill>
            <a:schemeClr val="bg1">
              <a:lumMod val="95000"/>
            </a:schemeClr>
          </a:solidFill>
        </p:spPr>
        <p:txBody>
          <a:bodyPr>
            <a:noAutofit/>
          </a:bodyPr>
          <a:lstStyle/>
          <a:p>
            <a:pPr>
              <a:lnSpc>
                <a:spcPct val="90000"/>
              </a:lnSpc>
            </a:pPr>
            <a:r>
              <a:rPr lang="uk-UA" sz="2600" dirty="0"/>
              <a:t>1. Проведено аналіз сучасних задач і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геометричних і структурних параметрів, а також урахування шумів, оклюзій, зміни освітлення та неповноти даних. Визначено, що динамічні об'єкти є складними багатовимірними системами, стан яких безперервно змінюється в часі. Сформовано класифікацію параметрів (просторові, кінематичні, структурні) та методів ідентифікації (</a:t>
            </a:r>
            <a:r>
              <a:rPr lang="uk-UA" sz="2600" dirty="0" err="1"/>
              <a:t>покадрові</a:t>
            </a:r>
            <a:r>
              <a:rPr lang="uk-UA" sz="2600" dirty="0"/>
              <a:t>, послідовні, інтегровані). Проаналізовано еволюцію інформаційних технологій комп'ютерного зору від класичних методів (Віоли-Джонса, ГОГ, деформованих частин) до сучасних </a:t>
            </a:r>
            <a:r>
              <a:rPr lang="uk-UA" sz="2600" dirty="0" err="1"/>
              <a:t>архітектур</a:t>
            </a:r>
            <a:r>
              <a:rPr lang="uk-UA" sz="2600" dirty="0"/>
              <a:t> глибокого навчання (</a:t>
            </a:r>
            <a:r>
              <a:rPr lang="en-US" sz="2600" dirty="0"/>
              <a:t>CNN-</a:t>
            </a:r>
            <a:r>
              <a:rPr lang="uk-UA" sz="2600" dirty="0"/>
              <a:t>детектори </a:t>
            </a:r>
            <a:r>
              <a:rPr lang="en-US" sz="2600" dirty="0"/>
              <a:t>YOLO/SSD, </a:t>
            </a:r>
            <a:r>
              <a:rPr lang="uk-UA" sz="2600" dirty="0" err="1"/>
              <a:t>трансформерний</a:t>
            </a:r>
            <a:r>
              <a:rPr lang="uk-UA" sz="2600" dirty="0"/>
              <a:t> детектор </a:t>
            </a:r>
            <a:r>
              <a:rPr lang="en-US" sz="2600" dirty="0"/>
              <a:t>DETR, </a:t>
            </a:r>
            <a:r>
              <a:rPr lang="uk-UA" sz="2600" dirty="0" err="1"/>
              <a:t>нейромережеві</a:t>
            </a:r>
            <a:r>
              <a:rPr lang="uk-UA" sz="2600" dirty="0"/>
              <a:t> моделі оптичного потоку </a:t>
            </a:r>
            <a:r>
              <a:rPr lang="en-US" sz="2600" dirty="0" err="1"/>
              <a:t>FlowNet</a:t>
            </a:r>
            <a:r>
              <a:rPr lang="en-US" sz="2600" dirty="0"/>
              <a:t>/RAFT </a:t>
            </a:r>
            <a:r>
              <a:rPr lang="uk-UA" sz="2600" dirty="0"/>
              <a:t>та оцінювання глибини </a:t>
            </a:r>
            <a:r>
              <a:rPr lang="en-US" sz="2600" dirty="0" err="1"/>
              <a:t>MiDaS</a:t>
            </a:r>
            <a:r>
              <a:rPr lang="en-US" sz="2600" dirty="0"/>
              <a:t>/DPT). </a:t>
            </a:r>
            <a:r>
              <a:rPr lang="uk-UA" sz="2600" dirty="0"/>
              <a:t>Досліджено методи обчислювального інтелекту, зокрема ансамблеві підходи </a:t>
            </a:r>
            <a:r>
              <a:rPr lang="en-US" sz="2600" dirty="0"/>
              <a:t>Bagging </a:t>
            </a:r>
            <a:r>
              <a:rPr lang="uk-UA" sz="2600" dirty="0"/>
              <a:t>та </a:t>
            </a:r>
            <a:r>
              <a:rPr lang="en-US" sz="2600" dirty="0"/>
              <a:t>Boosting. </a:t>
            </a:r>
            <a:r>
              <a:rPr lang="uk-UA" sz="2600" dirty="0"/>
              <a:t>Обґрунтовано, що найперспективнішим напрямом є інтеграція </a:t>
            </a:r>
            <a:r>
              <a:rPr lang="uk-UA" sz="2600" dirty="0" err="1"/>
              <a:t>трансформерного</a:t>
            </a:r>
            <a:r>
              <a:rPr lang="uk-UA" sz="2600" dirty="0"/>
              <a:t> виявлення, оптичного потоку, оцінювання глибини та ансамблевих методів. Сформульовано мету та задачі дослідження.</a:t>
            </a:r>
          </a:p>
        </p:txBody>
      </p:sp>
      <p:sp>
        <p:nvSpPr>
          <p:cNvPr id="4" name="Місце для номера слайда 3">
            <a:extLst>
              <a:ext uri="{FF2B5EF4-FFF2-40B4-BE49-F238E27FC236}">
                <a16:creationId xmlns:a16="http://schemas.microsoft.com/office/drawing/2014/main" id="{6ECB0ABC-DAEF-E138-26F5-83C09656EC6A}"/>
              </a:ext>
            </a:extLst>
          </p:cNvPr>
          <p:cNvSpPr>
            <a:spLocks noGrp="1"/>
          </p:cNvSpPr>
          <p:nvPr>
            <p:ph type="sldNum" sz="quarter" idx="12"/>
          </p:nvPr>
        </p:nvSpPr>
        <p:spPr/>
        <p:txBody>
          <a:bodyPr/>
          <a:lstStyle/>
          <a:p>
            <a:fld id="{C1FF6DA9-008F-8B48-92A6-B652298478BF}" type="slidenum">
              <a:rPr lang="en-US" smtClean="0"/>
              <a:t>35</a:t>
            </a:fld>
            <a:endParaRPr lang="en-US"/>
          </a:p>
        </p:txBody>
      </p:sp>
    </p:spTree>
    <p:extLst>
      <p:ext uri="{BB962C8B-B14F-4D97-AF65-F5344CB8AC3E}">
        <p14:creationId xmlns:p14="http://schemas.microsoft.com/office/powerpoint/2010/main" val="14990668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866D05-2E6B-6D34-F04A-D8DFFC081D8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DC26F-B52E-9706-B6D4-A0D5DCF15EF8}"/>
              </a:ext>
            </a:extLst>
          </p:cNvPr>
          <p:cNvSpPr>
            <a:spLocks noGrp="1"/>
          </p:cNvSpPr>
          <p:nvPr>
            <p:ph type="title"/>
          </p:nvPr>
        </p:nvSpPr>
        <p:spPr>
          <a:xfrm>
            <a:off x="838200" y="15766"/>
            <a:ext cx="10515600" cy="548614"/>
          </a:xfrm>
        </p:spPr>
        <p:txBody>
          <a:bodyPr>
            <a:normAutofit fontScale="90000"/>
          </a:bodyPr>
          <a:lstStyle/>
          <a:p>
            <a:r>
              <a:rPr lang="uk-UA" sz="5400" dirty="0"/>
              <a:t>Висновки</a:t>
            </a:r>
            <a:r>
              <a:rPr lang="en-US" sz="5400" dirty="0"/>
              <a:t> 2</a:t>
            </a:r>
          </a:p>
        </p:txBody>
      </p:sp>
      <p:sp>
        <p:nvSpPr>
          <p:cNvPr id="3" name="Місце для вмісту 2">
            <a:extLst>
              <a:ext uri="{FF2B5EF4-FFF2-40B4-BE49-F238E27FC236}">
                <a16:creationId xmlns:a16="http://schemas.microsoft.com/office/drawing/2014/main" id="{6B4E22F2-73E1-B074-4AD8-58A250F3D238}"/>
              </a:ext>
            </a:extLst>
          </p:cNvPr>
          <p:cNvSpPr>
            <a:spLocks noGrp="1"/>
          </p:cNvSpPr>
          <p:nvPr>
            <p:ph idx="1"/>
          </p:nvPr>
        </p:nvSpPr>
        <p:spPr>
          <a:xfrm>
            <a:off x="-269480" y="564380"/>
            <a:ext cx="12458431" cy="6191422"/>
          </a:xfrm>
          <a:solidFill>
            <a:schemeClr val="bg1">
              <a:lumMod val="95000"/>
            </a:schemeClr>
          </a:solidFill>
        </p:spPr>
        <p:txBody>
          <a:bodyPr>
            <a:noAutofit/>
          </a:bodyPr>
          <a:lstStyle/>
          <a:p>
            <a:pPr>
              <a:lnSpc>
                <a:spcPct val="90000"/>
              </a:lnSpc>
            </a:pPr>
            <a:r>
              <a:rPr lang="uk-UA" sz="2800" dirty="0"/>
              <a:t>2.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необхідність переходу від окремого детектування до інтегрованого просторово-часового аналізу </a:t>
            </a:r>
            <a:r>
              <a:rPr lang="uk-UA" sz="2800" dirty="0" err="1"/>
              <a:t>відеопотоку</a:t>
            </a:r>
            <a:r>
              <a:rPr lang="uk-UA" sz="2800" dirty="0"/>
              <a:t>. розглянуто методичну основу дистанційної ідентифікації. Проаналізовано класичні методи оптичного потоку: локальний Лукаса-</a:t>
            </a:r>
            <a:r>
              <a:rPr lang="uk-UA" sz="2800" dirty="0" err="1"/>
              <a:t>Канаде</a:t>
            </a:r>
            <a:r>
              <a:rPr lang="uk-UA" sz="2800" dirty="0"/>
              <a:t>, глобальний </a:t>
            </a:r>
            <a:r>
              <a:rPr lang="uk-UA" sz="2800" dirty="0" err="1"/>
              <a:t>Хорна-Шунка</a:t>
            </a:r>
            <a:r>
              <a:rPr lang="uk-UA" sz="2800" dirty="0"/>
              <a:t> та поліноміальний </a:t>
            </a:r>
            <a:r>
              <a:rPr lang="uk-UA" sz="2800" dirty="0" err="1"/>
              <a:t>Фарнебека</a:t>
            </a:r>
            <a:r>
              <a:rPr lang="uk-UA" sz="2800" dirty="0"/>
              <a:t>. Досліджено </a:t>
            </a:r>
            <a:r>
              <a:rPr lang="uk-UA" sz="2800" dirty="0" err="1"/>
              <a:t>нейромережеві</a:t>
            </a:r>
            <a:r>
              <a:rPr lang="uk-UA" sz="2800" dirty="0"/>
              <a:t> моделі аналізу руху: </a:t>
            </a:r>
            <a:r>
              <a:rPr lang="en-US" sz="2800" dirty="0" err="1"/>
              <a:t>FlowNet</a:t>
            </a:r>
            <a:r>
              <a:rPr lang="en-US" sz="2800" dirty="0"/>
              <a:t>, RAFT </a:t>
            </a:r>
            <a:r>
              <a:rPr lang="uk-UA" sz="2800" dirty="0"/>
              <a:t>та </a:t>
            </a:r>
            <a:r>
              <a:rPr lang="en-US" sz="2800" dirty="0" err="1"/>
              <a:t>GeoNet</a:t>
            </a:r>
            <a:r>
              <a:rPr lang="en-US" sz="2800" dirty="0"/>
              <a:t>. </a:t>
            </a:r>
            <a:r>
              <a:rPr lang="uk-UA" sz="2800" dirty="0"/>
              <a:t>Розглянуто ансамблеві методи </a:t>
            </a:r>
            <a:r>
              <a:rPr lang="en-US" sz="2800" dirty="0"/>
              <a:t>Bagging </a:t>
            </a:r>
            <a:r>
              <a:rPr lang="uk-UA" sz="2800" dirty="0"/>
              <a:t>та </a:t>
            </a:r>
            <a:r>
              <a:rPr lang="en-US" sz="2800" dirty="0"/>
              <a:t>Boosting. </a:t>
            </a:r>
            <a:r>
              <a:rPr lang="uk-UA" sz="2800" dirty="0"/>
              <a:t>Запропоновано об'єднання методів через формалізацію просторово-часової моделі, </a:t>
            </a:r>
            <a:r>
              <a:rPr lang="uk-UA" sz="2800" dirty="0" err="1"/>
              <a:t>вектора</a:t>
            </a:r>
            <a:r>
              <a:rPr lang="uk-UA" sz="2800" dirty="0"/>
              <a:t> стану об'єкта та динамічної моделі руху. Визначено формули для обчислення кінематичних параметрів (швидкість, напрямок, положення, траєкторія). Обґрунтовано доцільність комплексного використання детекторів, оптичного потоку та глибини.</a:t>
            </a:r>
          </a:p>
        </p:txBody>
      </p:sp>
      <p:sp>
        <p:nvSpPr>
          <p:cNvPr id="4" name="Місце для номера слайда 3">
            <a:extLst>
              <a:ext uri="{FF2B5EF4-FFF2-40B4-BE49-F238E27FC236}">
                <a16:creationId xmlns:a16="http://schemas.microsoft.com/office/drawing/2014/main" id="{D84287C5-4D14-225E-B0AE-971F0C330D8A}"/>
              </a:ext>
            </a:extLst>
          </p:cNvPr>
          <p:cNvSpPr>
            <a:spLocks noGrp="1"/>
          </p:cNvSpPr>
          <p:nvPr>
            <p:ph type="sldNum" sz="quarter" idx="12"/>
          </p:nvPr>
        </p:nvSpPr>
        <p:spPr/>
        <p:txBody>
          <a:bodyPr/>
          <a:lstStyle/>
          <a:p>
            <a:fld id="{C1FF6DA9-008F-8B48-92A6-B652298478BF}" type="slidenum">
              <a:rPr lang="en-US" smtClean="0"/>
              <a:t>36</a:t>
            </a:fld>
            <a:endParaRPr lang="en-US"/>
          </a:p>
        </p:txBody>
      </p:sp>
    </p:spTree>
    <p:extLst>
      <p:ext uri="{BB962C8B-B14F-4D97-AF65-F5344CB8AC3E}">
        <p14:creationId xmlns:p14="http://schemas.microsoft.com/office/powerpoint/2010/main" val="16776478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50AF57-4CE1-82A2-F9FE-F42A117B75C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0A9943-2D43-CB3F-0831-F8E46332A3FC}"/>
              </a:ext>
            </a:extLst>
          </p:cNvPr>
          <p:cNvSpPr>
            <a:spLocks noGrp="1"/>
          </p:cNvSpPr>
          <p:nvPr>
            <p:ph type="title"/>
          </p:nvPr>
        </p:nvSpPr>
        <p:spPr>
          <a:xfrm>
            <a:off x="838200" y="15766"/>
            <a:ext cx="10515600" cy="548614"/>
          </a:xfrm>
        </p:spPr>
        <p:txBody>
          <a:bodyPr>
            <a:normAutofit fontScale="90000"/>
          </a:bodyPr>
          <a:lstStyle/>
          <a:p>
            <a:r>
              <a:rPr lang="uk-UA" sz="5400" dirty="0"/>
              <a:t>Висновки</a:t>
            </a:r>
            <a:r>
              <a:rPr lang="en-US" sz="5400" dirty="0"/>
              <a:t> 3</a:t>
            </a:r>
          </a:p>
        </p:txBody>
      </p:sp>
      <p:sp>
        <p:nvSpPr>
          <p:cNvPr id="3" name="Місце для вмісту 2">
            <a:extLst>
              <a:ext uri="{FF2B5EF4-FFF2-40B4-BE49-F238E27FC236}">
                <a16:creationId xmlns:a16="http://schemas.microsoft.com/office/drawing/2014/main" id="{8B611556-AB59-992A-0AC0-A9246FD12504}"/>
              </a:ext>
            </a:extLst>
          </p:cNvPr>
          <p:cNvSpPr>
            <a:spLocks noGrp="1"/>
          </p:cNvSpPr>
          <p:nvPr>
            <p:ph idx="1"/>
          </p:nvPr>
        </p:nvSpPr>
        <p:spPr>
          <a:xfrm>
            <a:off x="-269480" y="564380"/>
            <a:ext cx="12458431" cy="6191422"/>
          </a:xfrm>
          <a:solidFill>
            <a:schemeClr val="bg1">
              <a:lumMod val="95000"/>
            </a:schemeClr>
          </a:solidFill>
        </p:spPr>
        <p:txBody>
          <a:bodyPr>
            <a:noAutofit/>
          </a:bodyPr>
          <a:lstStyle/>
          <a:p>
            <a:pPr>
              <a:lnSpc>
                <a:spcPct val="90000"/>
              </a:lnSpc>
            </a:pPr>
            <a:r>
              <a:rPr lang="uk-UA" sz="2600" dirty="0"/>
              <a:t>3. Розроблено моделі дистанційної ідентифікації параметрів динамічних об'єктів, які поєднують результати </a:t>
            </a:r>
            <a:r>
              <a:rPr lang="en-US" sz="2600" dirty="0"/>
              <a:t>DETR, </a:t>
            </a:r>
            <a:r>
              <a:rPr lang="uk-UA" sz="2600" dirty="0"/>
              <a:t>алгоритмів оптичного потоку, моделей оцінювання глибини та </a:t>
            </a:r>
            <a:r>
              <a:rPr lang="uk-UA" sz="2600" dirty="0" err="1"/>
              <a:t>трансформерних</a:t>
            </a:r>
            <a:r>
              <a:rPr lang="uk-UA" sz="2600" dirty="0"/>
              <a:t> механізмів обробки контексту. Таке поєднання забезпечує отримання більш повного опису стану об'єкта порівняно з використанням лише </a:t>
            </a:r>
            <a:r>
              <a:rPr lang="uk-UA" sz="2600" dirty="0" err="1"/>
              <a:t>покадрової</a:t>
            </a:r>
            <a:r>
              <a:rPr lang="uk-UA" sz="2600" dirty="0"/>
              <a:t> </a:t>
            </a:r>
            <a:r>
              <a:rPr lang="uk-UA" sz="2600" dirty="0" err="1"/>
              <a:t>детекції</a:t>
            </a:r>
            <a:r>
              <a:rPr lang="uk-UA" sz="2600" dirty="0"/>
              <a:t>. Обґрунтовано використання ансамблевих методів </a:t>
            </a:r>
            <a:r>
              <a:rPr lang="en-US" sz="2600" dirty="0"/>
              <a:t>Bagging </a:t>
            </a:r>
            <a:r>
              <a:rPr lang="uk-UA" sz="2600" dirty="0"/>
              <a:t>і </a:t>
            </a:r>
            <a:r>
              <a:rPr lang="en-US" sz="2600" dirty="0"/>
              <a:t>Boosting </a:t>
            </a:r>
            <a:r>
              <a:rPr lang="uk-UA" sz="2600" dirty="0"/>
              <a:t>для підвищення стійкості результатів ідентифікації. Показано, що </a:t>
            </a:r>
            <a:r>
              <a:rPr lang="uk-UA" sz="2600" dirty="0" err="1"/>
              <a:t>бегінг</a:t>
            </a:r>
            <a:r>
              <a:rPr lang="uk-UA" sz="2600" dirty="0"/>
              <a:t> зменшує вплив випадкових шумів та локальних артефактів, а </a:t>
            </a:r>
            <a:r>
              <a:rPr lang="uk-UA" sz="2600" dirty="0" err="1"/>
              <a:t>бустінг</a:t>
            </a:r>
            <a:r>
              <a:rPr lang="uk-UA" sz="2600" dirty="0"/>
              <a:t> підвищує точність у складних областях сцени, зокрема на межах об'єктів і в зонах оклюзій. сформовано структуру моделей дистанційної ідентифікації. Запропоновано загальну модель та архітектуру системи у вигляді набору модулів. Розроблено аналітичну модель ідентифікації з використанням </a:t>
            </a:r>
            <a:r>
              <a:rPr lang="en-US" sz="2600" dirty="0"/>
              <a:t>DETR </a:t>
            </a:r>
            <a:r>
              <a:rPr lang="uk-UA" sz="2600" dirty="0"/>
              <a:t>та оптичного потоку. Деталізовано математичні моделі для визначення швидкості, напрямку, положення, траєкторії та прискорення. Запропоновано об'єднання моделей через сумісну оцінку </a:t>
            </a:r>
            <a:r>
              <a:rPr lang="en-US" sz="2600" dirty="0" err="1"/>
              <a:t>GeoNet</a:t>
            </a:r>
            <a:r>
              <a:rPr lang="en-US" sz="2600" dirty="0"/>
              <a:t>, </a:t>
            </a:r>
            <a:r>
              <a:rPr lang="uk-UA" sz="2600" dirty="0"/>
              <a:t>ансамблеву модель </a:t>
            </a:r>
            <a:r>
              <a:rPr lang="en-US" sz="2600" dirty="0"/>
              <a:t>Bagging </a:t>
            </a:r>
            <a:r>
              <a:rPr lang="uk-UA" sz="2600" dirty="0"/>
              <a:t>та адаптивну модель </a:t>
            </a:r>
            <a:r>
              <a:rPr lang="en-US" sz="2600" dirty="0"/>
              <a:t>Boosting. </a:t>
            </a:r>
            <a:r>
              <a:rPr lang="uk-UA" sz="2600" dirty="0"/>
              <a:t>Інтегральна модель та повна система рівнянь забезпечують перехід від </a:t>
            </a:r>
            <a:r>
              <a:rPr lang="uk-UA" sz="2600" dirty="0" err="1"/>
              <a:t>покадрового</a:t>
            </a:r>
            <a:r>
              <a:rPr lang="uk-UA" sz="2600" dirty="0"/>
              <a:t> виявлення до просторово-часового опису динамічного об'єкта.</a:t>
            </a:r>
          </a:p>
        </p:txBody>
      </p:sp>
      <p:sp>
        <p:nvSpPr>
          <p:cNvPr id="4" name="Місце для номера слайда 3">
            <a:extLst>
              <a:ext uri="{FF2B5EF4-FFF2-40B4-BE49-F238E27FC236}">
                <a16:creationId xmlns:a16="http://schemas.microsoft.com/office/drawing/2014/main" id="{64C45CDB-1104-09CB-BBF4-C602A49A81ED}"/>
              </a:ext>
            </a:extLst>
          </p:cNvPr>
          <p:cNvSpPr>
            <a:spLocks noGrp="1"/>
          </p:cNvSpPr>
          <p:nvPr>
            <p:ph type="sldNum" sz="quarter" idx="12"/>
          </p:nvPr>
        </p:nvSpPr>
        <p:spPr/>
        <p:txBody>
          <a:bodyPr/>
          <a:lstStyle/>
          <a:p>
            <a:fld id="{C1FF6DA9-008F-8B48-92A6-B652298478BF}" type="slidenum">
              <a:rPr lang="en-US" smtClean="0"/>
              <a:t>37</a:t>
            </a:fld>
            <a:endParaRPr lang="en-US"/>
          </a:p>
        </p:txBody>
      </p:sp>
    </p:spTree>
    <p:extLst>
      <p:ext uri="{BB962C8B-B14F-4D97-AF65-F5344CB8AC3E}">
        <p14:creationId xmlns:p14="http://schemas.microsoft.com/office/powerpoint/2010/main" val="3740273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A23E1A-E496-7C6D-2FD5-E335544E91D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81C3C9-C155-6872-6B2D-F084C899006B}"/>
              </a:ext>
            </a:extLst>
          </p:cNvPr>
          <p:cNvSpPr>
            <a:spLocks noGrp="1"/>
          </p:cNvSpPr>
          <p:nvPr>
            <p:ph type="title"/>
          </p:nvPr>
        </p:nvSpPr>
        <p:spPr>
          <a:xfrm>
            <a:off x="838200" y="15766"/>
            <a:ext cx="10515600" cy="548614"/>
          </a:xfrm>
        </p:spPr>
        <p:txBody>
          <a:bodyPr>
            <a:normAutofit fontScale="90000"/>
          </a:bodyPr>
          <a:lstStyle/>
          <a:p>
            <a:r>
              <a:rPr lang="uk-UA" sz="5400" dirty="0"/>
              <a:t>Висновки</a:t>
            </a:r>
            <a:r>
              <a:rPr lang="en-US" sz="5400" dirty="0"/>
              <a:t> 4</a:t>
            </a:r>
          </a:p>
        </p:txBody>
      </p:sp>
      <p:sp>
        <p:nvSpPr>
          <p:cNvPr id="3" name="Місце для вмісту 2">
            <a:extLst>
              <a:ext uri="{FF2B5EF4-FFF2-40B4-BE49-F238E27FC236}">
                <a16:creationId xmlns:a16="http://schemas.microsoft.com/office/drawing/2014/main" id="{B94DBD7A-570D-B7DB-8EAE-903CABA63A43}"/>
              </a:ext>
            </a:extLst>
          </p:cNvPr>
          <p:cNvSpPr>
            <a:spLocks noGrp="1"/>
          </p:cNvSpPr>
          <p:nvPr>
            <p:ph idx="1"/>
          </p:nvPr>
        </p:nvSpPr>
        <p:spPr>
          <a:xfrm>
            <a:off x="-269480" y="564380"/>
            <a:ext cx="12458431" cy="6191422"/>
          </a:xfrm>
          <a:solidFill>
            <a:schemeClr val="bg1">
              <a:lumMod val="95000"/>
            </a:schemeClr>
          </a:solidFill>
        </p:spPr>
        <p:txBody>
          <a:bodyPr>
            <a:noAutofit/>
          </a:bodyPr>
          <a:lstStyle/>
          <a:p>
            <a:pPr>
              <a:lnSpc>
                <a:spcPct val="90000"/>
              </a:lnSpc>
            </a:pPr>
            <a:r>
              <a:rPr lang="uk-UA" sz="2000" dirty="0"/>
              <a:t>4. Розроблено структуру інформаційної технології ДІПДО та програмну реалізацію основних етапів обробки: отримання відеоданих, виявлення об'єктів, оцінювання оптичного потоку, побудова карти глибини, об'єднання ознак, розрахунок параметрів руху та візуалізація результатів. Проведено експериментальне порівняння комбінацій методів </a:t>
            </a:r>
            <a:r>
              <a:rPr lang="en-US" sz="2000" dirty="0" err="1"/>
              <a:t>Farneback</a:t>
            </a:r>
            <a:r>
              <a:rPr lang="en-US" sz="2000" dirty="0"/>
              <a:t>, Lucas–Kanade, Horn–Schunck, </a:t>
            </a:r>
            <a:r>
              <a:rPr lang="en-US" sz="2000" dirty="0" err="1"/>
              <a:t>FlowNet</a:t>
            </a:r>
            <a:r>
              <a:rPr lang="en-US" sz="2000" dirty="0"/>
              <a:t>, </a:t>
            </a:r>
            <a:r>
              <a:rPr lang="en-US" sz="2000" dirty="0" err="1"/>
              <a:t>GeoNet</a:t>
            </a:r>
            <a:r>
              <a:rPr lang="en-US" sz="2000" dirty="0"/>
              <a:t>, </a:t>
            </a:r>
            <a:r>
              <a:rPr lang="en-US" sz="2000" dirty="0" err="1"/>
              <a:t>MiDaS</a:t>
            </a:r>
            <a:r>
              <a:rPr lang="en-US" sz="2000" dirty="0"/>
              <a:t>, </a:t>
            </a:r>
            <a:r>
              <a:rPr lang="en-US" sz="2000" dirty="0" err="1"/>
              <a:t>DPT_Large</a:t>
            </a:r>
            <a:r>
              <a:rPr lang="en-US" sz="2000" dirty="0"/>
              <a:t>, Bagging, Boosting, Blur </a:t>
            </a:r>
            <a:r>
              <a:rPr lang="uk-UA" sz="2000" dirty="0"/>
              <a:t>і </a:t>
            </a:r>
            <a:r>
              <a:rPr lang="en-US" sz="2000" dirty="0"/>
              <a:t>Gradient </a:t>
            </a:r>
            <a:r>
              <a:rPr lang="uk-UA" sz="2000" dirty="0"/>
              <a:t>на тестовому </a:t>
            </a:r>
            <a:r>
              <a:rPr lang="uk-UA" sz="2000" dirty="0" err="1"/>
              <a:t>відеопотоці</a:t>
            </a:r>
            <a:r>
              <a:rPr lang="uk-UA" sz="2000" dirty="0"/>
              <a:t>. У тестовому запуску </a:t>
            </a:r>
            <a:r>
              <a:rPr lang="en-US" sz="2000" dirty="0"/>
              <a:t>DETR </a:t>
            </a:r>
            <a:r>
              <a:rPr lang="uk-UA" sz="2000" dirty="0"/>
              <a:t>виявив 6 об'єктів з довірою 0,74–1,00; найбільші швидкості отримано для об'єктів із центрами (658,5; 281,0) і (277,5; 264,0), що підтверджує працездатність інтеграції </a:t>
            </a:r>
            <a:r>
              <a:rPr lang="uk-UA" sz="2000" dirty="0" err="1"/>
              <a:t>детекції</a:t>
            </a:r>
            <a:r>
              <a:rPr lang="uk-UA" sz="2000" dirty="0"/>
              <a:t>, оптичного потоку та карти глибини. Водночас результати </a:t>
            </a:r>
            <a:r>
              <a:rPr lang="en-US" sz="2000" dirty="0" err="1"/>
              <a:t>FlowNet</a:t>
            </a:r>
            <a:r>
              <a:rPr lang="en-US" sz="2000" dirty="0"/>
              <a:t>/</a:t>
            </a:r>
            <a:r>
              <a:rPr lang="en-US" sz="2000" dirty="0" err="1"/>
              <a:t>GeoNet</a:t>
            </a:r>
            <a:r>
              <a:rPr lang="en-US" sz="2000" dirty="0"/>
              <a:t> </a:t>
            </a:r>
            <a:r>
              <a:rPr lang="uk-UA" sz="2000" dirty="0"/>
              <a:t>у цьому запуску є проксі-оцінками, оскільки </a:t>
            </a:r>
            <a:r>
              <a:rPr lang="en-US" sz="2000" dirty="0"/>
              <a:t>RAFT/</a:t>
            </a:r>
            <a:r>
              <a:rPr lang="en-US" sz="2000" dirty="0" err="1"/>
              <a:t>FlowNet</a:t>
            </a:r>
            <a:r>
              <a:rPr lang="en-US" sz="2000" dirty="0"/>
              <a:t> </a:t>
            </a:r>
            <a:r>
              <a:rPr lang="uk-UA" sz="2000" dirty="0"/>
              <a:t>був недоступний і використовувався резервний розрахунок </a:t>
            </a:r>
            <a:r>
              <a:rPr lang="en-US" sz="2000" dirty="0" err="1"/>
              <a:t>Farneback</a:t>
            </a:r>
            <a:r>
              <a:rPr lang="en-US" sz="2000" dirty="0"/>
              <a:t>. </a:t>
            </a:r>
            <a:r>
              <a:rPr lang="uk-UA" sz="2000" dirty="0"/>
              <a:t>Розроблено структуру інформаційної технології ДІПДО та її програмну реалізацію. Реалізовано модулі </a:t>
            </a:r>
            <a:r>
              <a:rPr lang="en-US" sz="2000" dirty="0"/>
              <a:t>DETR, </a:t>
            </a:r>
            <a:r>
              <a:rPr lang="uk-UA" sz="2000" dirty="0"/>
              <a:t>оптичного потоку (</a:t>
            </a:r>
            <a:r>
              <a:rPr lang="en-US" sz="2000" dirty="0" err="1"/>
              <a:t>Farneback</a:t>
            </a:r>
            <a:r>
              <a:rPr lang="en-US" sz="2000" dirty="0"/>
              <a:t>, Lucas–Kanade, Horn–Schunck, </a:t>
            </a:r>
            <a:r>
              <a:rPr lang="en-US" sz="2000" dirty="0" err="1"/>
              <a:t>FlowNet</a:t>
            </a:r>
            <a:r>
              <a:rPr lang="en-US" sz="2000" dirty="0"/>
              <a:t>, </a:t>
            </a:r>
            <a:r>
              <a:rPr lang="en-US" sz="2000" dirty="0" err="1"/>
              <a:t>GeoNet</a:t>
            </a:r>
            <a:r>
              <a:rPr lang="en-US" sz="2000" dirty="0"/>
              <a:t>) </a:t>
            </a:r>
            <a:r>
              <a:rPr lang="uk-UA" sz="2000" dirty="0"/>
              <a:t>та оцінювання глибини (</a:t>
            </a:r>
            <a:r>
              <a:rPr lang="en-US" sz="2000" dirty="0"/>
              <a:t>Blur, Gradient, </a:t>
            </a:r>
            <a:r>
              <a:rPr lang="en-US" sz="2000" dirty="0" err="1"/>
              <a:t>MiDaS</a:t>
            </a:r>
            <a:r>
              <a:rPr lang="en-US" sz="2000" dirty="0"/>
              <a:t>, DPT, Bagging, Boosting). </a:t>
            </a:r>
            <a:r>
              <a:rPr lang="uk-UA" sz="2000" dirty="0"/>
              <a:t>Проведено експериментальне тестування на </a:t>
            </a:r>
            <a:r>
              <a:rPr lang="uk-UA" sz="2000" dirty="0" err="1"/>
              <a:t>відеопотоці</a:t>
            </a:r>
            <a:r>
              <a:rPr lang="uk-UA" sz="2000" dirty="0"/>
              <a:t> </a:t>
            </a:r>
            <a:r>
              <a:rPr lang="en-US" sz="2000" dirty="0"/>
              <a:t>vtest.avi. DETR </a:t>
            </a:r>
            <a:r>
              <a:rPr lang="uk-UA" sz="2000" dirty="0"/>
              <a:t>виявив 6 об'єктів з довірою 0,74–1,00. Найбільші швидкості отримано для об'єктів 0 (6,526 </a:t>
            </a:r>
            <a:r>
              <a:rPr lang="en-US" sz="2000" dirty="0" err="1"/>
              <a:t>px</a:t>
            </a:r>
            <a:r>
              <a:rPr lang="en-US" sz="2000" dirty="0"/>
              <a:t>/</a:t>
            </a:r>
            <a:r>
              <a:rPr lang="uk-UA" sz="2000" dirty="0"/>
              <a:t>кадр) та 4 (4,592 </a:t>
            </a:r>
            <a:r>
              <a:rPr lang="en-US" sz="2000" dirty="0" err="1"/>
              <a:t>px</a:t>
            </a:r>
            <a:r>
              <a:rPr lang="en-US" sz="2000" dirty="0"/>
              <a:t>/</a:t>
            </a:r>
            <a:r>
              <a:rPr lang="uk-UA" sz="2000" dirty="0"/>
              <a:t>кадр). Порівняльний аналіз 35 комбінацій методів показав: </a:t>
            </a:r>
            <a:r>
              <a:rPr lang="en-US" sz="2000" dirty="0"/>
              <a:t>Bagging </a:t>
            </a:r>
            <a:r>
              <a:rPr lang="uk-UA" sz="2000" dirty="0"/>
              <a:t>забезпечив найкращу точність глибини (</a:t>
            </a:r>
            <a:r>
              <a:rPr lang="en-US" sz="2000" dirty="0"/>
              <a:t>RMSE=0,713, PSNR=51,065 </a:t>
            </a:r>
            <a:r>
              <a:rPr lang="uk-UA" sz="2000" dirty="0" err="1"/>
              <a:t>дБ</a:t>
            </a:r>
            <a:r>
              <a:rPr lang="uk-UA" sz="2000" dirty="0"/>
              <a:t>, </a:t>
            </a:r>
            <a:r>
              <a:rPr lang="en-US" sz="2000" dirty="0" err="1"/>
              <a:t>IoU</a:t>
            </a:r>
            <a:r>
              <a:rPr lang="en-US" sz="2000" dirty="0"/>
              <a:t>=0,996); </a:t>
            </a:r>
            <a:r>
              <a:rPr lang="en-US" sz="2000" dirty="0" err="1"/>
              <a:t>GeoNet</a:t>
            </a:r>
            <a:r>
              <a:rPr lang="en-US" sz="2000" dirty="0"/>
              <a:t>-</a:t>
            </a:r>
            <a:r>
              <a:rPr lang="uk-UA" sz="2000" dirty="0"/>
              <a:t>проксі та </a:t>
            </a:r>
            <a:r>
              <a:rPr lang="en-US" sz="2000" dirty="0" err="1"/>
              <a:t>DPT_Large</a:t>
            </a:r>
            <a:r>
              <a:rPr lang="en-US" sz="2000" dirty="0"/>
              <a:t> </a:t>
            </a:r>
            <a:r>
              <a:rPr lang="uk-UA" sz="2000" dirty="0"/>
              <a:t>також показали високі результати; </a:t>
            </a:r>
            <a:r>
              <a:rPr lang="en-US" sz="2000" dirty="0"/>
              <a:t>Blur </a:t>
            </a:r>
            <a:r>
              <a:rPr lang="uk-UA" sz="2000" dirty="0"/>
              <a:t>та </a:t>
            </a:r>
            <a:r>
              <a:rPr lang="en-US" sz="2000" dirty="0"/>
              <a:t>Gradient </a:t>
            </a:r>
            <a:r>
              <a:rPr lang="uk-UA" sz="2000" dirty="0"/>
              <a:t>виявилися непридатними для надійної ідентифікації. Підтверджено працездатність запропонованої інформаційної технології як модульної системи для дистанційної ідентифікації параметрів динамічних об'єктів. Практичне значення результатів полягає у можливості застосування розроблених моделей і програмних компонентів у системах інтелектуального відеоспостереження, автономного транспорту, робототехніки, промислового моніторингу та підтримки прийняття рішень, де необхідне надійне визначення параметрів рухомих об'єктів у режимі реального часу.</a:t>
            </a:r>
            <a:endParaRPr lang="en-US" sz="2000" dirty="0"/>
          </a:p>
        </p:txBody>
      </p:sp>
      <p:sp>
        <p:nvSpPr>
          <p:cNvPr id="4" name="Місце для номера слайда 3">
            <a:extLst>
              <a:ext uri="{FF2B5EF4-FFF2-40B4-BE49-F238E27FC236}">
                <a16:creationId xmlns:a16="http://schemas.microsoft.com/office/drawing/2014/main" id="{6FC56585-29D4-98AD-DE2E-5FB8E741B611}"/>
              </a:ext>
            </a:extLst>
          </p:cNvPr>
          <p:cNvSpPr>
            <a:spLocks noGrp="1"/>
          </p:cNvSpPr>
          <p:nvPr>
            <p:ph type="sldNum" sz="quarter" idx="12"/>
          </p:nvPr>
        </p:nvSpPr>
        <p:spPr/>
        <p:txBody>
          <a:bodyPr/>
          <a:lstStyle/>
          <a:p>
            <a:fld id="{C1FF6DA9-008F-8B48-92A6-B652298478BF}" type="slidenum">
              <a:rPr lang="en-US" smtClean="0"/>
              <a:t>38</a:t>
            </a:fld>
            <a:endParaRPr lang="en-US"/>
          </a:p>
        </p:txBody>
      </p:sp>
      <p:sp>
        <p:nvSpPr>
          <p:cNvPr id="6" name="TextBox 5">
            <a:extLst>
              <a:ext uri="{FF2B5EF4-FFF2-40B4-BE49-F238E27FC236}">
                <a16:creationId xmlns:a16="http://schemas.microsoft.com/office/drawing/2014/main" id="{5CD04916-8673-B9DF-0AD7-3491B25896BE}"/>
              </a:ext>
            </a:extLst>
          </p:cNvPr>
          <p:cNvSpPr txBox="1"/>
          <p:nvPr/>
        </p:nvSpPr>
        <p:spPr>
          <a:xfrm>
            <a:off x="11801698" y="-251980"/>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Tree>
    <p:extLst>
      <p:ext uri="{BB962C8B-B14F-4D97-AF65-F5344CB8AC3E}">
        <p14:creationId xmlns:p14="http://schemas.microsoft.com/office/powerpoint/2010/main" val="3028851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499C8E-5257-3377-0DB9-C95172DDCE06}"/>
              </a:ext>
            </a:extLst>
          </p:cNvPr>
          <p:cNvSpPr>
            <a:spLocks noGrp="1"/>
          </p:cNvSpPr>
          <p:nvPr>
            <p:ph type="ctrTitle"/>
          </p:nvPr>
        </p:nvSpPr>
        <p:spPr>
          <a:xfrm>
            <a:off x="0" y="768485"/>
            <a:ext cx="12192000" cy="4647577"/>
          </a:xfrm>
        </p:spPr>
        <p:txBody>
          <a:bodyPr vert="horz" lIns="91440" tIns="45720" rIns="91440" bIns="45720" rtlCol="0" anchor="ctr">
            <a:normAutofit/>
          </a:bodyPr>
          <a:lstStyle/>
          <a:p>
            <a:pPr defTabSz="914400">
              <a:lnSpc>
                <a:spcPct val="90000"/>
              </a:lnSpc>
            </a:pPr>
            <a:r>
              <a:rPr lang="en-US" sz="13400" dirty="0" err="1"/>
              <a:t>Дякую</a:t>
            </a:r>
            <a:r>
              <a:rPr lang="en-US" sz="13400" dirty="0"/>
              <a:t> </a:t>
            </a:r>
            <a:r>
              <a:rPr lang="en-US" sz="13400" dirty="0" err="1"/>
              <a:t>за</a:t>
            </a:r>
            <a:r>
              <a:rPr lang="en-US" sz="13400" dirty="0"/>
              <a:t> </a:t>
            </a:r>
            <a:r>
              <a:rPr lang="en-US" sz="13400" dirty="0" err="1"/>
              <a:t>увагу</a:t>
            </a:r>
            <a:r>
              <a:rPr lang="en-US" sz="13400" dirty="0"/>
              <a:t>!</a:t>
            </a:r>
          </a:p>
        </p:txBody>
      </p:sp>
      <p:sp>
        <p:nvSpPr>
          <p:cNvPr id="4" name="Місце для номера слайда 3">
            <a:extLst>
              <a:ext uri="{FF2B5EF4-FFF2-40B4-BE49-F238E27FC236}">
                <a16:creationId xmlns:a16="http://schemas.microsoft.com/office/drawing/2014/main" id="{64A602A2-0A8F-5F90-EB34-533AE2AB3518}"/>
              </a:ext>
            </a:extLst>
          </p:cNvPr>
          <p:cNvSpPr>
            <a:spLocks noGrp="1"/>
          </p:cNvSpPr>
          <p:nvPr>
            <p:ph type="sldNum" sz="quarter" idx="12"/>
          </p:nvPr>
        </p:nvSpPr>
        <p:spPr>
          <a:xfrm>
            <a:off x="11000232" y="6108192"/>
            <a:ext cx="548640" cy="548640"/>
          </a:xfrm>
          <a:prstGeom prst="ellipse">
            <a:avLst/>
          </a:prstGeom>
          <a:solidFill>
            <a:srgbClr val="7F7F7F"/>
          </a:solidFill>
        </p:spPr>
        <p:txBody>
          <a:bodyPr vert="horz" lIns="91440" tIns="45720" rIns="91440" bIns="45720" rtlCol="0" anchor="ctr">
            <a:normAutofit/>
          </a:bodyPr>
          <a:lstStyle/>
          <a:p>
            <a:pPr algn="ctr">
              <a:spcAft>
                <a:spcPts val="600"/>
              </a:spcAft>
            </a:pPr>
            <a:fld id="{C1FF6DA9-008F-8B48-92A6-B652298478BF}" type="slidenum">
              <a:rPr lang="en-US" sz="1500">
                <a:solidFill>
                  <a:srgbClr val="FFFFFF"/>
                </a:solidFill>
              </a:rPr>
              <a:pPr algn="ctr">
                <a:spcAft>
                  <a:spcPts val="600"/>
                </a:spcAft>
              </a:pPr>
              <a:t>39</a:t>
            </a:fld>
            <a:endParaRPr lang="en-US" sz="1500">
              <a:solidFill>
                <a:srgbClr val="FFFFFF"/>
              </a:solidFill>
            </a:endParaRPr>
          </a:p>
        </p:txBody>
      </p:sp>
    </p:spTree>
    <p:extLst>
      <p:ext uri="{BB962C8B-B14F-4D97-AF65-F5344CB8AC3E}">
        <p14:creationId xmlns:p14="http://schemas.microsoft.com/office/powerpoint/2010/main" val="2467285440"/>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978CB11-49A5-4C6A-2A81-0E1138D8ED4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A7ABAB-2465-CC3D-280B-A98A2BFD6A05}"/>
              </a:ext>
            </a:extLst>
          </p:cNvPr>
          <p:cNvSpPr>
            <a:spLocks noGrp="1"/>
          </p:cNvSpPr>
          <p:nvPr>
            <p:ph type="title"/>
          </p:nvPr>
        </p:nvSpPr>
        <p:spPr>
          <a:xfrm>
            <a:off x="838200" y="15766"/>
            <a:ext cx="10515600" cy="548614"/>
          </a:xfrm>
        </p:spPr>
        <p:txBody>
          <a:bodyPr>
            <a:normAutofit fontScale="90000"/>
          </a:bodyPr>
          <a:lstStyle/>
          <a:p>
            <a:r>
              <a:rPr lang="uk-UA" sz="5400" dirty="0"/>
              <a:t>Висновки</a:t>
            </a:r>
            <a:endParaRPr lang="en-US" sz="5400" dirty="0"/>
          </a:p>
        </p:txBody>
      </p:sp>
      <p:sp>
        <p:nvSpPr>
          <p:cNvPr id="3" name="Місце для вмісту 2">
            <a:extLst>
              <a:ext uri="{FF2B5EF4-FFF2-40B4-BE49-F238E27FC236}">
                <a16:creationId xmlns:a16="http://schemas.microsoft.com/office/drawing/2014/main" id="{B7C53522-0F54-E4C4-AAE5-A9E4F7CA00D6}"/>
              </a:ext>
            </a:extLst>
          </p:cNvPr>
          <p:cNvSpPr>
            <a:spLocks noGrp="1"/>
          </p:cNvSpPr>
          <p:nvPr>
            <p:ph idx="1"/>
          </p:nvPr>
        </p:nvSpPr>
        <p:spPr>
          <a:xfrm>
            <a:off x="-269480" y="564380"/>
            <a:ext cx="12458431" cy="6191422"/>
          </a:xfrm>
          <a:solidFill>
            <a:schemeClr val="bg1">
              <a:lumMod val="95000"/>
            </a:schemeClr>
          </a:solidFill>
        </p:spPr>
        <p:txBody>
          <a:bodyPr>
            <a:noAutofit/>
          </a:bodyPr>
          <a:lstStyle/>
          <a:p>
            <a:pPr>
              <a:lnSpc>
                <a:spcPct val="90000"/>
              </a:lnSpc>
            </a:pPr>
            <a:r>
              <a:rPr lang="uk-UA" sz="1200" dirty="0"/>
              <a:t>1. Проведено аналіз сучасних задач і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геометричних і структурних параметрів, а також урахування шумів, оклюзій, зміни освітлення та неповноти даних. Визначено, що динамічні об'єкти є складними багатовимірними системами, стан яких безперервно змінюється в часі. Сформовано класифікацію параметрів (просторові, кінематичні, структурні) та методів ідентифікації (</a:t>
            </a:r>
            <a:r>
              <a:rPr lang="uk-UA" sz="1200" dirty="0" err="1"/>
              <a:t>покадрові</a:t>
            </a:r>
            <a:r>
              <a:rPr lang="uk-UA" sz="1200" dirty="0"/>
              <a:t>, послідовні, інтегровані). Проаналізовано еволюцію інформаційних технологій комп'ютерного зору від класичних методів (Віоли-Джонса, ГОГ, деформованих частин) до сучасних </a:t>
            </a:r>
            <a:r>
              <a:rPr lang="uk-UA" sz="1200" dirty="0" err="1"/>
              <a:t>архітектур</a:t>
            </a:r>
            <a:r>
              <a:rPr lang="uk-UA" sz="1200" dirty="0"/>
              <a:t> глибокого навчання (</a:t>
            </a:r>
            <a:r>
              <a:rPr lang="en-US" sz="1200" dirty="0"/>
              <a:t>CNN-</a:t>
            </a:r>
            <a:r>
              <a:rPr lang="uk-UA" sz="1200" dirty="0"/>
              <a:t>детектори </a:t>
            </a:r>
            <a:r>
              <a:rPr lang="en-US" sz="1200" dirty="0"/>
              <a:t>YOLO/SSD, </a:t>
            </a:r>
            <a:r>
              <a:rPr lang="uk-UA" sz="1200" dirty="0" err="1"/>
              <a:t>трансформерний</a:t>
            </a:r>
            <a:r>
              <a:rPr lang="uk-UA" sz="1200" dirty="0"/>
              <a:t> детектор </a:t>
            </a:r>
            <a:r>
              <a:rPr lang="en-US" sz="1200" dirty="0"/>
              <a:t>DETR, </a:t>
            </a:r>
            <a:r>
              <a:rPr lang="uk-UA" sz="1200" dirty="0" err="1"/>
              <a:t>нейромережеві</a:t>
            </a:r>
            <a:r>
              <a:rPr lang="uk-UA" sz="1200" dirty="0"/>
              <a:t> моделі оптичного потоку </a:t>
            </a:r>
            <a:r>
              <a:rPr lang="en-US" sz="1200" dirty="0" err="1"/>
              <a:t>FlowNet</a:t>
            </a:r>
            <a:r>
              <a:rPr lang="en-US" sz="1200" dirty="0"/>
              <a:t>/RAFT </a:t>
            </a:r>
            <a:r>
              <a:rPr lang="uk-UA" sz="1200" dirty="0"/>
              <a:t>та оцінювання глибини </a:t>
            </a:r>
            <a:r>
              <a:rPr lang="en-US" sz="1200" dirty="0" err="1"/>
              <a:t>MiDaS</a:t>
            </a:r>
            <a:r>
              <a:rPr lang="en-US" sz="1200" dirty="0"/>
              <a:t>/DPT). </a:t>
            </a:r>
            <a:r>
              <a:rPr lang="uk-UA" sz="1200" dirty="0"/>
              <a:t>Досліджено методи обчислювального інтелекту, зокрема ансамблеві підходи </a:t>
            </a:r>
            <a:r>
              <a:rPr lang="en-US" sz="1200" dirty="0"/>
              <a:t>Bagging </a:t>
            </a:r>
            <a:r>
              <a:rPr lang="uk-UA" sz="1200" dirty="0"/>
              <a:t>та </a:t>
            </a:r>
            <a:r>
              <a:rPr lang="en-US" sz="1200" dirty="0"/>
              <a:t>Boosting. </a:t>
            </a:r>
            <a:r>
              <a:rPr lang="uk-UA" sz="1200" dirty="0"/>
              <a:t>Обґрунтовано, що найперспективнішим напрямом є інтеграція </a:t>
            </a:r>
            <a:r>
              <a:rPr lang="uk-UA" sz="1200" dirty="0" err="1"/>
              <a:t>трансформерного</a:t>
            </a:r>
            <a:r>
              <a:rPr lang="uk-UA" sz="1200" dirty="0"/>
              <a:t> виявлення, оптичного потоку, оцінювання глибини та ансамблевих методів. Сформульовано мету та задачі дослідження.</a:t>
            </a:r>
          </a:p>
          <a:p>
            <a:pPr>
              <a:lnSpc>
                <a:spcPct val="90000"/>
              </a:lnSpc>
            </a:pPr>
            <a:r>
              <a:rPr lang="uk-UA" sz="1200" dirty="0"/>
              <a:t>2.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необхідність переходу від окремого детектування до інтегрованого просторово-часового аналізу </a:t>
            </a:r>
            <a:r>
              <a:rPr lang="uk-UA" sz="1200" dirty="0" err="1"/>
              <a:t>відеопотоку</a:t>
            </a:r>
            <a:r>
              <a:rPr lang="uk-UA" sz="1200" dirty="0"/>
              <a:t>. розглянуто методичну основу дистанційної ідентифікації. Проаналізовано класичні методи оптичного потоку: локальний Лукаса-</a:t>
            </a:r>
            <a:r>
              <a:rPr lang="uk-UA" sz="1200" dirty="0" err="1"/>
              <a:t>Канаде</a:t>
            </a:r>
            <a:r>
              <a:rPr lang="uk-UA" sz="1200" dirty="0"/>
              <a:t>, глобальний </a:t>
            </a:r>
            <a:r>
              <a:rPr lang="uk-UA" sz="1200" dirty="0" err="1"/>
              <a:t>Хорна-Шунка</a:t>
            </a:r>
            <a:r>
              <a:rPr lang="uk-UA" sz="1200" dirty="0"/>
              <a:t> та поліноміальний </a:t>
            </a:r>
            <a:r>
              <a:rPr lang="uk-UA" sz="1200" dirty="0" err="1"/>
              <a:t>Фарнебека</a:t>
            </a:r>
            <a:r>
              <a:rPr lang="uk-UA" sz="1200" dirty="0"/>
              <a:t>. Досліджено </a:t>
            </a:r>
            <a:r>
              <a:rPr lang="uk-UA" sz="1200" dirty="0" err="1"/>
              <a:t>нейромережеві</a:t>
            </a:r>
            <a:r>
              <a:rPr lang="uk-UA" sz="1200" dirty="0"/>
              <a:t> моделі аналізу руху: </a:t>
            </a:r>
            <a:r>
              <a:rPr lang="en-US" sz="1200" dirty="0" err="1"/>
              <a:t>FlowNet</a:t>
            </a:r>
            <a:r>
              <a:rPr lang="en-US" sz="1200" dirty="0"/>
              <a:t>, RAFT </a:t>
            </a:r>
            <a:r>
              <a:rPr lang="uk-UA" sz="1200" dirty="0"/>
              <a:t>та </a:t>
            </a:r>
            <a:r>
              <a:rPr lang="en-US" sz="1200" dirty="0" err="1"/>
              <a:t>GeoNet</a:t>
            </a:r>
            <a:r>
              <a:rPr lang="en-US" sz="1200" dirty="0"/>
              <a:t>. </a:t>
            </a:r>
            <a:r>
              <a:rPr lang="uk-UA" sz="1200" dirty="0"/>
              <a:t>Розглянуто ансамблеві методи </a:t>
            </a:r>
            <a:r>
              <a:rPr lang="en-US" sz="1200" dirty="0"/>
              <a:t>Bagging </a:t>
            </a:r>
            <a:r>
              <a:rPr lang="uk-UA" sz="1200" dirty="0"/>
              <a:t>та </a:t>
            </a:r>
            <a:r>
              <a:rPr lang="en-US" sz="1200" dirty="0"/>
              <a:t>Boosting. </a:t>
            </a:r>
            <a:r>
              <a:rPr lang="uk-UA" sz="1200" dirty="0"/>
              <a:t>Запропоновано об'єднання методів через формалізацію просторово-часової моделі, </a:t>
            </a:r>
            <a:r>
              <a:rPr lang="uk-UA" sz="1200" dirty="0" err="1"/>
              <a:t>вектора</a:t>
            </a:r>
            <a:r>
              <a:rPr lang="uk-UA" sz="1200" dirty="0"/>
              <a:t> стану об'єкта та динамічної моделі руху. Визначено формули для обчислення кінематичних параметрів (швидкість, напрямок, положення, траєкторія). Обґрунтовано доцільність комплексного використання детекторів, оптичного потоку та глибини.</a:t>
            </a:r>
          </a:p>
          <a:p>
            <a:pPr>
              <a:lnSpc>
                <a:spcPct val="90000"/>
              </a:lnSpc>
            </a:pPr>
            <a:r>
              <a:rPr lang="uk-UA" sz="1200" dirty="0"/>
              <a:t>3. Розроблено моделі дистанційної ідентифікації параметрів динамічних об'єктів, які поєднують результати </a:t>
            </a:r>
            <a:r>
              <a:rPr lang="en-US" sz="1200" dirty="0"/>
              <a:t>DETR, </a:t>
            </a:r>
            <a:r>
              <a:rPr lang="uk-UA" sz="1200" dirty="0"/>
              <a:t>алгоритмів оптичного потоку, моделей оцінювання глибини та </a:t>
            </a:r>
            <a:r>
              <a:rPr lang="uk-UA" sz="1200" dirty="0" err="1"/>
              <a:t>трансформерних</a:t>
            </a:r>
            <a:r>
              <a:rPr lang="uk-UA" sz="1200" dirty="0"/>
              <a:t> механізмів обробки контексту. Таке поєднання забезпечує отримання більш повного опису стану об'єкта порівняно з використанням лише </a:t>
            </a:r>
            <a:r>
              <a:rPr lang="uk-UA" sz="1200" dirty="0" err="1"/>
              <a:t>покадрової</a:t>
            </a:r>
            <a:r>
              <a:rPr lang="uk-UA" sz="1200" dirty="0"/>
              <a:t> </a:t>
            </a:r>
            <a:r>
              <a:rPr lang="uk-UA" sz="1200" dirty="0" err="1"/>
              <a:t>детекції</a:t>
            </a:r>
            <a:r>
              <a:rPr lang="uk-UA" sz="1200" dirty="0"/>
              <a:t>. Обґрунтовано використання ансамблевих методів </a:t>
            </a:r>
            <a:r>
              <a:rPr lang="en-US" sz="1200" dirty="0"/>
              <a:t>Bagging </a:t>
            </a:r>
            <a:r>
              <a:rPr lang="uk-UA" sz="1200" dirty="0"/>
              <a:t>і </a:t>
            </a:r>
            <a:r>
              <a:rPr lang="en-US" sz="1200" dirty="0"/>
              <a:t>Boosting </a:t>
            </a:r>
            <a:r>
              <a:rPr lang="uk-UA" sz="1200" dirty="0"/>
              <a:t>для підвищення стійкості результатів ідентифікації. Показано, що </a:t>
            </a:r>
            <a:r>
              <a:rPr lang="uk-UA" sz="1200" dirty="0" err="1"/>
              <a:t>бегінг</a:t>
            </a:r>
            <a:r>
              <a:rPr lang="uk-UA" sz="1200" dirty="0"/>
              <a:t> зменшує вплив випадкових шумів та локальних артефактів, а </a:t>
            </a:r>
            <a:r>
              <a:rPr lang="uk-UA" sz="1200" dirty="0" err="1"/>
              <a:t>бустінг</a:t>
            </a:r>
            <a:r>
              <a:rPr lang="uk-UA" sz="1200" dirty="0"/>
              <a:t> підвищує точність у складних областях сцени, зокрема на межах об'єктів і в зонах оклюзій. сформовано структуру моделей дистанційної ідентифікації. Запропоновано загальну модель та архітектуру системи у вигляді набору модулів. Розроблено аналітичну модель ідентифікації з використанням </a:t>
            </a:r>
            <a:r>
              <a:rPr lang="en-US" sz="1200" dirty="0"/>
              <a:t>DETR </a:t>
            </a:r>
            <a:r>
              <a:rPr lang="uk-UA" sz="1200" dirty="0"/>
              <a:t>та оптичного потоку. Деталізовано математичні моделі для визначення швидкості, напрямку, положення, траєкторії та прискорення. Запропоновано об'єднання моделей через сумісну оцінку </a:t>
            </a:r>
            <a:r>
              <a:rPr lang="en-US" sz="1200" dirty="0" err="1"/>
              <a:t>GeoNet</a:t>
            </a:r>
            <a:r>
              <a:rPr lang="en-US" sz="1200" dirty="0"/>
              <a:t>, </a:t>
            </a:r>
            <a:r>
              <a:rPr lang="uk-UA" sz="1200" dirty="0"/>
              <a:t>ансамблеву модель </a:t>
            </a:r>
            <a:r>
              <a:rPr lang="en-US" sz="1200" dirty="0"/>
              <a:t>Bagging </a:t>
            </a:r>
            <a:r>
              <a:rPr lang="uk-UA" sz="1200" dirty="0"/>
              <a:t>та адаптивну модель </a:t>
            </a:r>
            <a:r>
              <a:rPr lang="en-US" sz="1200" dirty="0"/>
              <a:t>Boosting. </a:t>
            </a:r>
            <a:r>
              <a:rPr lang="uk-UA" sz="1200" dirty="0"/>
              <a:t>Інтегральна модель та повна система рівнянь забезпечують перехід від </a:t>
            </a:r>
            <a:r>
              <a:rPr lang="uk-UA" sz="1200" dirty="0" err="1"/>
              <a:t>покадрового</a:t>
            </a:r>
            <a:r>
              <a:rPr lang="uk-UA" sz="1200" dirty="0"/>
              <a:t> виявлення до просторово-часового опису динамічного об'єкта.</a:t>
            </a:r>
          </a:p>
          <a:p>
            <a:pPr>
              <a:lnSpc>
                <a:spcPct val="90000"/>
              </a:lnSpc>
            </a:pPr>
            <a:r>
              <a:rPr lang="uk-UA" sz="1200" dirty="0"/>
              <a:t>4. Розроблено структуру інформаційної технології ДІПДО та програмну реалізацію основних етапів обробки: отримання відеоданих, виявлення об'єктів, оцінювання оптичного потоку, побудова карти глибини, об'єднання ознак, розрахунок параметрів руху та візуалізація результатів. Проведено експериментальне порівняння комбінацій методів </a:t>
            </a:r>
            <a:r>
              <a:rPr lang="en-US" sz="1200" dirty="0" err="1"/>
              <a:t>Farneback</a:t>
            </a:r>
            <a:r>
              <a:rPr lang="en-US" sz="1200" dirty="0"/>
              <a:t>, Lucas–Kanade, Horn–Schunck, </a:t>
            </a:r>
            <a:r>
              <a:rPr lang="en-US" sz="1200" dirty="0" err="1"/>
              <a:t>FlowNet</a:t>
            </a:r>
            <a:r>
              <a:rPr lang="en-US" sz="1200" dirty="0"/>
              <a:t>, </a:t>
            </a:r>
            <a:r>
              <a:rPr lang="en-US" sz="1200" dirty="0" err="1"/>
              <a:t>GeoNet</a:t>
            </a:r>
            <a:r>
              <a:rPr lang="en-US" sz="1200" dirty="0"/>
              <a:t>, </a:t>
            </a:r>
            <a:r>
              <a:rPr lang="en-US" sz="1200" dirty="0" err="1"/>
              <a:t>MiDaS</a:t>
            </a:r>
            <a:r>
              <a:rPr lang="en-US" sz="1200" dirty="0"/>
              <a:t>, </a:t>
            </a:r>
            <a:r>
              <a:rPr lang="en-US" sz="1200" dirty="0" err="1"/>
              <a:t>DPT_Large</a:t>
            </a:r>
            <a:r>
              <a:rPr lang="en-US" sz="1200" dirty="0"/>
              <a:t>, Bagging, Boosting, Blur </a:t>
            </a:r>
            <a:r>
              <a:rPr lang="uk-UA" sz="1200" dirty="0"/>
              <a:t>і </a:t>
            </a:r>
            <a:r>
              <a:rPr lang="en-US" sz="1200" dirty="0"/>
              <a:t>Gradient </a:t>
            </a:r>
            <a:r>
              <a:rPr lang="uk-UA" sz="1200" dirty="0"/>
              <a:t>на тестовому </a:t>
            </a:r>
            <a:r>
              <a:rPr lang="uk-UA" sz="1200" dirty="0" err="1"/>
              <a:t>відеопотоці</a:t>
            </a:r>
            <a:r>
              <a:rPr lang="uk-UA" sz="1200" dirty="0"/>
              <a:t>. У тестовому запуску </a:t>
            </a:r>
            <a:r>
              <a:rPr lang="en-US" sz="1200" dirty="0"/>
              <a:t>DETR </a:t>
            </a:r>
            <a:r>
              <a:rPr lang="uk-UA" sz="1200" dirty="0"/>
              <a:t>виявив 6 об'єктів з довірою 0,74–1,00; найбільші швидкості отримано для об'єктів із центрами (658,5; 281,0) і (277,5; 264,0), що підтверджує працездатність інтеграції </a:t>
            </a:r>
            <a:r>
              <a:rPr lang="uk-UA" sz="1200" dirty="0" err="1"/>
              <a:t>детекції</a:t>
            </a:r>
            <a:r>
              <a:rPr lang="uk-UA" sz="1200" dirty="0"/>
              <a:t>, оптичного потоку та карти глибини. Водночас результати </a:t>
            </a:r>
            <a:r>
              <a:rPr lang="en-US" sz="1200" dirty="0" err="1"/>
              <a:t>FlowNet</a:t>
            </a:r>
            <a:r>
              <a:rPr lang="en-US" sz="1200" dirty="0"/>
              <a:t>/</a:t>
            </a:r>
            <a:r>
              <a:rPr lang="en-US" sz="1200" dirty="0" err="1"/>
              <a:t>GeoNet</a:t>
            </a:r>
            <a:r>
              <a:rPr lang="en-US" sz="1200" dirty="0"/>
              <a:t> </a:t>
            </a:r>
            <a:r>
              <a:rPr lang="uk-UA" sz="1200" dirty="0"/>
              <a:t>у цьому запуску є проксі-оцінками, оскільки </a:t>
            </a:r>
            <a:r>
              <a:rPr lang="en-US" sz="1200" dirty="0"/>
              <a:t>RAFT/</a:t>
            </a:r>
            <a:r>
              <a:rPr lang="en-US" sz="1200" dirty="0" err="1"/>
              <a:t>FlowNet</a:t>
            </a:r>
            <a:r>
              <a:rPr lang="en-US" sz="1200" dirty="0"/>
              <a:t> </a:t>
            </a:r>
            <a:r>
              <a:rPr lang="uk-UA" sz="1200" dirty="0"/>
              <a:t>був недоступний і використовувався резервний розрахунок </a:t>
            </a:r>
            <a:r>
              <a:rPr lang="en-US" sz="1200" dirty="0" err="1"/>
              <a:t>Farneback</a:t>
            </a:r>
            <a:r>
              <a:rPr lang="en-US" sz="1200" dirty="0"/>
              <a:t>. </a:t>
            </a:r>
            <a:r>
              <a:rPr lang="uk-UA" sz="1200" dirty="0"/>
              <a:t>Розроблено структуру інформаційної технології ДІПДО та її програмну реалізацію. Реалізовано модулі </a:t>
            </a:r>
            <a:r>
              <a:rPr lang="en-US" sz="1200" dirty="0"/>
              <a:t>DETR, </a:t>
            </a:r>
            <a:r>
              <a:rPr lang="uk-UA" sz="1200" dirty="0"/>
              <a:t>оптичного потоку (</a:t>
            </a:r>
            <a:r>
              <a:rPr lang="en-US" sz="1200" dirty="0" err="1"/>
              <a:t>Farneback</a:t>
            </a:r>
            <a:r>
              <a:rPr lang="en-US" sz="1200" dirty="0"/>
              <a:t>, Lucas–Kanade, Horn–Schunck, </a:t>
            </a:r>
            <a:r>
              <a:rPr lang="en-US" sz="1200" dirty="0" err="1"/>
              <a:t>FlowNet</a:t>
            </a:r>
            <a:r>
              <a:rPr lang="en-US" sz="1200" dirty="0"/>
              <a:t>, </a:t>
            </a:r>
            <a:r>
              <a:rPr lang="en-US" sz="1200" dirty="0" err="1"/>
              <a:t>GeoNet</a:t>
            </a:r>
            <a:r>
              <a:rPr lang="en-US" sz="1200" dirty="0"/>
              <a:t>) </a:t>
            </a:r>
            <a:r>
              <a:rPr lang="uk-UA" sz="1200" dirty="0"/>
              <a:t>та оцінювання глибини (</a:t>
            </a:r>
            <a:r>
              <a:rPr lang="en-US" sz="1200" dirty="0"/>
              <a:t>Blur, Gradient, </a:t>
            </a:r>
            <a:r>
              <a:rPr lang="en-US" sz="1200" dirty="0" err="1"/>
              <a:t>MiDaS</a:t>
            </a:r>
            <a:r>
              <a:rPr lang="en-US" sz="1200" dirty="0"/>
              <a:t>, DPT, Bagging, Boosting). </a:t>
            </a:r>
            <a:r>
              <a:rPr lang="uk-UA" sz="1200" dirty="0"/>
              <a:t>Проведено експериментальне тестування на </a:t>
            </a:r>
            <a:r>
              <a:rPr lang="uk-UA" sz="1200" dirty="0" err="1"/>
              <a:t>відеопотоці</a:t>
            </a:r>
            <a:r>
              <a:rPr lang="uk-UA" sz="1200" dirty="0"/>
              <a:t> </a:t>
            </a:r>
            <a:r>
              <a:rPr lang="en-US" sz="1200" dirty="0"/>
              <a:t>vtest.avi. DETR </a:t>
            </a:r>
            <a:r>
              <a:rPr lang="uk-UA" sz="1200" dirty="0"/>
              <a:t>виявив 6 об'єктів з довірою 0,74–1,00. Найбільші швидкості отримано для об'єктів 0 (6,526 </a:t>
            </a:r>
            <a:r>
              <a:rPr lang="en-US" sz="1200" dirty="0" err="1"/>
              <a:t>px</a:t>
            </a:r>
            <a:r>
              <a:rPr lang="en-US" sz="1200" dirty="0"/>
              <a:t>/</a:t>
            </a:r>
            <a:r>
              <a:rPr lang="uk-UA" sz="1200" dirty="0"/>
              <a:t>кадр) та 4 (4,592 </a:t>
            </a:r>
            <a:r>
              <a:rPr lang="en-US" sz="1200" dirty="0" err="1"/>
              <a:t>px</a:t>
            </a:r>
            <a:r>
              <a:rPr lang="en-US" sz="1200" dirty="0"/>
              <a:t>/</a:t>
            </a:r>
            <a:r>
              <a:rPr lang="uk-UA" sz="1200" dirty="0"/>
              <a:t>кадр). Порівняльний аналіз 35 комбінацій методів показав: </a:t>
            </a:r>
            <a:r>
              <a:rPr lang="en-US" sz="1200" dirty="0"/>
              <a:t>Bagging </a:t>
            </a:r>
            <a:r>
              <a:rPr lang="uk-UA" sz="1200" dirty="0"/>
              <a:t>забезпечив найкращу точність глибини (</a:t>
            </a:r>
            <a:r>
              <a:rPr lang="en-US" sz="1200" dirty="0"/>
              <a:t>RMSE=0,713, PSNR=51,065 </a:t>
            </a:r>
            <a:r>
              <a:rPr lang="uk-UA" sz="1200" dirty="0" err="1"/>
              <a:t>дБ</a:t>
            </a:r>
            <a:r>
              <a:rPr lang="uk-UA" sz="1200" dirty="0"/>
              <a:t>, </a:t>
            </a:r>
            <a:r>
              <a:rPr lang="en-US" sz="1200" dirty="0" err="1"/>
              <a:t>IoU</a:t>
            </a:r>
            <a:r>
              <a:rPr lang="en-US" sz="1200" dirty="0"/>
              <a:t>=0,996); </a:t>
            </a:r>
            <a:r>
              <a:rPr lang="en-US" sz="1200" dirty="0" err="1"/>
              <a:t>GeoNet</a:t>
            </a:r>
            <a:r>
              <a:rPr lang="en-US" sz="1200" dirty="0"/>
              <a:t>-</a:t>
            </a:r>
            <a:r>
              <a:rPr lang="uk-UA" sz="1200" dirty="0"/>
              <a:t>проксі та </a:t>
            </a:r>
            <a:r>
              <a:rPr lang="en-US" sz="1200" dirty="0" err="1"/>
              <a:t>DPT_Large</a:t>
            </a:r>
            <a:r>
              <a:rPr lang="en-US" sz="1200" dirty="0"/>
              <a:t> </a:t>
            </a:r>
            <a:r>
              <a:rPr lang="uk-UA" sz="1200" dirty="0"/>
              <a:t>також показали високі результати; </a:t>
            </a:r>
            <a:r>
              <a:rPr lang="en-US" sz="1200" dirty="0"/>
              <a:t>Blur </a:t>
            </a:r>
            <a:r>
              <a:rPr lang="uk-UA" sz="1200" dirty="0"/>
              <a:t>та </a:t>
            </a:r>
            <a:r>
              <a:rPr lang="en-US" sz="1200" dirty="0"/>
              <a:t>Gradient </a:t>
            </a:r>
            <a:r>
              <a:rPr lang="uk-UA" sz="1200" dirty="0"/>
              <a:t>виявилися непридатними для надійної ідентифікації. Підтверджено працездатність запропонованої інформаційної технології як модульної системи для дистанційної ідентифікації параметрів динамічних об'єктів. Практичне значення результатів полягає у можливості застосування розроблених моделей і програмних компонентів у системах інтелектуального відеоспостереження, автономного транспорту, робототехніки, промислового моніторингу та підтримки прийняття рішень, де необхідне надійне визначення параметрів рухомих об'єктів у режимі реального часу.</a:t>
            </a:r>
            <a:endParaRPr lang="en-US" sz="1200" dirty="0"/>
          </a:p>
        </p:txBody>
      </p:sp>
      <p:sp>
        <p:nvSpPr>
          <p:cNvPr id="4" name="Місце для номера слайда 3">
            <a:extLst>
              <a:ext uri="{FF2B5EF4-FFF2-40B4-BE49-F238E27FC236}">
                <a16:creationId xmlns:a16="http://schemas.microsoft.com/office/drawing/2014/main" id="{7EDE430A-3A29-D6A0-C953-91D280C9F250}"/>
              </a:ext>
            </a:extLst>
          </p:cNvPr>
          <p:cNvSpPr>
            <a:spLocks noGrp="1"/>
          </p:cNvSpPr>
          <p:nvPr>
            <p:ph type="sldNum" sz="quarter" idx="12"/>
          </p:nvPr>
        </p:nvSpPr>
        <p:spPr/>
        <p:txBody>
          <a:bodyPr/>
          <a:lstStyle/>
          <a:p>
            <a:fld id="{C1FF6DA9-008F-8B48-92A6-B652298478BF}" type="slidenum">
              <a:rPr lang="en-US" smtClean="0"/>
              <a:t>40</a:t>
            </a:fld>
            <a:endParaRPr lang="en-US"/>
          </a:p>
        </p:txBody>
      </p:sp>
    </p:spTree>
    <p:extLst>
      <p:ext uri="{BB962C8B-B14F-4D97-AF65-F5344CB8AC3E}">
        <p14:creationId xmlns:p14="http://schemas.microsoft.com/office/powerpoint/2010/main" val="36518974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096000" cy="2160466"/>
          </a:xfrm>
        </p:spPr>
        <p:txBody>
          <a:bodyPr anchor="b">
            <a:noAutofit/>
          </a:bodyPr>
          <a:lstStyle/>
          <a:p>
            <a:pPr>
              <a:lnSpc>
                <a:spcPct val="90000"/>
              </a:lnSpc>
            </a:pPr>
            <a:r>
              <a:rPr lang="ru-RU" sz="5400" dirty="0" err="1">
                <a:solidFill>
                  <a:srgbClr val="595959"/>
                </a:solidFill>
              </a:rPr>
              <a:t>Еволюція</a:t>
            </a:r>
            <a:r>
              <a:rPr lang="ru-RU" sz="5400" dirty="0">
                <a:solidFill>
                  <a:srgbClr val="595959"/>
                </a:solidFill>
              </a:rPr>
              <a:t> </a:t>
            </a:r>
            <a:r>
              <a:rPr lang="ru-RU" sz="5400" dirty="0" err="1">
                <a:solidFill>
                  <a:srgbClr val="595959"/>
                </a:solidFill>
              </a:rPr>
              <a:t>класичних</a:t>
            </a:r>
            <a:r>
              <a:rPr lang="ru-RU" sz="5400" dirty="0">
                <a:solidFill>
                  <a:srgbClr val="595959"/>
                </a:solidFill>
              </a:rPr>
              <a:t> </a:t>
            </a:r>
            <a:r>
              <a:rPr lang="ru-RU" sz="5400" dirty="0" err="1">
                <a:solidFill>
                  <a:srgbClr val="595959"/>
                </a:solidFill>
              </a:rPr>
              <a:t>методів</a:t>
            </a:r>
            <a:r>
              <a:rPr lang="ru-RU" sz="5400" dirty="0">
                <a:solidFill>
                  <a:srgbClr val="595959"/>
                </a:solidFill>
              </a:rPr>
              <a:t> </a:t>
            </a:r>
            <a:r>
              <a:rPr lang="ru-RU" sz="5400" dirty="0" err="1">
                <a:solidFill>
                  <a:srgbClr val="595959"/>
                </a:solidFill>
              </a:rPr>
              <a:t>виявлення</a:t>
            </a:r>
            <a:r>
              <a:rPr lang="ru-RU" sz="5400" dirty="0">
                <a:solidFill>
                  <a:srgbClr val="595959"/>
                </a:solidFill>
              </a:rPr>
              <a:t> об</a:t>
            </a:r>
            <a:r>
              <a:rPr lang="en-US" sz="5400" dirty="0">
                <a:solidFill>
                  <a:srgbClr val="595959"/>
                </a:solidFill>
              </a:rPr>
              <a:t>`</a:t>
            </a:r>
            <a:r>
              <a:rPr lang="ru-RU" sz="5400" dirty="0" err="1">
                <a:solidFill>
                  <a:srgbClr val="595959"/>
                </a:solidFill>
              </a:rPr>
              <a:t>єктів</a:t>
            </a:r>
            <a:endParaRPr lang="ru-RU" sz="5400" dirty="0">
              <a:solidFill>
                <a:srgbClr val="595959"/>
              </a:solidFill>
            </a:endParaRPr>
          </a:p>
        </p:txBody>
      </p:sp>
      <p:sp>
        <p:nvSpPr>
          <p:cNvPr id="3" name="Content Placeholder 2"/>
          <p:cNvSpPr>
            <a:spLocks noGrp="1"/>
          </p:cNvSpPr>
          <p:nvPr>
            <p:ph idx="1"/>
          </p:nvPr>
        </p:nvSpPr>
        <p:spPr>
          <a:xfrm>
            <a:off x="0" y="2447337"/>
            <a:ext cx="6096000" cy="3985736"/>
          </a:xfrm>
        </p:spPr>
        <p:txBody>
          <a:bodyPr anchor="t">
            <a:noAutofit/>
          </a:bodyPr>
          <a:lstStyle/>
          <a:p>
            <a:r>
              <a:rPr lang="en-US" sz="3600" dirty="0">
                <a:solidFill>
                  <a:srgbClr val="595959"/>
                </a:solidFill>
              </a:rPr>
              <a:t>Viola-Jones → HOG → DPM → Aggregated Channel Features</a:t>
            </a:r>
          </a:p>
          <a:p>
            <a:r>
              <a:rPr lang="uk-UA" sz="3600" dirty="0">
                <a:solidFill>
                  <a:srgbClr val="595959"/>
                </a:solidFill>
              </a:rPr>
              <a:t>В овалах: </a:t>
            </a:r>
            <a:r>
              <a:rPr lang="en-US" sz="3600" dirty="0">
                <a:solidFill>
                  <a:srgbClr val="595959"/>
                </a:solidFill>
              </a:rPr>
              <a:t> </a:t>
            </a:r>
            <a:r>
              <a:rPr lang="uk-UA" sz="3600" dirty="0">
                <a:solidFill>
                  <a:srgbClr val="595959"/>
                </a:solidFill>
              </a:rPr>
              <a:t>інтегральне представлення, гістограми градієнтів, деформовані частини</a:t>
            </a:r>
          </a:p>
        </p:txBody>
      </p:sp>
      <p:sp>
        <p:nvSpPr>
          <p:cNvPr id="4" name="Місце для номера слайда 3">
            <a:extLst>
              <a:ext uri="{FF2B5EF4-FFF2-40B4-BE49-F238E27FC236}">
                <a16:creationId xmlns:a16="http://schemas.microsoft.com/office/drawing/2014/main" id="{3C169386-49E8-D55A-061D-94FB23EB2146}"/>
              </a:ext>
            </a:extLst>
          </p:cNvPr>
          <p:cNvSpPr>
            <a:spLocks noGrp="1"/>
          </p:cNvSpPr>
          <p:nvPr>
            <p:ph type="sldNum" sz="quarter" idx="12"/>
          </p:nvPr>
        </p:nvSpPr>
        <p:spPr/>
        <p:txBody>
          <a:bodyPr/>
          <a:lstStyle/>
          <a:p>
            <a:fld id="{C1FF6DA9-008F-8B48-92A6-B652298478BF}" type="slidenum">
              <a:rPr lang="en-US" sz="3200" smtClean="0"/>
              <a:t>41</a:t>
            </a:fld>
            <a:endParaRPr lang="en-US" sz="3200" dirty="0"/>
          </a:p>
        </p:txBody>
      </p:sp>
      <p:pic>
        <p:nvPicPr>
          <p:cNvPr id="15" name="Рисунок 14">
            <a:extLst>
              <a:ext uri="{FF2B5EF4-FFF2-40B4-BE49-F238E27FC236}">
                <a16:creationId xmlns:a16="http://schemas.microsoft.com/office/drawing/2014/main" id="{88F91EAA-CE1A-E19F-E6C2-499579797E8A}"/>
              </a:ext>
            </a:extLst>
          </p:cNvPr>
          <p:cNvPicPr>
            <a:picLocks noChangeAspect="1"/>
          </p:cNvPicPr>
          <p:nvPr/>
        </p:nvPicPr>
        <p:blipFill>
          <a:blip r:embed="rId3"/>
          <a:stretch>
            <a:fillRect/>
          </a:stretch>
        </p:blipFill>
        <p:spPr>
          <a:xfrm>
            <a:off x="7306594" y="-188506"/>
            <a:ext cx="3828288" cy="7056757"/>
          </a:xfrm>
          <a:prstGeom prst="rect">
            <a:avLst/>
          </a:prstGeom>
        </p:spPr>
      </p:pic>
    </p:spTree>
    <p:extLst>
      <p:ext uri="{BB962C8B-B14F-4D97-AF65-F5344CB8AC3E}">
        <p14:creationId xmlns:p14="http://schemas.microsoft.com/office/powerpoint/2010/main" val="10643827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94962" y="479493"/>
            <a:ext cx="5458838" cy="1325563"/>
          </a:xfrm>
        </p:spPr>
        <p:txBody>
          <a:bodyPr>
            <a:noAutofit/>
          </a:bodyPr>
          <a:lstStyle/>
          <a:p>
            <a:pPr>
              <a:lnSpc>
                <a:spcPct val="90000"/>
              </a:lnSpc>
            </a:pPr>
            <a:r>
              <a:rPr lang="uk-UA" sz="6000" dirty="0" err="1"/>
              <a:t>Одноетапні</a:t>
            </a:r>
            <a:r>
              <a:rPr lang="uk-UA" sz="6000" dirty="0"/>
              <a:t> </a:t>
            </a:r>
            <a:r>
              <a:rPr lang="en-US" sz="6000" dirty="0"/>
              <a:t>CNN-</a:t>
            </a:r>
            <a:r>
              <a:rPr lang="uk-UA" sz="6000" dirty="0"/>
              <a:t>детектори</a:t>
            </a:r>
            <a:endParaRPr lang="en-US" sz="6000" dirty="0"/>
          </a:p>
        </p:txBody>
      </p:sp>
      <p:sp>
        <p:nvSpPr>
          <p:cNvPr id="3" name="Content Placeholder 2"/>
          <p:cNvSpPr>
            <a:spLocks noGrp="1"/>
          </p:cNvSpPr>
          <p:nvPr>
            <p:ph idx="1"/>
          </p:nvPr>
        </p:nvSpPr>
        <p:spPr>
          <a:xfrm>
            <a:off x="5894962" y="1927291"/>
            <a:ext cx="5458838" cy="4192520"/>
          </a:xfrm>
        </p:spPr>
        <p:txBody>
          <a:bodyPr>
            <a:noAutofit/>
          </a:bodyPr>
          <a:lstStyle/>
          <a:p>
            <a:r>
              <a:rPr lang="en-US" sz="4000" dirty="0"/>
              <a:t>YOLO (2015) → SSD (2015) → </a:t>
            </a:r>
            <a:r>
              <a:rPr lang="en-US" sz="4000" dirty="0" err="1"/>
              <a:t>RetinaNet</a:t>
            </a:r>
            <a:r>
              <a:rPr lang="en-US" sz="4000" dirty="0"/>
              <a:t> (2017) → </a:t>
            </a:r>
            <a:r>
              <a:rPr lang="en-US" sz="4000" dirty="0" err="1"/>
              <a:t>CornerNet</a:t>
            </a:r>
            <a:r>
              <a:rPr lang="en-US" sz="4000" dirty="0"/>
              <a:t> (2018) → </a:t>
            </a:r>
            <a:r>
              <a:rPr lang="en-US" sz="4000" dirty="0" err="1"/>
              <a:t>CenterNet</a:t>
            </a:r>
            <a:r>
              <a:rPr lang="en-US" sz="4000" dirty="0"/>
              <a:t> (2019) → DETR (2020) → Deformable DETR (2021)</a:t>
            </a:r>
          </a:p>
        </p:txBody>
      </p:sp>
      <p:sp>
        <p:nvSpPr>
          <p:cNvPr id="4" name="Місце для номера слайда 3">
            <a:extLst>
              <a:ext uri="{FF2B5EF4-FFF2-40B4-BE49-F238E27FC236}">
                <a16:creationId xmlns:a16="http://schemas.microsoft.com/office/drawing/2014/main" id="{F3FD0322-2A63-5C2A-87DF-F0CA8EB93180}"/>
              </a:ext>
            </a:extLst>
          </p:cNvPr>
          <p:cNvSpPr>
            <a:spLocks noGrp="1"/>
          </p:cNvSpPr>
          <p:nvPr>
            <p:ph type="sldNum" sz="quarter" idx="12"/>
          </p:nvPr>
        </p:nvSpPr>
        <p:spPr/>
        <p:txBody>
          <a:bodyPr/>
          <a:lstStyle/>
          <a:p>
            <a:fld id="{C1FF6DA9-008F-8B48-92A6-B652298478BF}" type="slidenum">
              <a:rPr lang="en-US" sz="3200" smtClean="0"/>
              <a:t>42</a:t>
            </a:fld>
            <a:endParaRPr lang="en-US" sz="3200" dirty="0"/>
          </a:p>
        </p:txBody>
      </p:sp>
      <p:pic>
        <p:nvPicPr>
          <p:cNvPr id="6" name="Рисунок 5">
            <a:extLst>
              <a:ext uri="{FF2B5EF4-FFF2-40B4-BE49-F238E27FC236}">
                <a16:creationId xmlns:a16="http://schemas.microsoft.com/office/drawing/2014/main" id="{511EAC47-C170-9C1D-2C39-EC7938E37E3F}"/>
              </a:ext>
            </a:extLst>
          </p:cNvPr>
          <p:cNvPicPr>
            <a:picLocks noChangeAspect="1"/>
          </p:cNvPicPr>
          <p:nvPr/>
        </p:nvPicPr>
        <p:blipFill>
          <a:blip r:embed="rId3"/>
          <a:stretch>
            <a:fillRect/>
          </a:stretch>
        </p:blipFill>
        <p:spPr>
          <a:xfrm>
            <a:off x="0" y="13597"/>
            <a:ext cx="4885765" cy="693016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1767975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152619" y="13597"/>
            <a:ext cx="7039381" cy="1970846"/>
          </a:xfrm>
        </p:spPr>
        <p:txBody>
          <a:bodyPr>
            <a:noAutofit/>
          </a:bodyPr>
          <a:lstStyle/>
          <a:p>
            <a:pPr>
              <a:lnSpc>
                <a:spcPct val="90000"/>
              </a:lnSpc>
            </a:pPr>
            <a:r>
              <a:rPr sz="5400" dirty="0"/>
              <a:t>Двоетапні </a:t>
            </a:r>
            <a:r>
              <a:rPr sz="5400" dirty="0" err="1"/>
              <a:t>архітектури</a:t>
            </a:r>
            <a:r>
              <a:rPr sz="5400" dirty="0"/>
              <a:t> R-CNN</a:t>
            </a:r>
            <a:endParaRPr lang="en-US" sz="5400" dirty="0"/>
          </a:p>
        </p:txBody>
      </p:sp>
      <p:sp>
        <p:nvSpPr>
          <p:cNvPr id="3" name="Content Placeholder 2"/>
          <p:cNvSpPr>
            <a:spLocks noGrp="1"/>
          </p:cNvSpPr>
          <p:nvPr>
            <p:ph idx="1"/>
          </p:nvPr>
        </p:nvSpPr>
        <p:spPr>
          <a:xfrm>
            <a:off x="5894962" y="1984443"/>
            <a:ext cx="5458838" cy="4192520"/>
          </a:xfrm>
        </p:spPr>
        <p:txBody>
          <a:bodyPr>
            <a:normAutofit/>
          </a:bodyPr>
          <a:lstStyle/>
          <a:p>
            <a:r>
              <a:rPr dirty="0"/>
              <a:t>R-CNN → SPP-Net → Fast R-CNN → Faster R-CNN → Mask R-CNN → Cascade R-CNN</a:t>
            </a:r>
          </a:p>
          <a:p>
            <a:r>
              <a:rPr dirty="0" err="1"/>
              <a:t>Ключові</a:t>
            </a:r>
            <a:r>
              <a:rPr dirty="0"/>
              <a:t> </a:t>
            </a:r>
            <a:r>
              <a:rPr dirty="0" err="1"/>
              <a:t>особливості</a:t>
            </a:r>
            <a:r>
              <a:rPr dirty="0"/>
              <a:t>: ROI pooling, RPN, </a:t>
            </a:r>
            <a:r>
              <a:rPr dirty="0" err="1"/>
              <a:t>багатозадачне</a:t>
            </a:r>
            <a:r>
              <a:rPr dirty="0"/>
              <a:t> </a:t>
            </a:r>
            <a:r>
              <a:rPr dirty="0" err="1"/>
              <a:t>навчання</a:t>
            </a:r>
            <a:r>
              <a:rPr dirty="0"/>
              <a:t>, </a:t>
            </a:r>
            <a:r>
              <a:rPr dirty="0" err="1"/>
              <a:t>сегментація</a:t>
            </a:r>
            <a:endParaRPr dirty="0"/>
          </a:p>
        </p:txBody>
      </p:sp>
      <p:sp>
        <p:nvSpPr>
          <p:cNvPr id="4" name="Місце для номера слайда 3">
            <a:extLst>
              <a:ext uri="{FF2B5EF4-FFF2-40B4-BE49-F238E27FC236}">
                <a16:creationId xmlns:a16="http://schemas.microsoft.com/office/drawing/2014/main" id="{3986E8CE-726D-0767-6BCD-5E6F2ABD47BB}"/>
              </a:ext>
            </a:extLst>
          </p:cNvPr>
          <p:cNvSpPr>
            <a:spLocks noGrp="1"/>
          </p:cNvSpPr>
          <p:nvPr>
            <p:ph type="sldNum" sz="quarter" idx="12"/>
          </p:nvPr>
        </p:nvSpPr>
        <p:spPr/>
        <p:txBody>
          <a:bodyPr/>
          <a:lstStyle/>
          <a:p>
            <a:fld id="{C1FF6DA9-008F-8B48-92A6-B652298478BF}" type="slidenum">
              <a:rPr lang="en-US" sz="3200" smtClean="0"/>
              <a:t>43</a:t>
            </a:fld>
            <a:endParaRPr lang="en-US" sz="3200" dirty="0"/>
          </a:p>
        </p:txBody>
      </p:sp>
      <p:pic>
        <p:nvPicPr>
          <p:cNvPr id="6" name="Рисунок 5">
            <a:extLst>
              <a:ext uri="{FF2B5EF4-FFF2-40B4-BE49-F238E27FC236}">
                <a16:creationId xmlns:a16="http://schemas.microsoft.com/office/drawing/2014/main" id="{DBED8728-CA98-8B59-A3E0-CFD0D6BC28EC}"/>
              </a:ext>
            </a:extLst>
          </p:cNvPr>
          <p:cNvPicPr>
            <a:picLocks noChangeAspect="1"/>
          </p:cNvPicPr>
          <p:nvPr/>
        </p:nvPicPr>
        <p:blipFill>
          <a:blip r:embed="rId3"/>
          <a:stretch>
            <a:fillRect/>
          </a:stretch>
        </p:blipFill>
        <p:spPr>
          <a:xfrm>
            <a:off x="989704" y="-130530"/>
            <a:ext cx="4162915" cy="688085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554877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7292" y="0"/>
            <a:ext cx="12174708" cy="778213"/>
          </a:xfrm>
        </p:spPr>
        <p:txBody>
          <a:bodyPr anchor="t">
            <a:normAutofit/>
          </a:bodyPr>
          <a:lstStyle/>
          <a:p>
            <a:r>
              <a:rPr lang="uk-UA" dirty="0"/>
              <a:t>Методи обчислювального інтелекту</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292" y="683020"/>
                <a:ext cx="12157416" cy="6174979"/>
              </a:xfrm>
            </p:spPr>
            <p:txBody>
              <a:bodyPr anchor="t">
                <a:noAutofit/>
              </a:bodyPr>
              <a:lstStyle/>
              <a:p>
                <a:pPr marL="0" indent="0">
                  <a:buNone/>
                </a:pPr>
                <a:r>
                  <a:rPr lang="en-US" sz="4000" dirty="0"/>
                  <a:t>Bagging (Bootstrap Aggregating): </a:t>
                </a:r>
                <a:r>
                  <a:rPr lang="uk-UA" sz="4000" dirty="0"/>
                  <a:t>усереднення результатів на різних підвибірках – зменшення дисперсії</a:t>
                </a:r>
              </a:p>
              <a:p>
                <a:pPr marL="0" indent="0">
                  <a:buNone/>
                </a:pPr>
                <a:r>
                  <a:rPr lang="en-US" sz="4000" dirty="0"/>
                  <a:t>Boosting: </a:t>
                </a:r>
                <a:r>
                  <a:rPr lang="uk-UA" sz="4000" dirty="0"/>
                  <a:t>послідовне виправлення помилок попередніх моделей – зменшення зміщення</a:t>
                </a:r>
              </a:p>
              <a:p>
                <a:pPr marL="0" indent="0">
                  <a:buNone/>
                </a:pPr>
                <a:r>
                  <a:rPr lang="uk-UA" sz="4000" dirty="0"/>
                  <a:t>Формули: </a:t>
                </a:r>
                <a:endParaRPr lang="en-US" sz="4000" dirty="0"/>
              </a:p>
              <a:p>
                <a:pPr marL="0" indent="0" algn="ctr">
                  <a:buNone/>
                </a:pPr>
                <a14:m>
                  <m:oMath xmlns:m="http://schemas.openxmlformats.org/officeDocument/2006/math">
                    <m:r>
                      <a:rPr lang="uk-UA" sz="4000" i="1">
                        <a:latin typeface="Cambria Math" panose="02040503050406030204" pitchFamily="18" charset="0"/>
                      </a:rPr>
                      <m:t>𝑦</m:t>
                    </m:r>
                    <m:sSub>
                      <m:sSubPr>
                        <m:ctrlPr>
                          <a:rPr lang="ar-AE" sz="4000" i="1">
                            <a:latin typeface="Cambria Math" panose="02040503050406030204" pitchFamily="18" charset="0"/>
                          </a:rPr>
                        </m:ctrlPr>
                      </m:sSubPr>
                      <m:e>
                        <m:r>
                          <a:rPr lang="ar-AE" sz="4000" i="1">
                            <a:latin typeface="Cambria Math" panose="02040503050406030204" pitchFamily="18" charset="0"/>
                          </a:rPr>
                          <m:t>̂</m:t>
                        </m:r>
                      </m:e>
                      <m:sub>
                        <m:r>
                          <a:rPr lang="ar-AE" sz="4000" i="1">
                            <a:latin typeface="Cambria Math" panose="02040503050406030204" pitchFamily="18" charset="0"/>
                          </a:rPr>
                          <m:t>𝑏𝑎𝑔</m:t>
                        </m:r>
                      </m:sub>
                    </m:sSub>
                    <m:r>
                      <a:rPr lang="ar-AE" sz="4000" i="1">
                        <a:latin typeface="Cambria Math" panose="02040503050406030204" pitchFamily="18" charset="0"/>
                      </a:rPr>
                      <m:t>=</m:t>
                    </m:r>
                    <m:d>
                      <m:dPr>
                        <m:ctrlPr>
                          <a:rPr lang="ar-AE" sz="4000" i="1">
                            <a:latin typeface="Cambria Math" panose="02040503050406030204" pitchFamily="18" charset="0"/>
                          </a:rPr>
                        </m:ctrlPr>
                      </m:dPr>
                      <m:e>
                        <m:r>
                          <a:rPr lang="ar-AE" sz="4000" i="1">
                            <a:latin typeface="Cambria Math" panose="02040503050406030204" pitchFamily="18" charset="0"/>
                          </a:rPr>
                          <m:t>1</m:t>
                        </m:r>
                        <m:r>
                          <m:rPr>
                            <m:lit/>
                          </m:rPr>
                          <a:rPr lang="ar-AE" sz="4000" i="1">
                            <a:latin typeface="Cambria Math" panose="02040503050406030204" pitchFamily="18" charset="0"/>
                          </a:rPr>
                          <m:t>/</m:t>
                        </m:r>
                        <m:r>
                          <a:rPr lang="ar-AE" sz="4000" i="1">
                            <a:latin typeface="Cambria Math" panose="02040503050406030204" pitchFamily="18" charset="0"/>
                          </a:rPr>
                          <m:t>𝑀</m:t>
                        </m:r>
                      </m:e>
                    </m:d>
                    <m:nary>
                      <m:naryPr>
                        <m:chr m:val="∑"/>
                        <m:subHide m:val="on"/>
                        <m:supHide m:val="on"/>
                        <m:ctrlPr>
                          <a:rPr lang="ar-AE" sz="4000" i="1">
                            <a:latin typeface="Cambria Math" panose="02040503050406030204" pitchFamily="18" charset="0"/>
                          </a:rPr>
                        </m:ctrlPr>
                      </m:naryPr>
                      <m:sub/>
                      <m:sup/>
                      <m:e>
                        <m:sSub>
                          <m:sSubPr>
                            <m:ctrlPr>
                              <a:rPr lang="ar-AE" sz="4000" i="1">
                                <a:latin typeface="Cambria Math" panose="02040503050406030204" pitchFamily="18" charset="0"/>
                              </a:rPr>
                            </m:ctrlPr>
                          </m:sSubPr>
                          <m:e>
                            <m:r>
                              <a:rPr lang="ar-AE" sz="4000" i="1">
                                <a:latin typeface="Cambria Math" panose="02040503050406030204" pitchFamily="18" charset="0"/>
                              </a:rPr>
                              <m:t>𝑓</m:t>
                            </m:r>
                          </m:e>
                          <m:sub>
                            <m:r>
                              <a:rPr lang="ar-AE" sz="4000" i="1">
                                <a:latin typeface="Cambria Math" panose="02040503050406030204" pitchFamily="18" charset="0"/>
                              </a:rPr>
                              <m:t>𝑖</m:t>
                            </m:r>
                          </m:sub>
                        </m:sSub>
                        <m:d>
                          <m:dPr>
                            <m:ctrlPr>
                              <a:rPr lang="ar-AE" sz="4000" i="1">
                                <a:latin typeface="Cambria Math" panose="02040503050406030204" pitchFamily="18" charset="0"/>
                              </a:rPr>
                            </m:ctrlPr>
                          </m:dPr>
                          <m:e>
                            <m:r>
                              <a:rPr lang="ar-AE" sz="4000" i="1">
                                <a:latin typeface="Cambria Math" panose="02040503050406030204" pitchFamily="18" charset="0"/>
                              </a:rPr>
                              <m:t>𝑥</m:t>
                            </m:r>
                          </m:e>
                        </m:d>
                      </m:e>
                    </m:nary>
                  </m:oMath>
                </a14:m>
                <a:r>
                  <a:rPr lang="ar-AE" sz="4000" dirty="0"/>
                  <a:t>,</a:t>
                </a:r>
                <a:endParaRPr lang="en-US" sz="4000" dirty="0"/>
              </a:p>
              <a:p>
                <a:pPr marL="0" indent="0" algn="ctr">
                  <a:buNone/>
                </a:pPr>
                <a14:m>
                  <m:oMath xmlns:m="http://schemas.openxmlformats.org/officeDocument/2006/math">
                    <m:r>
                      <a:rPr lang="ar-AE" sz="4000" i="1">
                        <a:latin typeface="Cambria Math" panose="02040503050406030204" pitchFamily="18" charset="0"/>
                      </a:rPr>
                      <m:t>𝑦</m:t>
                    </m:r>
                    <m:sSub>
                      <m:sSubPr>
                        <m:ctrlPr>
                          <a:rPr lang="ar-AE" sz="4000" i="1">
                            <a:latin typeface="Cambria Math" panose="02040503050406030204" pitchFamily="18" charset="0"/>
                          </a:rPr>
                        </m:ctrlPr>
                      </m:sSubPr>
                      <m:e>
                        <m:r>
                          <a:rPr lang="ar-AE" sz="4000" i="1">
                            <a:latin typeface="Cambria Math" panose="02040503050406030204" pitchFamily="18" charset="0"/>
                          </a:rPr>
                          <m:t>̂</m:t>
                        </m:r>
                      </m:e>
                      <m:sub>
                        <m:r>
                          <a:rPr lang="ar-AE" sz="4000" i="1">
                            <a:latin typeface="Cambria Math" panose="02040503050406030204" pitchFamily="18" charset="0"/>
                          </a:rPr>
                          <m:t>𝑏𝑜𝑜𝑠𝑡</m:t>
                        </m:r>
                      </m:sub>
                    </m:sSub>
                    <m:r>
                      <a:rPr lang="ar-AE" sz="4000" i="1">
                        <a:latin typeface="Cambria Math" panose="02040503050406030204" pitchFamily="18" charset="0"/>
                      </a:rPr>
                      <m:t>=</m:t>
                    </m:r>
                    <m:nary>
                      <m:naryPr>
                        <m:chr m:val="∑"/>
                        <m:subHide m:val="on"/>
                        <m:supHide m:val="on"/>
                        <m:ctrlPr>
                          <a:rPr lang="ar-AE" sz="4000" i="1">
                            <a:latin typeface="Cambria Math" panose="02040503050406030204" pitchFamily="18" charset="0"/>
                          </a:rPr>
                        </m:ctrlPr>
                      </m:naryPr>
                      <m:sub/>
                      <m:sup/>
                      <m:e>
                        <m:sSub>
                          <m:sSubPr>
                            <m:ctrlPr>
                              <a:rPr lang="ar-AE" sz="4000" i="1">
                                <a:latin typeface="Cambria Math" panose="02040503050406030204" pitchFamily="18" charset="0"/>
                              </a:rPr>
                            </m:ctrlPr>
                          </m:sSubPr>
                          <m:e>
                            <m:r>
                              <a:rPr lang="ar-AE" sz="4000" i="1">
                                <a:latin typeface="Cambria Math" panose="02040503050406030204" pitchFamily="18" charset="0"/>
                              </a:rPr>
                              <m:t>𝛼</m:t>
                            </m:r>
                          </m:e>
                          <m:sub>
                            <m:r>
                              <a:rPr lang="ar-AE" sz="4000" i="1">
                                <a:latin typeface="Cambria Math" panose="02040503050406030204" pitchFamily="18" charset="0"/>
                              </a:rPr>
                              <m:t>𝑖</m:t>
                            </m:r>
                          </m:sub>
                        </m:sSub>
                        <m:sSub>
                          <m:sSubPr>
                            <m:ctrlPr>
                              <a:rPr lang="ar-AE" sz="4000" i="1">
                                <a:latin typeface="Cambria Math" panose="02040503050406030204" pitchFamily="18" charset="0"/>
                              </a:rPr>
                            </m:ctrlPr>
                          </m:sSubPr>
                          <m:e>
                            <m:r>
                              <a:rPr lang="ar-AE" sz="4000" i="1">
                                <a:latin typeface="Cambria Math" panose="02040503050406030204" pitchFamily="18" charset="0"/>
                              </a:rPr>
                              <m:t>𝑓</m:t>
                            </m:r>
                          </m:e>
                          <m:sub>
                            <m:r>
                              <a:rPr lang="ar-AE" sz="4000" i="1">
                                <a:latin typeface="Cambria Math" panose="02040503050406030204" pitchFamily="18" charset="0"/>
                              </a:rPr>
                              <m:t>𝑖</m:t>
                            </m:r>
                          </m:sub>
                        </m:sSub>
                        <m:d>
                          <m:dPr>
                            <m:ctrlPr>
                              <a:rPr lang="ar-AE" sz="4000" i="1">
                                <a:latin typeface="Cambria Math" panose="02040503050406030204" pitchFamily="18" charset="0"/>
                              </a:rPr>
                            </m:ctrlPr>
                          </m:dPr>
                          <m:e>
                            <m:r>
                              <a:rPr lang="ar-AE" sz="4000" i="1">
                                <a:latin typeface="Cambria Math" panose="02040503050406030204" pitchFamily="18" charset="0"/>
                              </a:rPr>
                              <m:t>𝑥</m:t>
                            </m:r>
                          </m:e>
                        </m:d>
                      </m:e>
                    </m:nary>
                  </m:oMath>
                </a14:m>
                <a:r>
                  <a:rPr lang="ar-AE" sz="4000" dirty="0"/>
                  <a:t>,</a:t>
                </a:r>
                <a:endParaRPr lang="en-US" sz="4000" dirty="0"/>
              </a:p>
              <a:p>
                <a:pPr marL="0" indent="0" algn="ctr">
                  <a:buNone/>
                </a:pPr>
                <a14:m>
                  <m:oMathPara xmlns:m="http://schemas.openxmlformats.org/officeDocument/2006/math">
                    <m:oMathParaPr>
                      <m:jc m:val="centerGroup"/>
                    </m:oMathParaPr>
                    <m:oMath xmlns:m="http://schemas.openxmlformats.org/officeDocument/2006/math">
                      <m:sSub>
                        <m:sSubPr>
                          <m:ctrlPr>
                            <a:rPr lang="ar-AE" sz="4000" i="1">
                              <a:latin typeface="Cambria Math" panose="02040503050406030204" pitchFamily="18" charset="0"/>
                            </a:rPr>
                          </m:ctrlPr>
                        </m:sSubPr>
                        <m:e>
                          <m:r>
                            <a:rPr lang="ar-AE" sz="4000" i="1">
                              <a:latin typeface="Cambria Math" panose="02040503050406030204" pitchFamily="18" charset="0"/>
                            </a:rPr>
                            <m:t>𝛼</m:t>
                          </m:r>
                        </m:e>
                        <m:sub>
                          <m:r>
                            <a:rPr lang="ar-AE" sz="4000" i="1">
                              <a:latin typeface="Cambria Math" panose="02040503050406030204" pitchFamily="18" charset="0"/>
                            </a:rPr>
                            <m:t>𝑖</m:t>
                          </m:r>
                        </m:sub>
                      </m:sSub>
                      <m:r>
                        <a:rPr lang="ar-AE" sz="4000" i="1">
                          <a:latin typeface="Cambria Math" panose="02040503050406030204" pitchFamily="18" charset="0"/>
                        </a:rPr>
                        <m:t>=½</m:t>
                      </m:r>
                      <m:r>
                        <a:rPr lang="ar-AE" sz="4000" i="1">
                          <a:latin typeface="Cambria Math" panose="02040503050406030204" pitchFamily="18" charset="0"/>
                        </a:rPr>
                        <m:t>𝑙</m:t>
                      </m:r>
                      <m:func>
                        <m:funcPr>
                          <m:ctrlPr>
                            <a:rPr lang="ar-AE" sz="4000" i="1">
                              <a:latin typeface="Cambria Math" panose="02040503050406030204" pitchFamily="18" charset="0"/>
                            </a:rPr>
                          </m:ctrlPr>
                        </m:funcPr>
                        <m:fName>
                          <m:r>
                            <a:rPr lang="ar-AE" sz="4000" i="1">
                              <a:latin typeface="Cambria Math" panose="02040503050406030204" pitchFamily="18" charset="0"/>
                            </a:rPr>
                            <m:t>𝑛</m:t>
                          </m:r>
                        </m:fName>
                        <m:e>
                          <m:d>
                            <m:dPr>
                              <m:ctrlPr>
                                <a:rPr lang="ar-AE" sz="4000" i="1">
                                  <a:latin typeface="Cambria Math" panose="02040503050406030204" pitchFamily="18" charset="0"/>
                                </a:rPr>
                              </m:ctrlPr>
                            </m:dPr>
                            <m:e>
                              <m:d>
                                <m:dPr>
                                  <m:ctrlPr>
                                    <a:rPr lang="ar-AE" sz="4000" i="1">
                                      <a:latin typeface="Cambria Math" panose="02040503050406030204" pitchFamily="18" charset="0"/>
                                    </a:rPr>
                                  </m:ctrlPr>
                                </m:dPr>
                                <m:e>
                                  <m:r>
                                    <a:rPr lang="ar-AE" sz="4000" i="1">
                                      <a:latin typeface="Cambria Math" panose="02040503050406030204" pitchFamily="18" charset="0"/>
                                    </a:rPr>
                                    <m:t>1</m:t>
                                  </m:r>
                                  <m:r>
                                    <a:rPr lang="ar-AE" sz="4000" i="1">
                                      <a:latin typeface="Cambria Math" panose="02040503050406030204" pitchFamily="18" charset="0"/>
                                    </a:rPr>
                                    <m:t>−</m:t>
                                  </m:r>
                                  <m:sSub>
                                    <m:sSubPr>
                                      <m:ctrlPr>
                                        <a:rPr lang="ar-AE" sz="4000" i="1">
                                          <a:latin typeface="Cambria Math" panose="02040503050406030204" pitchFamily="18" charset="0"/>
                                        </a:rPr>
                                      </m:ctrlPr>
                                    </m:sSubPr>
                                    <m:e>
                                      <m:r>
                                        <a:rPr lang="ar-AE" sz="4000" i="1">
                                          <a:latin typeface="Cambria Math" panose="02040503050406030204" pitchFamily="18" charset="0"/>
                                        </a:rPr>
                                        <m:t>𝜀</m:t>
                                      </m:r>
                                    </m:e>
                                    <m:sub>
                                      <m:r>
                                        <a:rPr lang="ar-AE" sz="4000" i="1">
                                          <a:latin typeface="Cambria Math" panose="02040503050406030204" pitchFamily="18" charset="0"/>
                                        </a:rPr>
                                        <m:t>𝑖</m:t>
                                      </m:r>
                                    </m:sub>
                                  </m:sSub>
                                </m:e>
                              </m:d>
                              <m:r>
                                <m:rPr>
                                  <m:lit/>
                                </m:rPr>
                                <a:rPr lang="ar-AE" sz="4000" i="1">
                                  <a:latin typeface="Cambria Math" panose="02040503050406030204" pitchFamily="18" charset="0"/>
                                </a:rPr>
                                <m:t>/</m:t>
                              </m:r>
                              <m:sSub>
                                <m:sSubPr>
                                  <m:ctrlPr>
                                    <a:rPr lang="ar-AE" sz="4000" i="1">
                                      <a:latin typeface="Cambria Math" panose="02040503050406030204" pitchFamily="18" charset="0"/>
                                    </a:rPr>
                                  </m:ctrlPr>
                                </m:sSubPr>
                                <m:e>
                                  <m:r>
                                    <a:rPr lang="ar-AE" sz="4000" i="1">
                                      <a:latin typeface="Cambria Math" panose="02040503050406030204" pitchFamily="18" charset="0"/>
                                    </a:rPr>
                                    <m:t>𝜀</m:t>
                                  </m:r>
                                </m:e>
                                <m:sub>
                                  <m:r>
                                    <a:rPr lang="ar-AE" sz="4000" i="1">
                                      <a:latin typeface="Cambria Math" panose="02040503050406030204" pitchFamily="18" charset="0"/>
                                    </a:rPr>
                                    <m:t>𝑖</m:t>
                                  </m:r>
                                </m:sub>
                              </m:sSub>
                            </m:e>
                          </m:d>
                        </m:e>
                      </m:func>
                    </m:oMath>
                  </m:oMathPara>
                </a14:m>
                <a:endParaRPr lang="ar-AE" sz="4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292" y="683020"/>
                <a:ext cx="12157416" cy="6174979"/>
              </a:xfrm>
              <a:blipFill>
                <a:blip r:embed="rId3"/>
                <a:stretch>
                  <a:fillRect l="-1805" t="-1777"/>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11BABBE8-5D37-4332-A90C-E2B01630412B}"/>
              </a:ext>
            </a:extLst>
          </p:cNvPr>
          <p:cNvSpPr>
            <a:spLocks noGrp="1"/>
          </p:cNvSpPr>
          <p:nvPr>
            <p:ph type="sldNum" sz="quarter" idx="12"/>
          </p:nvPr>
        </p:nvSpPr>
        <p:spPr/>
        <p:txBody>
          <a:bodyPr/>
          <a:lstStyle/>
          <a:p>
            <a:fld id="{C1FF6DA9-008F-8B48-92A6-B652298478BF}" type="slidenum">
              <a:rPr lang="en-US" smtClean="0"/>
              <a:t>44</a:t>
            </a:fld>
            <a:endParaRPr lang="en-US" dirty="0"/>
          </a:p>
        </p:txBody>
      </p:sp>
      <p:sp>
        <p:nvSpPr>
          <p:cNvPr id="5" name="TextBox 4">
            <a:extLst>
              <a:ext uri="{FF2B5EF4-FFF2-40B4-BE49-F238E27FC236}">
                <a16:creationId xmlns:a16="http://schemas.microsoft.com/office/drawing/2014/main" id="{7B6D63A5-46BC-BEA4-4D36-D59F56BED692}"/>
              </a:ext>
            </a:extLst>
          </p:cNvPr>
          <p:cNvSpPr txBox="1"/>
          <p:nvPr/>
        </p:nvSpPr>
        <p:spPr>
          <a:xfrm>
            <a:off x="645459" y="4582758"/>
            <a:ext cx="4066390" cy="1846659"/>
          </a:xfrm>
          <a:prstGeom prst="rect">
            <a:avLst/>
          </a:prstGeom>
          <a:noFill/>
        </p:spPr>
        <p:txBody>
          <a:bodyPr wrap="square" rtlCol="0">
            <a:spAutoFit/>
          </a:bodyPr>
          <a:lstStyle/>
          <a:p>
            <a:r>
              <a:rPr lang="uk-UA" sz="3200" dirty="0">
                <a:solidFill>
                  <a:schemeClr val="bg1"/>
                </a:solidFill>
              </a:rPr>
              <a:t>У роботі адаптовано для оцінки глибини та оптичного потоку</a:t>
            </a:r>
          </a:p>
          <a:p>
            <a:endParaRPr lang="en-US" dirty="0"/>
          </a:p>
        </p:txBody>
      </p:sp>
    </p:spTree>
    <p:extLst>
      <p:ext uri="{BB962C8B-B14F-4D97-AF65-F5344CB8AC3E}">
        <p14:creationId xmlns:p14="http://schemas.microsoft.com/office/powerpoint/2010/main" val="1629147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178564" y="106994"/>
            <a:ext cx="9833548" cy="578003"/>
          </a:xfrm>
        </p:spPr>
        <p:txBody>
          <a:bodyPr anchor="b">
            <a:normAutofit fontScale="90000"/>
          </a:bodyPr>
          <a:lstStyle/>
          <a:p>
            <a:r>
              <a:rPr lang="uk-UA" sz="3600" dirty="0" err="1">
                <a:solidFill>
                  <a:schemeClr val="tx2"/>
                </a:solidFill>
              </a:rPr>
              <a:t>Нейромережеві</a:t>
            </a:r>
            <a:r>
              <a:rPr lang="uk-UA" sz="3600" dirty="0">
                <a:solidFill>
                  <a:schemeClr val="tx2"/>
                </a:solidFill>
              </a:rPr>
              <a:t> моделі аналізу руху</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1213" y="729303"/>
                <a:ext cx="12488162" cy="5507916"/>
              </a:xfrm>
            </p:spPr>
            <p:txBody>
              <a:bodyPr>
                <a:noAutofit/>
              </a:bodyPr>
              <a:lstStyle/>
              <a:p>
                <a:r>
                  <a:rPr lang="en-US" sz="2800" dirty="0" err="1">
                    <a:solidFill>
                      <a:schemeClr val="tx2"/>
                    </a:solidFill>
                  </a:rPr>
                  <a:t>FlowNet</a:t>
                </a:r>
                <a:r>
                  <a:rPr lang="en-US" sz="2800" dirty="0">
                    <a:solidFill>
                      <a:schemeClr val="tx2"/>
                    </a:solidFill>
                  </a:rPr>
                  <a:t>: </a:t>
                </a:r>
                <a:r>
                  <a:rPr lang="uk-UA" sz="2800" dirty="0" err="1">
                    <a:solidFill>
                      <a:schemeClr val="tx2"/>
                    </a:solidFill>
                  </a:rPr>
                  <a:t>енкодер</a:t>
                </a:r>
                <a:r>
                  <a:rPr lang="uk-UA" sz="2800" dirty="0">
                    <a:solidFill>
                      <a:schemeClr val="tx2"/>
                    </a:solidFill>
                  </a:rPr>
                  <a:t>-декодер, втрата </a:t>
                </a:r>
                <a14:m>
                  <m:oMath xmlns:m="http://schemas.openxmlformats.org/officeDocument/2006/math">
                    <m:r>
                      <a:rPr lang="uk-UA" sz="2800" i="1">
                        <a:solidFill>
                          <a:schemeClr val="tx2"/>
                        </a:solidFill>
                        <a:latin typeface="Cambria Math" panose="02040503050406030204" pitchFamily="18" charset="0"/>
                      </a:rPr>
                      <m:t>𝐸𝑃𝐸</m:t>
                    </m:r>
                    <m:d>
                      <m:dPr>
                        <m:ctrlPr>
                          <a:rPr lang="ar-AE" sz="2800" i="1">
                            <a:solidFill>
                              <a:schemeClr val="tx2"/>
                            </a:solidFill>
                            <a:latin typeface="Cambria Math" panose="02040503050406030204" pitchFamily="18" charset="0"/>
                          </a:rPr>
                        </m:ctrlPr>
                      </m:dPr>
                      <m:e>
                        <m:r>
                          <a:rPr lang="ar-AE" sz="2800" i="1">
                            <a:solidFill>
                              <a:schemeClr val="tx2"/>
                            </a:solidFill>
                            <a:latin typeface="Cambria Math" panose="02040503050406030204" pitchFamily="18" charset="0"/>
                          </a:rPr>
                          <m:t>1</m:t>
                        </m:r>
                        <m:r>
                          <m:rPr>
                            <m:lit/>
                          </m:rPr>
                          <a:rPr lang="ar-AE" sz="2800" i="1">
                            <a:solidFill>
                              <a:schemeClr val="tx2"/>
                            </a:solidFill>
                            <a:latin typeface="Cambria Math" panose="02040503050406030204" pitchFamily="18" charset="0"/>
                          </a:rPr>
                          <m:t>/</m:t>
                        </m:r>
                        <m:r>
                          <a:rPr lang="ar-AE" sz="2800" i="1">
                            <a:solidFill>
                              <a:schemeClr val="tx2"/>
                            </a:solidFill>
                            <a:latin typeface="Cambria Math" panose="02040503050406030204" pitchFamily="18" charset="0"/>
                          </a:rPr>
                          <m:t>𝑁</m:t>
                        </m:r>
                      </m:e>
                    </m:d>
                    <m:r>
                      <a:rPr lang="ar-AE" sz="2800" i="1">
                        <a:solidFill>
                          <a:schemeClr val="tx2"/>
                        </a:solidFill>
                        <a:latin typeface="Cambria Math" panose="02040503050406030204" pitchFamily="18" charset="0"/>
                      </a:rPr>
                      <m:t>=∑</m:t>
                    </m:r>
                    <m:sSup>
                      <m:sSupPr>
                        <m:ctrlPr>
                          <a:rPr lang="ar-AE" sz="2800" i="1">
                            <a:solidFill>
                              <a:schemeClr val="tx2"/>
                            </a:solidFill>
                            <a:latin typeface="Cambria Math" panose="02040503050406030204" pitchFamily="18" charset="0"/>
                          </a:rPr>
                        </m:ctrlPr>
                      </m:sSupPr>
                      <m:e>
                        <m:d>
                          <m:dPr>
                            <m:begChr m:val="‖"/>
                            <m:endChr m:val="‖"/>
                            <m:ctrlPr>
                              <a:rPr lang="ar-AE" sz="2800" i="1">
                                <a:solidFill>
                                  <a:schemeClr val="tx2"/>
                                </a:solidFill>
                                <a:latin typeface="Cambria Math" panose="02040503050406030204" pitchFamily="18" charset="0"/>
                              </a:rPr>
                            </m:ctrlPr>
                          </m:dPr>
                          <m:e>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𝐹</m:t>
                                </m:r>
                              </m:e>
                              <m:sub>
                                <m:r>
                                  <a:rPr lang="ar-AE" sz="2800" i="1">
                                    <a:solidFill>
                                      <a:schemeClr val="tx2"/>
                                    </a:solidFill>
                                    <a:latin typeface="Cambria Math" panose="02040503050406030204" pitchFamily="18" charset="0"/>
                                  </a:rPr>
                                  <m:t>𝑝𝑟𝑒𝑑</m:t>
                                </m:r>
                              </m:sub>
                            </m:sSub>
                            <m:r>
                              <a:rPr lang="ar-AE" sz="2800" i="1">
                                <a:solidFill>
                                  <a:schemeClr val="tx2"/>
                                </a:solidFill>
                                <a:latin typeface="Cambria Math" panose="02040503050406030204" pitchFamily="18" charset="0"/>
                              </a:rPr>
                              <m:t>−</m:t>
                            </m:r>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𝐹</m:t>
                                </m:r>
                              </m:e>
                              <m:sub>
                                <m:r>
                                  <a:rPr lang="ar-AE" sz="2800" i="1">
                                    <a:solidFill>
                                      <a:schemeClr val="tx2"/>
                                    </a:solidFill>
                                    <a:latin typeface="Cambria Math" panose="02040503050406030204" pitchFamily="18" charset="0"/>
                                  </a:rPr>
                                  <m:t>𝑔𝑡</m:t>
                                </m:r>
                              </m:sub>
                            </m:sSub>
                          </m:e>
                        </m:d>
                      </m:e>
                      <m:sup>
                        <m:r>
                          <a:rPr lang="ar-AE" sz="2800" i="1">
                            <a:solidFill>
                              <a:schemeClr val="tx2"/>
                            </a:solidFill>
                            <a:latin typeface="Cambria Math" panose="02040503050406030204" pitchFamily="18" charset="0"/>
                          </a:rPr>
                          <m:t>2</m:t>
                        </m:r>
                      </m:sup>
                    </m:sSup>
                  </m:oMath>
                </a14:m>
                <a:endParaRPr lang="ar-AE" sz="2800" dirty="0">
                  <a:solidFill>
                    <a:schemeClr val="tx2"/>
                  </a:solidFill>
                </a:endParaRPr>
              </a:p>
              <a:p>
                <a:r>
                  <a:rPr lang="en-US" sz="2800" dirty="0">
                    <a:solidFill>
                      <a:schemeClr val="tx2"/>
                    </a:solidFill>
                  </a:rPr>
                  <a:t>RAFT: </a:t>
                </a:r>
                <a:r>
                  <a:rPr lang="uk-UA" sz="2800" dirty="0">
                    <a:solidFill>
                      <a:schemeClr val="tx2"/>
                    </a:solidFill>
                  </a:rPr>
                  <a:t>кореляційний об'єм </a:t>
                </a:r>
                <a14:m>
                  <m:oMath xmlns:m="http://schemas.openxmlformats.org/officeDocument/2006/math">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𝐶</m:t>
                        </m:r>
                      </m:e>
                      <m:sub>
                        <m:r>
                          <a:rPr lang="ar-AE" sz="2800" i="1">
                            <a:solidFill>
                              <a:schemeClr val="tx2"/>
                            </a:solidFill>
                            <a:latin typeface="Cambria Math" panose="02040503050406030204" pitchFamily="18" charset="0"/>
                          </a:rPr>
                          <m:t>𝑖𝑗𝑘𝑙</m:t>
                        </m:r>
                      </m:sub>
                    </m:sSub>
                    <m:r>
                      <a:rPr lang="ar-AE" sz="2800" i="1">
                        <a:solidFill>
                          <a:schemeClr val="tx2"/>
                        </a:solidFill>
                        <a:latin typeface="Cambria Math" panose="02040503050406030204" pitchFamily="18" charset="0"/>
                      </a:rPr>
                      <m:t>=</m:t>
                    </m:r>
                    <m:d>
                      <m:dPr>
                        <m:ctrlPr>
                          <a:rPr lang="ar-AE" sz="2800" i="1">
                            <a:solidFill>
                              <a:schemeClr val="tx2"/>
                            </a:solidFill>
                            <a:latin typeface="Cambria Math" panose="02040503050406030204" pitchFamily="18" charset="0"/>
                          </a:rPr>
                        </m:ctrlPr>
                      </m:dPr>
                      <m:e>
                        <m:r>
                          <a:rPr lang="ar-AE" sz="2800" i="1">
                            <a:solidFill>
                              <a:schemeClr val="tx2"/>
                            </a:solidFill>
                            <a:latin typeface="Cambria Math" panose="02040503050406030204" pitchFamily="18" charset="0"/>
                          </a:rPr>
                          <m:t>1</m:t>
                        </m:r>
                        <m:r>
                          <m:rPr>
                            <m:lit/>
                          </m:rPr>
                          <a:rPr lang="ar-AE" sz="2800" i="1">
                            <a:solidFill>
                              <a:schemeClr val="tx2"/>
                            </a:solidFill>
                            <a:latin typeface="Cambria Math" panose="02040503050406030204" pitchFamily="18" charset="0"/>
                          </a:rPr>
                          <m:t>/</m:t>
                        </m:r>
                        <m:rad>
                          <m:radPr>
                            <m:degHide m:val="on"/>
                            <m:ctrlPr>
                              <a:rPr lang="ar-AE" sz="2800" i="1">
                                <a:solidFill>
                                  <a:schemeClr val="tx2"/>
                                </a:solidFill>
                                <a:latin typeface="Cambria Math" panose="02040503050406030204" pitchFamily="18" charset="0"/>
                              </a:rPr>
                            </m:ctrlPr>
                          </m:radPr>
                          <m:deg/>
                          <m:e>
                            <m:d>
                              <m:dPr>
                                <m:ctrlPr>
                                  <a:rPr lang="ar-AE" sz="2800" i="1">
                                    <a:solidFill>
                                      <a:schemeClr val="tx2"/>
                                    </a:solidFill>
                                    <a:latin typeface="Cambria Math" panose="02040503050406030204" pitchFamily="18" charset="0"/>
                                  </a:rPr>
                                </m:ctrlPr>
                              </m:dPr>
                              <m:e>
                                <m:r>
                                  <a:rPr lang="ar-AE" sz="2800" i="1">
                                    <a:solidFill>
                                      <a:schemeClr val="tx2"/>
                                    </a:solidFill>
                                    <a:latin typeface="Cambria Math" panose="02040503050406030204" pitchFamily="18" charset="0"/>
                                  </a:rPr>
                                  <m:t>𝐻𝑊</m:t>
                                </m:r>
                              </m:e>
                            </m:d>
                          </m:e>
                        </m:rad>
                      </m:e>
                    </m:d>
                    <m:nary>
                      <m:naryPr>
                        <m:chr m:val="∑"/>
                        <m:subHide m:val="on"/>
                        <m:supHide m:val="on"/>
                        <m:ctrlPr>
                          <a:rPr lang="ar-AE" sz="2800" i="1">
                            <a:solidFill>
                              <a:schemeClr val="tx2"/>
                            </a:solidFill>
                            <a:latin typeface="Cambria Math" panose="02040503050406030204" pitchFamily="18" charset="0"/>
                          </a:rPr>
                        </m:ctrlPr>
                      </m:naryPr>
                      <m:sub/>
                      <m:sup/>
                      <m:e>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𝑓</m:t>
                            </m:r>
                          </m:e>
                          <m:sub>
                            <m:r>
                              <a:rPr lang="ar-AE" sz="2800" i="1">
                                <a:solidFill>
                                  <a:schemeClr val="tx2"/>
                                </a:solidFill>
                                <a:latin typeface="Cambria Math" panose="02040503050406030204" pitchFamily="18" charset="0"/>
                              </a:rPr>
                              <m:t>𝑖𝑗</m:t>
                            </m:r>
                            <m:r>
                              <a:rPr lang="ar-AE" sz="2800" i="1">
                                <a:solidFill>
                                  <a:schemeClr val="tx2"/>
                                </a:solidFill>
                                <a:latin typeface="Cambria Math" panose="02040503050406030204" pitchFamily="18" charset="0"/>
                              </a:rPr>
                              <m:t>h</m:t>
                            </m:r>
                            <m:r>
                              <a:rPr lang="ar-AE" sz="2800" i="1">
                                <a:solidFill>
                                  <a:schemeClr val="tx2"/>
                                </a:solidFill>
                                <a:latin typeface="Cambria Math" panose="02040503050406030204" pitchFamily="18" charset="0"/>
                              </a:rPr>
                              <m:t>𝑤</m:t>
                            </m:r>
                          </m:sub>
                        </m:sSub>
                      </m:e>
                    </m:nary>
                    <m:r>
                      <a:rPr lang="ar-AE" sz="2800" i="1">
                        <a:solidFill>
                          <a:schemeClr val="tx2"/>
                        </a:solidFill>
                        <a:latin typeface="Cambria Math" panose="02040503050406030204" pitchFamily="18" charset="0"/>
                      </a:rPr>
                      <m:t>·</m:t>
                    </m:r>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𝑔</m:t>
                        </m:r>
                      </m:e>
                      <m:sub>
                        <m:r>
                          <a:rPr lang="ar-AE" sz="2800" i="1">
                            <a:solidFill>
                              <a:schemeClr val="tx2"/>
                            </a:solidFill>
                            <a:latin typeface="Cambria Math" panose="02040503050406030204" pitchFamily="18" charset="0"/>
                          </a:rPr>
                          <m:t>𝑘𝑙</m:t>
                        </m:r>
                        <m:r>
                          <a:rPr lang="ar-AE" sz="2800" i="1">
                            <a:solidFill>
                              <a:schemeClr val="tx2"/>
                            </a:solidFill>
                            <a:latin typeface="Cambria Math" panose="02040503050406030204" pitchFamily="18" charset="0"/>
                          </a:rPr>
                          <m:t>h</m:t>
                        </m:r>
                        <m:r>
                          <a:rPr lang="ar-AE" sz="2800" i="1">
                            <a:solidFill>
                              <a:schemeClr val="tx2"/>
                            </a:solidFill>
                            <a:latin typeface="Cambria Math" panose="02040503050406030204" pitchFamily="18" charset="0"/>
                          </a:rPr>
                          <m:t>𝑤</m:t>
                        </m:r>
                      </m:sub>
                    </m:sSub>
                  </m:oMath>
                </a14:m>
                <a:r>
                  <a:rPr lang="ar-AE" sz="2800" dirty="0">
                    <a:solidFill>
                      <a:schemeClr val="tx2"/>
                    </a:solidFill>
                  </a:rPr>
                  <a:t>,</a:t>
                </a:r>
                <a:r>
                  <a:rPr lang="en-US" sz="2800" dirty="0">
                    <a:solidFill>
                      <a:schemeClr val="tx2"/>
                    </a:solidFill>
                  </a:rPr>
                  <a:t> Recurrent All-pairs Field Transforms </a:t>
                </a:r>
                <a:r>
                  <a:rPr lang="uk-UA" sz="2800" dirty="0">
                    <a:solidFill>
                      <a:schemeClr val="tx2"/>
                    </a:solidFill>
                  </a:rPr>
                  <a:t>використовує кореляційний об'єм для встановлення </a:t>
                </a:r>
                <a:r>
                  <a:rPr lang="uk-UA" sz="2800" dirty="0" err="1">
                    <a:solidFill>
                      <a:schemeClr val="tx2"/>
                    </a:solidFill>
                  </a:rPr>
                  <a:t>відповідностей</a:t>
                </a:r>
                <a:r>
                  <a:rPr lang="uk-UA" sz="2800" dirty="0">
                    <a:solidFill>
                      <a:schemeClr val="tx2"/>
                    </a:solidFill>
                  </a:rPr>
                  <a:t> між кадрами та рекурентне оновлення поля потоку за допомогою </a:t>
                </a:r>
                <a:r>
                  <a:rPr lang="en-US" sz="2800" dirty="0">
                    <a:solidFill>
                      <a:schemeClr val="tx2"/>
                    </a:solidFill>
                  </a:rPr>
                  <a:t>GRU. </a:t>
                </a:r>
                <a:r>
                  <a:rPr lang="uk-UA" sz="2800" dirty="0">
                    <a:solidFill>
                      <a:schemeClr val="tx2"/>
                    </a:solidFill>
                  </a:rPr>
                  <a:t>Цей метод забезпечує високу точність на великих зміщеннях</a:t>
                </a:r>
              </a:p>
              <a:p>
                <a:r>
                  <a:rPr lang="en-US" sz="2800" dirty="0" err="1">
                    <a:solidFill>
                      <a:schemeClr val="tx2"/>
                    </a:solidFill>
                  </a:rPr>
                  <a:t>GeoNet</a:t>
                </a:r>
                <a:r>
                  <a:rPr lang="en-US" sz="2800" dirty="0">
                    <a:solidFill>
                      <a:schemeClr val="tx2"/>
                    </a:solidFill>
                  </a:rPr>
                  <a:t> </a:t>
                </a:r>
                <a:r>
                  <a:rPr lang="ru-RU" sz="2800" dirty="0" err="1">
                    <a:solidFill>
                      <a:schemeClr val="tx2"/>
                    </a:solidFill>
                  </a:rPr>
                  <a:t>глибока</a:t>
                </a:r>
                <a:r>
                  <a:rPr lang="ru-RU" sz="2800" dirty="0">
                    <a:solidFill>
                      <a:schemeClr val="tx2"/>
                    </a:solidFill>
                  </a:rPr>
                  <a:t> </a:t>
                </a:r>
                <a:r>
                  <a:rPr lang="ru-RU" sz="2800" dirty="0" err="1">
                    <a:solidFill>
                      <a:schemeClr val="tx2"/>
                    </a:solidFill>
                  </a:rPr>
                  <a:t>нейронна</a:t>
                </a:r>
                <a:r>
                  <a:rPr lang="ru-RU" sz="2800" dirty="0">
                    <a:solidFill>
                      <a:schemeClr val="tx2"/>
                    </a:solidFill>
                  </a:rPr>
                  <a:t> </a:t>
                </a:r>
                <a:r>
                  <a:rPr lang="ru-RU" sz="2800" dirty="0" err="1">
                    <a:solidFill>
                      <a:schemeClr val="tx2"/>
                    </a:solidFill>
                  </a:rPr>
                  <a:t>архітектура</a:t>
                </a:r>
                <a:r>
                  <a:rPr lang="ru-RU" sz="2800" dirty="0">
                    <a:solidFill>
                      <a:schemeClr val="tx2"/>
                    </a:solidFill>
                  </a:rPr>
                  <a:t>, яка </a:t>
                </a:r>
                <a:r>
                  <a:rPr lang="ru-RU" sz="2800" dirty="0" err="1">
                    <a:solidFill>
                      <a:schemeClr val="tx2"/>
                    </a:solidFill>
                  </a:rPr>
                  <a:t>поєднує</a:t>
                </a:r>
                <a:r>
                  <a:rPr lang="ru-RU" sz="2800" dirty="0">
                    <a:solidFill>
                      <a:schemeClr val="tx2"/>
                    </a:solidFill>
                  </a:rPr>
                  <a:t> задачу </a:t>
                </a:r>
                <a:r>
                  <a:rPr lang="ru-RU" sz="2800" dirty="0" err="1">
                    <a:solidFill>
                      <a:schemeClr val="tx2"/>
                    </a:solidFill>
                  </a:rPr>
                  <a:t>оцінки</a:t>
                </a:r>
                <a:r>
                  <a:rPr lang="ru-RU" sz="2800" dirty="0">
                    <a:solidFill>
                      <a:schemeClr val="tx2"/>
                    </a:solidFill>
                  </a:rPr>
                  <a:t> </a:t>
                </a:r>
                <a:r>
                  <a:rPr lang="ru-RU" sz="2800" dirty="0" err="1">
                    <a:solidFill>
                      <a:schemeClr val="tx2"/>
                    </a:solidFill>
                  </a:rPr>
                  <a:t>глибини</a:t>
                </a:r>
                <a:r>
                  <a:rPr lang="ru-RU" sz="2800" dirty="0">
                    <a:solidFill>
                      <a:schemeClr val="tx2"/>
                    </a:solidFill>
                  </a:rPr>
                  <a:t> з задачею </a:t>
                </a:r>
                <a:r>
                  <a:rPr lang="ru-RU" sz="2800" dirty="0" err="1">
                    <a:solidFill>
                      <a:schemeClr val="tx2"/>
                    </a:solidFill>
                  </a:rPr>
                  <a:t>оцінки</a:t>
                </a:r>
                <a:r>
                  <a:rPr lang="ru-RU" sz="2800" dirty="0">
                    <a:solidFill>
                      <a:schemeClr val="tx2"/>
                    </a:solidFill>
                  </a:rPr>
                  <a:t> </a:t>
                </a:r>
                <a:r>
                  <a:rPr lang="ru-RU" sz="2800" dirty="0" err="1">
                    <a:solidFill>
                      <a:schemeClr val="tx2"/>
                    </a:solidFill>
                  </a:rPr>
                  <a:t>оптичного</a:t>
                </a:r>
                <a:r>
                  <a:rPr lang="ru-RU" sz="2800" dirty="0">
                    <a:solidFill>
                      <a:schemeClr val="tx2"/>
                    </a:solidFill>
                  </a:rPr>
                  <a:t> потоку. </a:t>
                </a:r>
                <a:r>
                  <a:rPr lang="ru-RU" sz="2800" dirty="0" err="1">
                    <a:solidFill>
                      <a:schemeClr val="tx2"/>
                    </a:solidFill>
                  </a:rPr>
                  <a:t>Її</a:t>
                </a:r>
                <a:r>
                  <a:rPr lang="ru-RU" sz="2800" dirty="0">
                    <a:solidFill>
                      <a:schemeClr val="tx2"/>
                    </a:solidFill>
                  </a:rPr>
                  <a:t> </a:t>
                </a:r>
                <a:r>
                  <a:rPr lang="ru-RU" sz="2800" dirty="0" err="1">
                    <a:solidFill>
                      <a:schemeClr val="tx2"/>
                    </a:solidFill>
                  </a:rPr>
                  <a:t>основна</a:t>
                </a:r>
                <a:r>
                  <a:rPr lang="ru-RU" sz="2800" dirty="0">
                    <a:solidFill>
                      <a:schemeClr val="tx2"/>
                    </a:solidFill>
                  </a:rPr>
                  <a:t> мета – </a:t>
                </a:r>
                <a:r>
                  <a:rPr lang="ru-RU" sz="2800" dirty="0" err="1">
                    <a:solidFill>
                      <a:schemeClr val="tx2"/>
                    </a:solidFill>
                  </a:rPr>
                  <a:t>інтегрувати</a:t>
                </a:r>
                <a:r>
                  <a:rPr lang="ru-RU" sz="2800" dirty="0">
                    <a:solidFill>
                      <a:schemeClr val="tx2"/>
                    </a:solidFill>
                  </a:rPr>
                  <a:t> </a:t>
                </a:r>
                <a:r>
                  <a:rPr lang="ru-RU" sz="2800" dirty="0" err="1">
                    <a:solidFill>
                      <a:schemeClr val="tx2"/>
                    </a:solidFill>
                  </a:rPr>
                  <a:t>просторову</a:t>
                </a:r>
                <a:r>
                  <a:rPr lang="ru-RU" sz="2800" dirty="0">
                    <a:solidFill>
                      <a:schemeClr val="tx2"/>
                    </a:solidFill>
                  </a:rPr>
                  <a:t> та </a:t>
                </a:r>
                <a:r>
                  <a:rPr lang="ru-RU" sz="2800" dirty="0" err="1">
                    <a:solidFill>
                      <a:schemeClr val="tx2"/>
                    </a:solidFill>
                  </a:rPr>
                  <a:t>часову</a:t>
                </a:r>
                <a:r>
                  <a:rPr lang="ru-RU" sz="2800" dirty="0">
                    <a:solidFill>
                      <a:schemeClr val="tx2"/>
                    </a:solidFill>
                  </a:rPr>
                  <a:t> </a:t>
                </a:r>
                <a:r>
                  <a:rPr lang="ru-RU" sz="2800" dirty="0" err="1">
                    <a:solidFill>
                      <a:schemeClr val="tx2"/>
                    </a:solidFill>
                  </a:rPr>
                  <a:t>інформацію</a:t>
                </a:r>
                <a:r>
                  <a:rPr lang="ru-RU" sz="2800" dirty="0">
                    <a:solidFill>
                      <a:schemeClr val="tx2"/>
                    </a:solidFill>
                  </a:rPr>
                  <a:t> в </a:t>
                </a:r>
                <a:r>
                  <a:rPr lang="ru-RU" sz="2800" dirty="0" err="1">
                    <a:solidFill>
                      <a:schemeClr val="tx2"/>
                    </a:solidFill>
                  </a:rPr>
                  <a:t>єдину</a:t>
                </a:r>
                <a:r>
                  <a:rPr lang="ru-RU" sz="2800" dirty="0">
                    <a:solidFill>
                      <a:schemeClr val="tx2"/>
                    </a:solidFill>
                  </a:rPr>
                  <a:t> структуру.</a:t>
                </a:r>
                <a:endParaRPr lang="uk-UA" sz="2800" dirty="0">
                  <a:solidFill>
                    <a:schemeClr val="tx2"/>
                  </a:solidFill>
                </a:endParaRPr>
              </a:p>
              <a:p>
                <a:r>
                  <a:rPr lang="en-US" sz="2800" dirty="0">
                    <a:solidFill>
                      <a:schemeClr val="tx2"/>
                    </a:solidFill>
                  </a:rPr>
                  <a:t>DETR: </a:t>
                </a:r>
                <a:r>
                  <a:rPr lang="uk-UA" sz="2800" dirty="0" err="1">
                    <a:solidFill>
                      <a:schemeClr val="tx2"/>
                    </a:solidFill>
                  </a:rPr>
                  <a:t>трансформер</a:t>
                </a:r>
                <a:r>
                  <a:rPr lang="uk-UA" sz="2800" dirty="0">
                    <a:solidFill>
                      <a:schemeClr val="tx2"/>
                    </a:solidFill>
                  </a:rPr>
                  <a:t> для виявлення об'єктів, угорська втрата для парування використовує механізми багатоголової уваги для виявлення об</a:t>
                </a:r>
                <a:r>
                  <a:rPr lang="en-US" sz="2800" dirty="0">
                    <a:solidFill>
                      <a:schemeClr val="tx2"/>
                    </a:solidFill>
                  </a:rPr>
                  <a:t>`</a:t>
                </a:r>
                <a:r>
                  <a:rPr lang="uk-UA" sz="2800" dirty="0" err="1">
                    <a:solidFill>
                      <a:schemeClr val="tx2"/>
                    </a:solidFill>
                  </a:rPr>
                  <a:t>єктів</a:t>
                </a:r>
                <a:r>
                  <a:rPr lang="uk-UA" sz="2800" dirty="0">
                    <a:solidFill>
                      <a:schemeClr val="tx2"/>
                    </a:solidFill>
                  </a:rPr>
                  <a:t> в кадрі без потреби в попередньому формуванні областей-кандидатів</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1213" y="729303"/>
                <a:ext cx="12488162" cy="5507916"/>
              </a:xfrm>
              <a:blipFill>
                <a:blip r:embed="rId3"/>
                <a:stretch>
                  <a:fillRect l="-879" r="-928" b="-2104"/>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C4F1FE74-F58B-13AE-9D90-3AF168BE091D}"/>
              </a:ext>
            </a:extLst>
          </p:cNvPr>
          <p:cNvSpPr>
            <a:spLocks noGrp="1"/>
          </p:cNvSpPr>
          <p:nvPr>
            <p:ph type="sldNum" sz="quarter" idx="12"/>
          </p:nvPr>
        </p:nvSpPr>
        <p:spPr/>
        <p:txBody>
          <a:bodyPr/>
          <a:lstStyle/>
          <a:p>
            <a:fld id="{C1FF6DA9-008F-8B48-92A6-B652298478BF}" type="slidenum">
              <a:rPr lang="en-US" smtClean="0"/>
              <a:t>45</a:t>
            </a:fld>
            <a:endParaRPr lang="en-US"/>
          </a:p>
        </p:txBody>
      </p:sp>
      <p:sp>
        <p:nvSpPr>
          <p:cNvPr id="6" name="TextBox 5">
            <a:extLst>
              <a:ext uri="{FF2B5EF4-FFF2-40B4-BE49-F238E27FC236}">
                <a16:creationId xmlns:a16="http://schemas.microsoft.com/office/drawing/2014/main" id="{7E36BD21-C86C-FE41-D88A-C1E7935111E8}"/>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Tree>
    <p:extLst>
      <p:ext uri="{BB962C8B-B14F-4D97-AF65-F5344CB8AC3E}">
        <p14:creationId xmlns:p14="http://schemas.microsoft.com/office/powerpoint/2010/main" val="7032459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32658"/>
            <a:ext cx="12192000" cy="891470"/>
          </a:xfrm>
        </p:spPr>
        <p:txBody>
          <a:bodyPr anchor="ctr">
            <a:normAutofit/>
          </a:bodyPr>
          <a:lstStyle/>
          <a:p>
            <a:r>
              <a:rPr lang="uk-UA" sz="4800" dirty="0"/>
              <a:t>Ансамблеві методи (</a:t>
            </a:r>
            <a:r>
              <a:rPr lang="en-US" sz="4800" dirty="0"/>
              <a:t>Bagging, Boosting)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9379" y="924128"/>
                <a:ext cx="12840511" cy="5901214"/>
              </a:xfrm>
            </p:spPr>
            <p:txBody>
              <a:bodyPr anchor="ctr">
                <a:noAutofit/>
              </a:bodyPr>
              <a:lstStyle/>
              <a:p>
                <a:r>
                  <a:rPr lang="en-US" dirty="0"/>
                  <a:t>Bagging</a:t>
                </a:r>
                <a:r>
                  <a:rPr lang="uk-UA" dirty="0"/>
                  <a:t> </a:t>
                </a:r>
                <a:r>
                  <a:rPr lang="ru-RU" dirty="0" err="1"/>
                  <a:t>середнє</a:t>
                </a:r>
                <a:r>
                  <a:rPr lang="ru-RU" dirty="0"/>
                  <a:t> </a:t>
                </a:r>
                <a:r>
                  <a:rPr lang="ru-RU" dirty="0" err="1"/>
                  <a:t>арифметичне</a:t>
                </a:r>
                <a:r>
                  <a:rPr lang="ru-RU" dirty="0"/>
                  <a:t> </a:t>
                </a:r>
                <a:r>
                  <a:rPr lang="ru-RU" dirty="0" err="1"/>
                  <a:t>прогнозів</a:t>
                </a:r>
                <a:r>
                  <a:rPr lang="ru-RU" dirty="0"/>
                  <a:t> </a:t>
                </a:r>
                <a:r>
                  <a:rPr lang="ru-RU" dirty="0" err="1"/>
                  <a:t>усіх</a:t>
                </a:r>
                <a:r>
                  <a:rPr lang="ru-RU" dirty="0"/>
                  <a:t> моделей в </a:t>
                </a:r>
                <a:r>
                  <a:rPr lang="ru-RU" dirty="0" err="1"/>
                  <a:t>ансамблі</a:t>
                </a:r>
                <a:r>
                  <a:rPr lang="en-US" dirty="0"/>
                  <a:t>: </a:t>
                </a:r>
                <a:endParaRPr lang="uk-UA" dirty="0"/>
              </a:p>
              <a:p>
                <a:pPr marL="0" indent="0" algn="ctr">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𝑏𝑎𝑔</m:t>
                        </m:r>
                      </m:sub>
                    </m:sSub>
                    <m:d>
                      <m:dPr>
                        <m:ctrlPr>
                          <a:rPr lang="ar-AE" i="1">
                            <a:latin typeface="Cambria Math" panose="02040503050406030204" pitchFamily="18" charset="0"/>
                          </a:rPr>
                        </m:ctrlPr>
                      </m:dPr>
                      <m:e>
                        <m:r>
                          <a:rPr lang="ar-AE" i="1">
                            <a:latin typeface="Cambria Math" panose="02040503050406030204" pitchFamily="18" charset="0"/>
                          </a:rPr>
                          <m:t>𝑥</m:t>
                        </m:r>
                        <m:r>
                          <a:rPr lang="ar-AE" i="1">
                            <a:latin typeface="Cambria Math" panose="02040503050406030204" pitchFamily="18" charset="0"/>
                          </a:rPr>
                          <m:t>,</m:t>
                        </m:r>
                        <m:r>
                          <a:rPr lang="ar-AE" i="1">
                            <a:latin typeface="Cambria Math" panose="02040503050406030204" pitchFamily="18" charset="0"/>
                          </a:rPr>
                          <m:t>𝑦</m:t>
                        </m:r>
                      </m:e>
                    </m:d>
                    <m:r>
                      <a:rPr lang="ar-AE" i="1">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1</m:t>
                        </m:r>
                        <m:r>
                          <m:rPr>
                            <m:lit/>
                          </m:rPr>
                          <a:rPr lang="ar-AE" i="1">
                            <a:latin typeface="Cambria Math" panose="02040503050406030204" pitchFamily="18" charset="0"/>
                          </a:rPr>
                          <m:t>/</m:t>
                        </m:r>
                        <m:r>
                          <a:rPr lang="ar-AE" i="1">
                            <a:latin typeface="Cambria Math" panose="02040503050406030204" pitchFamily="18" charset="0"/>
                          </a:rPr>
                          <m:t>𝑀</m:t>
                        </m:r>
                      </m:e>
                    </m:d>
                    <m:nary>
                      <m:naryPr>
                        <m:chr m:val="∑"/>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𝑖</m:t>
                            </m:r>
                          </m:sub>
                        </m:sSub>
                        <m:d>
                          <m:dPr>
                            <m:ctrlPr>
                              <a:rPr lang="ar-AE" i="1">
                                <a:latin typeface="Cambria Math" panose="02040503050406030204" pitchFamily="18" charset="0"/>
                              </a:rPr>
                            </m:ctrlPr>
                          </m:dPr>
                          <m:e>
                            <m:r>
                              <a:rPr lang="ar-AE" i="1">
                                <a:latin typeface="Cambria Math" panose="02040503050406030204" pitchFamily="18" charset="0"/>
                              </a:rPr>
                              <m:t>𝑥</m:t>
                            </m:r>
                            <m:r>
                              <a:rPr lang="ar-AE" i="1">
                                <a:latin typeface="Cambria Math" panose="02040503050406030204" pitchFamily="18" charset="0"/>
                              </a:rPr>
                              <m:t>,</m:t>
                            </m:r>
                            <m:r>
                              <a:rPr lang="ar-AE" i="1">
                                <a:latin typeface="Cambria Math" panose="02040503050406030204" pitchFamily="18" charset="0"/>
                              </a:rPr>
                              <m:t>𝑦</m:t>
                            </m:r>
                          </m:e>
                        </m:d>
                      </m:e>
                    </m:nary>
                  </m:oMath>
                </a14:m>
                <a:r>
                  <a:rPr lang="ar-AE" dirty="0"/>
                  <a:t>– </a:t>
                </a:r>
                <a:r>
                  <a:rPr lang="uk-UA" dirty="0"/>
                  <a:t> усереднення карт глибини</a:t>
                </a:r>
              </a:p>
              <a:p>
                <a:r>
                  <a:rPr lang="en-US" dirty="0"/>
                  <a:t>Boosting</a:t>
                </a:r>
                <a:r>
                  <a:rPr lang="uk-UA" dirty="0"/>
                  <a:t> </a:t>
                </a:r>
                <a:r>
                  <a:rPr lang="ru-RU" dirty="0" err="1"/>
                  <a:t>зважена</a:t>
                </a:r>
                <a:r>
                  <a:rPr lang="ru-RU" dirty="0"/>
                  <a:t> сума </a:t>
                </a:r>
                <a:r>
                  <a:rPr lang="ru-RU" dirty="0" err="1"/>
                  <a:t>прогнозів</a:t>
                </a:r>
                <a:r>
                  <a:rPr lang="ru-RU" dirty="0"/>
                  <a:t> </a:t>
                </a:r>
                <a:r>
                  <a:rPr lang="ru-RU" dirty="0" err="1"/>
                  <a:t>окремих</a:t>
                </a:r>
                <a:r>
                  <a:rPr lang="ru-RU" dirty="0"/>
                  <a:t> моделей, де вага </a:t>
                </a:r>
                <a:r>
                  <a:rPr lang="ru-RU" dirty="0" err="1"/>
                  <a:t>кожної</a:t>
                </a:r>
                <a:r>
                  <a:rPr lang="ru-RU" dirty="0"/>
                  <a:t> </a:t>
                </a:r>
                <a:r>
                  <a:rPr lang="ru-RU" dirty="0" err="1"/>
                  <a:t>моделі</a:t>
                </a:r>
                <a:r>
                  <a:rPr lang="ru-RU" dirty="0"/>
                  <a:t> </a:t>
                </a:r>
                <a:r>
                  <a:rPr lang="ru-RU" dirty="0" err="1"/>
                  <a:t>обернено</a:t>
                </a:r>
                <a:r>
                  <a:rPr lang="ru-RU" dirty="0"/>
                  <a:t> </a:t>
                </a:r>
                <a:r>
                  <a:rPr lang="ru-RU" dirty="0" err="1"/>
                  <a:t>пропорційна</a:t>
                </a:r>
                <a:r>
                  <a:rPr lang="ru-RU" dirty="0"/>
                  <a:t> </a:t>
                </a:r>
                <a:r>
                  <a:rPr lang="ru-RU" dirty="0" err="1"/>
                  <a:t>її</a:t>
                </a:r>
                <a:r>
                  <a:rPr lang="ru-RU" dirty="0"/>
                  <a:t> </a:t>
                </a:r>
                <a:r>
                  <a:rPr lang="ru-RU" dirty="0" err="1"/>
                  <a:t>помилці</a:t>
                </a:r>
                <a:r>
                  <a:rPr lang="en-US" dirty="0"/>
                  <a:t>:</a:t>
                </a:r>
                <a:endParaRPr lang="uk-UA" dirty="0"/>
              </a:p>
              <a:p>
                <a:pPr marL="0" indent="0" algn="ctr">
                  <a:buNone/>
                </a:pPr>
                <a:r>
                  <a:rPr lang="en-US"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𝑓𝑖𝑛𝑎𝑙</m:t>
                        </m:r>
                      </m:sub>
                    </m:sSub>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r>
                      <a:rPr lang="uk-UA" i="1">
                        <a:latin typeface="Cambria Math" panose="02040503050406030204" pitchFamily="18" charset="0"/>
                      </a:rPr>
                      <m:t>𝐷</m:t>
                    </m:r>
                    <m:r>
                      <a:rPr lang="uk-UA" i="1">
                        <a:latin typeface="Cambria Math" panose="02040503050406030204" pitchFamily="18" charset="0"/>
                      </a:rPr>
                      <m:t>₁</m:t>
                    </m:r>
                    <m:d>
                      <m:dPr>
                        <m:ctrlPr>
                          <a:rPr lang="ar-AE" i="1">
                            <a:latin typeface="Cambria Math" panose="02040503050406030204" pitchFamily="18" charset="0"/>
                          </a:rPr>
                        </m:ctrlPr>
                      </m:dPr>
                      <m:e>
                        <m:r>
                          <a:rPr lang="ar-AE" i="1">
                            <a:latin typeface="Cambria Math" panose="02040503050406030204" pitchFamily="18" charset="0"/>
                          </a:rPr>
                          <m:t>𝑥</m:t>
                        </m:r>
                      </m:e>
                    </m:d>
                  </m:oMath>
                </a14:m>
                <a:r>
                  <a:rPr lang="uk-UA" dirty="0"/>
                  <a:t>, якщо </a:t>
                </a:r>
                <a14:m>
                  <m:oMath xmlns:m="http://schemas.openxmlformats.org/officeDocument/2006/math">
                    <m:r>
                      <a:rPr lang="uk-UA" i="1">
                        <a:latin typeface="Cambria Math" panose="02040503050406030204" pitchFamily="18" charset="0"/>
                      </a:rPr>
                      <m:t>|</m:t>
                    </m:r>
                    <m:r>
                      <m:rPr>
                        <m:sty m:val="p"/>
                      </m:rPr>
                      <a:rPr lang="uk-UA" i="0">
                        <a:latin typeface="Cambria Math" panose="02040503050406030204" pitchFamily="18" charset="0"/>
                      </a:rPr>
                      <m:t>∇</m:t>
                    </m:r>
                    <m:r>
                      <a:rPr lang="uk-UA" i="1">
                        <a:latin typeface="Cambria Math" panose="02040503050406030204" pitchFamily="18" charset="0"/>
                      </a:rPr>
                      <m:t>𝐷</m:t>
                    </m:r>
                    <m:r>
                      <a:rPr lang="uk-UA" i="1">
                        <a:latin typeface="Cambria Math" panose="02040503050406030204" pitchFamily="18" charset="0"/>
                      </a:rPr>
                      <m:t>₁</m:t>
                    </m:r>
                    <m:r>
                      <a:rPr lang="uk-UA" i="1">
                        <a:latin typeface="Cambria Math" panose="02040503050406030204" pitchFamily="18" charset="0"/>
                      </a:rPr>
                      <m:t>(</m:t>
                    </m:r>
                    <m:r>
                      <a:rPr lang="uk-UA" i="1">
                        <a:latin typeface="Cambria Math" panose="02040503050406030204" pitchFamily="18" charset="0"/>
                      </a:rPr>
                      <m:t>𝑥</m:t>
                    </m:r>
                    <m:r>
                      <a:rPr lang="uk-UA" i="1">
                        <a:latin typeface="Cambria Math" panose="02040503050406030204" pitchFamily="18" charset="0"/>
                      </a:rPr>
                      <m:t>)|≤</m:t>
                    </m:r>
                    <m:r>
                      <a:rPr lang="uk-UA" i="1">
                        <a:latin typeface="Cambria Math" panose="02040503050406030204" pitchFamily="18" charset="0"/>
                      </a:rPr>
                      <m:t>𝜏</m:t>
                    </m:r>
                  </m:oMath>
                </a14:m>
                <a:r>
                  <a:rPr lang="uk-UA" dirty="0"/>
                  <a:t>, інакше </a:t>
                </a:r>
                <a14:m>
                  <m:oMath xmlns:m="http://schemas.openxmlformats.org/officeDocument/2006/math">
                    <m:r>
                      <a:rPr lang="uk-UA" i="1">
                        <a:latin typeface="Cambria Math" panose="02040503050406030204" pitchFamily="18" charset="0"/>
                      </a:rPr>
                      <m:t>𝐷</m:t>
                    </m:r>
                    <m:r>
                      <a:rPr lang="uk-UA" i="1">
                        <a:latin typeface="Cambria Math" panose="02040503050406030204" pitchFamily="18" charset="0"/>
                      </a:rPr>
                      <m:t>₂</m:t>
                    </m:r>
                    <m:r>
                      <a:rPr lang="uk-UA" i="1">
                        <a:latin typeface="Cambria Math" panose="02040503050406030204" pitchFamily="18" charset="0"/>
                      </a:rPr>
                      <m:t>(</m:t>
                    </m:r>
                    <m:r>
                      <a:rPr lang="uk-UA" i="1">
                        <a:latin typeface="Cambria Math" panose="02040503050406030204" pitchFamily="18" charset="0"/>
                      </a:rPr>
                      <m:t>𝑥</m:t>
                    </m:r>
                    <m:r>
                      <a:rPr lang="uk-UA" i="1">
                        <a:latin typeface="Cambria Math" panose="02040503050406030204" pitchFamily="18" charset="0"/>
                      </a:rPr>
                      <m:t>)</m:t>
                    </m:r>
                  </m:oMath>
                </a14:m>
                <a:r>
                  <a:rPr lang="uk-UA" dirty="0"/>
                  <a:t> (адаптивне комбінування)</a:t>
                </a:r>
              </a:p>
              <a:p>
                <a:r>
                  <a:rPr lang="uk-UA" dirty="0"/>
                  <a:t>Вага моделі в </a:t>
                </a:r>
                <a:r>
                  <a:rPr lang="uk-UA" dirty="0" err="1"/>
                  <a:t>бустингу</a:t>
                </a:r>
                <a:r>
                  <a:rPr lang="uk-UA" dirty="0"/>
                  <a:t>: </a:t>
                </a:r>
              </a:p>
              <a:p>
                <a:pPr marL="0" indent="0">
                  <a:buNone/>
                </a:pPr>
                <a14:m>
                  <m:oMathPara xmlns:m="http://schemas.openxmlformats.org/officeDocument/2006/math">
                    <m:oMathParaPr>
                      <m:jc m:val="center"/>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𝑖</m:t>
                          </m:r>
                        </m:sub>
                      </m:sSub>
                      <m:r>
                        <a:rPr lang="ar-AE" i="1">
                          <a:latin typeface="Cambria Math" panose="02040503050406030204" pitchFamily="18" charset="0"/>
                        </a:rPr>
                        <m:t>=½</m:t>
                      </m:r>
                      <m:r>
                        <a:rPr lang="ar-AE" i="1">
                          <a:latin typeface="Cambria Math" panose="02040503050406030204" pitchFamily="18" charset="0"/>
                        </a:rPr>
                        <m:t>𝑙</m:t>
                      </m:r>
                      <m:func>
                        <m:funcPr>
                          <m:ctrlPr>
                            <a:rPr lang="ar-AE" i="1">
                              <a:latin typeface="Cambria Math" panose="02040503050406030204" pitchFamily="18" charset="0"/>
                            </a:rPr>
                          </m:ctrlPr>
                        </m:funcPr>
                        <m:fName>
                          <m:r>
                            <a:rPr lang="ar-AE" i="1">
                              <a:latin typeface="Cambria Math" panose="02040503050406030204" pitchFamily="18" charset="0"/>
                            </a:rPr>
                            <m:t>𝑛</m:t>
                          </m:r>
                        </m:fName>
                        <m:e>
                          <m:d>
                            <m:dPr>
                              <m:ctrlPr>
                                <a:rPr lang="ar-AE" i="1">
                                  <a:latin typeface="Cambria Math" panose="02040503050406030204" pitchFamily="18" charset="0"/>
                                </a:rPr>
                              </m:ctrlPr>
                            </m:dPr>
                            <m:e>
                              <m:d>
                                <m:dPr>
                                  <m:ctrlPr>
                                    <a:rPr lang="ar-AE" i="1">
                                      <a:latin typeface="Cambria Math" panose="02040503050406030204" pitchFamily="18" charset="0"/>
                                    </a:rPr>
                                  </m:ctrlPr>
                                </m:dPr>
                                <m:e>
                                  <m:r>
                                    <a:rPr lang="ar-AE" i="1">
                                      <a:latin typeface="Cambria Math" panose="02040503050406030204" pitchFamily="18" charset="0"/>
                                    </a:rPr>
                                    <m:t>1</m:t>
                                  </m:r>
                                  <m:r>
                                    <a:rPr lang="ar-AE" i="1">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𝜀</m:t>
                                      </m:r>
                                    </m:e>
                                    <m:sub>
                                      <m:r>
                                        <a:rPr lang="ar-AE" i="1">
                                          <a:latin typeface="Cambria Math" panose="02040503050406030204" pitchFamily="18" charset="0"/>
                                        </a:rPr>
                                        <m:t>𝑖</m:t>
                                      </m:r>
                                    </m:sub>
                                  </m:sSub>
                                </m:e>
                              </m:d>
                              <m:r>
                                <m:rPr>
                                  <m:lit/>
                                </m:rPr>
                                <a:rPr lang="ar-AE" i="1">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𝜀</m:t>
                                  </m:r>
                                </m:e>
                                <m:sub>
                                  <m:r>
                                    <a:rPr lang="ar-AE" i="1">
                                      <a:latin typeface="Cambria Math" panose="02040503050406030204" pitchFamily="18" charset="0"/>
                                    </a:rPr>
                                    <m:t>𝑖</m:t>
                                  </m:r>
                                </m:sub>
                              </m:sSub>
                            </m:e>
                          </m:d>
                        </m:e>
                      </m:func>
                    </m:oMath>
                  </m:oMathPara>
                </a14:m>
                <a:endParaRPr lang="ar-AE" dirty="0"/>
              </a:p>
              <a:p>
                <a:r>
                  <a:rPr lang="uk-UA" dirty="0"/>
                  <a:t>Застосовано до комбінацій </a:t>
                </a:r>
                <a:r>
                  <a:rPr lang="en-US" dirty="0" err="1"/>
                  <a:t>MiDaS</a:t>
                </a:r>
                <a:r>
                  <a:rPr lang="en-US" dirty="0"/>
                  <a:t>, DPT, </a:t>
                </a:r>
                <a:r>
                  <a:rPr lang="en-US" dirty="0" err="1"/>
                  <a:t>GeoNet</a:t>
                </a:r>
                <a:r>
                  <a:rPr lang="en-US" dirty="0"/>
                  <a:t> – </a:t>
                </a:r>
                <a:r>
                  <a:rPr lang="uk-UA" dirty="0"/>
                  <a:t>підвищує стійкість на межах об'єктів</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9379" y="924128"/>
                <a:ext cx="12840511" cy="5901214"/>
              </a:xfrm>
              <a:blipFill>
                <a:blip r:embed="rId3"/>
                <a:stretch>
                  <a:fillRect l="-1092" r="-712" b="-930"/>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F0D91BED-FEAE-8152-6484-CF52FC22CE13}"/>
              </a:ext>
            </a:extLst>
          </p:cNvPr>
          <p:cNvSpPr>
            <a:spLocks noGrp="1"/>
          </p:cNvSpPr>
          <p:nvPr>
            <p:ph type="sldNum" sz="quarter" idx="12"/>
          </p:nvPr>
        </p:nvSpPr>
        <p:spPr/>
        <p:txBody>
          <a:bodyPr/>
          <a:lstStyle/>
          <a:p>
            <a:fld id="{C1FF6DA9-008F-8B48-92A6-B652298478BF}" type="slidenum">
              <a:rPr lang="en-US" smtClean="0"/>
              <a:t>46</a:t>
            </a:fld>
            <a:endParaRPr lang="en-US"/>
          </a:p>
        </p:txBody>
      </p:sp>
      <p:sp>
        <p:nvSpPr>
          <p:cNvPr id="6" name="TextBox 5">
            <a:extLst>
              <a:ext uri="{FF2B5EF4-FFF2-40B4-BE49-F238E27FC236}">
                <a16:creationId xmlns:a16="http://schemas.microsoft.com/office/drawing/2014/main" id="{860C0614-FF0A-8AE3-6ABB-8A5A373CC351}"/>
              </a:ext>
            </a:extLst>
          </p:cNvPr>
          <p:cNvSpPr txBox="1"/>
          <p:nvPr/>
        </p:nvSpPr>
        <p:spPr>
          <a:xfrm>
            <a:off x="11622562" y="90497"/>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Tree>
    <p:extLst>
      <p:ext uri="{BB962C8B-B14F-4D97-AF65-F5344CB8AC3E}">
        <p14:creationId xmlns:p14="http://schemas.microsoft.com/office/powerpoint/2010/main" val="928877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178767" y="79020"/>
            <a:ext cx="9833548" cy="734604"/>
          </a:xfrm>
        </p:spPr>
        <p:txBody>
          <a:bodyPr anchor="b">
            <a:normAutofit/>
          </a:bodyPr>
          <a:lstStyle/>
          <a:p>
            <a:r>
              <a:rPr lang="uk-UA" sz="3600" dirty="0">
                <a:solidFill>
                  <a:schemeClr val="tx2"/>
                </a:solidFill>
              </a:rPr>
              <a:t>Модель </a:t>
            </a:r>
            <a:r>
              <a:rPr lang="en-US" sz="3600" dirty="0">
                <a:solidFill>
                  <a:schemeClr val="tx2"/>
                </a:solidFill>
              </a:rPr>
              <a:t>DETR (Detection Transformer)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6" y="710006"/>
                <a:ext cx="12191695" cy="5646344"/>
              </a:xfrm>
            </p:spPr>
            <p:txBody>
              <a:bodyPr>
                <a:noAutofit/>
              </a:bodyPr>
              <a:lstStyle/>
              <a:p>
                <a:r>
                  <a:rPr lang="uk-UA" sz="3600" dirty="0">
                    <a:solidFill>
                      <a:schemeClr val="tx2"/>
                    </a:solidFill>
                  </a:rPr>
                  <a:t>Багатоголова увага:</a:t>
                </a:r>
                <a:endParaRPr lang="en-US" sz="3600" dirty="0">
                  <a:solidFill>
                    <a:schemeClr val="tx2"/>
                  </a:solidFill>
                </a:endParaRPr>
              </a:p>
              <a:p>
                <a:pPr marL="0" indent="0">
                  <a:buNone/>
                </a:pPr>
                <a14:m>
                  <m:oMathPara xmlns:m="http://schemas.openxmlformats.org/officeDocument/2006/math">
                    <m:oMathParaPr>
                      <m:jc m:val="center"/>
                    </m:oMathParaPr>
                    <m:oMath xmlns:m="http://schemas.openxmlformats.org/officeDocument/2006/math">
                      <m:r>
                        <a:rPr lang="uk-UA" sz="3600" i="1">
                          <a:solidFill>
                            <a:schemeClr val="tx2"/>
                          </a:solidFill>
                          <a:latin typeface="Cambria Math" panose="02040503050406030204" pitchFamily="18" charset="0"/>
                        </a:rPr>
                        <m:t>𝑀𝑢𝑙𝑡𝑖𝐻𝑒𝑎𝑑</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𝑄</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𝐾</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𝑉</m:t>
                      </m:r>
                      <m:r>
                        <a:rPr lang="uk-UA" sz="3600" i="1">
                          <a:solidFill>
                            <a:schemeClr val="tx2"/>
                          </a:solidFill>
                          <a:latin typeface="Cambria Math" panose="02040503050406030204" pitchFamily="18" charset="0"/>
                        </a:rPr>
                        <m:t>) = </m:t>
                      </m:r>
                      <m:r>
                        <a:rPr lang="uk-UA" sz="3600" i="1">
                          <a:solidFill>
                            <a:schemeClr val="tx2"/>
                          </a:solidFill>
                          <a:latin typeface="Cambria Math" panose="02040503050406030204" pitchFamily="18" charset="0"/>
                        </a:rPr>
                        <m:t>𝐶𝑜𝑛𝑐𝑎𝑡</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h</m:t>
                      </m:r>
                      <m:r>
                        <a:rPr lang="uk-UA" sz="3600" i="1">
                          <a:solidFill>
                            <a:schemeClr val="tx2"/>
                          </a:solidFill>
                          <a:latin typeface="Cambria Math" panose="02040503050406030204" pitchFamily="18" charset="0"/>
                        </a:rPr>
                        <m:t>𝑒𝑎𝑑</m:t>
                      </m:r>
                      <m:r>
                        <a:rPr lang="uk-UA" sz="3600" i="1">
                          <a:solidFill>
                            <a:schemeClr val="tx2"/>
                          </a:solidFill>
                          <a:latin typeface="Cambria Math" panose="02040503050406030204" pitchFamily="18" charset="0"/>
                        </a:rPr>
                        <m:t>₁</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h</m:t>
                      </m:r>
                      <m:r>
                        <a:rPr lang="uk-UA" sz="3600" i="1">
                          <a:solidFill>
                            <a:schemeClr val="tx2"/>
                          </a:solidFill>
                          <a:latin typeface="Cambria Math" panose="02040503050406030204" pitchFamily="18" charset="0"/>
                        </a:rPr>
                        <m:t>𝑒𝑎</m:t>
                      </m:r>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𝑑</m:t>
                          </m:r>
                        </m:e>
                        <m:sub>
                          <m:r>
                            <a:rPr lang="ar-AE" sz="3600" i="1">
                              <a:solidFill>
                                <a:schemeClr val="tx2"/>
                              </a:solidFill>
                              <a:latin typeface="Cambria Math" panose="02040503050406030204" pitchFamily="18" charset="0"/>
                            </a:rPr>
                            <m:t>h</m:t>
                          </m:r>
                        </m:sub>
                      </m:sSub>
                      <m:r>
                        <a:rPr lang="ar-AE" sz="3600" i="1">
                          <a:solidFill>
                            <a:schemeClr val="tx2"/>
                          </a:solidFill>
                          <a:latin typeface="Cambria Math" panose="02040503050406030204" pitchFamily="18" charset="0"/>
                        </a:rPr>
                        <m:t>)</m:t>
                      </m:r>
                      <m:sSup>
                        <m:sSupPr>
                          <m:ctrlPr>
                            <a:rPr lang="ar-AE" sz="3600" i="1">
                              <a:solidFill>
                                <a:schemeClr val="tx2"/>
                              </a:solidFill>
                              <a:latin typeface="Cambria Math" panose="02040503050406030204" pitchFamily="18" charset="0"/>
                            </a:rPr>
                          </m:ctrlPr>
                        </m:sSupPr>
                        <m:e>
                          <m:r>
                            <a:rPr lang="ar-AE" sz="3600" i="1">
                              <a:solidFill>
                                <a:schemeClr val="tx2"/>
                              </a:solidFill>
                              <a:latin typeface="Cambria Math" panose="02040503050406030204" pitchFamily="18" charset="0"/>
                            </a:rPr>
                            <m:t>𝑊</m:t>
                          </m:r>
                        </m:e>
                        <m:sup>
                          <m:r>
                            <a:rPr lang="ar-AE" sz="3600" i="1">
                              <a:solidFill>
                                <a:schemeClr val="tx2"/>
                              </a:solidFill>
                              <a:latin typeface="Cambria Math" panose="02040503050406030204" pitchFamily="18" charset="0"/>
                            </a:rPr>
                            <m:t>𝑂</m:t>
                          </m:r>
                        </m:sup>
                      </m:sSup>
                    </m:oMath>
                  </m:oMathPara>
                </a14:m>
                <a:endParaRPr lang="ar-AE" sz="3600" dirty="0">
                  <a:solidFill>
                    <a:schemeClr val="tx2"/>
                  </a:solidFill>
                </a:endParaRPr>
              </a:p>
              <a:p>
                <a:r>
                  <a:rPr lang="uk-UA" sz="3600" dirty="0">
                    <a:solidFill>
                      <a:schemeClr val="tx2"/>
                    </a:solidFill>
                  </a:rPr>
                  <a:t>Голова уваги: </a:t>
                </a:r>
              </a:p>
              <a:p>
                <a:pPr marL="0" indent="0">
                  <a:buNone/>
                </a:pPr>
                <a14:m>
                  <m:oMathPara xmlns:m="http://schemas.openxmlformats.org/officeDocument/2006/math">
                    <m:oMathParaPr>
                      <m:jc m:val="centerGroup"/>
                    </m:oMathParaPr>
                    <m:oMath xmlns:m="http://schemas.openxmlformats.org/officeDocument/2006/math">
                      <m:r>
                        <a:rPr lang="uk-UA" sz="3600" i="1">
                          <a:solidFill>
                            <a:schemeClr val="tx2"/>
                          </a:solidFill>
                          <a:latin typeface="Cambria Math" panose="02040503050406030204" pitchFamily="18" charset="0"/>
                        </a:rPr>
                        <m:t>h</m:t>
                      </m:r>
                      <m:r>
                        <a:rPr lang="uk-UA" sz="3600" i="1">
                          <a:solidFill>
                            <a:schemeClr val="tx2"/>
                          </a:solidFill>
                          <a:latin typeface="Cambria Math" panose="02040503050406030204" pitchFamily="18" charset="0"/>
                        </a:rPr>
                        <m:t>𝑒𝑎</m:t>
                      </m:r>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𝑑</m:t>
                          </m:r>
                        </m:e>
                        <m:sub>
                          <m:r>
                            <a:rPr lang="ar-AE" sz="3600" i="1">
                              <a:solidFill>
                                <a:schemeClr val="tx2"/>
                              </a:solidFill>
                              <a:latin typeface="Cambria Math" panose="02040503050406030204" pitchFamily="18" charset="0"/>
                            </a:rPr>
                            <m:t>𝑖</m:t>
                          </m:r>
                        </m:sub>
                      </m:sSub>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𝐴𝑡𝑡𝑒𝑛𝑡𝑖𝑜𝑛</m:t>
                      </m:r>
                      <m:d>
                        <m:dPr>
                          <m:ctrlPr>
                            <a:rPr lang="ar-AE" sz="3600" i="1">
                              <a:solidFill>
                                <a:schemeClr val="tx2"/>
                              </a:solidFill>
                              <a:latin typeface="Cambria Math" panose="02040503050406030204" pitchFamily="18" charset="0"/>
                            </a:rPr>
                          </m:ctrlPr>
                        </m:dPr>
                        <m:e>
                          <m:r>
                            <a:rPr lang="ar-AE" sz="3600" i="1">
                              <a:solidFill>
                                <a:schemeClr val="tx2"/>
                              </a:solidFill>
                              <a:latin typeface="Cambria Math" panose="02040503050406030204" pitchFamily="18" charset="0"/>
                            </a:rPr>
                            <m:t>𝑄</m:t>
                          </m:r>
                          <m:sSubSup>
                            <m:sSubSupPr>
                              <m:ctrlPr>
                                <a:rPr lang="ar-AE" sz="3600" i="1">
                                  <a:solidFill>
                                    <a:schemeClr val="tx2"/>
                                  </a:solidFill>
                                  <a:latin typeface="Cambria Math" panose="02040503050406030204" pitchFamily="18" charset="0"/>
                                </a:rPr>
                              </m:ctrlPr>
                            </m:sSubSupPr>
                            <m:e>
                              <m:r>
                                <a:rPr lang="ar-AE" sz="3600" i="1">
                                  <a:solidFill>
                                    <a:schemeClr val="tx2"/>
                                  </a:solidFill>
                                  <a:latin typeface="Cambria Math" panose="02040503050406030204" pitchFamily="18" charset="0"/>
                                </a:rPr>
                                <m:t>𝑊</m:t>
                              </m:r>
                            </m:e>
                            <m:sub>
                              <m:r>
                                <a:rPr lang="ar-AE" sz="3600" i="1">
                                  <a:solidFill>
                                    <a:schemeClr val="tx2"/>
                                  </a:solidFill>
                                  <a:latin typeface="Cambria Math" panose="02040503050406030204" pitchFamily="18" charset="0"/>
                                </a:rPr>
                                <m:t>𝑖</m:t>
                              </m:r>
                            </m:sub>
                            <m:sup>
                              <m:r>
                                <a:rPr lang="ar-AE" sz="3600" i="1">
                                  <a:solidFill>
                                    <a:schemeClr val="tx2"/>
                                  </a:solidFill>
                                  <a:latin typeface="Cambria Math" panose="02040503050406030204" pitchFamily="18" charset="0"/>
                                </a:rPr>
                                <m:t>𝑄</m:t>
                              </m:r>
                            </m:sup>
                          </m:sSubSup>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𝐾</m:t>
                          </m:r>
                          <m:sSubSup>
                            <m:sSubSupPr>
                              <m:ctrlPr>
                                <a:rPr lang="ar-AE" sz="3600" i="1">
                                  <a:solidFill>
                                    <a:schemeClr val="tx2"/>
                                  </a:solidFill>
                                  <a:latin typeface="Cambria Math" panose="02040503050406030204" pitchFamily="18" charset="0"/>
                                </a:rPr>
                              </m:ctrlPr>
                            </m:sSubSupPr>
                            <m:e>
                              <m:r>
                                <a:rPr lang="ar-AE" sz="3600" i="1">
                                  <a:solidFill>
                                    <a:schemeClr val="tx2"/>
                                  </a:solidFill>
                                  <a:latin typeface="Cambria Math" panose="02040503050406030204" pitchFamily="18" charset="0"/>
                                </a:rPr>
                                <m:t>𝑊</m:t>
                              </m:r>
                            </m:e>
                            <m:sub>
                              <m:r>
                                <a:rPr lang="ar-AE" sz="3600" i="1">
                                  <a:solidFill>
                                    <a:schemeClr val="tx2"/>
                                  </a:solidFill>
                                  <a:latin typeface="Cambria Math" panose="02040503050406030204" pitchFamily="18" charset="0"/>
                                </a:rPr>
                                <m:t>𝑖</m:t>
                              </m:r>
                            </m:sub>
                            <m:sup>
                              <m:r>
                                <a:rPr lang="ar-AE" sz="3600" i="1">
                                  <a:solidFill>
                                    <a:schemeClr val="tx2"/>
                                  </a:solidFill>
                                  <a:latin typeface="Cambria Math" panose="02040503050406030204" pitchFamily="18" charset="0"/>
                                </a:rPr>
                                <m:t>𝐾</m:t>
                              </m:r>
                            </m:sup>
                          </m:sSubSup>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𝑉</m:t>
                          </m:r>
                          <m:sSubSup>
                            <m:sSubSupPr>
                              <m:ctrlPr>
                                <a:rPr lang="ar-AE" sz="3600" i="1">
                                  <a:solidFill>
                                    <a:schemeClr val="tx2"/>
                                  </a:solidFill>
                                  <a:latin typeface="Cambria Math" panose="02040503050406030204" pitchFamily="18" charset="0"/>
                                </a:rPr>
                              </m:ctrlPr>
                            </m:sSubSupPr>
                            <m:e>
                              <m:r>
                                <a:rPr lang="ar-AE" sz="3600" i="1">
                                  <a:solidFill>
                                    <a:schemeClr val="tx2"/>
                                  </a:solidFill>
                                  <a:latin typeface="Cambria Math" panose="02040503050406030204" pitchFamily="18" charset="0"/>
                                </a:rPr>
                                <m:t>𝑊</m:t>
                              </m:r>
                            </m:e>
                            <m:sub>
                              <m:r>
                                <a:rPr lang="ar-AE" sz="3600" i="1">
                                  <a:solidFill>
                                    <a:schemeClr val="tx2"/>
                                  </a:solidFill>
                                  <a:latin typeface="Cambria Math" panose="02040503050406030204" pitchFamily="18" charset="0"/>
                                </a:rPr>
                                <m:t>𝑖</m:t>
                              </m:r>
                            </m:sub>
                            <m:sup>
                              <m:r>
                                <a:rPr lang="ar-AE" sz="3600" i="1">
                                  <a:solidFill>
                                    <a:schemeClr val="tx2"/>
                                  </a:solidFill>
                                  <a:latin typeface="Cambria Math" panose="02040503050406030204" pitchFamily="18" charset="0"/>
                                </a:rPr>
                                <m:t>𝑉</m:t>
                              </m:r>
                            </m:sup>
                          </m:sSubSup>
                        </m:e>
                      </m:d>
                    </m:oMath>
                  </m:oMathPara>
                </a14:m>
                <a:endParaRPr lang="ar-AE" sz="3600" dirty="0">
                  <a:solidFill>
                    <a:schemeClr val="tx2"/>
                  </a:solidFill>
                </a:endParaRPr>
              </a:p>
              <a:p>
                <a:r>
                  <a:rPr lang="ru-RU" sz="3600" dirty="0">
                    <a:solidFill>
                      <a:schemeClr val="tx2"/>
                    </a:solidFill>
                  </a:rPr>
                  <a:t>Для </a:t>
                </a:r>
                <a:r>
                  <a:rPr lang="ru-RU" sz="3600" dirty="0" err="1">
                    <a:solidFill>
                      <a:schemeClr val="tx2"/>
                    </a:solidFill>
                  </a:rPr>
                  <a:t>навчання</a:t>
                </a:r>
                <a:r>
                  <a:rPr lang="ru-RU" sz="3600" dirty="0">
                    <a:solidFill>
                      <a:schemeClr val="tx2"/>
                    </a:solidFill>
                  </a:rPr>
                  <a:t> DETR </a:t>
                </a:r>
                <a:r>
                  <a:rPr lang="ru-RU" sz="3600" dirty="0" err="1">
                    <a:solidFill>
                      <a:schemeClr val="tx2"/>
                    </a:solidFill>
                  </a:rPr>
                  <a:t>використовується</a:t>
                </a:r>
                <a:r>
                  <a:rPr lang="ru-RU" sz="3600" dirty="0">
                    <a:solidFill>
                      <a:schemeClr val="tx2"/>
                    </a:solidFill>
                  </a:rPr>
                  <a:t> </a:t>
                </a:r>
                <a:r>
                  <a:rPr lang="ru-RU" sz="3600" dirty="0" err="1">
                    <a:solidFill>
                      <a:schemeClr val="tx2"/>
                    </a:solidFill>
                  </a:rPr>
                  <a:t>угорська</a:t>
                </a:r>
                <a:r>
                  <a:rPr lang="ru-RU" sz="3600" dirty="0">
                    <a:solidFill>
                      <a:schemeClr val="tx2"/>
                    </a:solidFill>
                  </a:rPr>
                  <a:t> </a:t>
                </a:r>
                <a:r>
                  <a:rPr lang="ru-RU" sz="3600" dirty="0" err="1">
                    <a:solidFill>
                      <a:schemeClr val="tx2"/>
                    </a:solidFill>
                  </a:rPr>
                  <a:t>функція</a:t>
                </a:r>
                <a:r>
                  <a:rPr lang="ru-RU" sz="3600" dirty="0">
                    <a:solidFill>
                      <a:schemeClr val="tx2"/>
                    </a:solidFill>
                  </a:rPr>
                  <a:t> </a:t>
                </a:r>
                <a:r>
                  <a:rPr lang="ru-RU" sz="3600" dirty="0" err="1">
                    <a:solidFill>
                      <a:schemeClr val="tx2"/>
                    </a:solidFill>
                  </a:rPr>
                  <a:t>втрат</a:t>
                </a:r>
                <a:r>
                  <a:rPr lang="uk-UA" sz="3600" dirty="0">
                    <a:solidFill>
                      <a:schemeClr val="tx2"/>
                    </a:solidFill>
                  </a:rPr>
                  <a:t>: </a:t>
                </a:r>
                <a:endParaRPr lang="uk-UA" sz="3600" i="1" dirty="0">
                  <a:solidFill>
                    <a:schemeClr val="tx2"/>
                  </a:solidFill>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𝐿</m:t>
                          </m:r>
                        </m:e>
                        <m:sub>
                          <m:r>
                            <a:rPr lang="ar-AE" sz="3600" i="1">
                              <a:solidFill>
                                <a:schemeClr val="tx2"/>
                              </a:solidFill>
                              <a:latin typeface="Cambria Math" panose="02040503050406030204" pitchFamily="18" charset="0"/>
                            </a:rPr>
                            <m:t>𝐻𝑢𝑛𝑔𝑎𝑟𝑖𝑎𝑛</m:t>
                          </m:r>
                        </m:sub>
                      </m:sSub>
                      <m:r>
                        <a:rPr lang="ar-AE" sz="3600" i="1">
                          <a:solidFill>
                            <a:schemeClr val="tx2"/>
                          </a:solidFill>
                          <a:latin typeface="Cambria Math" panose="02040503050406030204" pitchFamily="18" charset="0"/>
                        </a:rPr>
                        <m:t>=</m:t>
                      </m:r>
                      <m:nary>
                        <m:naryPr>
                          <m:chr m:val="∑"/>
                          <m:subHide m:val="on"/>
                          <m:supHide m:val="on"/>
                          <m:ctrlPr>
                            <a:rPr lang="ar-AE" sz="3600" i="1">
                              <a:solidFill>
                                <a:schemeClr val="tx2"/>
                              </a:solidFill>
                              <a:latin typeface="Cambria Math" panose="02040503050406030204" pitchFamily="18" charset="0"/>
                            </a:rPr>
                          </m:ctrlPr>
                        </m:naryPr>
                        <m:sub/>
                        <m:sup/>
                        <m:e>
                          <m:d>
                            <m:dPr>
                              <m:begChr m:val="["/>
                              <m:endChr m:val="]"/>
                              <m:ctrlPr>
                                <a:rPr lang="ar-AE" sz="3600" i="1">
                                  <a:solidFill>
                                    <a:schemeClr val="tx2"/>
                                  </a:solidFill>
                                  <a:latin typeface="Cambria Math" panose="02040503050406030204" pitchFamily="18" charset="0"/>
                                </a:rPr>
                              </m:ctrlPr>
                            </m:dPr>
                            <m:e>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𝑙𝑜</m:t>
                              </m:r>
                              <m:func>
                                <m:funcPr>
                                  <m:ctrlPr>
                                    <a:rPr lang="ar-AE" sz="3600" i="1">
                                      <a:solidFill>
                                        <a:schemeClr val="tx2"/>
                                      </a:solidFill>
                                      <a:latin typeface="Cambria Math" panose="02040503050406030204" pitchFamily="18" charset="0"/>
                                    </a:rPr>
                                  </m:ctrlPr>
                                </m:funcPr>
                                <m:fName>
                                  <m:r>
                                    <a:rPr lang="ar-AE" sz="3600" i="1">
                                      <a:solidFill>
                                        <a:schemeClr val="tx2"/>
                                      </a:solidFill>
                                      <a:latin typeface="Cambria Math" panose="02040503050406030204" pitchFamily="18" charset="0"/>
                                    </a:rPr>
                                    <m:t>𝑔</m:t>
                                  </m:r>
                                </m:fName>
                                <m:e>
                                  <m:sSub>
                                    <m:sSubPr>
                                      <m:ctrlPr>
                                        <a:rPr lang="ar-AE" sz="3600" i="1" smtClean="0">
                                          <a:solidFill>
                                            <a:schemeClr val="tx2"/>
                                          </a:solidFill>
                                          <a:latin typeface="Cambria Math" panose="02040503050406030204" pitchFamily="18" charset="0"/>
                                        </a:rPr>
                                      </m:ctrlPr>
                                    </m:sSubPr>
                                    <m:e>
                                      <m:acc>
                                        <m:accPr>
                                          <m:chr m:val="̂"/>
                                          <m:ctrlPr>
                                            <a:rPr lang="ar-AE" sz="3600" i="1">
                                              <a:solidFill>
                                                <a:schemeClr val="tx2"/>
                                              </a:solidFill>
                                              <a:latin typeface="Cambria Math" panose="02040503050406030204" pitchFamily="18" charset="0"/>
                                            </a:rPr>
                                          </m:ctrlPr>
                                        </m:accPr>
                                        <m:e>
                                          <m:r>
                                            <a:rPr lang="ar-AE" sz="3600" i="1">
                                              <a:solidFill>
                                                <a:schemeClr val="tx2"/>
                                              </a:solidFill>
                                              <a:latin typeface="Cambria Math" panose="02040503050406030204" pitchFamily="18" charset="0"/>
                                            </a:rPr>
                                            <m:t>𝑝</m:t>
                                          </m:r>
                                        </m:e>
                                      </m:acc>
                                    </m:e>
                                    <m:sub>
                                      <m:acc>
                                        <m:accPr>
                                          <m:chr m:val="ˆ"/>
                                          <m:ctrlPr>
                                            <a:rPr lang="en-US" sz="3600" i="1">
                                              <a:latin typeface="Cambria Math" panose="02040503050406030204" pitchFamily="18" charset="0"/>
                                            </a:rPr>
                                          </m:ctrlPr>
                                        </m:accPr>
                                        <m:e>
                                          <m:box>
                                            <m:boxPr>
                                              <m:ctrlPr>
                                                <a:rPr lang="en-US" sz="3600" i="1">
                                                  <a:latin typeface="Cambria Math" panose="02040503050406030204" pitchFamily="18" charset="0"/>
                                                </a:rPr>
                                              </m:ctrlPr>
                                            </m:boxPr>
                                            <m:e>
                                              <m:r>
                                                <a:rPr lang="uk-UA" sz="3600" i="1">
                                                  <a:latin typeface="Cambria Math" panose="02040503050406030204" pitchFamily="18" charset="0"/>
                                                </a:rPr>
                                                <m:t>𝜎</m:t>
                                              </m:r>
                                            </m:e>
                                          </m:box>
                                        </m:e>
                                      </m:acc>
                                      <m:d>
                                        <m:dPr>
                                          <m:ctrlPr>
                                            <a:rPr lang="en-US" sz="3600" i="1">
                                              <a:latin typeface="Cambria Math" panose="02040503050406030204" pitchFamily="18" charset="0"/>
                                            </a:rPr>
                                          </m:ctrlPr>
                                        </m:dPr>
                                        <m:e>
                                          <m:r>
                                            <a:rPr lang="uk-UA" sz="3600" i="1">
                                              <a:latin typeface="Cambria Math" panose="02040503050406030204" pitchFamily="18" charset="0"/>
                                            </a:rPr>
                                            <m:t>𝑖</m:t>
                                          </m:r>
                                        </m:e>
                                      </m:d>
                                    </m:sub>
                                  </m:sSub>
                                </m:e>
                              </m:func>
                              <m:d>
                                <m:dPr>
                                  <m:ctrlPr>
                                    <a:rPr lang="ar-AE" sz="3600" i="1">
                                      <a:solidFill>
                                        <a:schemeClr val="tx2"/>
                                      </a:solidFill>
                                      <a:latin typeface="Cambria Math" panose="02040503050406030204" pitchFamily="18" charset="0"/>
                                    </a:rPr>
                                  </m:ctrlPr>
                                </m:dPr>
                                <m:e>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𝑐</m:t>
                                      </m:r>
                                    </m:e>
                                    <m:sub>
                                      <m:r>
                                        <a:rPr lang="ar-AE" sz="3600" i="1">
                                          <a:solidFill>
                                            <a:schemeClr val="tx2"/>
                                          </a:solidFill>
                                          <a:latin typeface="Cambria Math" panose="02040503050406030204" pitchFamily="18" charset="0"/>
                                        </a:rPr>
                                        <m:t>𝑖</m:t>
                                      </m:r>
                                    </m:sub>
                                  </m:sSub>
                                </m:e>
                              </m:d>
                              <m:r>
                                <a:rPr lang="ar-AE" sz="3600" i="1">
                                  <a:solidFill>
                                    <a:schemeClr val="tx2"/>
                                  </a:solidFill>
                                  <a:latin typeface="Cambria Math" panose="02040503050406030204" pitchFamily="18" charset="0"/>
                                </a:rPr>
                                <m:t>+</m:t>
                              </m:r>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1</m:t>
                                  </m:r>
                                </m:e>
                                <m:sub>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𝑐</m:t>
                                      </m:r>
                                    </m:e>
                                    <m:sub>
                                      <m:r>
                                        <a:rPr lang="ar-AE" sz="3600" i="1">
                                          <a:solidFill>
                                            <a:schemeClr val="tx2"/>
                                          </a:solidFill>
                                          <a:latin typeface="Cambria Math" panose="02040503050406030204" pitchFamily="18" charset="0"/>
                                        </a:rPr>
                                        <m:t>𝑖</m:t>
                                      </m:r>
                                    </m:sub>
                                  </m:sSub>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m:t>
                                  </m:r>
                                </m:sub>
                              </m:sSub>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𝐿</m:t>
                                  </m:r>
                                </m:e>
                                <m:sub>
                                  <m:r>
                                    <a:rPr lang="ar-AE" sz="3600" i="1">
                                      <a:solidFill>
                                        <a:schemeClr val="tx2"/>
                                      </a:solidFill>
                                      <a:latin typeface="Cambria Math" panose="02040503050406030204" pitchFamily="18" charset="0"/>
                                    </a:rPr>
                                    <m:t>𝑏𝑜𝑥</m:t>
                                  </m:r>
                                </m:sub>
                              </m:sSub>
                              <m:d>
                                <m:dPr>
                                  <m:ctrlPr>
                                    <a:rPr lang="ar-AE" sz="3600" i="1">
                                      <a:solidFill>
                                        <a:schemeClr val="tx2"/>
                                      </a:solidFill>
                                      <a:latin typeface="Cambria Math" panose="02040503050406030204" pitchFamily="18" charset="0"/>
                                    </a:rPr>
                                  </m:ctrlPr>
                                </m:dPr>
                                <m:e>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𝑏</m:t>
                                      </m:r>
                                    </m:e>
                                    <m:sub>
                                      <m:r>
                                        <a:rPr lang="ar-AE" sz="3600" i="1">
                                          <a:solidFill>
                                            <a:schemeClr val="tx2"/>
                                          </a:solidFill>
                                          <a:latin typeface="Cambria Math" panose="02040503050406030204" pitchFamily="18" charset="0"/>
                                        </a:rPr>
                                        <m:t>𝑖</m:t>
                                      </m:r>
                                    </m:sub>
                                  </m:sSub>
                                  <m:r>
                                    <a:rPr lang="ar-AE" sz="3600" i="1">
                                      <a:solidFill>
                                        <a:schemeClr val="tx2"/>
                                      </a:solidFill>
                                      <a:latin typeface="Cambria Math" panose="02040503050406030204" pitchFamily="18" charset="0"/>
                                    </a:rPr>
                                    <m:t>, </m:t>
                                  </m:r>
                                  <m:sSub>
                                    <m:sSubPr>
                                      <m:ctrlPr>
                                        <a:rPr lang="ar-AE" sz="3600" i="1" smtClean="0">
                                          <a:solidFill>
                                            <a:schemeClr val="tx2"/>
                                          </a:solidFill>
                                          <a:latin typeface="Cambria Math" panose="02040503050406030204" pitchFamily="18" charset="0"/>
                                        </a:rPr>
                                      </m:ctrlPr>
                                    </m:sSubPr>
                                    <m:e>
                                      <m:acc>
                                        <m:accPr>
                                          <m:chr m:val="̂"/>
                                          <m:ctrlPr>
                                            <a:rPr lang="ar-AE" sz="3600" i="1">
                                              <a:solidFill>
                                                <a:schemeClr val="tx2"/>
                                              </a:solidFill>
                                              <a:latin typeface="Cambria Math" panose="02040503050406030204" pitchFamily="18" charset="0"/>
                                            </a:rPr>
                                          </m:ctrlPr>
                                        </m:accPr>
                                        <m:e>
                                          <m:r>
                                            <a:rPr lang="ar-AE" sz="3600" i="1">
                                              <a:solidFill>
                                                <a:schemeClr val="tx2"/>
                                              </a:solidFill>
                                              <a:latin typeface="Cambria Math" panose="02040503050406030204" pitchFamily="18" charset="0"/>
                                            </a:rPr>
                                            <m:t>𝑏</m:t>
                                          </m:r>
                                        </m:e>
                                      </m:acc>
                                    </m:e>
                                    <m:sub>
                                      <m:acc>
                                        <m:accPr>
                                          <m:chr m:val="ˆ"/>
                                          <m:ctrlPr>
                                            <a:rPr lang="en-US" sz="3600" i="1">
                                              <a:latin typeface="Cambria Math" panose="02040503050406030204" pitchFamily="18" charset="0"/>
                                            </a:rPr>
                                          </m:ctrlPr>
                                        </m:accPr>
                                        <m:e>
                                          <m:box>
                                            <m:boxPr>
                                              <m:ctrlPr>
                                                <a:rPr lang="en-US" sz="3600" i="1">
                                                  <a:latin typeface="Cambria Math" panose="02040503050406030204" pitchFamily="18" charset="0"/>
                                                </a:rPr>
                                              </m:ctrlPr>
                                            </m:boxPr>
                                            <m:e>
                                              <m:r>
                                                <a:rPr lang="uk-UA" sz="3600" i="1">
                                                  <a:latin typeface="Cambria Math" panose="02040503050406030204" pitchFamily="18" charset="0"/>
                                                </a:rPr>
                                                <m:t>𝜎</m:t>
                                              </m:r>
                                            </m:e>
                                          </m:box>
                                        </m:e>
                                      </m:acc>
                                      <m:d>
                                        <m:dPr>
                                          <m:ctrlPr>
                                            <a:rPr lang="en-US" sz="3600" i="1">
                                              <a:latin typeface="Cambria Math" panose="02040503050406030204" pitchFamily="18" charset="0"/>
                                            </a:rPr>
                                          </m:ctrlPr>
                                        </m:dPr>
                                        <m:e>
                                          <m:r>
                                            <a:rPr lang="uk-UA" sz="3600" i="1">
                                              <a:latin typeface="Cambria Math" panose="02040503050406030204" pitchFamily="18" charset="0"/>
                                            </a:rPr>
                                            <m:t>𝑖</m:t>
                                          </m:r>
                                        </m:e>
                                      </m:d>
                                    </m:sub>
                                  </m:sSub>
                                </m:e>
                              </m:d>
                            </m:e>
                          </m:d>
                        </m:e>
                      </m:nary>
                    </m:oMath>
                  </m:oMathPara>
                </a14:m>
                <a:endParaRPr lang="ar-AE" sz="3600" dirty="0">
                  <a:solidFill>
                    <a:schemeClr val="tx2"/>
                  </a:solidFill>
                </a:endParaRPr>
              </a:p>
              <a:p>
                <a:r>
                  <a:rPr lang="uk-UA" sz="3600" dirty="0">
                    <a:solidFill>
                      <a:schemeClr val="tx2"/>
                    </a:solidFill>
                  </a:rPr>
                  <a:t>Позиційне кодування, </a:t>
                </a:r>
                <a:r>
                  <a:rPr lang="uk-UA" sz="3600" dirty="0" err="1">
                    <a:solidFill>
                      <a:schemeClr val="tx2"/>
                    </a:solidFill>
                  </a:rPr>
                  <a:t>кодер</a:t>
                </a:r>
                <a:r>
                  <a:rPr lang="uk-UA" sz="3600" dirty="0">
                    <a:solidFill>
                      <a:schemeClr val="tx2"/>
                    </a:solidFill>
                  </a:rPr>
                  <a:t>-декодер, </a:t>
                </a:r>
                <a:r>
                  <a:rPr lang="en-US" sz="3600" dirty="0">
                    <a:solidFill>
                      <a:schemeClr val="tx2"/>
                    </a:solidFill>
                  </a:rPr>
                  <a:t>FFN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6" y="710006"/>
                <a:ext cx="12191695" cy="5646344"/>
              </a:xfrm>
              <a:blipFill>
                <a:blip r:embed="rId3"/>
                <a:stretch>
                  <a:fillRect l="-1400" t="-1618" b="-4962"/>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C89AC34B-8E7D-2CAB-EE00-4CEDFF95D5F4}"/>
              </a:ext>
            </a:extLst>
          </p:cNvPr>
          <p:cNvSpPr>
            <a:spLocks noGrp="1"/>
          </p:cNvSpPr>
          <p:nvPr>
            <p:ph type="sldNum" sz="quarter" idx="12"/>
          </p:nvPr>
        </p:nvSpPr>
        <p:spPr/>
        <p:txBody>
          <a:bodyPr/>
          <a:lstStyle/>
          <a:p>
            <a:fld id="{C1FF6DA9-008F-8B48-92A6-B652298478BF}" type="slidenum">
              <a:rPr lang="en-US" smtClean="0"/>
              <a:t>47</a:t>
            </a:fld>
            <a:endParaRPr lang="en-US"/>
          </a:p>
        </p:txBody>
      </p:sp>
      <p:sp>
        <p:nvSpPr>
          <p:cNvPr id="6" name="TextBox 5">
            <a:extLst>
              <a:ext uri="{FF2B5EF4-FFF2-40B4-BE49-F238E27FC236}">
                <a16:creationId xmlns:a16="http://schemas.microsoft.com/office/drawing/2014/main" id="{F5FF31E5-1F55-1F8E-F48F-AAF8BB407598}"/>
              </a:ext>
            </a:extLst>
          </p:cNvPr>
          <p:cNvSpPr txBox="1"/>
          <p:nvPr/>
        </p:nvSpPr>
        <p:spPr>
          <a:xfrm>
            <a:off x="11485149" y="90497"/>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extLst>
      <p:ext uri="{BB962C8B-B14F-4D97-AF65-F5344CB8AC3E}">
        <p14:creationId xmlns:p14="http://schemas.microsoft.com/office/powerpoint/2010/main" val="23891970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77317" y="134572"/>
            <a:ext cx="9833548" cy="1325563"/>
          </a:xfrm>
        </p:spPr>
        <p:txBody>
          <a:bodyPr anchor="b">
            <a:normAutofit/>
          </a:bodyPr>
          <a:lstStyle/>
          <a:p>
            <a:r>
              <a:rPr lang="ru-RU" sz="3600" dirty="0">
                <a:solidFill>
                  <a:schemeClr val="tx2"/>
                </a:solidFill>
              </a:rPr>
              <a:t>Модель </a:t>
            </a:r>
            <a:r>
              <a:rPr lang="ru-RU" sz="3600" dirty="0" err="1">
                <a:solidFill>
                  <a:schemeClr val="tx2"/>
                </a:solidFill>
              </a:rPr>
              <a:t>GeoNet</a:t>
            </a:r>
            <a:r>
              <a:rPr lang="ru-RU" sz="3600" dirty="0">
                <a:solidFill>
                  <a:schemeClr val="tx2"/>
                </a:solidFill>
              </a:rPr>
              <a:t> (</a:t>
            </a:r>
            <a:r>
              <a:rPr lang="ru-RU" sz="3600" dirty="0" err="1">
                <a:solidFill>
                  <a:schemeClr val="tx2"/>
                </a:solidFill>
              </a:rPr>
              <a:t>сумісна</a:t>
            </a:r>
            <a:r>
              <a:rPr lang="ru-RU" sz="3600" dirty="0">
                <a:solidFill>
                  <a:schemeClr val="tx2"/>
                </a:solidFill>
              </a:rPr>
              <a:t> </a:t>
            </a:r>
            <a:r>
              <a:rPr lang="ru-RU" sz="3600" dirty="0" err="1">
                <a:solidFill>
                  <a:schemeClr val="tx2"/>
                </a:solidFill>
              </a:rPr>
              <a:t>оцінка</a:t>
            </a:r>
            <a:r>
              <a:rPr lang="ru-RU" sz="3600" dirty="0">
                <a:solidFill>
                  <a:schemeClr val="tx2"/>
                </a:solidFill>
              </a:rPr>
              <a:t> </a:t>
            </a:r>
            <a:r>
              <a:rPr lang="ru-RU" sz="3600" dirty="0" err="1">
                <a:solidFill>
                  <a:schemeClr val="tx2"/>
                </a:solidFill>
              </a:rPr>
              <a:t>глибини</a:t>
            </a:r>
            <a:r>
              <a:rPr lang="ru-RU" sz="3600" dirty="0">
                <a:solidFill>
                  <a:schemeClr val="tx2"/>
                </a:solidFill>
              </a:rPr>
              <a:t> та потоку)</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47" y="1594704"/>
                <a:ext cx="12201189" cy="4494123"/>
              </a:xfrm>
            </p:spPr>
            <p:txBody>
              <a:bodyPr>
                <a:noAutofit/>
              </a:bodyPr>
              <a:lstStyle/>
              <a:p>
                <a:r>
                  <a:rPr lang="uk-UA" dirty="0">
                    <a:solidFill>
                      <a:schemeClr val="tx2"/>
                    </a:solidFill>
                  </a:rPr>
                  <a:t>Фотометрична узгодженість </a:t>
                </a:r>
                <a:r>
                  <a:rPr lang="ru-RU" dirty="0" err="1">
                    <a:solidFill>
                      <a:schemeClr val="tx2"/>
                    </a:solidFill>
                  </a:rPr>
                  <a:t>стверджує</a:t>
                </a:r>
                <a:r>
                  <a:rPr lang="ru-RU" dirty="0">
                    <a:solidFill>
                      <a:schemeClr val="tx2"/>
                    </a:solidFill>
                  </a:rPr>
                  <a:t>, </a:t>
                </a:r>
                <a:r>
                  <a:rPr lang="ru-RU" dirty="0" err="1">
                    <a:solidFill>
                      <a:schemeClr val="tx2"/>
                    </a:solidFill>
                  </a:rPr>
                  <a:t>що</a:t>
                </a:r>
                <a:r>
                  <a:rPr lang="ru-RU" dirty="0">
                    <a:solidFill>
                      <a:schemeClr val="tx2"/>
                    </a:solidFill>
                  </a:rPr>
                  <a:t> </a:t>
                </a:r>
                <a:r>
                  <a:rPr lang="ru-RU" dirty="0" err="1">
                    <a:solidFill>
                      <a:schemeClr val="tx2"/>
                    </a:solidFill>
                  </a:rPr>
                  <a:t>піксель</a:t>
                </a:r>
                <a:r>
                  <a:rPr lang="ru-RU" dirty="0">
                    <a:solidFill>
                      <a:schemeClr val="tx2"/>
                    </a:solidFill>
                  </a:rPr>
                  <a:t> </a:t>
                </a:r>
                <a:r>
                  <a:rPr lang="ru-RU" dirty="0" err="1">
                    <a:solidFill>
                      <a:schemeClr val="tx2"/>
                    </a:solidFill>
                  </a:rPr>
                  <a:t>першого</a:t>
                </a:r>
                <a:r>
                  <a:rPr lang="ru-RU" dirty="0">
                    <a:solidFill>
                      <a:schemeClr val="tx2"/>
                    </a:solidFill>
                  </a:rPr>
                  <a:t> кадру </a:t>
                </a:r>
                <a:r>
                  <a:rPr lang="ru-RU" dirty="0" err="1">
                    <a:solidFill>
                      <a:schemeClr val="tx2"/>
                    </a:solidFill>
                  </a:rPr>
                  <a:t>після</a:t>
                </a:r>
                <a:r>
                  <a:rPr lang="ru-RU" dirty="0">
                    <a:solidFill>
                      <a:schemeClr val="tx2"/>
                    </a:solidFill>
                  </a:rPr>
                  <a:t> </a:t>
                </a:r>
                <a:r>
                  <a:rPr lang="ru-RU" dirty="0" err="1">
                    <a:solidFill>
                      <a:schemeClr val="tx2"/>
                    </a:solidFill>
                  </a:rPr>
                  <a:t>зсуву</a:t>
                </a:r>
                <a:r>
                  <a:rPr lang="ru-RU" dirty="0">
                    <a:solidFill>
                      <a:schemeClr val="tx2"/>
                    </a:solidFill>
                  </a:rPr>
                  <a:t> на вектор </a:t>
                </a:r>
                <a:r>
                  <a:rPr lang="ru-RU" dirty="0" err="1">
                    <a:solidFill>
                      <a:schemeClr val="tx2"/>
                    </a:solidFill>
                  </a:rPr>
                  <a:t>оптичного</a:t>
                </a:r>
                <a:r>
                  <a:rPr lang="ru-RU" dirty="0">
                    <a:solidFill>
                      <a:schemeClr val="tx2"/>
                    </a:solidFill>
                  </a:rPr>
                  <a:t> потоку повинен </a:t>
                </a:r>
                <a:r>
                  <a:rPr lang="ru-RU" dirty="0" err="1">
                    <a:solidFill>
                      <a:schemeClr val="tx2"/>
                    </a:solidFill>
                  </a:rPr>
                  <a:t>мати</a:t>
                </a:r>
                <a:r>
                  <a:rPr lang="ru-RU" dirty="0">
                    <a:solidFill>
                      <a:schemeClr val="tx2"/>
                    </a:solidFill>
                  </a:rPr>
                  <a:t> ту саму </a:t>
                </a:r>
                <a:r>
                  <a:rPr lang="ru-RU" dirty="0" err="1">
                    <a:solidFill>
                      <a:schemeClr val="tx2"/>
                    </a:solidFill>
                  </a:rPr>
                  <a:t>інтенсивність</a:t>
                </a:r>
                <a:r>
                  <a:rPr lang="ru-RU" dirty="0">
                    <a:solidFill>
                      <a:schemeClr val="tx2"/>
                    </a:solidFill>
                  </a:rPr>
                  <a:t>, </a:t>
                </a:r>
                <a:r>
                  <a:rPr lang="ru-RU" dirty="0" err="1">
                    <a:solidFill>
                      <a:schemeClr val="tx2"/>
                    </a:solidFill>
                  </a:rPr>
                  <a:t>що</a:t>
                </a:r>
                <a:r>
                  <a:rPr lang="ru-RU" dirty="0">
                    <a:solidFill>
                      <a:schemeClr val="tx2"/>
                    </a:solidFill>
                  </a:rPr>
                  <a:t> й </a:t>
                </a:r>
                <a:r>
                  <a:rPr lang="ru-RU" dirty="0" err="1">
                    <a:solidFill>
                      <a:schemeClr val="tx2"/>
                    </a:solidFill>
                  </a:rPr>
                  <a:t>відповідний</a:t>
                </a:r>
                <a:r>
                  <a:rPr lang="ru-RU" dirty="0">
                    <a:solidFill>
                      <a:schemeClr val="tx2"/>
                    </a:solidFill>
                  </a:rPr>
                  <a:t> </a:t>
                </a:r>
                <a:r>
                  <a:rPr lang="ru-RU" dirty="0" err="1">
                    <a:solidFill>
                      <a:schemeClr val="tx2"/>
                    </a:solidFill>
                  </a:rPr>
                  <a:t>піксель</a:t>
                </a:r>
                <a:r>
                  <a:rPr lang="ru-RU" dirty="0">
                    <a:solidFill>
                      <a:schemeClr val="tx2"/>
                    </a:solidFill>
                  </a:rPr>
                  <a:t> другого кадру</a:t>
                </a:r>
                <a:r>
                  <a:rPr lang="uk-UA" dirty="0">
                    <a:solidFill>
                      <a:schemeClr val="tx2"/>
                    </a:solidFill>
                  </a:rPr>
                  <a:t>:</a:t>
                </a:r>
                <a:endParaRPr lang="en-US" dirty="0">
                  <a:solidFill>
                    <a:schemeClr val="tx2"/>
                  </a:solidFill>
                </a:endParaRPr>
              </a:p>
              <a:p>
                <a:pPr marL="0" indent="0">
                  <a:buNone/>
                </a:pPr>
                <a14:m>
                  <m:oMathPara xmlns:m="http://schemas.openxmlformats.org/officeDocument/2006/math">
                    <m:oMathParaPr>
                      <m:jc m:val="centerGroup"/>
                    </m:oMathParaPr>
                    <m:oMath xmlns:m="http://schemas.openxmlformats.org/officeDocument/2006/math">
                      <m:r>
                        <a:rPr lang="uk-UA" i="1">
                          <a:solidFill>
                            <a:schemeClr val="tx2"/>
                          </a:solidFill>
                          <a:latin typeface="Cambria Math" panose="02040503050406030204" pitchFamily="18" charset="0"/>
                        </a:rPr>
                        <m:t>𝐼</m:t>
                      </m:r>
                      <m:r>
                        <a:rPr lang="uk-UA" i="1">
                          <a:solidFill>
                            <a:schemeClr val="tx2"/>
                          </a:solidFill>
                          <a:latin typeface="Cambria Math" panose="02040503050406030204" pitchFamily="18" charset="0"/>
                        </a:rPr>
                        <m:t>₂(</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𝐼</m:t>
                      </m:r>
                      <m:r>
                        <a:rPr lang="uk-UA" i="1">
                          <a:solidFill>
                            <a:schemeClr val="tx2"/>
                          </a:solidFill>
                          <a:latin typeface="Cambria Math" panose="02040503050406030204" pitchFamily="18" charset="0"/>
                        </a:rPr>
                        <m:t>₁(</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𝑓</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oMath>
                  </m:oMathPara>
                </a14:m>
                <a:endParaRPr lang="uk-UA" dirty="0">
                  <a:solidFill>
                    <a:schemeClr val="tx2"/>
                  </a:solidFill>
                </a:endParaRPr>
              </a:p>
              <a:p>
                <a:r>
                  <a:rPr lang="uk-UA" dirty="0">
                    <a:solidFill>
                      <a:schemeClr val="tx2"/>
                    </a:solidFill>
                  </a:rPr>
                  <a:t>Геометрична модель пов'язує оптичний потік з глибиною, рухом камери та проекцією точки: </a:t>
                </a:r>
                <a:endParaRPr lang="en-US" dirty="0">
                  <a:solidFill>
                    <a:schemeClr val="tx2"/>
                  </a:solidFill>
                </a:endParaRPr>
              </a:p>
              <a:p>
                <a:pPr marL="0" indent="0">
                  <a:buNone/>
                </a:pPr>
                <a14:m>
                  <m:oMathPara xmlns:m="http://schemas.openxmlformats.org/officeDocument/2006/math">
                    <m:oMathParaPr>
                      <m:jc m:val="centerGroup"/>
                    </m:oMathParaPr>
                    <m:oMath xmlns:m="http://schemas.openxmlformats.org/officeDocument/2006/math">
                      <m:r>
                        <a:rPr lang="uk-UA" i="1">
                          <a:solidFill>
                            <a:schemeClr val="tx2"/>
                          </a:solidFill>
                          <a:latin typeface="Cambria Math" panose="02040503050406030204" pitchFamily="18" charset="0"/>
                        </a:rPr>
                        <m:t>𝑓</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𝑇</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𝑍</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𝑍</m:t>
                      </m:r>
                      <m:r>
                        <a:rPr lang="uk-UA" i="1">
                          <a:solidFill>
                            <a:schemeClr val="tx2"/>
                          </a:solidFill>
                          <a:latin typeface="Cambria Math" panose="02040503050406030204" pitchFamily="18" charset="0"/>
                        </a:rPr>
                        <m:t>₀)/</m:t>
                      </m:r>
                      <m:r>
                        <a:rPr lang="uk-UA" i="1">
                          <a:solidFill>
                            <a:schemeClr val="tx2"/>
                          </a:solidFill>
                          <a:latin typeface="Cambria Math" panose="02040503050406030204" pitchFamily="18" charset="0"/>
                        </a:rPr>
                        <m:t>𝑍</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𝑝𝑟𝑜𝑗</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oMath>
                  </m:oMathPara>
                </a14:m>
                <a:endParaRPr lang="ar-AE" dirty="0">
                  <a:solidFill>
                    <a:schemeClr val="tx2"/>
                  </a:solidFill>
                </a:endParaRPr>
              </a:p>
              <a:p>
                <a:r>
                  <a:rPr lang="uk-UA" dirty="0">
                    <a:solidFill>
                      <a:schemeClr val="tx2"/>
                    </a:solidFill>
                  </a:rPr>
                  <a:t>Використовується для відокремлення руху камери від руху об'єктів</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47" y="1594704"/>
                <a:ext cx="12201189" cy="4494123"/>
              </a:xfrm>
              <a:blipFill>
                <a:blip r:embed="rId3"/>
                <a:stretch>
                  <a:fillRect l="-1149" t="-1764" r="-999"/>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6CCAA1D6-06D2-C8C3-E275-F41F45D26BE2}"/>
              </a:ext>
            </a:extLst>
          </p:cNvPr>
          <p:cNvSpPr>
            <a:spLocks noGrp="1"/>
          </p:cNvSpPr>
          <p:nvPr>
            <p:ph type="sldNum" sz="quarter" idx="12"/>
          </p:nvPr>
        </p:nvSpPr>
        <p:spPr/>
        <p:txBody>
          <a:bodyPr/>
          <a:lstStyle/>
          <a:p>
            <a:fld id="{C1FF6DA9-008F-8B48-92A6-B652298478BF}" type="slidenum">
              <a:rPr lang="en-US" smtClean="0"/>
              <a:t>48</a:t>
            </a:fld>
            <a:endParaRPr lang="en-US"/>
          </a:p>
        </p:txBody>
      </p:sp>
      <p:sp>
        <p:nvSpPr>
          <p:cNvPr id="6" name="TextBox 5">
            <a:extLst>
              <a:ext uri="{FF2B5EF4-FFF2-40B4-BE49-F238E27FC236}">
                <a16:creationId xmlns:a16="http://schemas.microsoft.com/office/drawing/2014/main" id="{5D100778-87B3-6F64-6D6D-2651CE5D5C26}"/>
              </a:ext>
            </a:extLst>
          </p:cNvPr>
          <p:cNvSpPr txBox="1"/>
          <p:nvPr/>
        </p:nvSpPr>
        <p:spPr>
          <a:xfrm>
            <a:off x="11621623" y="115010"/>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Tree>
    <p:extLst>
      <p:ext uri="{BB962C8B-B14F-4D97-AF65-F5344CB8AC3E}">
        <p14:creationId xmlns:p14="http://schemas.microsoft.com/office/powerpoint/2010/main" val="1518971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135501" y="243595"/>
            <a:ext cx="5754696" cy="1204205"/>
          </a:xfrm>
        </p:spPr>
        <p:txBody>
          <a:bodyPr>
            <a:normAutofit/>
          </a:bodyPr>
          <a:lstStyle/>
          <a:p>
            <a:r>
              <a:rPr lang="ru-RU" sz="3600" dirty="0" err="1">
                <a:solidFill>
                  <a:schemeClr val="tx2"/>
                </a:solidFill>
              </a:rPr>
              <a:t>Визначення</a:t>
            </a:r>
            <a:r>
              <a:rPr lang="ru-RU" sz="3600" dirty="0">
                <a:solidFill>
                  <a:schemeClr val="tx2"/>
                </a:solidFill>
              </a:rPr>
              <a:t> </a:t>
            </a:r>
            <a:r>
              <a:rPr lang="ru-RU" sz="3600" dirty="0" err="1">
                <a:solidFill>
                  <a:schemeClr val="tx2"/>
                </a:solidFill>
              </a:rPr>
              <a:t>параметрів</a:t>
            </a:r>
            <a:r>
              <a:rPr lang="ru-RU" sz="3600" dirty="0">
                <a:solidFill>
                  <a:schemeClr val="tx2"/>
                </a:solidFill>
              </a:rPr>
              <a:t> методами </a:t>
            </a:r>
            <a:r>
              <a:rPr lang="ru-RU" sz="3600" dirty="0" err="1">
                <a:solidFill>
                  <a:schemeClr val="tx2"/>
                </a:solidFill>
              </a:rPr>
              <a:t>оптичного</a:t>
            </a:r>
            <a:r>
              <a:rPr lang="ru-RU" sz="3600" dirty="0">
                <a:solidFill>
                  <a:schemeClr val="tx2"/>
                </a:solidFill>
              </a:rPr>
              <a:t> потоку</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9191" y="1691393"/>
                <a:ext cx="12420886" cy="5030082"/>
              </a:xfrm>
            </p:spPr>
            <p:txBody>
              <a:bodyPr anchor="t">
                <a:noAutofit/>
              </a:bodyPr>
              <a:lstStyle/>
              <a:p>
                <a:r>
                  <a:rPr lang="uk-UA" dirty="0">
                    <a:solidFill>
                      <a:schemeClr val="tx2"/>
                    </a:solidFill>
                  </a:rPr>
                  <a:t>Швидкість </a:t>
                </a:r>
                <a:r>
                  <a:rPr lang="ru-RU" dirty="0">
                    <a:solidFill>
                      <a:schemeClr val="tx2"/>
                    </a:solidFill>
                  </a:rPr>
                  <a:t>об</a:t>
                </a:r>
                <a:r>
                  <a:rPr lang="en-US" dirty="0">
                    <a:solidFill>
                      <a:schemeClr val="tx2"/>
                    </a:solidFill>
                  </a:rPr>
                  <a:t>`</a:t>
                </a:r>
                <a:r>
                  <a:rPr lang="ru-RU" dirty="0" err="1">
                    <a:solidFill>
                      <a:schemeClr val="tx2"/>
                    </a:solidFill>
                  </a:rPr>
                  <a:t>єкта</a:t>
                </a:r>
                <a:r>
                  <a:rPr lang="ru-RU" dirty="0">
                    <a:solidFill>
                      <a:schemeClr val="tx2"/>
                    </a:solidFill>
                  </a:rPr>
                  <a:t> </a:t>
                </a:r>
                <a:r>
                  <a:rPr lang="ru-RU" dirty="0" err="1">
                    <a:solidFill>
                      <a:schemeClr val="tx2"/>
                    </a:solidFill>
                  </a:rPr>
                  <a:t>середня</a:t>
                </a:r>
                <a:r>
                  <a:rPr lang="ru-RU" dirty="0">
                    <a:solidFill>
                      <a:schemeClr val="tx2"/>
                    </a:solidFill>
                  </a:rPr>
                  <a:t> величина </a:t>
                </a:r>
                <a:r>
                  <a:rPr lang="ru-RU" dirty="0" err="1">
                    <a:solidFill>
                      <a:schemeClr val="tx2"/>
                    </a:solidFill>
                  </a:rPr>
                  <a:t>оптичного</a:t>
                </a:r>
                <a:r>
                  <a:rPr lang="ru-RU" dirty="0">
                    <a:solidFill>
                      <a:schemeClr val="tx2"/>
                    </a:solidFill>
                  </a:rPr>
                  <a:t> потоку в </a:t>
                </a:r>
                <a:r>
                  <a:rPr lang="ru-RU" dirty="0" err="1">
                    <a:solidFill>
                      <a:schemeClr val="tx2"/>
                    </a:solidFill>
                  </a:rPr>
                  <a:t>області</a:t>
                </a:r>
                <a:r>
                  <a:rPr lang="ru-RU" dirty="0">
                    <a:solidFill>
                      <a:schemeClr val="tx2"/>
                    </a:solidFill>
                  </a:rPr>
                  <a:t> </a:t>
                </a:r>
                <a:r>
                  <a:rPr lang="ru-RU" dirty="0" err="1">
                    <a:solidFill>
                      <a:schemeClr val="tx2"/>
                    </a:solidFill>
                  </a:rPr>
                  <a:t>об'єкта</a:t>
                </a:r>
                <a:r>
                  <a:rPr lang="uk-UA" dirty="0">
                    <a:solidFill>
                      <a:schemeClr val="tx2"/>
                    </a:solidFill>
                  </a:rPr>
                  <a:t>: </a:t>
                </a:r>
                <a14:m>
                  <m:oMath xmlns:m="http://schemas.openxmlformats.org/officeDocument/2006/math">
                    <m:r>
                      <a:rPr lang="uk-UA" i="1">
                        <a:solidFill>
                          <a:schemeClr val="tx2"/>
                        </a:solidFill>
                        <a:latin typeface="Cambria Math" panose="02040503050406030204" pitchFamily="18" charset="0"/>
                      </a:rPr>
                      <m:t>𝑣</m:t>
                    </m:r>
                    <m:r>
                      <a:rPr lang="uk-UA" i="1">
                        <a:solidFill>
                          <a:schemeClr val="tx2"/>
                        </a:solidFill>
                        <a:latin typeface="Cambria Math" panose="02040503050406030204" pitchFamily="18" charset="0"/>
                      </a:rPr>
                      <m:t> = (1/|</m:t>
                    </m:r>
                    <m:r>
                      <m:rPr>
                        <m:sty m:val="p"/>
                      </m:rPr>
                      <a:rPr lang="el-GR" i="0">
                        <a:solidFill>
                          <a:schemeClr val="tx2"/>
                        </a:solidFill>
                        <a:latin typeface="Cambria Math" panose="02040503050406030204" pitchFamily="18" charset="0"/>
                      </a:rPr>
                      <m:t>Ω</m:t>
                    </m:r>
                    <m:r>
                      <a:rPr lang="el-GR" i="1">
                        <a:solidFill>
                          <a:schemeClr val="tx2"/>
                        </a:solidFill>
                        <a:latin typeface="Cambria Math" panose="02040503050406030204" pitchFamily="18" charset="0"/>
                      </a:rPr>
                      <m:t>|)∬_</m:t>
                    </m:r>
                    <m:r>
                      <m:rPr>
                        <m:sty m:val="p"/>
                      </m:rPr>
                      <a:rPr lang="el-GR" i="0">
                        <a:solidFill>
                          <a:schemeClr val="tx2"/>
                        </a:solidFill>
                        <a:latin typeface="Cambria Math" panose="02040503050406030204" pitchFamily="18" charset="0"/>
                      </a:rPr>
                      <m:t>Ω</m:t>
                    </m:r>
                    <m:r>
                      <a:rPr lang="el-GR" i="1">
                        <a:solidFill>
                          <a:schemeClr val="tx2"/>
                        </a:solidFill>
                        <a:latin typeface="Cambria Math" panose="02040503050406030204" pitchFamily="18" charset="0"/>
                      </a:rPr>
                      <m:t> √(</m:t>
                    </m:r>
                    <m:r>
                      <a:rPr lang="el-GR" i="1">
                        <a:solidFill>
                          <a:schemeClr val="tx2"/>
                        </a:solidFill>
                        <a:latin typeface="Cambria Math" panose="02040503050406030204" pitchFamily="18" charset="0"/>
                      </a:rPr>
                      <m:t>𝑢</m:t>
                    </m:r>
                    <m:r>
                      <a:rPr lang="el-GR" i="1">
                        <a:solidFill>
                          <a:schemeClr val="tx2"/>
                        </a:solidFill>
                        <a:latin typeface="Cambria Math" panose="02040503050406030204" pitchFamily="18" charset="0"/>
                      </a:rPr>
                      <m:t>²+</m:t>
                    </m:r>
                    <m:r>
                      <a:rPr lang="el-GR" i="1">
                        <a:solidFill>
                          <a:schemeClr val="tx2"/>
                        </a:solidFill>
                        <a:latin typeface="Cambria Math" panose="02040503050406030204" pitchFamily="18" charset="0"/>
                      </a:rPr>
                      <m:t>𝑣</m:t>
                    </m:r>
                    <m:r>
                      <a:rPr lang="el-GR" i="1">
                        <a:solidFill>
                          <a:schemeClr val="tx2"/>
                        </a:solidFill>
                        <a:latin typeface="Cambria Math" panose="02040503050406030204" pitchFamily="18" charset="0"/>
                      </a:rPr>
                      <m:t>²) </m:t>
                    </m:r>
                    <m:r>
                      <a:rPr lang="el-GR" i="1">
                        <a:solidFill>
                          <a:schemeClr val="tx2"/>
                        </a:solidFill>
                        <a:latin typeface="Cambria Math" panose="02040503050406030204" pitchFamily="18" charset="0"/>
                      </a:rPr>
                      <m:t>𝑑𝑥𝑑𝑦</m:t>
                    </m:r>
                  </m:oMath>
                </a14:m>
                <a:endParaRPr lang="el-GR" dirty="0">
                  <a:solidFill>
                    <a:schemeClr val="tx2"/>
                  </a:solidFill>
                </a:endParaRPr>
              </a:p>
              <a:p>
                <a:r>
                  <a:rPr lang="uk-UA" dirty="0">
                    <a:solidFill>
                      <a:schemeClr val="tx2"/>
                    </a:solidFill>
                  </a:rPr>
                  <a:t>Напрямок </a:t>
                </a:r>
                <a:r>
                  <a:rPr lang="ru-RU" dirty="0">
                    <a:solidFill>
                      <a:schemeClr val="tx2"/>
                    </a:solidFill>
                  </a:rPr>
                  <a:t>руху </a:t>
                </a:r>
                <a:r>
                  <a:rPr lang="ru-RU" dirty="0" err="1">
                    <a:solidFill>
                      <a:schemeClr val="tx2"/>
                    </a:solidFill>
                  </a:rPr>
                  <a:t>обчислюється</a:t>
                </a:r>
                <a:r>
                  <a:rPr lang="ru-RU" dirty="0">
                    <a:solidFill>
                      <a:schemeClr val="tx2"/>
                    </a:solidFill>
                  </a:rPr>
                  <a:t> через </a:t>
                </a:r>
                <a:r>
                  <a:rPr lang="ru-RU" dirty="0" err="1">
                    <a:solidFill>
                      <a:schemeClr val="tx2"/>
                    </a:solidFill>
                  </a:rPr>
                  <a:t>векторне</a:t>
                </a:r>
                <a:r>
                  <a:rPr lang="ru-RU" dirty="0">
                    <a:solidFill>
                      <a:schemeClr val="tx2"/>
                    </a:solidFill>
                  </a:rPr>
                  <a:t> </a:t>
                </a:r>
                <a:r>
                  <a:rPr lang="ru-RU" dirty="0" err="1">
                    <a:solidFill>
                      <a:schemeClr val="tx2"/>
                    </a:solidFill>
                  </a:rPr>
                  <a:t>усереднення</a:t>
                </a:r>
                <a:r>
                  <a:rPr lang="ru-RU" dirty="0">
                    <a:solidFill>
                      <a:schemeClr val="tx2"/>
                    </a:solidFill>
                  </a:rPr>
                  <a:t> </a:t>
                </a:r>
                <a:r>
                  <a:rPr lang="ru-RU" dirty="0" err="1">
                    <a:solidFill>
                      <a:schemeClr val="tx2"/>
                    </a:solidFill>
                  </a:rPr>
                  <a:t>кутів</a:t>
                </a:r>
                <a:r>
                  <a:rPr lang="ru-RU" dirty="0">
                    <a:solidFill>
                      <a:schemeClr val="tx2"/>
                    </a:solidFill>
                  </a:rPr>
                  <a:t> – арктангенс </a:t>
                </a:r>
                <a:r>
                  <a:rPr lang="ru-RU" dirty="0" err="1">
                    <a:solidFill>
                      <a:schemeClr val="tx2"/>
                    </a:solidFill>
                  </a:rPr>
                  <a:t>відношення</a:t>
                </a:r>
                <a:r>
                  <a:rPr lang="ru-RU" dirty="0">
                    <a:solidFill>
                      <a:schemeClr val="tx2"/>
                    </a:solidFill>
                  </a:rPr>
                  <a:t> </a:t>
                </a:r>
                <a:r>
                  <a:rPr lang="ru-RU" dirty="0" err="1">
                    <a:solidFill>
                      <a:schemeClr val="tx2"/>
                    </a:solidFill>
                  </a:rPr>
                  <a:t>суми</a:t>
                </a:r>
                <a:r>
                  <a:rPr lang="ru-RU" dirty="0">
                    <a:solidFill>
                      <a:schemeClr val="tx2"/>
                    </a:solidFill>
                  </a:rPr>
                  <a:t> </a:t>
                </a:r>
                <a:r>
                  <a:rPr lang="ru-RU" dirty="0" err="1">
                    <a:solidFill>
                      <a:schemeClr val="tx2"/>
                    </a:solidFill>
                  </a:rPr>
                  <a:t>синусів</a:t>
                </a:r>
                <a:r>
                  <a:rPr lang="ru-RU" dirty="0">
                    <a:solidFill>
                      <a:schemeClr val="tx2"/>
                    </a:solidFill>
                  </a:rPr>
                  <a:t> </a:t>
                </a:r>
                <a:r>
                  <a:rPr lang="ru-RU" dirty="0" err="1">
                    <a:solidFill>
                      <a:schemeClr val="tx2"/>
                    </a:solidFill>
                  </a:rPr>
                  <a:t>кутів</a:t>
                </a:r>
                <a:r>
                  <a:rPr lang="ru-RU" dirty="0">
                    <a:solidFill>
                      <a:schemeClr val="tx2"/>
                    </a:solidFill>
                  </a:rPr>
                  <a:t> до </a:t>
                </a:r>
                <a:r>
                  <a:rPr lang="ru-RU" dirty="0" err="1">
                    <a:solidFill>
                      <a:schemeClr val="tx2"/>
                    </a:solidFill>
                  </a:rPr>
                  <a:t>суми</a:t>
                </a:r>
                <a:r>
                  <a:rPr lang="ru-RU" dirty="0">
                    <a:solidFill>
                      <a:schemeClr val="tx2"/>
                    </a:solidFill>
                  </a:rPr>
                  <a:t> </a:t>
                </a:r>
                <a:r>
                  <a:rPr lang="ru-RU" dirty="0" err="1">
                    <a:solidFill>
                      <a:schemeClr val="tx2"/>
                    </a:solidFill>
                  </a:rPr>
                  <a:t>косинусів</a:t>
                </a:r>
                <a:r>
                  <a:rPr lang="uk-UA" dirty="0">
                    <a:solidFill>
                      <a:schemeClr val="tx2"/>
                    </a:solidFill>
                  </a:rPr>
                  <a:t>:</a:t>
                </a:r>
              </a:p>
              <a:p>
                <a:pPr marL="0" indent="0" algn="ctr">
                  <a:buNone/>
                </a:pPr>
                <a:r>
                  <a:rPr lang="uk-UA" dirty="0">
                    <a:solidFill>
                      <a:schemeClr val="tx2"/>
                    </a:solidFill>
                  </a:rPr>
                  <a:t> </a:t>
                </a:r>
                <a14:m>
                  <m:oMath xmlns:m="http://schemas.openxmlformats.org/officeDocument/2006/math">
                    <m:r>
                      <a:rPr lang="uk-UA" i="1">
                        <a:solidFill>
                          <a:schemeClr val="tx2"/>
                        </a:solidFill>
                        <a:latin typeface="Cambria Math" panose="02040503050406030204" pitchFamily="18" charset="0"/>
                      </a:rPr>
                      <m:t>𝜃</m:t>
                    </m:r>
                    <m:r>
                      <a:rPr lang="uk-UA" i="1">
                        <a:solidFill>
                          <a:schemeClr val="tx2"/>
                        </a:solidFill>
                        <a:latin typeface="Cambria Math" panose="02040503050406030204" pitchFamily="18" charset="0"/>
                      </a:rPr>
                      <m:t> = </m:t>
                    </m:r>
                    <m:r>
                      <m:rPr>
                        <m:sty m:val="p"/>
                      </m:rPr>
                      <a:rPr lang="en-US" i="1">
                        <a:solidFill>
                          <a:schemeClr val="tx2"/>
                        </a:solidFill>
                        <a:latin typeface="Cambria Math" panose="02040503050406030204" pitchFamily="18" charset="0"/>
                      </a:rPr>
                      <m:t>arctan</m:t>
                    </m:r>
                    <m:r>
                      <a:rPr lang="en-US" i="1">
                        <a:solidFill>
                          <a:schemeClr val="tx2"/>
                        </a:solidFill>
                        <a:latin typeface="Cambria Math" panose="02040503050406030204" pitchFamily="18" charset="0"/>
                      </a:rPr>
                      <m:t>⁡(∑ </m:t>
                    </m:r>
                    <m:r>
                      <m:rPr>
                        <m:sty m:val="p"/>
                      </m:rPr>
                      <a:rPr lang="en-US" i="1">
                        <a:solidFill>
                          <a:schemeClr val="tx2"/>
                        </a:solidFill>
                        <a:latin typeface="Cambria Math" panose="02040503050406030204" pitchFamily="18" charset="0"/>
                      </a:rPr>
                      <m:t>sin</m:t>
                    </m:r>
                    <m:sSub>
                      <m:sSubPr>
                        <m:ctrlPr>
                          <a:rPr lang="en-US" i="1" smtClean="0">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𝜃</m:t>
                        </m:r>
                      </m:e>
                      <m:sub>
                        <m:r>
                          <a:rPr lang="en-US" i="1">
                            <a:solidFill>
                              <a:schemeClr val="tx2"/>
                            </a:solidFill>
                            <a:latin typeface="Cambria Math" panose="02040503050406030204" pitchFamily="18" charset="0"/>
                          </a:rPr>
                          <m:t>𝑖</m:t>
                        </m:r>
                      </m:sub>
                    </m:sSub>
                    <m:r>
                      <a:rPr lang="en-US" i="1">
                        <a:solidFill>
                          <a:schemeClr val="tx2"/>
                        </a:solidFill>
                        <a:latin typeface="Cambria Math" panose="02040503050406030204" pitchFamily="18" charset="0"/>
                      </a:rPr>
                      <m:t>/ ∑ </m:t>
                    </m:r>
                    <m:r>
                      <m:rPr>
                        <m:sty m:val="p"/>
                      </m:rPr>
                      <a:rPr lang="en-US" i="1">
                        <a:solidFill>
                          <a:schemeClr val="tx2"/>
                        </a:solidFill>
                        <a:latin typeface="Cambria Math" panose="02040503050406030204" pitchFamily="18" charset="0"/>
                      </a:rPr>
                      <m:t>cos</m:t>
                    </m:r>
                    <m:sSub>
                      <m:sSubPr>
                        <m:ctrlPr>
                          <a:rPr lang="en-US" i="1" smtClean="0">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𝜃</m:t>
                        </m:r>
                      </m:e>
                      <m:sub>
                        <m:r>
                          <a:rPr lang="en-US" i="1">
                            <a:solidFill>
                              <a:schemeClr val="tx2"/>
                            </a:solidFill>
                            <a:latin typeface="Cambria Math" panose="02040503050406030204" pitchFamily="18" charset="0"/>
                          </a:rPr>
                          <m:t>𝑖</m:t>
                        </m:r>
                      </m:sub>
                    </m:sSub>
                    <m:r>
                      <a:rPr lang="en-US" i="1">
                        <a:solidFill>
                          <a:schemeClr val="tx2"/>
                        </a:solidFill>
                        <a:latin typeface="Cambria Math" panose="02040503050406030204" pitchFamily="18" charset="0"/>
                      </a:rPr>
                      <m:t>)</m:t>
                    </m:r>
                  </m:oMath>
                </a14:m>
                <a:endParaRPr lang="en-US" dirty="0">
                  <a:solidFill>
                    <a:schemeClr val="tx2"/>
                  </a:solidFill>
                </a:endParaRPr>
              </a:p>
              <a:p>
                <a:r>
                  <a:rPr lang="ru-RU" dirty="0" err="1">
                    <a:solidFill>
                      <a:schemeClr val="tx2"/>
                    </a:solidFill>
                  </a:rPr>
                  <a:t>Глибина</a:t>
                </a:r>
                <a:r>
                  <a:rPr lang="ru-RU" dirty="0">
                    <a:solidFill>
                      <a:schemeClr val="tx2"/>
                    </a:solidFill>
                  </a:rPr>
                  <a:t> – Z-координата – </a:t>
                </a:r>
                <a:r>
                  <a:rPr lang="ru-RU" dirty="0" err="1">
                    <a:solidFill>
                      <a:schemeClr val="tx2"/>
                    </a:solidFill>
                  </a:rPr>
                  <a:t>медіанне</a:t>
                </a:r>
                <a:r>
                  <a:rPr lang="ru-RU" dirty="0">
                    <a:solidFill>
                      <a:schemeClr val="tx2"/>
                    </a:solidFill>
                  </a:rPr>
                  <a:t> </a:t>
                </a:r>
                <a:r>
                  <a:rPr lang="ru-RU" dirty="0" err="1">
                    <a:solidFill>
                      <a:schemeClr val="tx2"/>
                    </a:solidFill>
                  </a:rPr>
                  <a:t>значення</a:t>
                </a:r>
                <a:r>
                  <a:rPr lang="ru-RU" dirty="0">
                    <a:solidFill>
                      <a:schemeClr val="tx2"/>
                    </a:solidFill>
                  </a:rPr>
                  <a:t> </a:t>
                </a:r>
                <a:r>
                  <a:rPr lang="ru-RU" dirty="0" err="1">
                    <a:solidFill>
                      <a:schemeClr val="tx2"/>
                    </a:solidFill>
                  </a:rPr>
                  <a:t>карти</a:t>
                </a:r>
                <a:r>
                  <a:rPr lang="ru-RU" dirty="0">
                    <a:solidFill>
                      <a:schemeClr val="tx2"/>
                    </a:solidFill>
                  </a:rPr>
                  <a:t> </a:t>
                </a:r>
                <a:r>
                  <a:rPr lang="ru-RU" dirty="0" err="1">
                    <a:solidFill>
                      <a:schemeClr val="tx2"/>
                    </a:solidFill>
                  </a:rPr>
                  <a:t>глибини</a:t>
                </a:r>
                <a:r>
                  <a:rPr lang="ru-RU" dirty="0">
                    <a:solidFill>
                      <a:schemeClr val="tx2"/>
                    </a:solidFill>
                  </a:rPr>
                  <a:t> в </a:t>
                </a:r>
                <a:r>
                  <a:rPr lang="ru-RU" dirty="0" err="1">
                    <a:solidFill>
                      <a:schemeClr val="tx2"/>
                    </a:solidFill>
                  </a:rPr>
                  <a:t>області</a:t>
                </a:r>
                <a:r>
                  <a:rPr lang="ru-RU" dirty="0">
                    <a:solidFill>
                      <a:schemeClr val="tx2"/>
                    </a:solidFill>
                  </a:rPr>
                  <a:t> об</a:t>
                </a:r>
                <a:r>
                  <a:rPr lang="uk-UA" dirty="0">
                    <a:solidFill>
                      <a:schemeClr val="tx2"/>
                    </a:solidFill>
                  </a:rPr>
                  <a:t>'</a:t>
                </a:r>
                <a:r>
                  <a:rPr lang="ru-RU" dirty="0" err="1">
                    <a:solidFill>
                      <a:schemeClr val="tx2"/>
                    </a:solidFill>
                  </a:rPr>
                  <a:t>єкта</a:t>
                </a:r>
                <a:r>
                  <a:rPr lang="ru-RU" dirty="0">
                    <a:solidFill>
                      <a:schemeClr val="tx2"/>
                    </a:solidFill>
                  </a:rPr>
                  <a:t>, </a:t>
                </a:r>
                <a:r>
                  <a:rPr lang="ru-RU" dirty="0" err="1">
                    <a:solidFill>
                      <a:schemeClr val="tx2"/>
                    </a:solidFill>
                  </a:rPr>
                  <a:t>що</a:t>
                </a:r>
                <a:r>
                  <a:rPr lang="ru-RU" dirty="0">
                    <a:solidFill>
                      <a:schemeClr val="tx2"/>
                    </a:solidFill>
                  </a:rPr>
                  <a:t> </a:t>
                </a:r>
                <a:r>
                  <a:rPr lang="ru-RU" dirty="0" err="1">
                    <a:solidFill>
                      <a:schemeClr val="tx2"/>
                    </a:solidFill>
                  </a:rPr>
                  <a:t>забезпечує</a:t>
                </a:r>
                <a:r>
                  <a:rPr lang="ru-RU" dirty="0">
                    <a:solidFill>
                      <a:schemeClr val="tx2"/>
                    </a:solidFill>
                  </a:rPr>
                  <a:t> </a:t>
                </a:r>
                <a:r>
                  <a:rPr lang="ru-RU" dirty="0" err="1">
                    <a:solidFill>
                      <a:schemeClr val="tx2"/>
                    </a:solidFill>
                  </a:rPr>
                  <a:t>стійкість</a:t>
                </a:r>
                <a:r>
                  <a:rPr lang="ru-RU" dirty="0">
                    <a:solidFill>
                      <a:schemeClr val="tx2"/>
                    </a:solidFill>
                  </a:rPr>
                  <a:t> до </a:t>
                </a:r>
                <a:r>
                  <a:rPr lang="ru-RU" dirty="0" err="1">
                    <a:solidFill>
                      <a:schemeClr val="tx2"/>
                    </a:solidFill>
                  </a:rPr>
                  <a:t>викидів</a:t>
                </a:r>
                <a:r>
                  <a:rPr lang="ru-RU" dirty="0">
                    <a:solidFill>
                      <a:schemeClr val="tx2"/>
                    </a:solidFill>
                  </a:rPr>
                  <a:t>.</a:t>
                </a:r>
              </a:p>
              <a:p>
                <a:r>
                  <a:rPr lang="uk-UA" dirty="0">
                    <a:solidFill>
                      <a:schemeClr val="tx2"/>
                    </a:solidFill>
                  </a:rPr>
                  <a:t>Траєкторія: </a:t>
                </a:r>
                <a14:m>
                  <m:oMath xmlns:m="http://schemas.openxmlformats.org/officeDocument/2006/math">
                    <m:r>
                      <a:rPr lang="uk-UA" i="1">
                        <a:solidFill>
                          <a:schemeClr val="tx2"/>
                        </a:solidFill>
                        <a:latin typeface="Cambria Math" panose="02040503050406030204" pitchFamily="18" charset="0"/>
                      </a:rPr>
                      <m:t>𝑇</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₁</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𝑡</m:t>
                        </m:r>
                      </m:e>
                      <m:sub>
                        <m:r>
                          <a:rPr lang="ar-AE" i="1">
                            <a:solidFill>
                              <a:schemeClr val="tx2"/>
                            </a:solidFill>
                            <a:latin typeface="Cambria Math" panose="02040503050406030204" pitchFamily="18" charset="0"/>
                          </a:rPr>
                          <m:t>𝑛</m:t>
                        </m:r>
                      </m:sub>
                    </m:sSub>
                    <m:r>
                      <a:rPr lang="ar-AE" i="1">
                        <a:solidFill>
                          <a:schemeClr val="tx2"/>
                        </a:solidFill>
                        <a:latin typeface="Cambria Math" panose="02040503050406030204" pitchFamily="18" charset="0"/>
                      </a:rPr>
                      <m:t>)}</m:t>
                    </m:r>
                  </m:oMath>
                </a14:m>
                <a:r>
                  <a:rPr lang="ar-AE" dirty="0">
                    <a:solidFill>
                      <a:schemeClr val="tx2"/>
                    </a:solidFill>
                  </a:rPr>
                  <a:t>, </a:t>
                </a:r>
                <a:r>
                  <a:rPr lang="uk-UA" dirty="0">
                    <a:solidFill>
                      <a:schemeClr val="tx2"/>
                    </a:solidFill>
                  </a:rPr>
                  <a:t>згладжена ковзним середнім</a:t>
                </a:r>
              </a:p>
              <a:p>
                <a:r>
                  <a:rPr lang="uk-UA" dirty="0">
                    <a:solidFill>
                      <a:schemeClr val="tx2"/>
                    </a:solidFill>
                  </a:rPr>
                  <a:t>Прискорення: </a:t>
                </a:r>
                <a14:m>
                  <m:oMath xmlns:m="http://schemas.openxmlformats.org/officeDocument/2006/math">
                    <m:r>
                      <a:rPr lang="uk-UA" i="1">
                        <a:solidFill>
                          <a:schemeClr val="tx2"/>
                        </a:solidFill>
                        <a:latin typeface="Cambria Math" panose="02040503050406030204" pitchFamily="18" charset="0"/>
                      </a:rPr>
                      <m:t>𝑎</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𝑣</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1</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𝑣</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m:t>
                    </m:r>
                    <m:r>
                      <m:rPr>
                        <m:sty m:val="p"/>
                      </m:rPr>
                      <a:rPr lang="el-GR" i="0">
                        <a:solidFill>
                          <a:schemeClr val="tx2"/>
                        </a:solidFill>
                        <a:latin typeface="Cambria Math" panose="02040503050406030204" pitchFamily="18" charset="0"/>
                      </a:rPr>
                      <m:t>Δ</m:t>
                    </m:r>
                    <m:r>
                      <a:rPr lang="el-GR" i="1">
                        <a:solidFill>
                          <a:schemeClr val="tx2"/>
                        </a:solidFill>
                        <a:latin typeface="Cambria Math" panose="02040503050406030204" pitchFamily="18" charset="0"/>
                      </a:rPr>
                      <m:t>𝑡</m:t>
                    </m:r>
                  </m:oMath>
                </a14:m>
                <a:endParaRPr lang="el-GR" dirty="0">
                  <a:solidFill>
                    <a:schemeClr val="tx2"/>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9191" y="1691393"/>
                <a:ext cx="12420886" cy="5030082"/>
              </a:xfrm>
              <a:blipFill>
                <a:blip r:embed="rId3"/>
                <a:stretch>
                  <a:fillRect l="-1129" t="-1574" b="-3511"/>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120FC820-2AD7-1988-555C-E811AB93022F}"/>
              </a:ext>
            </a:extLst>
          </p:cNvPr>
          <p:cNvSpPr>
            <a:spLocks noGrp="1"/>
          </p:cNvSpPr>
          <p:nvPr>
            <p:ph type="sldNum" sz="quarter" idx="12"/>
          </p:nvPr>
        </p:nvSpPr>
        <p:spPr/>
        <p:txBody>
          <a:bodyPr/>
          <a:lstStyle/>
          <a:p>
            <a:fld id="{C1FF6DA9-008F-8B48-92A6-B652298478BF}" type="slidenum">
              <a:rPr lang="en-US" smtClean="0"/>
              <a:t>49</a:t>
            </a:fld>
            <a:endParaRPr lang="en-US"/>
          </a:p>
        </p:txBody>
      </p:sp>
      <p:sp>
        <p:nvSpPr>
          <p:cNvPr id="6" name="TextBox 5">
            <a:extLst>
              <a:ext uri="{FF2B5EF4-FFF2-40B4-BE49-F238E27FC236}">
                <a16:creationId xmlns:a16="http://schemas.microsoft.com/office/drawing/2014/main" id="{9ACF75CD-F7F5-60CE-F52C-51B974C20403}"/>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
        <p:nvSpPr>
          <p:cNvPr id="9" name="TextBox 8">
            <a:extLst>
              <a:ext uri="{FF2B5EF4-FFF2-40B4-BE49-F238E27FC236}">
                <a16:creationId xmlns:a16="http://schemas.microsoft.com/office/drawing/2014/main" id="{1254DD70-B621-D078-C8B5-93D65A6FA30F}"/>
              </a:ext>
            </a:extLst>
          </p:cNvPr>
          <p:cNvSpPr txBox="1"/>
          <p:nvPr/>
        </p:nvSpPr>
        <p:spPr>
          <a:xfrm>
            <a:off x="11729684" y="747291"/>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extLst>
      <p:ext uri="{BB962C8B-B14F-4D97-AF65-F5344CB8AC3E}">
        <p14:creationId xmlns:p14="http://schemas.microsoft.com/office/powerpoint/2010/main" val="14806899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920900-343E-EF7F-8A12-B7C883F2750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64F20C7-FDC1-14AE-8428-51E0A8A72C44}"/>
              </a:ext>
            </a:extLst>
          </p:cNvPr>
          <p:cNvPicPr>
            <a:picLocks noChangeAspect="1"/>
          </p:cNvPicPr>
          <p:nvPr/>
        </p:nvPicPr>
        <p:blipFill>
          <a:blip r:embed="rId3"/>
          <a:stretch>
            <a:fillRect/>
          </a:stretch>
        </p:blipFill>
        <p:spPr>
          <a:xfrm>
            <a:off x="3048000" y="0"/>
            <a:ext cx="9144000" cy="6858000"/>
          </a:xfrm>
          <a:prstGeom prst="rect">
            <a:avLst/>
          </a:prstGeom>
        </p:spPr>
      </p:pic>
      <p:sp>
        <p:nvSpPr>
          <p:cNvPr id="4" name="Slide Number Placeholder 3">
            <a:extLst>
              <a:ext uri="{FF2B5EF4-FFF2-40B4-BE49-F238E27FC236}">
                <a16:creationId xmlns:a16="http://schemas.microsoft.com/office/drawing/2014/main" id="{3B48B792-17CA-4548-9E23-1A091267C582}"/>
              </a:ext>
            </a:extLst>
          </p:cNvPr>
          <p:cNvSpPr>
            <a:spLocks noGrp="1"/>
          </p:cNvSpPr>
          <p:nvPr>
            <p:ph type="sldNum" sz="quarter" idx="12"/>
          </p:nvPr>
        </p:nvSpPr>
        <p:spPr/>
        <p:txBody>
          <a:bodyPr/>
          <a:lstStyle/>
          <a:p>
            <a:fld id="{C1FF6DA9-008F-8B48-92A6-B652298478BF}" type="slidenum">
              <a:rPr lang="en-US" smtClean="0"/>
              <a:pPr/>
              <a:t>50</a:t>
            </a:fld>
            <a:endParaRPr lang="en-US" sz="3200" dirty="0"/>
          </a:p>
        </p:txBody>
      </p:sp>
      <p:sp>
        <p:nvSpPr>
          <p:cNvPr id="3" name="TextBox 2">
            <a:extLst>
              <a:ext uri="{FF2B5EF4-FFF2-40B4-BE49-F238E27FC236}">
                <a16:creationId xmlns:a16="http://schemas.microsoft.com/office/drawing/2014/main" id="{3DD4091E-C8E7-20EB-3924-DA5425CE7D9F}"/>
              </a:ext>
            </a:extLst>
          </p:cNvPr>
          <p:cNvSpPr txBox="1"/>
          <p:nvPr/>
        </p:nvSpPr>
        <p:spPr>
          <a:xfrm>
            <a:off x="-12970" y="0"/>
            <a:ext cx="3060970" cy="2062103"/>
          </a:xfrm>
          <a:prstGeom prst="rect">
            <a:avLst/>
          </a:prstGeom>
          <a:noFill/>
        </p:spPr>
        <p:txBody>
          <a:bodyPr wrap="square">
            <a:spAutoFit/>
          </a:bodyPr>
          <a:lstStyle/>
          <a:p>
            <a:r>
              <a:rPr lang="ru-RU" sz="3200" dirty="0"/>
              <a:t>Схема </a:t>
            </a:r>
            <a:r>
              <a:rPr lang="ru-RU" sz="3200" dirty="0" err="1"/>
              <a:t>інтеграції</a:t>
            </a:r>
            <a:r>
              <a:rPr lang="ru-RU" sz="3200" dirty="0"/>
              <a:t> </a:t>
            </a:r>
            <a:r>
              <a:rPr lang="ru-RU" sz="3200" dirty="0" err="1"/>
              <a:t>оптичного</a:t>
            </a:r>
            <a:r>
              <a:rPr lang="ru-RU" sz="3200" dirty="0"/>
              <a:t> потоку з трансформером</a:t>
            </a:r>
            <a:endParaRPr lang="en-US" sz="3200" dirty="0"/>
          </a:p>
        </p:txBody>
      </p:sp>
      <p:sp>
        <p:nvSpPr>
          <p:cNvPr id="6" name="TextBox 5">
            <a:extLst>
              <a:ext uri="{FF2B5EF4-FFF2-40B4-BE49-F238E27FC236}">
                <a16:creationId xmlns:a16="http://schemas.microsoft.com/office/drawing/2014/main" id="{9151033A-A6D9-18AE-437C-394D63DC340C}"/>
              </a:ext>
            </a:extLst>
          </p:cNvPr>
          <p:cNvSpPr txBox="1"/>
          <p:nvPr/>
        </p:nvSpPr>
        <p:spPr>
          <a:xfrm>
            <a:off x="0" y="2427451"/>
            <a:ext cx="3060970" cy="4401205"/>
          </a:xfrm>
          <a:prstGeom prst="rect">
            <a:avLst/>
          </a:prstGeom>
          <a:noFill/>
        </p:spPr>
        <p:txBody>
          <a:bodyPr wrap="square">
            <a:spAutoFit/>
          </a:bodyPr>
          <a:lstStyle/>
          <a:p>
            <a:r>
              <a:rPr lang="ru-RU" sz="2800" dirty="0">
                <a:solidFill>
                  <a:schemeClr val="tx1">
                    <a:alpha val="80000"/>
                  </a:schemeClr>
                </a:solidFill>
              </a:rPr>
              <a:t>Кадри → </a:t>
            </a:r>
            <a:r>
              <a:rPr lang="ru-RU" sz="2800" dirty="0" err="1">
                <a:solidFill>
                  <a:schemeClr val="tx1">
                    <a:alpha val="80000"/>
                  </a:schemeClr>
                </a:solidFill>
              </a:rPr>
              <a:t>оптичний</a:t>
            </a:r>
            <a:r>
              <a:rPr lang="ru-RU" sz="2800" dirty="0">
                <a:solidFill>
                  <a:schemeClr val="tx1">
                    <a:alpha val="80000"/>
                  </a:schemeClr>
                </a:solidFill>
              </a:rPr>
              <a:t> </a:t>
            </a:r>
            <a:r>
              <a:rPr lang="ru-RU" sz="2800" dirty="0" err="1">
                <a:solidFill>
                  <a:schemeClr val="tx1">
                    <a:alpha val="80000"/>
                  </a:schemeClr>
                </a:solidFill>
              </a:rPr>
              <a:t>потік</a:t>
            </a:r>
            <a:r>
              <a:rPr lang="ru-RU" sz="2800" dirty="0">
                <a:solidFill>
                  <a:schemeClr val="tx1">
                    <a:alpha val="80000"/>
                  </a:schemeClr>
                </a:solidFill>
              </a:rPr>
              <a:t> → </a:t>
            </a:r>
            <a:r>
              <a:rPr lang="ru-RU" sz="2800" dirty="0" err="1">
                <a:solidFill>
                  <a:schemeClr val="tx1">
                    <a:alpha val="80000"/>
                  </a:schemeClr>
                </a:solidFill>
              </a:rPr>
              <a:t>вектори</a:t>
            </a:r>
            <a:r>
              <a:rPr lang="ru-RU" sz="2800" dirty="0">
                <a:solidFill>
                  <a:schemeClr val="tx1">
                    <a:alpha val="80000"/>
                  </a:schemeClr>
                </a:solidFill>
              </a:rPr>
              <a:t> руху → </a:t>
            </a:r>
            <a:r>
              <a:rPr lang="ru-RU" sz="2800" dirty="0" err="1">
                <a:solidFill>
                  <a:schemeClr val="tx1">
                    <a:alpha val="80000"/>
                  </a:schemeClr>
                </a:solidFill>
              </a:rPr>
              <a:t>трансформерна</a:t>
            </a:r>
            <a:r>
              <a:rPr lang="ru-RU" sz="2800" dirty="0">
                <a:solidFill>
                  <a:schemeClr val="tx1">
                    <a:alpha val="80000"/>
                  </a:schemeClr>
                </a:solidFill>
              </a:rPr>
              <a:t> </a:t>
            </a:r>
            <a:r>
              <a:rPr lang="ru-RU" sz="2800" dirty="0" err="1">
                <a:solidFill>
                  <a:schemeClr val="tx1">
                    <a:alpha val="80000"/>
                  </a:schemeClr>
                </a:solidFill>
              </a:rPr>
              <a:t>обробка</a:t>
            </a:r>
            <a:r>
              <a:rPr lang="ru-RU" sz="2800" dirty="0">
                <a:solidFill>
                  <a:schemeClr val="tx1">
                    <a:alpha val="80000"/>
                  </a:schemeClr>
                </a:solidFill>
              </a:rPr>
              <a:t> → </a:t>
            </a:r>
            <a:r>
              <a:rPr lang="ru-RU" sz="2800" dirty="0" err="1">
                <a:solidFill>
                  <a:schemeClr val="tx1">
                    <a:alpha val="80000"/>
                  </a:schemeClr>
                </a:solidFill>
              </a:rPr>
              <a:t>параметри</a:t>
            </a:r>
            <a:r>
              <a:rPr lang="ru-RU" sz="2800" dirty="0">
                <a:solidFill>
                  <a:schemeClr val="tx1">
                    <a:alpha val="80000"/>
                  </a:schemeClr>
                </a:solidFill>
              </a:rPr>
              <a:t> (</a:t>
            </a:r>
            <a:r>
              <a:rPr lang="ru-RU" sz="2800" dirty="0" err="1">
                <a:solidFill>
                  <a:schemeClr val="tx1">
                    <a:alpha val="80000"/>
                  </a:schemeClr>
                </a:solidFill>
              </a:rPr>
              <a:t>положення</a:t>
            </a:r>
            <a:r>
              <a:rPr lang="ru-RU" sz="2800" dirty="0">
                <a:solidFill>
                  <a:schemeClr val="tx1">
                    <a:alpha val="80000"/>
                  </a:schemeClr>
                </a:solidFill>
              </a:rPr>
              <a:t>, </a:t>
            </a:r>
            <a:r>
              <a:rPr lang="ru-RU" sz="2800" dirty="0" err="1">
                <a:solidFill>
                  <a:schemeClr val="tx1">
                    <a:alpha val="80000"/>
                  </a:schemeClr>
                </a:solidFill>
              </a:rPr>
              <a:t>швидкість</a:t>
            </a:r>
            <a:r>
              <a:rPr lang="ru-RU" sz="2800" dirty="0">
                <a:solidFill>
                  <a:schemeClr val="tx1">
                    <a:alpha val="80000"/>
                  </a:schemeClr>
                </a:solidFill>
              </a:rPr>
              <a:t>, </a:t>
            </a:r>
            <a:r>
              <a:rPr lang="ru-RU" sz="2800" dirty="0" err="1">
                <a:solidFill>
                  <a:schemeClr val="tx1">
                    <a:alpha val="80000"/>
                  </a:schemeClr>
                </a:solidFill>
              </a:rPr>
              <a:t>прискорення</a:t>
            </a:r>
            <a:r>
              <a:rPr lang="ru-RU" sz="2800" dirty="0">
                <a:solidFill>
                  <a:schemeClr val="tx1">
                    <a:alpha val="80000"/>
                  </a:schemeClr>
                </a:solidFill>
              </a:rPr>
              <a:t>, </a:t>
            </a:r>
            <a:r>
              <a:rPr lang="ru-RU" sz="2800" dirty="0" err="1">
                <a:solidFill>
                  <a:schemeClr val="tx1">
                    <a:alpha val="80000"/>
                  </a:schemeClr>
                </a:solidFill>
              </a:rPr>
              <a:t>напрям</a:t>
            </a:r>
            <a:r>
              <a:rPr lang="ru-RU" sz="2800" dirty="0">
                <a:solidFill>
                  <a:schemeClr val="tx1">
                    <a:alpha val="80000"/>
                  </a:schemeClr>
                </a:solidFill>
              </a:rPr>
              <a:t>)</a:t>
            </a:r>
          </a:p>
        </p:txBody>
      </p:sp>
      <p:sp>
        <p:nvSpPr>
          <p:cNvPr id="5" name="TextBox 4">
            <a:extLst>
              <a:ext uri="{FF2B5EF4-FFF2-40B4-BE49-F238E27FC236}">
                <a16:creationId xmlns:a16="http://schemas.microsoft.com/office/drawing/2014/main" id="{93FF415A-01E8-665A-365B-08D81B410183}"/>
              </a:ext>
            </a:extLst>
          </p:cNvPr>
          <p:cNvSpPr txBox="1"/>
          <p:nvPr/>
        </p:nvSpPr>
        <p:spPr>
          <a:xfrm>
            <a:off x="11592237" y="82325"/>
            <a:ext cx="439313" cy="822305"/>
          </a:xfrm>
          <a:prstGeom prst="flowChartDelay">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6 </a:t>
            </a:r>
            <a:endParaRPr lang="en-US" sz="3200" dirty="0"/>
          </a:p>
        </p:txBody>
      </p:sp>
      <p:sp>
        <p:nvSpPr>
          <p:cNvPr id="9" name="TextBox 8">
            <a:extLst>
              <a:ext uri="{FF2B5EF4-FFF2-40B4-BE49-F238E27FC236}">
                <a16:creationId xmlns:a16="http://schemas.microsoft.com/office/drawing/2014/main" id="{70B540CB-38A2-CDA9-53EA-107B895EB293}"/>
              </a:ext>
            </a:extLst>
          </p:cNvPr>
          <p:cNvSpPr txBox="1"/>
          <p:nvPr/>
        </p:nvSpPr>
        <p:spPr>
          <a:xfrm>
            <a:off x="11729989" y="780307"/>
            <a:ext cx="462011" cy="822305"/>
          </a:xfrm>
          <a:prstGeom prst="flowChartDelay">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en-US" sz="3200" dirty="0"/>
              <a:t>1</a:t>
            </a:r>
            <a:r>
              <a:rPr lang="uk-UA" sz="3200" dirty="0"/>
              <a:t> </a:t>
            </a:r>
            <a:endParaRPr lang="en-US" sz="3200" dirty="0"/>
          </a:p>
        </p:txBody>
      </p:sp>
    </p:spTree>
    <p:extLst>
      <p:ext uri="{BB962C8B-B14F-4D97-AF65-F5344CB8AC3E}">
        <p14:creationId xmlns:p14="http://schemas.microsoft.com/office/powerpoint/2010/main" val="3327158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019341" cy="1143000"/>
          </a:xfrm>
        </p:spPr>
        <p:txBody>
          <a:bodyPr anchor="b">
            <a:normAutofit fontScale="90000"/>
          </a:bodyPr>
          <a:lstStyle/>
          <a:p>
            <a:r>
              <a:rPr lang="uk-UA" dirty="0"/>
              <a:t>Ансамблеві модулі</a:t>
            </a:r>
          </a:p>
        </p:txBody>
      </p:sp>
      <p:sp>
        <p:nvSpPr>
          <p:cNvPr id="3" name="Content Placeholder 2"/>
          <p:cNvSpPr>
            <a:spLocks noGrp="1"/>
          </p:cNvSpPr>
          <p:nvPr>
            <p:ph idx="1"/>
          </p:nvPr>
        </p:nvSpPr>
        <p:spPr>
          <a:xfrm>
            <a:off x="-419099" y="1177947"/>
            <a:ext cx="4368102" cy="4525963"/>
          </a:xfrm>
        </p:spPr>
        <p:txBody>
          <a:bodyPr anchor="t">
            <a:normAutofit fontScale="92500" lnSpcReduction="10000"/>
          </a:bodyPr>
          <a:lstStyle/>
          <a:p>
            <a:r>
              <a:rPr lang="en-US" dirty="0"/>
              <a:t>Bagging (</a:t>
            </a:r>
            <a:r>
              <a:rPr lang="uk-UA" dirty="0"/>
              <a:t>паралельний): різні модифікації кадрів → </a:t>
            </a:r>
            <a:r>
              <a:rPr lang="en-US" dirty="0" err="1"/>
              <a:t>GeoNet</a:t>
            </a:r>
            <a:r>
              <a:rPr lang="en-US" dirty="0"/>
              <a:t> → </a:t>
            </a:r>
            <a:r>
              <a:rPr lang="uk-UA" dirty="0"/>
              <a:t>усереднення карт глибини</a:t>
            </a:r>
          </a:p>
          <a:p>
            <a:r>
              <a:rPr lang="en-US" dirty="0"/>
              <a:t>Boosting (</a:t>
            </a:r>
            <a:r>
              <a:rPr lang="uk-UA" dirty="0"/>
              <a:t>послідовний): базова карта глибини → коректор зон помилок → уточнена карта</a:t>
            </a:r>
          </a:p>
        </p:txBody>
      </p:sp>
      <p:sp>
        <p:nvSpPr>
          <p:cNvPr id="4" name="Місце для номера слайда 3">
            <a:extLst>
              <a:ext uri="{FF2B5EF4-FFF2-40B4-BE49-F238E27FC236}">
                <a16:creationId xmlns:a16="http://schemas.microsoft.com/office/drawing/2014/main" id="{EC65F30D-2854-1EE8-FE46-4466A388AFC1}"/>
              </a:ext>
            </a:extLst>
          </p:cNvPr>
          <p:cNvSpPr>
            <a:spLocks noGrp="1"/>
          </p:cNvSpPr>
          <p:nvPr>
            <p:ph type="sldNum" sz="quarter" idx="12"/>
          </p:nvPr>
        </p:nvSpPr>
        <p:spPr>
          <a:xfrm>
            <a:off x="11195278" y="6370266"/>
            <a:ext cx="876748" cy="365125"/>
          </a:xfrm>
        </p:spPr>
        <p:txBody>
          <a:bodyPr/>
          <a:lstStyle/>
          <a:p>
            <a:fld id="{C1FF6DA9-008F-8B48-92A6-B652298478BF}" type="slidenum">
              <a:rPr lang="en-US" smtClean="0"/>
              <a:pPr/>
              <a:t>51</a:t>
            </a:fld>
            <a:endParaRPr lang="en-US"/>
          </a:p>
        </p:txBody>
      </p:sp>
      <p:pic>
        <p:nvPicPr>
          <p:cNvPr id="6" name="Рисунок 5">
            <a:extLst>
              <a:ext uri="{FF2B5EF4-FFF2-40B4-BE49-F238E27FC236}">
                <a16:creationId xmlns:a16="http://schemas.microsoft.com/office/drawing/2014/main" id="{45658055-569C-7880-DFBC-48151D9A7C58}"/>
              </a:ext>
            </a:extLst>
          </p:cNvPr>
          <p:cNvPicPr>
            <a:picLocks noChangeAspect="1"/>
          </p:cNvPicPr>
          <p:nvPr/>
        </p:nvPicPr>
        <p:blipFill>
          <a:blip r:embed="rId3"/>
          <a:srcRect/>
          <a:stretch/>
        </p:blipFill>
        <p:spPr>
          <a:xfrm>
            <a:off x="3878068" y="-15126"/>
            <a:ext cx="8340202" cy="6255151"/>
          </a:xfrm>
          <a:prstGeom prst="rect">
            <a:avLst/>
          </a:prstGeom>
        </p:spPr>
      </p:pic>
      <p:sp>
        <p:nvSpPr>
          <p:cNvPr id="7" name="TextBox 6">
            <a:extLst>
              <a:ext uri="{FF2B5EF4-FFF2-40B4-BE49-F238E27FC236}">
                <a16:creationId xmlns:a16="http://schemas.microsoft.com/office/drawing/2014/main" id="{428F56D4-67F3-1435-3891-8B372A5B818D}"/>
              </a:ext>
            </a:extLst>
          </p:cNvPr>
          <p:cNvSpPr txBox="1"/>
          <p:nvPr/>
        </p:nvSpPr>
        <p:spPr>
          <a:xfrm>
            <a:off x="11622562" y="90497"/>
            <a:ext cx="439313" cy="822305"/>
          </a:xfrm>
          <a:prstGeom prst="flowChartDelay">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4 </a:t>
            </a:r>
            <a:endParaRPr lang="en-US" sz="3200" dirty="0"/>
          </a:p>
        </p:txBody>
      </p:sp>
      <p:sp>
        <p:nvSpPr>
          <p:cNvPr id="9" name="TextBox 8">
            <a:extLst>
              <a:ext uri="{FF2B5EF4-FFF2-40B4-BE49-F238E27FC236}">
                <a16:creationId xmlns:a16="http://schemas.microsoft.com/office/drawing/2014/main" id="{E1D14606-E212-B2F7-B026-3E2E3DC6A1FB}"/>
              </a:ext>
            </a:extLst>
          </p:cNvPr>
          <p:cNvSpPr txBox="1"/>
          <p:nvPr/>
        </p:nvSpPr>
        <p:spPr>
          <a:xfrm>
            <a:off x="11700759" y="803223"/>
            <a:ext cx="439313" cy="822305"/>
          </a:xfrm>
          <a:prstGeom prst="flowChartDelay">
            <a:avLst/>
          </a:prstGeom>
          <a:ln>
            <a:solidFill>
              <a:srgbClr val="FFFF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3 </a:t>
            </a:r>
            <a:endParaRPr lang="en-US" sz="3200" dirty="0"/>
          </a:p>
        </p:txBody>
      </p:sp>
    </p:spTree>
    <p:extLst>
      <p:ext uri="{BB962C8B-B14F-4D97-AF65-F5344CB8AC3E}">
        <p14:creationId xmlns:p14="http://schemas.microsoft.com/office/powerpoint/2010/main" val="9389878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256032"/>
            <a:ext cx="11247120" cy="411480"/>
          </a:xfrm>
          <a:prstGeom prst="rect">
            <a:avLst/>
          </a:prstGeom>
          <a:noFill/>
        </p:spPr>
        <p:txBody>
          <a:bodyPr wrap="square">
            <a:normAutofit fontScale="85000" lnSpcReduction="20000"/>
          </a:bodyPr>
          <a:lstStyle/>
          <a:p>
            <a:pPr algn="l"/>
            <a:r>
              <a:rPr sz="2800" b="1">
                <a:solidFill>
                  <a:srgbClr val="143052"/>
                </a:solidFill>
                <a:latin typeface="Aptos"/>
              </a:rPr>
              <a:t>Порівняння з аналогами</a:t>
            </a:r>
          </a:p>
        </p:txBody>
      </p:sp>
      <p:sp>
        <p:nvSpPr>
          <p:cNvPr id="3" name="TextBox 2"/>
          <p:cNvSpPr txBox="1"/>
          <p:nvPr/>
        </p:nvSpPr>
        <p:spPr>
          <a:xfrm>
            <a:off x="530352" y="713232"/>
            <a:ext cx="10972800" cy="320040"/>
          </a:xfrm>
          <a:prstGeom prst="rect">
            <a:avLst/>
          </a:prstGeom>
          <a:noFill/>
        </p:spPr>
        <p:txBody>
          <a:bodyPr wrap="square">
            <a:noAutofit/>
          </a:bodyPr>
          <a:lstStyle/>
          <a:p>
            <a:pPr algn="l"/>
            <a:r>
              <a:rPr sz="1600" b="0" dirty="0" err="1">
                <a:solidFill>
                  <a:srgbClr val="606C7C"/>
                </a:solidFill>
                <a:latin typeface="Aptos"/>
              </a:rPr>
              <a:t>Функціональне</a:t>
            </a:r>
            <a:r>
              <a:rPr sz="1600" b="0" dirty="0">
                <a:solidFill>
                  <a:srgbClr val="606C7C"/>
                </a:solidFill>
                <a:latin typeface="Aptos"/>
              </a:rPr>
              <a:t> </a:t>
            </a:r>
            <a:r>
              <a:rPr sz="1600" b="0" dirty="0" err="1">
                <a:solidFill>
                  <a:srgbClr val="606C7C"/>
                </a:solidFill>
                <a:latin typeface="Aptos"/>
              </a:rPr>
              <a:t>покриття</a:t>
            </a:r>
            <a:r>
              <a:rPr sz="1600" b="0" dirty="0">
                <a:solidFill>
                  <a:srgbClr val="606C7C"/>
                </a:solidFill>
                <a:latin typeface="Aptos"/>
              </a:rPr>
              <a:t> </a:t>
            </a:r>
            <a:r>
              <a:rPr sz="1600" b="0" dirty="0" err="1">
                <a:solidFill>
                  <a:srgbClr val="606C7C"/>
                </a:solidFill>
                <a:latin typeface="Aptos"/>
              </a:rPr>
              <a:t>задач</a:t>
            </a:r>
            <a:r>
              <a:rPr sz="1600" b="0" dirty="0">
                <a:solidFill>
                  <a:srgbClr val="606C7C"/>
                </a:solidFill>
                <a:latin typeface="Aptos"/>
              </a:rPr>
              <a:t> </a:t>
            </a:r>
            <a:r>
              <a:rPr sz="1600" b="0" dirty="0" err="1">
                <a:solidFill>
                  <a:srgbClr val="606C7C"/>
                </a:solidFill>
                <a:latin typeface="Aptos"/>
              </a:rPr>
              <a:t>дистанційної</a:t>
            </a:r>
            <a:r>
              <a:rPr sz="1600" b="0" dirty="0">
                <a:solidFill>
                  <a:srgbClr val="606C7C"/>
                </a:solidFill>
                <a:latin typeface="Aptos"/>
              </a:rPr>
              <a:t> </a:t>
            </a:r>
            <a:r>
              <a:rPr sz="1600" b="0" dirty="0" err="1">
                <a:solidFill>
                  <a:srgbClr val="606C7C"/>
                </a:solidFill>
                <a:latin typeface="Aptos"/>
              </a:rPr>
              <a:t>ідентифікації</a:t>
            </a:r>
            <a:r>
              <a:rPr sz="1600" b="0" dirty="0">
                <a:solidFill>
                  <a:srgbClr val="606C7C"/>
                </a:solidFill>
                <a:latin typeface="Aptos"/>
              </a:rPr>
              <a:t> </a:t>
            </a:r>
            <a:r>
              <a:rPr sz="1600" b="0" dirty="0" err="1">
                <a:solidFill>
                  <a:srgbClr val="606C7C"/>
                </a:solidFill>
                <a:latin typeface="Aptos"/>
              </a:rPr>
              <a:t>параметрів</a:t>
            </a:r>
            <a:r>
              <a:rPr sz="1600" b="0" dirty="0">
                <a:solidFill>
                  <a:srgbClr val="606C7C"/>
                </a:solidFill>
                <a:latin typeface="Aptos"/>
              </a:rPr>
              <a:t> </a:t>
            </a:r>
            <a:r>
              <a:rPr sz="1600" b="0" dirty="0" err="1">
                <a:solidFill>
                  <a:srgbClr val="606C7C"/>
                </a:solidFill>
                <a:latin typeface="Aptos"/>
              </a:rPr>
              <a:t>рухомих</a:t>
            </a:r>
            <a:r>
              <a:rPr sz="1600" b="0" dirty="0">
                <a:solidFill>
                  <a:srgbClr val="606C7C"/>
                </a:solidFill>
                <a:latin typeface="Aptos"/>
              </a:rPr>
              <a:t> </a:t>
            </a:r>
            <a:r>
              <a:rPr sz="1600" b="0" dirty="0" err="1">
                <a:solidFill>
                  <a:srgbClr val="606C7C"/>
                </a:solidFill>
                <a:latin typeface="Aptos"/>
              </a:rPr>
              <a:t>об</a:t>
            </a:r>
            <a:r>
              <a:rPr lang="en-US" sz="1600" b="0" dirty="0" err="1">
                <a:solidFill>
                  <a:srgbClr val="606C7C"/>
                </a:solidFill>
                <a:latin typeface="Aptos"/>
              </a:rPr>
              <a:t>'</a:t>
            </a:r>
            <a:r>
              <a:rPr sz="1600" b="0" dirty="0" err="1">
                <a:solidFill>
                  <a:srgbClr val="606C7C"/>
                </a:solidFill>
                <a:latin typeface="Aptos"/>
              </a:rPr>
              <a:t>єктів</a:t>
            </a:r>
            <a:endParaRPr sz="1600" b="0" dirty="0">
              <a:solidFill>
                <a:srgbClr val="606C7C"/>
              </a:solidFill>
              <a:latin typeface="Aptos"/>
            </a:endParaRPr>
          </a:p>
        </p:txBody>
      </p:sp>
      <p:sp>
        <p:nvSpPr>
          <p:cNvPr id="4" name="Rectangle 3"/>
          <p:cNvSpPr/>
          <p:nvPr/>
        </p:nvSpPr>
        <p:spPr>
          <a:xfrm>
            <a:off x="502920" y="1051560"/>
            <a:ext cx="11155680" cy="27432"/>
          </a:xfrm>
          <a:prstGeom prst="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447472" y="1261872"/>
          <a:ext cx="11348288" cy="4992624"/>
        </p:xfrm>
        <a:graphic>
          <a:graphicData uri="http://schemas.openxmlformats.org/drawingml/2006/table">
            <a:tbl>
              <a:tblPr firstRow="1" bandRow="1">
                <a:tableStyleId>{5C22544A-7EE6-4342-B048-85BDC9FD1C3A}</a:tableStyleId>
              </a:tblPr>
              <a:tblGrid>
                <a:gridCol w="2295728">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01952">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2761488">
                  <a:extLst>
                    <a:ext uri="{9D8B030D-6E8A-4147-A177-3AD203B41FA5}">
                      <a16:colId xmlns:a16="http://schemas.microsoft.com/office/drawing/2014/main" val="20005"/>
                    </a:ext>
                  </a:extLst>
                </a:gridCol>
              </a:tblGrid>
              <a:tr h="557784">
                <a:tc>
                  <a:txBody>
                    <a:bodyPr/>
                    <a:lstStyle/>
                    <a:p>
                      <a:pPr algn="ctr"/>
                      <a:r>
                        <a:rPr sz="2000" b="1" dirty="0" err="1">
                          <a:solidFill>
                            <a:srgbClr val="FFFFFF"/>
                          </a:solidFill>
                          <a:latin typeface="Aptos"/>
                        </a:rPr>
                        <a:t>Критерій</a:t>
                      </a:r>
                      <a:endParaRPr sz="2000" b="1" dirty="0">
                        <a:solidFill>
                          <a:srgbClr val="FFFFFF"/>
                        </a:solidFill>
                        <a:latin typeface="Aptos"/>
                      </a:endParaRPr>
                    </a:p>
                  </a:txBody>
                  <a:tcPr marL="54864" marR="54864">
                    <a:solidFill>
                      <a:srgbClr val="143052"/>
                    </a:solidFill>
                  </a:tcPr>
                </a:tc>
                <a:tc>
                  <a:txBody>
                    <a:bodyPr/>
                    <a:lstStyle/>
                    <a:p>
                      <a:pPr algn="ctr"/>
                      <a:r>
                        <a:rPr sz="2000" b="1" dirty="0">
                          <a:solidFill>
                            <a:srgbClr val="FFFFFF"/>
                          </a:solidFill>
                          <a:latin typeface="Aptos"/>
                        </a:rPr>
                        <a:t>OpenCV tracking / optical flow</a:t>
                      </a:r>
                    </a:p>
                  </a:txBody>
                  <a:tcPr marL="54864" marR="54864">
                    <a:solidFill>
                      <a:srgbClr val="296FB0"/>
                    </a:solidFill>
                  </a:tcPr>
                </a:tc>
                <a:tc>
                  <a:txBody>
                    <a:bodyPr/>
                    <a:lstStyle/>
                    <a:p>
                      <a:pPr algn="ctr"/>
                      <a:r>
                        <a:rPr sz="2000" b="1" dirty="0">
                          <a:solidFill>
                            <a:srgbClr val="FFFFFF"/>
                          </a:solidFill>
                          <a:latin typeface="Aptos"/>
                        </a:rPr>
                        <a:t>YOLO + </a:t>
                      </a:r>
                      <a:r>
                        <a:rPr sz="2000" b="1" dirty="0" err="1">
                          <a:solidFill>
                            <a:srgbClr val="FFFFFF"/>
                          </a:solidFill>
                          <a:latin typeface="Aptos"/>
                        </a:rPr>
                        <a:t>DeepSORT</a:t>
                      </a:r>
                      <a:r>
                        <a:rPr sz="2000" b="1" dirty="0">
                          <a:solidFill>
                            <a:srgbClr val="FFFFFF"/>
                          </a:solidFill>
                          <a:latin typeface="Aptos"/>
                        </a:rPr>
                        <a:t> / </a:t>
                      </a:r>
                      <a:r>
                        <a:rPr sz="2000" b="1" dirty="0" err="1">
                          <a:solidFill>
                            <a:srgbClr val="FFFFFF"/>
                          </a:solidFill>
                          <a:latin typeface="Aptos"/>
                        </a:rPr>
                        <a:t>ByteTrack</a:t>
                      </a:r>
                      <a:endParaRPr sz="2000" b="1" dirty="0">
                        <a:solidFill>
                          <a:srgbClr val="FFFFFF"/>
                        </a:solidFill>
                        <a:latin typeface="Aptos"/>
                      </a:endParaRPr>
                    </a:p>
                  </a:txBody>
                  <a:tcPr marL="54864" marR="54864">
                    <a:solidFill>
                      <a:srgbClr val="296FB0"/>
                    </a:solidFill>
                  </a:tcPr>
                </a:tc>
                <a:tc>
                  <a:txBody>
                    <a:bodyPr/>
                    <a:lstStyle/>
                    <a:p>
                      <a:pPr algn="ctr"/>
                      <a:r>
                        <a:rPr sz="2000" b="1" dirty="0">
                          <a:solidFill>
                            <a:srgbClr val="FFFFFF"/>
                          </a:solidFill>
                          <a:latin typeface="Aptos"/>
                        </a:rPr>
                        <a:t>RAFT / </a:t>
                      </a:r>
                      <a:r>
                        <a:rPr sz="2000" b="1" dirty="0" err="1">
                          <a:solidFill>
                            <a:srgbClr val="FFFFFF"/>
                          </a:solidFill>
                          <a:latin typeface="Aptos"/>
                        </a:rPr>
                        <a:t>FlowNet</a:t>
                      </a:r>
                      <a:endParaRPr sz="2000" b="1" dirty="0">
                        <a:solidFill>
                          <a:srgbClr val="FFFFFF"/>
                        </a:solidFill>
                        <a:latin typeface="Aptos"/>
                      </a:endParaRPr>
                    </a:p>
                  </a:txBody>
                  <a:tcPr marL="54864" marR="54864">
                    <a:solidFill>
                      <a:srgbClr val="296FB0"/>
                    </a:solidFill>
                  </a:tcPr>
                </a:tc>
                <a:tc>
                  <a:txBody>
                    <a:bodyPr/>
                    <a:lstStyle/>
                    <a:p>
                      <a:pPr algn="ctr"/>
                      <a:r>
                        <a:rPr sz="2000" b="1" dirty="0" err="1">
                          <a:solidFill>
                            <a:srgbClr val="FFFFFF"/>
                          </a:solidFill>
                          <a:latin typeface="Aptos"/>
                        </a:rPr>
                        <a:t>MiDaS</a:t>
                      </a:r>
                      <a:r>
                        <a:rPr sz="2000" b="1" dirty="0">
                          <a:solidFill>
                            <a:srgbClr val="FFFFFF"/>
                          </a:solidFill>
                          <a:latin typeface="Aptos"/>
                        </a:rPr>
                        <a:t> / DPT</a:t>
                      </a:r>
                    </a:p>
                  </a:txBody>
                  <a:tcPr marL="54864" marR="54864">
                    <a:solidFill>
                      <a:srgbClr val="296FB0"/>
                    </a:solidFill>
                  </a:tcPr>
                </a:tc>
                <a:tc>
                  <a:txBody>
                    <a:bodyPr/>
                    <a:lstStyle/>
                    <a:p>
                      <a:pPr algn="ctr"/>
                      <a:r>
                        <a:rPr sz="2000" b="1" dirty="0" err="1">
                          <a:solidFill>
                            <a:srgbClr val="FFFFFF"/>
                          </a:solidFill>
                          <a:latin typeface="Aptos"/>
                        </a:rPr>
                        <a:t>Запропонована</a:t>
                      </a:r>
                      <a:r>
                        <a:rPr sz="2000" b="1" dirty="0">
                          <a:solidFill>
                            <a:srgbClr val="FFFFFF"/>
                          </a:solidFill>
                          <a:latin typeface="Aptos"/>
                        </a:rPr>
                        <a:t> ІТ ДІПДО</a:t>
                      </a:r>
                    </a:p>
                  </a:txBody>
                  <a:tcPr marL="54864" marR="54864">
                    <a:solidFill>
                      <a:srgbClr val="296FB0"/>
                    </a:solidFill>
                  </a:tcPr>
                </a:tc>
                <a:extLst>
                  <a:ext uri="{0D108BD9-81ED-4DB2-BD59-A6C34878D82A}">
                    <a16:rowId xmlns:a16="http://schemas.microsoft.com/office/drawing/2014/main" val="10000"/>
                  </a:ext>
                </a:extLst>
              </a:tr>
              <a:tr h="557784">
                <a:tc>
                  <a:txBody>
                    <a:bodyPr/>
                    <a:lstStyle/>
                    <a:p>
                      <a:pPr algn="l"/>
                      <a:r>
                        <a:rPr sz="1200" b="1" dirty="0" err="1">
                          <a:solidFill>
                            <a:srgbClr val="202B37"/>
                          </a:solidFill>
                          <a:latin typeface="Aptos"/>
                        </a:rPr>
                        <a:t>Виявлення</a:t>
                      </a:r>
                      <a:r>
                        <a:rPr sz="1200" b="1" dirty="0">
                          <a:solidFill>
                            <a:srgbClr val="202B37"/>
                          </a:solidFill>
                          <a:latin typeface="Aptos"/>
                        </a:rPr>
                        <a:t> </a:t>
                      </a:r>
                      <a:r>
                        <a:rPr sz="1200" b="1" dirty="0" err="1">
                          <a:solidFill>
                            <a:srgbClr val="202B37"/>
                          </a:solidFill>
                          <a:latin typeface="Aptos"/>
                        </a:rPr>
                        <a:t>та</a:t>
                      </a:r>
                      <a:r>
                        <a:rPr sz="1200" b="1" dirty="0">
                          <a:solidFill>
                            <a:srgbClr val="202B37"/>
                          </a:solidFill>
                          <a:latin typeface="Aptos"/>
                        </a:rPr>
                        <a:t> </a:t>
                      </a:r>
                      <a:r>
                        <a:rPr sz="1200" b="1" dirty="0" err="1">
                          <a:solidFill>
                            <a:srgbClr val="202B37"/>
                          </a:solidFill>
                          <a:latin typeface="Aptos"/>
                        </a:rPr>
                        <a:t>локалізація</a:t>
                      </a:r>
                      <a:r>
                        <a:rPr sz="1200" b="1" dirty="0">
                          <a:solidFill>
                            <a:srgbClr val="202B37"/>
                          </a:solidFill>
                          <a:latin typeface="Aptos"/>
                        </a:rPr>
                        <a:t> </a:t>
                      </a:r>
                      <a:r>
                        <a:rPr sz="1200" b="1" dirty="0" err="1">
                          <a:solidFill>
                            <a:srgbClr val="202B37"/>
                          </a:solidFill>
                          <a:latin typeface="Aptos"/>
                        </a:rPr>
                        <a:t>об</a:t>
                      </a:r>
                      <a:r>
                        <a:rPr lang="en-US" sz="1200" b="1" dirty="0" err="1">
                          <a:solidFill>
                            <a:srgbClr val="202B37"/>
                          </a:solidFill>
                          <a:latin typeface="Aptos"/>
                        </a:rPr>
                        <a:t>'</a:t>
                      </a:r>
                      <a:r>
                        <a:rPr sz="1200" b="1" dirty="0" err="1">
                          <a:solidFill>
                            <a:srgbClr val="202B37"/>
                          </a:solidFill>
                          <a:latin typeface="Aptos"/>
                        </a:rPr>
                        <a:t>єктів</a:t>
                      </a:r>
                      <a:endParaRPr sz="1200" b="1" dirty="0">
                        <a:solidFill>
                          <a:srgbClr val="202B37"/>
                        </a:solidFill>
                        <a:latin typeface="Aptos"/>
                      </a:endParaRPr>
                    </a:p>
                  </a:txBody>
                  <a:tcPr marL="54864" marR="54864">
                    <a:solidFill>
                      <a:srgbClr val="E8F1FA"/>
                    </a:solidFill>
                  </a:tcPr>
                </a:tc>
                <a:tc>
                  <a:txBody>
                    <a:bodyPr/>
                    <a:lstStyle/>
                    <a:p>
                      <a:pPr algn="ctr"/>
                      <a:r>
                        <a:rPr sz="2000" b="0" dirty="0">
                          <a:solidFill>
                            <a:srgbClr val="E98D2D"/>
                          </a:solidFill>
                          <a:latin typeface="Aptos"/>
                        </a:rPr>
                        <a:t>+/−</a:t>
                      </a:r>
                    </a:p>
                  </a:txBody>
                  <a:tcPr marL="54864" marR="54864">
                    <a:solidFill>
                      <a:srgbClr val="F8FAFC"/>
                    </a:solidFill>
                  </a:tcPr>
                </a:tc>
                <a:tc>
                  <a:txBody>
                    <a:bodyPr/>
                    <a:lstStyle/>
                    <a:p>
                      <a:pPr algn="ctr"/>
                      <a:r>
                        <a:rPr sz="2000" b="0" dirty="0">
                          <a:solidFill>
                            <a:srgbClr val="368757"/>
                          </a:solidFill>
                          <a:latin typeface="Aptos"/>
                        </a:rPr>
                        <a:t>+</a:t>
                      </a:r>
                    </a:p>
                  </a:txBody>
                  <a:tcPr marL="54864" marR="54864">
                    <a:solidFill>
                      <a:srgbClr val="F8FAFC"/>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1">
                          <a:solidFill>
                            <a:srgbClr val="368757"/>
                          </a:solidFill>
                          <a:latin typeface="Aptos"/>
                        </a:rPr>
                        <a:t>+</a:t>
                      </a:r>
                    </a:p>
                  </a:txBody>
                  <a:tcPr marL="54864" marR="54864">
                    <a:solidFill>
                      <a:srgbClr val="E8F7EF"/>
                    </a:solidFill>
                  </a:tcPr>
                </a:tc>
                <a:extLst>
                  <a:ext uri="{0D108BD9-81ED-4DB2-BD59-A6C34878D82A}">
                    <a16:rowId xmlns:a16="http://schemas.microsoft.com/office/drawing/2014/main" val="10001"/>
                  </a:ext>
                </a:extLst>
              </a:tr>
              <a:tr h="557784">
                <a:tc>
                  <a:txBody>
                    <a:bodyPr/>
                    <a:lstStyle/>
                    <a:p>
                      <a:pPr algn="l"/>
                      <a:r>
                        <a:rPr sz="1200" b="1">
                          <a:solidFill>
                            <a:srgbClr val="202B37"/>
                          </a:solidFill>
                          <a:latin typeface="Aptos"/>
                        </a:rPr>
                        <a:t>Відстеження / оцінювання руху</a:t>
                      </a:r>
                    </a:p>
                  </a:txBody>
                  <a:tcPr marL="54864" marR="54864">
                    <a:solidFill>
                      <a:srgbClr val="E8F1FA"/>
                    </a:solidFill>
                  </a:tcPr>
                </a:tc>
                <a:tc>
                  <a:txBody>
                    <a:bodyPr/>
                    <a:lstStyle/>
                    <a:p>
                      <a:pPr algn="ctr"/>
                      <a:r>
                        <a:rPr sz="2000" b="0">
                          <a:solidFill>
                            <a:srgbClr val="368757"/>
                          </a:solidFill>
                          <a:latin typeface="Aptos"/>
                        </a:rPr>
                        <a:t>+</a:t>
                      </a:r>
                    </a:p>
                  </a:txBody>
                  <a:tcPr marL="54864" marR="54864">
                    <a:solidFill>
                      <a:srgbClr val="EEF2F7"/>
                    </a:solidFill>
                  </a:tcPr>
                </a:tc>
                <a:tc>
                  <a:txBody>
                    <a:bodyPr/>
                    <a:lstStyle/>
                    <a:p>
                      <a:pPr algn="ctr"/>
                      <a:r>
                        <a:rPr sz="2000" b="0" dirty="0">
                          <a:solidFill>
                            <a:srgbClr val="368757"/>
                          </a:solidFill>
                          <a:latin typeface="Aptos"/>
                        </a:rPr>
                        <a:t>+</a:t>
                      </a:r>
                    </a:p>
                  </a:txBody>
                  <a:tcPr marL="54864" marR="54864">
                    <a:solidFill>
                      <a:srgbClr val="EEF2F7"/>
                    </a:solidFill>
                  </a:tcPr>
                </a:tc>
                <a:tc>
                  <a:txBody>
                    <a:bodyPr/>
                    <a:lstStyle/>
                    <a:p>
                      <a:pPr algn="ctr"/>
                      <a:r>
                        <a:rPr sz="2000" b="0">
                          <a:solidFill>
                            <a:srgbClr val="368757"/>
                          </a:solidFill>
                          <a:latin typeface="Aptos"/>
                        </a:rPr>
                        <a:t>+</a:t>
                      </a:r>
                    </a:p>
                  </a:txBody>
                  <a:tcPr marL="54864" marR="54864">
                    <a:solidFill>
                      <a:srgbClr val="EEF2F7"/>
                    </a:solidFill>
                  </a:tcPr>
                </a:tc>
                <a:tc>
                  <a:txBody>
                    <a:bodyPr/>
                    <a:lstStyle/>
                    <a:p>
                      <a:pPr algn="ctr"/>
                      <a:r>
                        <a:rPr sz="2000" b="0">
                          <a:solidFill>
                            <a:srgbClr val="606C7C"/>
                          </a:solidFill>
                          <a:latin typeface="Aptos"/>
                        </a:rPr>
                        <a:t>−</a:t>
                      </a:r>
                    </a:p>
                  </a:txBody>
                  <a:tcPr marL="54864" marR="54864">
                    <a:solidFill>
                      <a:srgbClr val="EEF2F7"/>
                    </a:solidFill>
                  </a:tcPr>
                </a:tc>
                <a:tc>
                  <a:txBody>
                    <a:bodyPr/>
                    <a:lstStyle/>
                    <a:p>
                      <a:pPr algn="ctr"/>
                      <a:r>
                        <a:rPr sz="2000" b="1">
                          <a:solidFill>
                            <a:srgbClr val="368757"/>
                          </a:solidFill>
                          <a:latin typeface="Aptos"/>
                        </a:rPr>
                        <a:t>+</a:t>
                      </a:r>
                    </a:p>
                  </a:txBody>
                  <a:tcPr marL="54864" marR="54864">
                    <a:solidFill>
                      <a:srgbClr val="E8F7EF"/>
                    </a:solidFill>
                  </a:tcPr>
                </a:tc>
                <a:extLst>
                  <a:ext uri="{0D108BD9-81ED-4DB2-BD59-A6C34878D82A}">
                    <a16:rowId xmlns:a16="http://schemas.microsoft.com/office/drawing/2014/main" val="10002"/>
                  </a:ext>
                </a:extLst>
              </a:tr>
              <a:tr h="557784">
                <a:tc>
                  <a:txBody>
                    <a:bodyPr/>
                    <a:lstStyle/>
                    <a:p>
                      <a:pPr algn="l"/>
                      <a:r>
                        <a:rPr sz="1200" b="1">
                          <a:solidFill>
                            <a:srgbClr val="202B37"/>
                          </a:solidFill>
                          <a:latin typeface="Aptos"/>
                        </a:rPr>
                        <a:t>Оцінювання глибини сцени</a:t>
                      </a:r>
                    </a:p>
                  </a:txBody>
                  <a:tcPr marL="54864" marR="54864">
                    <a:solidFill>
                      <a:srgbClr val="E8F1FA"/>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dirty="0">
                          <a:solidFill>
                            <a:srgbClr val="606C7C"/>
                          </a:solidFill>
                          <a:latin typeface="Aptos"/>
                        </a:rPr>
                        <a:t>−</a:t>
                      </a:r>
                    </a:p>
                  </a:txBody>
                  <a:tcPr marL="54864" marR="54864">
                    <a:solidFill>
                      <a:srgbClr val="F8FAFC"/>
                    </a:solidFill>
                  </a:tcPr>
                </a:tc>
                <a:tc>
                  <a:txBody>
                    <a:bodyPr/>
                    <a:lstStyle/>
                    <a:p>
                      <a:pPr algn="ctr"/>
                      <a:r>
                        <a:rPr sz="2000" b="0" dirty="0">
                          <a:solidFill>
                            <a:srgbClr val="606C7C"/>
                          </a:solidFill>
                          <a:latin typeface="Aptos"/>
                        </a:rPr>
                        <a:t>−</a:t>
                      </a:r>
                    </a:p>
                  </a:txBody>
                  <a:tcPr marL="54864" marR="54864">
                    <a:solidFill>
                      <a:srgbClr val="F8FAFC"/>
                    </a:solidFill>
                  </a:tcPr>
                </a:tc>
                <a:tc>
                  <a:txBody>
                    <a:bodyPr/>
                    <a:lstStyle/>
                    <a:p>
                      <a:pPr algn="ctr"/>
                      <a:r>
                        <a:rPr sz="2000" b="0">
                          <a:solidFill>
                            <a:srgbClr val="368757"/>
                          </a:solidFill>
                          <a:latin typeface="Aptos"/>
                        </a:rPr>
                        <a:t>+</a:t>
                      </a:r>
                    </a:p>
                  </a:txBody>
                  <a:tcPr marL="54864" marR="54864">
                    <a:solidFill>
                      <a:srgbClr val="F8FAFC"/>
                    </a:solidFill>
                  </a:tcPr>
                </a:tc>
                <a:tc>
                  <a:txBody>
                    <a:bodyPr/>
                    <a:lstStyle/>
                    <a:p>
                      <a:pPr algn="ctr"/>
                      <a:r>
                        <a:rPr sz="2000" b="1">
                          <a:solidFill>
                            <a:srgbClr val="368757"/>
                          </a:solidFill>
                          <a:latin typeface="Aptos"/>
                        </a:rPr>
                        <a:t>+</a:t>
                      </a:r>
                    </a:p>
                  </a:txBody>
                  <a:tcPr marL="54864" marR="54864">
                    <a:solidFill>
                      <a:srgbClr val="E8F7EF"/>
                    </a:solidFill>
                  </a:tcPr>
                </a:tc>
                <a:extLst>
                  <a:ext uri="{0D108BD9-81ED-4DB2-BD59-A6C34878D82A}">
                    <a16:rowId xmlns:a16="http://schemas.microsoft.com/office/drawing/2014/main" val="10003"/>
                  </a:ext>
                </a:extLst>
              </a:tr>
              <a:tr h="557784">
                <a:tc>
                  <a:txBody>
                    <a:bodyPr/>
                    <a:lstStyle/>
                    <a:p>
                      <a:pPr algn="l"/>
                      <a:r>
                        <a:rPr sz="1200" b="1">
                          <a:solidFill>
                            <a:srgbClr val="202B37"/>
                          </a:solidFill>
                          <a:latin typeface="Aptos"/>
                        </a:rPr>
                        <a:t>Розрахунок параметрів: швидкість, напрям, траєкторія</a:t>
                      </a:r>
                    </a:p>
                  </a:txBody>
                  <a:tcPr marL="54864" marR="54864">
                    <a:solidFill>
                      <a:srgbClr val="E8F1FA"/>
                    </a:solidFill>
                  </a:tcPr>
                </a:tc>
                <a:tc>
                  <a:txBody>
                    <a:bodyPr/>
                    <a:lstStyle/>
                    <a:p>
                      <a:pPr algn="ctr"/>
                      <a:r>
                        <a:rPr sz="2000" b="0">
                          <a:solidFill>
                            <a:srgbClr val="E98D2D"/>
                          </a:solidFill>
                          <a:latin typeface="Aptos"/>
                        </a:rPr>
                        <a:t>+/−</a:t>
                      </a:r>
                    </a:p>
                  </a:txBody>
                  <a:tcPr marL="54864" marR="54864">
                    <a:solidFill>
                      <a:srgbClr val="EEF2F7"/>
                    </a:solidFill>
                  </a:tcPr>
                </a:tc>
                <a:tc>
                  <a:txBody>
                    <a:bodyPr/>
                    <a:lstStyle/>
                    <a:p>
                      <a:pPr algn="ctr"/>
                      <a:r>
                        <a:rPr sz="2000" b="0">
                          <a:solidFill>
                            <a:srgbClr val="E98D2D"/>
                          </a:solidFill>
                          <a:latin typeface="Aptos"/>
                        </a:rPr>
                        <a:t>+/−</a:t>
                      </a:r>
                    </a:p>
                  </a:txBody>
                  <a:tcPr marL="54864" marR="54864">
                    <a:solidFill>
                      <a:srgbClr val="EEF2F7"/>
                    </a:solidFill>
                  </a:tcPr>
                </a:tc>
                <a:tc>
                  <a:txBody>
                    <a:bodyPr/>
                    <a:lstStyle/>
                    <a:p>
                      <a:pPr algn="ctr"/>
                      <a:r>
                        <a:rPr sz="2000" b="0" dirty="0">
                          <a:solidFill>
                            <a:srgbClr val="E98D2D"/>
                          </a:solidFill>
                          <a:latin typeface="Aptos"/>
                        </a:rPr>
                        <a:t>+/−</a:t>
                      </a:r>
                    </a:p>
                  </a:txBody>
                  <a:tcPr marL="54864" marR="54864">
                    <a:solidFill>
                      <a:srgbClr val="EEF2F7"/>
                    </a:solidFill>
                  </a:tcPr>
                </a:tc>
                <a:tc>
                  <a:txBody>
                    <a:bodyPr/>
                    <a:lstStyle/>
                    <a:p>
                      <a:pPr algn="ctr"/>
                      <a:r>
                        <a:rPr sz="2000" b="0" dirty="0">
                          <a:solidFill>
                            <a:srgbClr val="E98D2D"/>
                          </a:solidFill>
                          <a:latin typeface="Aptos"/>
                        </a:rPr>
                        <a:t>+/−</a:t>
                      </a:r>
                    </a:p>
                  </a:txBody>
                  <a:tcPr marL="54864" marR="54864">
                    <a:solidFill>
                      <a:srgbClr val="EEF2F7"/>
                    </a:solidFill>
                  </a:tcPr>
                </a:tc>
                <a:tc>
                  <a:txBody>
                    <a:bodyPr/>
                    <a:lstStyle/>
                    <a:p>
                      <a:pPr algn="ctr"/>
                      <a:r>
                        <a:rPr sz="2000" b="1">
                          <a:solidFill>
                            <a:srgbClr val="368757"/>
                          </a:solidFill>
                          <a:latin typeface="Aptos"/>
                        </a:rPr>
                        <a:t>+</a:t>
                      </a:r>
                    </a:p>
                  </a:txBody>
                  <a:tcPr marL="54864" marR="54864">
                    <a:solidFill>
                      <a:srgbClr val="E8F7EF"/>
                    </a:solidFill>
                  </a:tcPr>
                </a:tc>
                <a:extLst>
                  <a:ext uri="{0D108BD9-81ED-4DB2-BD59-A6C34878D82A}">
                    <a16:rowId xmlns:a16="http://schemas.microsoft.com/office/drawing/2014/main" val="10004"/>
                  </a:ext>
                </a:extLst>
              </a:tr>
              <a:tr h="557784">
                <a:tc>
                  <a:txBody>
                    <a:bodyPr/>
                    <a:lstStyle/>
                    <a:p>
                      <a:pPr algn="l"/>
                      <a:r>
                        <a:rPr sz="1200" b="1">
                          <a:solidFill>
                            <a:srgbClr val="202B37"/>
                          </a:solidFill>
                          <a:latin typeface="Aptos"/>
                        </a:rPr>
                        <a:t>Ансамблева корекція результатів</a:t>
                      </a:r>
                    </a:p>
                  </a:txBody>
                  <a:tcPr marL="54864" marR="54864">
                    <a:solidFill>
                      <a:srgbClr val="E8F1FA"/>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dirty="0">
                          <a:solidFill>
                            <a:srgbClr val="606C7C"/>
                          </a:solidFill>
                          <a:latin typeface="Aptos"/>
                        </a:rPr>
                        <a:t>−</a:t>
                      </a:r>
                    </a:p>
                  </a:txBody>
                  <a:tcPr marL="54864" marR="54864">
                    <a:solidFill>
                      <a:srgbClr val="F8FAFC"/>
                    </a:solidFill>
                  </a:tcPr>
                </a:tc>
                <a:tc>
                  <a:txBody>
                    <a:bodyPr/>
                    <a:lstStyle/>
                    <a:p>
                      <a:pPr algn="ctr"/>
                      <a:r>
                        <a:rPr sz="2000" b="1" dirty="0">
                          <a:solidFill>
                            <a:srgbClr val="368757"/>
                          </a:solidFill>
                          <a:latin typeface="Aptos"/>
                        </a:rPr>
                        <a:t>+</a:t>
                      </a:r>
                    </a:p>
                  </a:txBody>
                  <a:tcPr marL="54864" marR="54864">
                    <a:solidFill>
                      <a:srgbClr val="E8F7EF"/>
                    </a:solidFill>
                  </a:tcPr>
                </a:tc>
                <a:extLst>
                  <a:ext uri="{0D108BD9-81ED-4DB2-BD59-A6C34878D82A}">
                    <a16:rowId xmlns:a16="http://schemas.microsoft.com/office/drawing/2014/main" val="10005"/>
                  </a:ext>
                </a:extLst>
              </a:tr>
              <a:tr h="557784">
                <a:tc>
                  <a:txBody>
                    <a:bodyPr/>
                    <a:lstStyle/>
                    <a:p>
                      <a:pPr algn="l"/>
                      <a:r>
                        <a:rPr sz="1200" b="1">
                          <a:solidFill>
                            <a:srgbClr val="202B37"/>
                          </a:solidFill>
                          <a:latin typeface="Aptos"/>
                        </a:rPr>
                        <a:t>Єдиний повний цикл: відео → параметри → візуалізація</a:t>
                      </a:r>
                    </a:p>
                  </a:txBody>
                  <a:tcPr marL="54864" marR="54864">
                    <a:solidFill>
                      <a:srgbClr val="E8F1FA"/>
                    </a:solidFill>
                  </a:tcPr>
                </a:tc>
                <a:tc>
                  <a:txBody>
                    <a:bodyPr/>
                    <a:lstStyle/>
                    <a:p>
                      <a:pPr algn="ctr"/>
                      <a:r>
                        <a:rPr sz="2000" b="0">
                          <a:solidFill>
                            <a:srgbClr val="E98D2D"/>
                          </a:solidFill>
                          <a:latin typeface="Aptos"/>
                        </a:rPr>
                        <a:t>+/−</a:t>
                      </a:r>
                    </a:p>
                  </a:txBody>
                  <a:tcPr marL="54864" marR="54864">
                    <a:solidFill>
                      <a:srgbClr val="EEF2F7"/>
                    </a:solidFill>
                  </a:tcPr>
                </a:tc>
                <a:tc>
                  <a:txBody>
                    <a:bodyPr/>
                    <a:lstStyle/>
                    <a:p>
                      <a:pPr algn="ctr"/>
                      <a:r>
                        <a:rPr sz="2000" b="0">
                          <a:solidFill>
                            <a:srgbClr val="E98D2D"/>
                          </a:solidFill>
                          <a:latin typeface="Aptos"/>
                        </a:rPr>
                        <a:t>+/−</a:t>
                      </a:r>
                    </a:p>
                  </a:txBody>
                  <a:tcPr marL="54864" marR="54864">
                    <a:solidFill>
                      <a:srgbClr val="EEF2F7"/>
                    </a:solidFill>
                  </a:tcPr>
                </a:tc>
                <a:tc>
                  <a:txBody>
                    <a:bodyPr/>
                    <a:lstStyle/>
                    <a:p>
                      <a:pPr algn="ctr"/>
                      <a:r>
                        <a:rPr sz="2000" b="0">
                          <a:solidFill>
                            <a:srgbClr val="606C7C"/>
                          </a:solidFill>
                          <a:latin typeface="Aptos"/>
                        </a:rPr>
                        <a:t>−</a:t>
                      </a:r>
                    </a:p>
                  </a:txBody>
                  <a:tcPr marL="54864" marR="54864">
                    <a:solidFill>
                      <a:srgbClr val="EEF2F7"/>
                    </a:solidFill>
                  </a:tcPr>
                </a:tc>
                <a:tc>
                  <a:txBody>
                    <a:bodyPr/>
                    <a:lstStyle/>
                    <a:p>
                      <a:pPr algn="ctr"/>
                      <a:r>
                        <a:rPr sz="2000" b="0">
                          <a:solidFill>
                            <a:srgbClr val="606C7C"/>
                          </a:solidFill>
                          <a:latin typeface="Aptos"/>
                        </a:rPr>
                        <a:t>−</a:t>
                      </a:r>
                    </a:p>
                  </a:txBody>
                  <a:tcPr marL="54864" marR="54864">
                    <a:solidFill>
                      <a:srgbClr val="EEF2F7"/>
                    </a:solidFill>
                  </a:tcPr>
                </a:tc>
                <a:tc>
                  <a:txBody>
                    <a:bodyPr/>
                    <a:lstStyle/>
                    <a:p>
                      <a:pPr algn="ctr"/>
                      <a:r>
                        <a:rPr sz="2000" b="1" dirty="0">
                          <a:solidFill>
                            <a:srgbClr val="368757"/>
                          </a:solidFill>
                          <a:latin typeface="Aptos"/>
                        </a:rPr>
                        <a:t>+</a:t>
                      </a:r>
                    </a:p>
                  </a:txBody>
                  <a:tcPr marL="54864" marR="54864">
                    <a:solidFill>
                      <a:srgbClr val="E8F7EF"/>
                    </a:solidFill>
                  </a:tcPr>
                </a:tc>
                <a:extLst>
                  <a:ext uri="{0D108BD9-81ED-4DB2-BD59-A6C34878D82A}">
                    <a16:rowId xmlns:a16="http://schemas.microsoft.com/office/drawing/2014/main" val="10006"/>
                  </a:ext>
                </a:extLst>
              </a:tr>
              <a:tr h="557784">
                <a:tc>
                  <a:txBody>
                    <a:bodyPr/>
                    <a:lstStyle/>
                    <a:p>
                      <a:pPr algn="l"/>
                      <a:r>
                        <a:rPr sz="1200" b="1" dirty="0" err="1">
                          <a:solidFill>
                            <a:srgbClr val="202B37"/>
                          </a:solidFill>
                          <a:latin typeface="Aptos"/>
                        </a:rPr>
                        <a:t>Кількісна</a:t>
                      </a:r>
                      <a:r>
                        <a:rPr sz="1200" b="1" dirty="0">
                          <a:solidFill>
                            <a:srgbClr val="202B37"/>
                          </a:solidFill>
                          <a:latin typeface="Aptos"/>
                        </a:rPr>
                        <a:t> </a:t>
                      </a:r>
                      <a:r>
                        <a:rPr sz="1200" b="1" dirty="0" err="1">
                          <a:solidFill>
                            <a:srgbClr val="202B37"/>
                          </a:solidFill>
                          <a:latin typeface="Aptos"/>
                        </a:rPr>
                        <a:t>перевірка</a:t>
                      </a:r>
                      <a:r>
                        <a:rPr sz="1200" b="1" dirty="0">
                          <a:solidFill>
                            <a:srgbClr val="202B37"/>
                          </a:solidFill>
                          <a:latin typeface="Aptos"/>
                        </a:rPr>
                        <a:t> </a:t>
                      </a:r>
                      <a:r>
                        <a:rPr sz="1200" b="1" dirty="0" err="1">
                          <a:solidFill>
                            <a:srgbClr val="202B37"/>
                          </a:solidFill>
                          <a:latin typeface="Aptos"/>
                        </a:rPr>
                        <a:t>комбінацій</a:t>
                      </a:r>
                      <a:r>
                        <a:rPr sz="1200" b="1" dirty="0">
                          <a:solidFill>
                            <a:srgbClr val="202B37"/>
                          </a:solidFill>
                          <a:latin typeface="Aptos"/>
                        </a:rPr>
                        <a:t> </a:t>
                      </a:r>
                      <a:r>
                        <a:rPr sz="1200" b="1" dirty="0" err="1">
                          <a:solidFill>
                            <a:srgbClr val="202B37"/>
                          </a:solidFill>
                          <a:latin typeface="Aptos"/>
                        </a:rPr>
                        <a:t>методів</a:t>
                      </a:r>
                      <a:endParaRPr sz="1200" b="1" dirty="0">
                        <a:solidFill>
                          <a:srgbClr val="202B37"/>
                        </a:solidFill>
                        <a:latin typeface="Aptos"/>
                      </a:endParaRPr>
                    </a:p>
                  </a:txBody>
                  <a:tcPr marL="54864" marR="54864">
                    <a:solidFill>
                      <a:srgbClr val="E8F1FA"/>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a:solidFill>
                            <a:srgbClr val="606C7C"/>
                          </a:solidFill>
                          <a:latin typeface="Aptos"/>
                        </a:rPr>
                        <a:t>−</a:t>
                      </a:r>
                    </a:p>
                  </a:txBody>
                  <a:tcPr marL="54864" marR="54864">
                    <a:solidFill>
                      <a:srgbClr val="F8FAFC"/>
                    </a:solidFill>
                  </a:tcPr>
                </a:tc>
                <a:tc>
                  <a:txBody>
                    <a:bodyPr/>
                    <a:lstStyle/>
                    <a:p>
                      <a:pPr algn="ctr"/>
                      <a:r>
                        <a:rPr sz="2000" b="0" dirty="0">
                          <a:solidFill>
                            <a:srgbClr val="202B37"/>
                          </a:solidFill>
                          <a:latin typeface="Aptos"/>
                        </a:rPr>
                        <a:t>35 </a:t>
                      </a:r>
                      <a:r>
                        <a:rPr sz="2000" b="0" dirty="0" err="1">
                          <a:solidFill>
                            <a:srgbClr val="202B37"/>
                          </a:solidFill>
                          <a:latin typeface="Aptos"/>
                        </a:rPr>
                        <a:t>комбінацій</a:t>
                      </a:r>
                      <a:endParaRPr sz="2000" b="0" dirty="0">
                        <a:solidFill>
                          <a:srgbClr val="202B37"/>
                        </a:solidFill>
                        <a:latin typeface="Aptos"/>
                      </a:endParaRPr>
                    </a:p>
                  </a:txBody>
                  <a:tcPr marL="54864" marR="54864">
                    <a:solidFill>
                      <a:srgbClr val="E8F7E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447472" y="6428232"/>
            <a:ext cx="10736716" cy="347472"/>
          </a:xfrm>
          <a:prstGeom prst="rect">
            <a:avLst/>
          </a:prstGeom>
          <a:noFill/>
        </p:spPr>
        <p:txBody>
          <a:bodyPr wrap="square">
            <a:normAutofit fontScale="92500"/>
          </a:bodyPr>
          <a:lstStyle/>
          <a:p>
            <a:pPr algn="l"/>
            <a:r>
              <a:rPr sz="1400" b="0" dirty="0" err="1">
                <a:solidFill>
                  <a:srgbClr val="606C7C"/>
                </a:solidFill>
                <a:latin typeface="Aptos"/>
              </a:rPr>
              <a:t>Позначення</a:t>
            </a:r>
            <a:r>
              <a:rPr sz="1400" b="0" dirty="0">
                <a:solidFill>
                  <a:srgbClr val="606C7C"/>
                </a:solidFill>
                <a:latin typeface="Aptos"/>
              </a:rPr>
              <a:t>: + — </a:t>
            </a:r>
            <a:r>
              <a:rPr sz="1400" b="0" dirty="0" err="1">
                <a:solidFill>
                  <a:srgbClr val="606C7C"/>
                </a:solidFill>
                <a:latin typeface="Aptos"/>
              </a:rPr>
              <a:t>підтримується</a:t>
            </a:r>
            <a:r>
              <a:rPr sz="1400" b="0" dirty="0">
                <a:solidFill>
                  <a:srgbClr val="606C7C"/>
                </a:solidFill>
                <a:latin typeface="Aptos"/>
              </a:rPr>
              <a:t>; +/− — </a:t>
            </a:r>
            <a:r>
              <a:rPr sz="1400" b="0" dirty="0" err="1">
                <a:solidFill>
                  <a:srgbClr val="606C7C"/>
                </a:solidFill>
                <a:latin typeface="Aptos"/>
              </a:rPr>
              <a:t>підтримується</a:t>
            </a:r>
            <a:r>
              <a:rPr sz="1400" b="0" dirty="0">
                <a:solidFill>
                  <a:srgbClr val="606C7C"/>
                </a:solidFill>
                <a:latin typeface="Aptos"/>
              </a:rPr>
              <a:t> </a:t>
            </a:r>
            <a:r>
              <a:rPr sz="1400" b="0" dirty="0" err="1">
                <a:solidFill>
                  <a:srgbClr val="606C7C"/>
                </a:solidFill>
                <a:latin typeface="Aptos"/>
              </a:rPr>
              <a:t>частково</a:t>
            </a:r>
            <a:r>
              <a:rPr sz="1400" b="0" dirty="0">
                <a:solidFill>
                  <a:srgbClr val="606C7C"/>
                </a:solidFill>
                <a:latin typeface="Aptos"/>
              </a:rPr>
              <a:t> </a:t>
            </a:r>
            <a:r>
              <a:rPr sz="1400" b="0" dirty="0" err="1">
                <a:solidFill>
                  <a:srgbClr val="606C7C"/>
                </a:solidFill>
                <a:latin typeface="Aptos"/>
              </a:rPr>
              <a:t>або</a:t>
            </a:r>
            <a:r>
              <a:rPr sz="1400" b="0" dirty="0">
                <a:solidFill>
                  <a:srgbClr val="606C7C"/>
                </a:solidFill>
                <a:latin typeface="Aptos"/>
              </a:rPr>
              <a:t> </a:t>
            </a:r>
            <a:r>
              <a:rPr sz="1400" b="0" dirty="0" err="1">
                <a:solidFill>
                  <a:srgbClr val="606C7C"/>
                </a:solidFill>
                <a:latin typeface="Aptos"/>
              </a:rPr>
              <a:t>потребує</a:t>
            </a:r>
            <a:r>
              <a:rPr sz="1400" b="0" dirty="0">
                <a:solidFill>
                  <a:srgbClr val="606C7C"/>
                </a:solidFill>
                <a:latin typeface="Aptos"/>
              </a:rPr>
              <a:t> </a:t>
            </a:r>
            <a:r>
              <a:rPr sz="1400" b="0" dirty="0" err="1">
                <a:solidFill>
                  <a:srgbClr val="606C7C"/>
                </a:solidFill>
                <a:latin typeface="Aptos"/>
              </a:rPr>
              <a:t>додаткової</a:t>
            </a:r>
            <a:r>
              <a:rPr sz="1400" b="0" dirty="0">
                <a:solidFill>
                  <a:srgbClr val="606C7C"/>
                </a:solidFill>
                <a:latin typeface="Aptos"/>
              </a:rPr>
              <a:t> </a:t>
            </a:r>
            <a:r>
              <a:rPr sz="1400" b="0" dirty="0" err="1">
                <a:solidFill>
                  <a:srgbClr val="606C7C"/>
                </a:solidFill>
                <a:latin typeface="Aptos"/>
              </a:rPr>
              <a:t>інтеграції</a:t>
            </a:r>
            <a:r>
              <a:rPr sz="1400" b="0" dirty="0">
                <a:solidFill>
                  <a:srgbClr val="606C7C"/>
                </a:solidFill>
                <a:latin typeface="Aptos"/>
              </a:rPr>
              <a:t>; − — </a:t>
            </a:r>
            <a:r>
              <a:rPr sz="1400" b="0" dirty="0" err="1">
                <a:solidFill>
                  <a:srgbClr val="606C7C"/>
                </a:solidFill>
                <a:latin typeface="Aptos"/>
              </a:rPr>
              <a:t>не</a:t>
            </a:r>
            <a:r>
              <a:rPr sz="1400" b="0" dirty="0">
                <a:solidFill>
                  <a:srgbClr val="606C7C"/>
                </a:solidFill>
                <a:latin typeface="Aptos"/>
              </a:rPr>
              <a:t> є </a:t>
            </a:r>
            <a:r>
              <a:rPr sz="1400" b="0" dirty="0" err="1">
                <a:solidFill>
                  <a:srgbClr val="606C7C"/>
                </a:solidFill>
                <a:latin typeface="Aptos"/>
              </a:rPr>
              <a:t>основною</a:t>
            </a:r>
            <a:r>
              <a:rPr sz="1400" b="0" dirty="0">
                <a:solidFill>
                  <a:srgbClr val="606C7C"/>
                </a:solidFill>
                <a:latin typeface="Aptos"/>
              </a:rPr>
              <a:t> </a:t>
            </a:r>
            <a:r>
              <a:rPr sz="1400" b="0" dirty="0" err="1">
                <a:solidFill>
                  <a:srgbClr val="606C7C"/>
                </a:solidFill>
                <a:latin typeface="Aptos"/>
              </a:rPr>
              <a:t>функцією</a:t>
            </a:r>
            <a:r>
              <a:rPr sz="1400" b="0" dirty="0">
                <a:solidFill>
                  <a:srgbClr val="606C7C"/>
                </a:solidFill>
                <a:latin typeface="Aptos"/>
              </a:rPr>
              <a:t> </a:t>
            </a:r>
            <a:r>
              <a:rPr sz="1400" b="0" dirty="0" err="1">
                <a:solidFill>
                  <a:srgbClr val="606C7C"/>
                </a:solidFill>
                <a:latin typeface="Aptos"/>
              </a:rPr>
              <a:t>аналога</a:t>
            </a:r>
            <a:r>
              <a:rPr sz="1400" b="0" dirty="0">
                <a:solidFill>
                  <a:srgbClr val="606C7C"/>
                </a:solidFill>
                <a:latin typeface="Aptos"/>
              </a:rPr>
              <a:t>.</a:t>
            </a:r>
          </a:p>
        </p:txBody>
      </p:sp>
      <p:sp>
        <p:nvSpPr>
          <p:cNvPr id="8" name="TextBox 7">
            <a:extLst>
              <a:ext uri="{FF2B5EF4-FFF2-40B4-BE49-F238E27FC236}">
                <a16:creationId xmlns:a16="http://schemas.microsoft.com/office/drawing/2014/main" id="{173236D1-3EDF-A826-DA69-E14310256CE0}"/>
              </a:ext>
            </a:extLst>
          </p:cNvPr>
          <p:cNvSpPr txBox="1"/>
          <p:nvPr/>
        </p:nvSpPr>
        <p:spPr>
          <a:xfrm>
            <a:off x="11598925" y="115010"/>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
        <p:nvSpPr>
          <p:cNvPr id="10" name="Місце для номера слайда 2">
            <a:extLst>
              <a:ext uri="{FF2B5EF4-FFF2-40B4-BE49-F238E27FC236}">
                <a16:creationId xmlns:a16="http://schemas.microsoft.com/office/drawing/2014/main" id="{CB018BCC-0B7F-B1B6-75AC-F5C0CC10B958}"/>
              </a:ext>
            </a:extLst>
          </p:cNvPr>
          <p:cNvSpPr txBox="1">
            <a:spLocks/>
          </p:cNvSpPr>
          <p:nvPr/>
        </p:nvSpPr>
        <p:spPr>
          <a:xfrm>
            <a:off x="11184188" y="6356350"/>
            <a:ext cx="876748" cy="365125"/>
          </a:xfrm>
          <a:prstGeom prst="foldedCorner">
            <a:avLst/>
          </a:prstGeom>
        </p:spPr>
        <p:style>
          <a:lnRef idx="2">
            <a:schemeClr val="dk1"/>
          </a:lnRef>
          <a:fillRef idx="1">
            <a:schemeClr val="lt1"/>
          </a:fillRef>
          <a:effectRef idx="0">
            <a:schemeClr val="dk1"/>
          </a:effectRef>
          <a:fontRef idx="minor">
            <a:schemeClr val="dk1"/>
          </a:fontRef>
        </p:style>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pPr/>
              <a:t>52</a:t>
            </a:fld>
            <a:endParaRPr lang="en-US" dirty="0"/>
          </a:p>
        </p:txBody>
      </p:sp>
    </p:spTree>
    <p:extLst>
      <p:ext uri="{BB962C8B-B14F-4D97-AF65-F5344CB8AC3E}">
        <p14:creationId xmlns:p14="http://schemas.microsoft.com/office/powerpoint/2010/main" val="30649573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256032"/>
            <a:ext cx="11247120" cy="411480"/>
          </a:xfrm>
          <a:prstGeom prst="rect">
            <a:avLst/>
          </a:prstGeom>
          <a:noFill/>
        </p:spPr>
        <p:txBody>
          <a:bodyPr wrap="square">
            <a:noAutofit/>
          </a:bodyPr>
          <a:lstStyle/>
          <a:p>
            <a:pPr algn="l"/>
            <a:r>
              <a:rPr sz="3600" b="1" dirty="0" err="1">
                <a:solidFill>
                  <a:srgbClr val="143052"/>
                </a:solidFill>
                <a:latin typeface="Aptos"/>
              </a:rPr>
              <a:t>Кількісне</a:t>
            </a:r>
            <a:r>
              <a:rPr sz="3600" b="1" dirty="0">
                <a:solidFill>
                  <a:srgbClr val="143052"/>
                </a:solidFill>
                <a:latin typeface="Aptos"/>
              </a:rPr>
              <a:t> </a:t>
            </a:r>
            <a:r>
              <a:rPr sz="3600" b="1" dirty="0" err="1">
                <a:solidFill>
                  <a:srgbClr val="143052"/>
                </a:solidFill>
                <a:latin typeface="Aptos"/>
              </a:rPr>
              <a:t>порівняння</a:t>
            </a:r>
            <a:r>
              <a:rPr sz="3600" b="1" dirty="0">
                <a:solidFill>
                  <a:srgbClr val="143052"/>
                </a:solidFill>
                <a:latin typeface="Aptos"/>
              </a:rPr>
              <a:t> з </a:t>
            </a:r>
            <a:r>
              <a:rPr sz="3600" b="1" dirty="0" err="1">
                <a:solidFill>
                  <a:srgbClr val="143052"/>
                </a:solidFill>
                <a:latin typeface="Aptos"/>
              </a:rPr>
              <a:t>аналогами</a:t>
            </a:r>
            <a:endParaRPr sz="3600" b="1" dirty="0">
              <a:solidFill>
                <a:srgbClr val="143052"/>
              </a:solidFill>
              <a:latin typeface="Aptos"/>
            </a:endParaRPr>
          </a:p>
        </p:txBody>
      </p:sp>
      <p:sp>
        <p:nvSpPr>
          <p:cNvPr id="3" name="TextBox 2"/>
          <p:cNvSpPr txBox="1"/>
          <p:nvPr/>
        </p:nvSpPr>
        <p:spPr>
          <a:xfrm>
            <a:off x="530352" y="713232"/>
            <a:ext cx="10972800" cy="320040"/>
          </a:xfrm>
          <a:prstGeom prst="rect">
            <a:avLst/>
          </a:prstGeom>
          <a:noFill/>
        </p:spPr>
        <p:txBody>
          <a:bodyPr wrap="square">
            <a:normAutofit/>
          </a:bodyPr>
          <a:lstStyle/>
          <a:p>
            <a:pPr algn="l"/>
            <a:r>
              <a:rPr sz="1200" b="0" dirty="0" err="1">
                <a:solidFill>
                  <a:srgbClr val="606C7C"/>
                </a:solidFill>
                <a:latin typeface="Aptos"/>
              </a:rPr>
              <a:t>Оцінювання</a:t>
            </a:r>
            <a:r>
              <a:rPr sz="1200" b="0" dirty="0">
                <a:solidFill>
                  <a:srgbClr val="606C7C"/>
                </a:solidFill>
                <a:latin typeface="Aptos"/>
              </a:rPr>
              <a:t> </a:t>
            </a:r>
            <a:r>
              <a:rPr sz="1200" b="0" dirty="0" err="1">
                <a:solidFill>
                  <a:srgbClr val="606C7C"/>
                </a:solidFill>
                <a:latin typeface="Aptos"/>
              </a:rPr>
              <a:t>виконано</a:t>
            </a:r>
            <a:r>
              <a:rPr sz="1200" b="0" dirty="0">
                <a:solidFill>
                  <a:srgbClr val="606C7C"/>
                </a:solidFill>
                <a:latin typeface="Aptos"/>
              </a:rPr>
              <a:t> </a:t>
            </a:r>
            <a:r>
              <a:rPr sz="1200" b="0" dirty="0" err="1">
                <a:solidFill>
                  <a:srgbClr val="606C7C"/>
                </a:solidFill>
                <a:latin typeface="Aptos"/>
              </a:rPr>
              <a:t>за</a:t>
            </a:r>
            <a:r>
              <a:rPr sz="1200" b="0" dirty="0">
                <a:solidFill>
                  <a:srgbClr val="606C7C"/>
                </a:solidFill>
                <a:latin typeface="Aptos"/>
              </a:rPr>
              <a:t> </a:t>
            </a:r>
            <a:r>
              <a:rPr sz="1200" b="0" dirty="0" err="1">
                <a:solidFill>
                  <a:srgbClr val="606C7C"/>
                </a:solidFill>
                <a:latin typeface="Aptos"/>
              </a:rPr>
              <a:t>наявністю</a:t>
            </a:r>
            <a:r>
              <a:rPr sz="1200" b="0" dirty="0">
                <a:solidFill>
                  <a:srgbClr val="606C7C"/>
                </a:solidFill>
                <a:latin typeface="Aptos"/>
              </a:rPr>
              <a:t> </a:t>
            </a:r>
            <a:r>
              <a:rPr sz="1200" b="0" dirty="0" err="1">
                <a:solidFill>
                  <a:srgbClr val="606C7C"/>
                </a:solidFill>
                <a:latin typeface="Aptos"/>
              </a:rPr>
              <a:t>компонентів</a:t>
            </a:r>
            <a:r>
              <a:rPr sz="1200" b="0" dirty="0">
                <a:solidFill>
                  <a:srgbClr val="606C7C"/>
                </a:solidFill>
                <a:latin typeface="Aptos"/>
              </a:rPr>
              <a:t>, </a:t>
            </a:r>
            <a:r>
              <a:rPr sz="1200" b="0" dirty="0" err="1">
                <a:solidFill>
                  <a:srgbClr val="606C7C"/>
                </a:solidFill>
                <a:latin typeface="Aptos"/>
              </a:rPr>
              <a:t>необхідних</a:t>
            </a:r>
            <a:r>
              <a:rPr sz="1200" b="0" dirty="0">
                <a:solidFill>
                  <a:srgbClr val="606C7C"/>
                </a:solidFill>
                <a:latin typeface="Aptos"/>
              </a:rPr>
              <a:t> </a:t>
            </a:r>
            <a:r>
              <a:rPr sz="1200" b="0" dirty="0" err="1">
                <a:solidFill>
                  <a:srgbClr val="606C7C"/>
                </a:solidFill>
                <a:latin typeface="Aptos"/>
              </a:rPr>
              <a:t>для</a:t>
            </a:r>
            <a:r>
              <a:rPr sz="1200" b="0" dirty="0">
                <a:solidFill>
                  <a:srgbClr val="606C7C"/>
                </a:solidFill>
                <a:latin typeface="Aptos"/>
              </a:rPr>
              <a:t> </a:t>
            </a:r>
            <a:r>
              <a:rPr sz="1200" b="0" dirty="0" err="1">
                <a:solidFill>
                  <a:srgbClr val="606C7C"/>
                </a:solidFill>
                <a:latin typeface="Aptos"/>
              </a:rPr>
              <a:t>досягнення</a:t>
            </a:r>
            <a:r>
              <a:rPr sz="1200" b="0" dirty="0">
                <a:solidFill>
                  <a:srgbClr val="606C7C"/>
                </a:solidFill>
                <a:latin typeface="Aptos"/>
              </a:rPr>
              <a:t> </a:t>
            </a:r>
            <a:r>
              <a:rPr sz="1200" b="0" dirty="0" err="1">
                <a:solidFill>
                  <a:srgbClr val="606C7C"/>
                </a:solidFill>
                <a:latin typeface="Aptos"/>
              </a:rPr>
              <a:t>мети</a:t>
            </a:r>
            <a:r>
              <a:rPr sz="1200" b="0" dirty="0">
                <a:solidFill>
                  <a:srgbClr val="606C7C"/>
                </a:solidFill>
                <a:latin typeface="Aptos"/>
              </a:rPr>
              <a:t> </a:t>
            </a:r>
            <a:r>
              <a:rPr sz="1200" b="0" dirty="0" err="1">
                <a:solidFill>
                  <a:srgbClr val="606C7C"/>
                </a:solidFill>
                <a:latin typeface="Aptos"/>
              </a:rPr>
              <a:t>роботи</a:t>
            </a:r>
            <a:endParaRPr sz="1200" b="0" dirty="0">
              <a:solidFill>
                <a:srgbClr val="606C7C"/>
              </a:solidFill>
              <a:latin typeface="Aptos"/>
            </a:endParaRPr>
          </a:p>
        </p:txBody>
      </p:sp>
      <p:sp>
        <p:nvSpPr>
          <p:cNvPr id="4" name="Rectangle 3"/>
          <p:cNvSpPr/>
          <p:nvPr/>
        </p:nvSpPr>
        <p:spPr>
          <a:xfrm>
            <a:off x="502920" y="1051560"/>
            <a:ext cx="11155680" cy="27432"/>
          </a:xfrm>
          <a:prstGeom prst="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88720"/>
            <a:ext cx="5349240" cy="347472"/>
          </a:xfrm>
          <a:prstGeom prst="rect">
            <a:avLst/>
          </a:prstGeom>
          <a:noFill/>
        </p:spPr>
        <p:txBody>
          <a:bodyPr wrap="square">
            <a:normAutofit/>
          </a:bodyPr>
          <a:lstStyle/>
          <a:p>
            <a:pPr algn="l"/>
            <a:r>
              <a:rPr sz="1200" b="1">
                <a:solidFill>
                  <a:srgbClr val="143052"/>
                </a:solidFill>
                <a:latin typeface="Aptos"/>
              </a:rPr>
              <a:t>Шкала: 0 — відсутньо, 1 — частково, 2 — повністю</a:t>
            </a:r>
          </a:p>
        </p:txBody>
      </p:sp>
      <p:graphicFrame>
        <p:nvGraphicFramePr>
          <p:cNvPr id="6" name="Table 5"/>
          <p:cNvGraphicFramePr>
            <a:graphicFrameLocks noGrp="1"/>
          </p:cNvGraphicFramePr>
          <p:nvPr/>
        </p:nvGraphicFramePr>
        <p:xfrm>
          <a:off x="515566" y="1600200"/>
          <a:ext cx="5702354" cy="5082540"/>
        </p:xfrm>
        <a:graphic>
          <a:graphicData uri="http://schemas.openxmlformats.org/drawingml/2006/table">
            <a:tbl>
              <a:tblPr firstRow="1" bandRow="1">
                <a:tableStyleId>{5C22544A-7EE6-4342-B048-85BDC9FD1C3A}</a:tableStyleId>
              </a:tblPr>
              <a:tblGrid>
                <a:gridCol w="1313234">
                  <a:extLst>
                    <a:ext uri="{9D8B030D-6E8A-4147-A177-3AD203B41FA5}">
                      <a16:colId xmlns:a16="http://schemas.microsoft.com/office/drawing/2014/main" val="20000"/>
                    </a:ext>
                  </a:extLst>
                </a:gridCol>
                <a:gridCol w="795528">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tblGrid>
              <a:tr h="525780">
                <a:tc>
                  <a:txBody>
                    <a:bodyPr/>
                    <a:lstStyle/>
                    <a:p>
                      <a:pPr algn="ctr"/>
                      <a:r>
                        <a:rPr sz="1200" b="1" dirty="0" err="1">
                          <a:solidFill>
                            <a:srgbClr val="FFFFFF"/>
                          </a:solidFill>
                          <a:latin typeface="Aptos"/>
                        </a:rPr>
                        <a:t>Критерій</a:t>
                      </a:r>
                      <a:endParaRPr sz="1200" b="1" dirty="0">
                        <a:solidFill>
                          <a:srgbClr val="FFFFFF"/>
                        </a:solidFill>
                        <a:latin typeface="Aptos"/>
                      </a:endParaRPr>
                    </a:p>
                  </a:txBody>
                  <a:tcPr>
                    <a:solidFill>
                      <a:srgbClr val="143052"/>
                    </a:solidFill>
                  </a:tcPr>
                </a:tc>
                <a:tc>
                  <a:txBody>
                    <a:bodyPr/>
                    <a:lstStyle/>
                    <a:p>
                      <a:pPr algn="ctr"/>
                      <a:r>
                        <a:rPr sz="1200" b="1" dirty="0">
                          <a:solidFill>
                            <a:srgbClr val="FFFFFF"/>
                          </a:solidFill>
                          <a:latin typeface="Aptos"/>
                        </a:rPr>
                        <a:t>OpenCV</a:t>
                      </a:r>
                    </a:p>
                  </a:txBody>
                  <a:tcPr>
                    <a:solidFill>
                      <a:srgbClr val="296FB0"/>
                    </a:solidFill>
                  </a:tcPr>
                </a:tc>
                <a:tc>
                  <a:txBody>
                    <a:bodyPr/>
                    <a:lstStyle/>
                    <a:p>
                      <a:pPr algn="ctr"/>
                      <a:r>
                        <a:rPr sz="1200" b="1" dirty="0" err="1">
                          <a:solidFill>
                            <a:srgbClr val="FFFFFF"/>
                          </a:solidFill>
                          <a:latin typeface="Aptos"/>
                        </a:rPr>
                        <a:t>YOLO+Tracker</a:t>
                      </a:r>
                      <a:endParaRPr sz="1200" b="1" dirty="0">
                        <a:solidFill>
                          <a:srgbClr val="FFFFFF"/>
                        </a:solidFill>
                        <a:latin typeface="Aptos"/>
                      </a:endParaRPr>
                    </a:p>
                  </a:txBody>
                  <a:tcPr>
                    <a:solidFill>
                      <a:srgbClr val="296FB0"/>
                    </a:solidFill>
                  </a:tcPr>
                </a:tc>
                <a:tc>
                  <a:txBody>
                    <a:bodyPr/>
                    <a:lstStyle/>
                    <a:p>
                      <a:pPr algn="ctr"/>
                      <a:r>
                        <a:rPr sz="1200" b="1">
                          <a:solidFill>
                            <a:srgbClr val="FFFFFF"/>
                          </a:solidFill>
                          <a:latin typeface="Aptos"/>
                        </a:rPr>
                        <a:t>RAFT/FlowNet</a:t>
                      </a:r>
                    </a:p>
                  </a:txBody>
                  <a:tcPr>
                    <a:solidFill>
                      <a:srgbClr val="296FB0"/>
                    </a:solidFill>
                  </a:tcPr>
                </a:tc>
                <a:tc>
                  <a:txBody>
                    <a:bodyPr/>
                    <a:lstStyle/>
                    <a:p>
                      <a:pPr algn="ctr"/>
                      <a:r>
                        <a:rPr sz="1200" b="1">
                          <a:solidFill>
                            <a:srgbClr val="FFFFFF"/>
                          </a:solidFill>
                          <a:latin typeface="Aptos"/>
                        </a:rPr>
                        <a:t>MiDaS/DPT</a:t>
                      </a:r>
                    </a:p>
                  </a:txBody>
                  <a:tcPr>
                    <a:solidFill>
                      <a:srgbClr val="296FB0"/>
                    </a:solidFill>
                  </a:tcPr>
                </a:tc>
                <a:tc>
                  <a:txBody>
                    <a:bodyPr/>
                    <a:lstStyle/>
                    <a:p>
                      <a:pPr algn="ctr"/>
                      <a:r>
                        <a:rPr sz="1200" b="1" dirty="0">
                          <a:solidFill>
                            <a:srgbClr val="FFFFFF"/>
                          </a:solidFill>
                          <a:latin typeface="Aptos"/>
                        </a:rPr>
                        <a:t>ІТ ДІПДО</a:t>
                      </a:r>
                    </a:p>
                  </a:txBody>
                  <a:tcPr>
                    <a:solidFill>
                      <a:srgbClr val="296FB0"/>
                    </a:solidFill>
                  </a:tcPr>
                </a:tc>
                <a:extLst>
                  <a:ext uri="{0D108BD9-81ED-4DB2-BD59-A6C34878D82A}">
                    <a16:rowId xmlns:a16="http://schemas.microsoft.com/office/drawing/2014/main" val="10000"/>
                  </a:ext>
                </a:extLst>
              </a:tr>
              <a:tr h="525780">
                <a:tc>
                  <a:txBody>
                    <a:bodyPr/>
                    <a:lstStyle/>
                    <a:p>
                      <a:pPr algn="l"/>
                      <a:r>
                        <a:rPr sz="2000" b="0" dirty="0" err="1">
                          <a:solidFill>
                            <a:srgbClr val="202B37"/>
                          </a:solidFill>
                          <a:latin typeface="Aptos"/>
                        </a:rPr>
                        <a:t>Виявлення</a:t>
                      </a:r>
                      <a:endParaRPr sz="2000" b="0" dirty="0">
                        <a:solidFill>
                          <a:srgbClr val="202B37"/>
                        </a:solidFill>
                        <a:latin typeface="Aptos"/>
                      </a:endParaRPr>
                    </a:p>
                  </a:txBody>
                  <a:tcPr>
                    <a:solidFill>
                      <a:srgbClr val="E8F1FA"/>
                    </a:solidFill>
                  </a:tcPr>
                </a:tc>
                <a:tc>
                  <a:txBody>
                    <a:bodyPr/>
                    <a:lstStyle/>
                    <a:p>
                      <a:pPr algn="ctr"/>
                      <a:r>
                        <a:rPr sz="2000" b="0">
                          <a:solidFill>
                            <a:srgbClr val="202B37"/>
                          </a:solidFill>
                          <a:latin typeface="Aptos"/>
                        </a:rPr>
                        <a:t>1</a:t>
                      </a:r>
                    </a:p>
                  </a:txBody>
                  <a:tcPr>
                    <a:solidFill>
                      <a:srgbClr val="F8FAFC"/>
                    </a:solidFill>
                  </a:tcPr>
                </a:tc>
                <a:tc>
                  <a:txBody>
                    <a:bodyPr/>
                    <a:lstStyle/>
                    <a:p>
                      <a:pPr algn="ctr"/>
                      <a:r>
                        <a:rPr sz="2000" b="0">
                          <a:solidFill>
                            <a:srgbClr val="202B37"/>
                          </a:solidFill>
                          <a:latin typeface="Aptos"/>
                        </a:rPr>
                        <a:t>2</a:t>
                      </a:r>
                    </a:p>
                  </a:txBody>
                  <a:tcPr>
                    <a:solidFill>
                      <a:srgbClr val="F8FAFC"/>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1">
                          <a:solidFill>
                            <a:srgbClr val="202B37"/>
                          </a:solidFill>
                          <a:latin typeface="Aptos"/>
                        </a:rPr>
                        <a:t>2</a:t>
                      </a:r>
                    </a:p>
                  </a:txBody>
                  <a:tcPr>
                    <a:solidFill>
                      <a:srgbClr val="F8FAFC"/>
                    </a:solidFill>
                  </a:tcPr>
                </a:tc>
                <a:extLst>
                  <a:ext uri="{0D108BD9-81ED-4DB2-BD59-A6C34878D82A}">
                    <a16:rowId xmlns:a16="http://schemas.microsoft.com/office/drawing/2014/main" val="10001"/>
                  </a:ext>
                </a:extLst>
              </a:tr>
              <a:tr h="525780">
                <a:tc>
                  <a:txBody>
                    <a:bodyPr/>
                    <a:lstStyle/>
                    <a:p>
                      <a:pPr algn="l"/>
                      <a:r>
                        <a:rPr sz="2000" b="0" dirty="0" err="1">
                          <a:solidFill>
                            <a:srgbClr val="202B37"/>
                          </a:solidFill>
                          <a:latin typeface="Aptos"/>
                        </a:rPr>
                        <a:t>Рух</a:t>
                      </a:r>
                      <a:r>
                        <a:rPr sz="2000" b="0" dirty="0">
                          <a:solidFill>
                            <a:srgbClr val="202B37"/>
                          </a:solidFill>
                          <a:latin typeface="Aptos"/>
                        </a:rPr>
                        <a:t> / </a:t>
                      </a:r>
                      <a:r>
                        <a:rPr sz="2000" b="0" dirty="0" err="1">
                          <a:solidFill>
                            <a:srgbClr val="202B37"/>
                          </a:solidFill>
                          <a:latin typeface="Aptos"/>
                        </a:rPr>
                        <a:t>потік</a:t>
                      </a:r>
                      <a:endParaRPr sz="2000" b="0" dirty="0">
                        <a:solidFill>
                          <a:srgbClr val="202B37"/>
                        </a:solidFill>
                        <a:latin typeface="Aptos"/>
                      </a:endParaRPr>
                    </a:p>
                  </a:txBody>
                  <a:tcPr>
                    <a:solidFill>
                      <a:srgbClr val="E8F1FA"/>
                    </a:solidFill>
                  </a:tcPr>
                </a:tc>
                <a:tc>
                  <a:txBody>
                    <a:bodyPr/>
                    <a:lstStyle/>
                    <a:p>
                      <a:pPr algn="ctr"/>
                      <a:r>
                        <a:rPr sz="2000" b="0">
                          <a:solidFill>
                            <a:srgbClr val="202B37"/>
                          </a:solidFill>
                          <a:latin typeface="Aptos"/>
                        </a:rPr>
                        <a:t>2</a:t>
                      </a:r>
                    </a:p>
                  </a:txBody>
                  <a:tcPr>
                    <a:solidFill>
                      <a:srgbClr val="EEF2F7"/>
                    </a:solidFill>
                  </a:tcPr>
                </a:tc>
                <a:tc>
                  <a:txBody>
                    <a:bodyPr/>
                    <a:lstStyle/>
                    <a:p>
                      <a:pPr algn="ctr"/>
                      <a:r>
                        <a:rPr sz="2000" b="0">
                          <a:solidFill>
                            <a:srgbClr val="202B37"/>
                          </a:solidFill>
                          <a:latin typeface="Aptos"/>
                        </a:rPr>
                        <a:t>2</a:t>
                      </a:r>
                    </a:p>
                  </a:txBody>
                  <a:tcPr>
                    <a:solidFill>
                      <a:srgbClr val="EEF2F7"/>
                    </a:solidFill>
                  </a:tcPr>
                </a:tc>
                <a:tc>
                  <a:txBody>
                    <a:bodyPr/>
                    <a:lstStyle/>
                    <a:p>
                      <a:pPr algn="ctr"/>
                      <a:r>
                        <a:rPr sz="2000" b="0">
                          <a:solidFill>
                            <a:srgbClr val="202B37"/>
                          </a:solidFill>
                          <a:latin typeface="Aptos"/>
                        </a:rPr>
                        <a:t>2</a:t>
                      </a:r>
                    </a:p>
                  </a:txBody>
                  <a:tcPr>
                    <a:solidFill>
                      <a:srgbClr val="EEF2F7"/>
                    </a:solidFill>
                  </a:tcPr>
                </a:tc>
                <a:tc>
                  <a:txBody>
                    <a:bodyPr/>
                    <a:lstStyle/>
                    <a:p>
                      <a:pPr algn="ctr"/>
                      <a:r>
                        <a:rPr sz="2000" b="0">
                          <a:solidFill>
                            <a:srgbClr val="202B37"/>
                          </a:solidFill>
                          <a:latin typeface="Aptos"/>
                        </a:rPr>
                        <a:t>0</a:t>
                      </a:r>
                    </a:p>
                  </a:txBody>
                  <a:tcPr>
                    <a:solidFill>
                      <a:srgbClr val="EEF2F7"/>
                    </a:solidFill>
                  </a:tcPr>
                </a:tc>
                <a:tc>
                  <a:txBody>
                    <a:bodyPr/>
                    <a:lstStyle/>
                    <a:p>
                      <a:pPr algn="ctr"/>
                      <a:r>
                        <a:rPr sz="2000" b="1">
                          <a:solidFill>
                            <a:srgbClr val="202B37"/>
                          </a:solidFill>
                          <a:latin typeface="Aptos"/>
                        </a:rPr>
                        <a:t>2</a:t>
                      </a:r>
                    </a:p>
                  </a:txBody>
                  <a:tcPr>
                    <a:solidFill>
                      <a:srgbClr val="EEF2F7"/>
                    </a:solidFill>
                  </a:tcPr>
                </a:tc>
                <a:extLst>
                  <a:ext uri="{0D108BD9-81ED-4DB2-BD59-A6C34878D82A}">
                    <a16:rowId xmlns:a16="http://schemas.microsoft.com/office/drawing/2014/main" val="10002"/>
                  </a:ext>
                </a:extLst>
              </a:tr>
              <a:tr h="525780">
                <a:tc>
                  <a:txBody>
                    <a:bodyPr/>
                    <a:lstStyle/>
                    <a:p>
                      <a:pPr algn="l"/>
                      <a:r>
                        <a:rPr sz="2000" b="0" dirty="0" err="1">
                          <a:solidFill>
                            <a:srgbClr val="202B37"/>
                          </a:solidFill>
                          <a:latin typeface="Aptos"/>
                        </a:rPr>
                        <a:t>Глибина</a:t>
                      </a:r>
                      <a:endParaRPr sz="2000" b="0" dirty="0">
                        <a:solidFill>
                          <a:srgbClr val="202B37"/>
                        </a:solidFill>
                        <a:latin typeface="Aptos"/>
                      </a:endParaRPr>
                    </a:p>
                  </a:txBody>
                  <a:tcPr>
                    <a:solidFill>
                      <a:srgbClr val="E8F1FA"/>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0">
                          <a:solidFill>
                            <a:srgbClr val="202B37"/>
                          </a:solidFill>
                          <a:latin typeface="Aptos"/>
                        </a:rPr>
                        <a:t>2</a:t>
                      </a:r>
                    </a:p>
                  </a:txBody>
                  <a:tcPr>
                    <a:solidFill>
                      <a:srgbClr val="F8FAFC"/>
                    </a:solidFill>
                  </a:tcPr>
                </a:tc>
                <a:tc>
                  <a:txBody>
                    <a:bodyPr/>
                    <a:lstStyle/>
                    <a:p>
                      <a:pPr algn="ctr"/>
                      <a:r>
                        <a:rPr sz="2000" b="1">
                          <a:solidFill>
                            <a:srgbClr val="202B37"/>
                          </a:solidFill>
                          <a:latin typeface="Aptos"/>
                        </a:rPr>
                        <a:t>2</a:t>
                      </a:r>
                    </a:p>
                  </a:txBody>
                  <a:tcPr>
                    <a:solidFill>
                      <a:srgbClr val="F8FAFC"/>
                    </a:solidFill>
                  </a:tcPr>
                </a:tc>
                <a:extLst>
                  <a:ext uri="{0D108BD9-81ED-4DB2-BD59-A6C34878D82A}">
                    <a16:rowId xmlns:a16="http://schemas.microsoft.com/office/drawing/2014/main" val="10003"/>
                  </a:ext>
                </a:extLst>
              </a:tr>
              <a:tr h="525780">
                <a:tc>
                  <a:txBody>
                    <a:bodyPr/>
                    <a:lstStyle/>
                    <a:p>
                      <a:pPr algn="l"/>
                      <a:r>
                        <a:rPr sz="2000" b="0" dirty="0" err="1">
                          <a:solidFill>
                            <a:srgbClr val="202B37"/>
                          </a:solidFill>
                          <a:latin typeface="Aptos"/>
                        </a:rPr>
                        <a:t>Параметри</a:t>
                      </a:r>
                      <a:r>
                        <a:rPr sz="2000" b="0" dirty="0">
                          <a:solidFill>
                            <a:srgbClr val="202B37"/>
                          </a:solidFill>
                          <a:latin typeface="Aptos"/>
                        </a:rPr>
                        <a:t> </a:t>
                      </a:r>
                      <a:r>
                        <a:rPr sz="2000" b="0" dirty="0" err="1">
                          <a:solidFill>
                            <a:srgbClr val="202B37"/>
                          </a:solidFill>
                          <a:latin typeface="Aptos"/>
                        </a:rPr>
                        <a:t>стану</a:t>
                      </a:r>
                      <a:endParaRPr sz="2000" b="0" dirty="0">
                        <a:solidFill>
                          <a:srgbClr val="202B37"/>
                        </a:solidFill>
                        <a:latin typeface="Aptos"/>
                      </a:endParaRPr>
                    </a:p>
                  </a:txBody>
                  <a:tcPr>
                    <a:solidFill>
                      <a:srgbClr val="E8F1FA"/>
                    </a:solidFill>
                  </a:tcPr>
                </a:tc>
                <a:tc>
                  <a:txBody>
                    <a:bodyPr/>
                    <a:lstStyle/>
                    <a:p>
                      <a:pPr algn="ctr"/>
                      <a:r>
                        <a:rPr sz="2000" b="0">
                          <a:solidFill>
                            <a:srgbClr val="202B37"/>
                          </a:solidFill>
                          <a:latin typeface="Aptos"/>
                        </a:rPr>
                        <a:t>1</a:t>
                      </a:r>
                    </a:p>
                  </a:txBody>
                  <a:tcPr>
                    <a:solidFill>
                      <a:srgbClr val="EEF2F7"/>
                    </a:solidFill>
                  </a:tcPr>
                </a:tc>
                <a:tc>
                  <a:txBody>
                    <a:bodyPr/>
                    <a:lstStyle/>
                    <a:p>
                      <a:pPr algn="ctr"/>
                      <a:r>
                        <a:rPr sz="2000" b="0">
                          <a:solidFill>
                            <a:srgbClr val="202B37"/>
                          </a:solidFill>
                          <a:latin typeface="Aptos"/>
                        </a:rPr>
                        <a:t>1</a:t>
                      </a:r>
                    </a:p>
                  </a:txBody>
                  <a:tcPr>
                    <a:solidFill>
                      <a:srgbClr val="EEF2F7"/>
                    </a:solidFill>
                  </a:tcPr>
                </a:tc>
                <a:tc>
                  <a:txBody>
                    <a:bodyPr/>
                    <a:lstStyle/>
                    <a:p>
                      <a:pPr algn="ctr"/>
                      <a:r>
                        <a:rPr sz="2000" b="0">
                          <a:solidFill>
                            <a:srgbClr val="202B37"/>
                          </a:solidFill>
                          <a:latin typeface="Aptos"/>
                        </a:rPr>
                        <a:t>1</a:t>
                      </a:r>
                    </a:p>
                  </a:txBody>
                  <a:tcPr>
                    <a:solidFill>
                      <a:srgbClr val="EEF2F7"/>
                    </a:solidFill>
                  </a:tcPr>
                </a:tc>
                <a:tc>
                  <a:txBody>
                    <a:bodyPr/>
                    <a:lstStyle/>
                    <a:p>
                      <a:pPr algn="ctr"/>
                      <a:r>
                        <a:rPr sz="2000" b="0">
                          <a:solidFill>
                            <a:srgbClr val="202B37"/>
                          </a:solidFill>
                          <a:latin typeface="Aptos"/>
                        </a:rPr>
                        <a:t>1</a:t>
                      </a:r>
                    </a:p>
                  </a:txBody>
                  <a:tcPr>
                    <a:solidFill>
                      <a:srgbClr val="EEF2F7"/>
                    </a:solidFill>
                  </a:tcPr>
                </a:tc>
                <a:tc>
                  <a:txBody>
                    <a:bodyPr/>
                    <a:lstStyle/>
                    <a:p>
                      <a:pPr algn="ctr"/>
                      <a:r>
                        <a:rPr sz="2000" b="1">
                          <a:solidFill>
                            <a:srgbClr val="202B37"/>
                          </a:solidFill>
                          <a:latin typeface="Aptos"/>
                        </a:rPr>
                        <a:t>2</a:t>
                      </a:r>
                    </a:p>
                  </a:txBody>
                  <a:tcPr>
                    <a:solidFill>
                      <a:srgbClr val="EEF2F7"/>
                    </a:solidFill>
                  </a:tcPr>
                </a:tc>
                <a:extLst>
                  <a:ext uri="{0D108BD9-81ED-4DB2-BD59-A6C34878D82A}">
                    <a16:rowId xmlns:a16="http://schemas.microsoft.com/office/drawing/2014/main" val="10004"/>
                  </a:ext>
                </a:extLst>
              </a:tr>
              <a:tr h="525780">
                <a:tc>
                  <a:txBody>
                    <a:bodyPr/>
                    <a:lstStyle/>
                    <a:p>
                      <a:pPr algn="l"/>
                      <a:r>
                        <a:rPr sz="2000" b="0" dirty="0" err="1">
                          <a:solidFill>
                            <a:srgbClr val="202B37"/>
                          </a:solidFill>
                          <a:latin typeface="Aptos"/>
                        </a:rPr>
                        <a:t>Ансамблі</a:t>
                      </a:r>
                      <a:endParaRPr sz="2000" b="0" dirty="0">
                        <a:solidFill>
                          <a:srgbClr val="202B37"/>
                        </a:solidFill>
                        <a:latin typeface="Aptos"/>
                      </a:endParaRPr>
                    </a:p>
                  </a:txBody>
                  <a:tcPr>
                    <a:solidFill>
                      <a:srgbClr val="E8F1FA"/>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0">
                          <a:solidFill>
                            <a:srgbClr val="202B37"/>
                          </a:solidFill>
                          <a:latin typeface="Aptos"/>
                        </a:rPr>
                        <a:t>0</a:t>
                      </a:r>
                    </a:p>
                  </a:txBody>
                  <a:tcPr>
                    <a:solidFill>
                      <a:srgbClr val="F8FAFC"/>
                    </a:solidFill>
                  </a:tcPr>
                </a:tc>
                <a:tc>
                  <a:txBody>
                    <a:bodyPr/>
                    <a:lstStyle/>
                    <a:p>
                      <a:pPr algn="ctr"/>
                      <a:r>
                        <a:rPr sz="2000" b="1">
                          <a:solidFill>
                            <a:srgbClr val="202B37"/>
                          </a:solidFill>
                          <a:latin typeface="Aptos"/>
                        </a:rPr>
                        <a:t>2</a:t>
                      </a:r>
                    </a:p>
                  </a:txBody>
                  <a:tcPr>
                    <a:solidFill>
                      <a:srgbClr val="F8FAFC"/>
                    </a:solidFill>
                  </a:tcPr>
                </a:tc>
                <a:extLst>
                  <a:ext uri="{0D108BD9-81ED-4DB2-BD59-A6C34878D82A}">
                    <a16:rowId xmlns:a16="http://schemas.microsoft.com/office/drawing/2014/main" val="10005"/>
                  </a:ext>
                </a:extLst>
              </a:tr>
              <a:tr h="525780">
                <a:tc>
                  <a:txBody>
                    <a:bodyPr/>
                    <a:lstStyle/>
                    <a:p>
                      <a:pPr algn="l"/>
                      <a:r>
                        <a:rPr sz="2000" b="0" dirty="0" err="1">
                          <a:solidFill>
                            <a:srgbClr val="202B37"/>
                          </a:solidFill>
                          <a:latin typeface="Aptos"/>
                        </a:rPr>
                        <a:t>Повний</a:t>
                      </a:r>
                      <a:r>
                        <a:rPr sz="2000" b="0" dirty="0">
                          <a:solidFill>
                            <a:srgbClr val="202B37"/>
                          </a:solidFill>
                          <a:latin typeface="Aptos"/>
                        </a:rPr>
                        <a:t> </a:t>
                      </a:r>
                      <a:r>
                        <a:rPr sz="2000" b="0" dirty="0" err="1">
                          <a:solidFill>
                            <a:srgbClr val="202B37"/>
                          </a:solidFill>
                          <a:latin typeface="Aptos"/>
                        </a:rPr>
                        <a:t>цикл</a:t>
                      </a:r>
                      <a:endParaRPr sz="2000" b="0" dirty="0">
                        <a:solidFill>
                          <a:srgbClr val="202B37"/>
                        </a:solidFill>
                        <a:latin typeface="Aptos"/>
                      </a:endParaRPr>
                    </a:p>
                  </a:txBody>
                  <a:tcPr>
                    <a:solidFill>
                      <a:srgbClr val="E8F1FA"/>
                    </a:solidFill>
                  </a:tcPr>
                </a:tc>
                <a:tc>
                  <a:txBody>
                    <a:bodyPr/>
                    <a:lstStyle/>
                    <a:p>
                      <a:pPr algn="ctr"/>
                      <a:r>
                        <a:rPr sz="2000" b="0">
                          <a:solidFill>
                            <a:srgbClr val="202B37"/>
                          </a:solidFill>
                          <a:latin typeface="Aptos"/>
                        </a:rPr>
                        <a:t>1</a:t>
                      </a:r>
                    </a:p>
                  </a:txBody>
                  <a:tcPr>
                    <a:solidFill>
                      <a:srgbClr val="EEF2F7"/>
                    </a:solidFill>
                  </a:tcPr>
                </a:tc>
                <a:tc>
                  <a:txBody>
                    <a:bodyPr/>
                    <a:lstStyle/>
                    <a:p>
                      <a:pPr algn="ctr"/>
                      <a:r>
                        <a:rPr sz="2000" b="0">
                          <a:solidFill>
                            <a:srgbClr val="202B37"/>
                          </a:solidFill>
                          <a:latin typeface="Aptos"/>
                        </a:rPr>
                        <a:t>1</a:t>
                      </a:r>
                    </a:p>
                  </a:txBody>
                  <a:tcPr>
                    <a:solidFill>
                      <a:srgbClr val="EEF2F7"/>
                    </a:solidFill>
                  </a:tcPr>
                </a:tc>
                <a:tc>
                  <a:txBody>
                    <a:bodyPr/>
                    <a:lstStyle/>
                    <a:p>
                      <a:pPr algn="ctr"/>
                      <a:r>
                        <a:rPr sz="2000" b="0">
                          <a:solidFill>
                            <a:srgbClr val="202B37"/>
                          </a:solidFill>
                          <a:latin typeface="Aptos"/>
                        </a:rPr>
                        <a:t>0</a:t>
                      </a:r>
                    </a:p>
                  </a:txBody>
                  <a:tcPr>
                    <a:solidFill>
                      <a:srgbClr val="EEF2F7"/>
                    </a:solidFill>
                  </a:tcPr>
                </a:tc>
                <a:tc>
                  <a:txBody>
                    <a:bodyPr/>
                    <a:lstStyle/>
                    <a:p>
                      <a:pPr algn="ctr"/>
                      <a:r>
                        <a:rPr sz="2000" b="0">
                          <a:solidFill>
                            <a:srgbClr val="202B37"/>
                          </a:solidFill>
                          <a:latin typeface="Aptos"/>
                        </a:rPr>
                        <a:t>0</a:t>
                      </a:r>
                    </a:p>
                  </a:txBody>
                  <a:tcPr>
                    <a:solidFill>
                      <a:srgbClr val="EEF2F7"/>
                    </a:solidFill>
                  </a:tcPr>
                </a:tc>
                <a:tc>
                  <a:txBody>
                    <a:bodyPr/>
                    <a:lstStyle/>
                    <a:p>
                      <a:pPr algn="ctr"/>
                      <a:r>
                        <a:rPr sz="2000" b="1">
                          <a:solidFill>
                            <a:srgbClr val="202B37"/>
                          </a:solidFill>
                          <a:latin typeface="Aptos"/>
                        </a:rPr>
                        <a:t>2</a:t>
                      </a:r>
                    </a:p>
                  </a:txBody>
                  <a:tcPr>
                    <a:solidFill>
                      <a:srgbClr val="EEF2F7"/>
                    </a:solidFill>
                  </a:tcPr>
                </a:tc>
                <a:extLst>
                  <a:ext uri="{0D108BD9-81ED-4DB2-BD59-A6C34878D82A}">
                    <a16:rowId xmlns:a16="http://schemas.microsoft.com/office/drawing/2014/main" val="10006"/>
                  </a:ext>
                </a:extLst>
              </a:tr>
              <a:tr h="525780">
                <a:tc>
                  <a:txBody>
                    <a:bodyPr/>
                    <a:lstStyle/>
                    <a:p>
                      <a:pPr algn="l"/>
                      <a:r>
                        <a:rPr sz="2000" b="1" dirty="0" err="1">
                          <a:solidFill>
                            <a:srgbClr val="202B37"/>
                          </a:solidFill>
                          <a:latin typeface="Aptos"/>
                        </a:rPr>
                        <a:t>Сума</a:t>
                      </a:r>
                      <a:r>
                        <a:rPr sz="2000" b="1" dirty="0">
                          <a:solidFill>
                            <a:srgbClr val="202B37"/>
                          </a:solidFill>
                          <a:latin typeface="Aptos"/>
                        </a:rPr>
                        <a:t>, </a:t>
                      </a:r>
                      <a:r>
                        <a:rPr sz="2000" b="1" dirty="0" err="1">
                          <a:solidFill>
                            <a:srgbClr val="202B37"/>
                          </a:solidFill>
                          <a:latin typeface="Aptos"/>
                        </a:rPr>
                        <a:t>балів</a:t>
                      </a:r>
                      <a:endParaRPr sz="2000" b="1" dirty="0">
                        <a:solidFill>
                          <a:srgbClr val="202B37"/>
                        </a:solidFill>
                        <a:latin typeface="Aptos"/>
                      </a:endParaRPr>
                    </a:p>
                  </a:txBody>
                  <a:tcPr>
                    <a:solidFill>
                      <a:srgbClr val="E8F1FA"/>
                    </a:solidFill>
                  </a:tcPr>
                </a:tc>
                <a:tc>
                  <a:txBody>
                    <a:bodyPr/>
                    <a:lstStyle/>
                    <a:p>
                      <a:pPr algn="ctr"/>
                      <a:r>
                        <a:rPr sz="2000" b="1">
                          <a:solidFill>
                            <a:srgbClr val="202B37"/>
                          </a:solidFill>
                          <a:latin typeface="Aptos"/>
                        </a:rPr>
                        <a:t>5</a:t>
                      </a:r>
                    </a:p>
                  </a:txBody>
                  <a:tcPr>
                    <a:solidFill>
                      <a:srgbClr val="E8F1FA"/>
                    </a:solidFill>
                  </a:tcPr>
                </a:tc>
                <a:tc>
                  <a:txBody>
                    <a:bodyPr/>
                    <a:lstStyle/>
                    <a:p>
                      <a:pPr algn="ctr"/>
                      <a:r>
                        <a:rPr sz="2000" b="1">
                          <a:solidFill>
                            <a:srgbClr val="202B37"/>
                          </a:solidFill>
                          <a:latin typeface="Aptos"/>
                        </a:rPr>
                        <a:t>6</a:t>
                      </a:r>
                    </a:p>
                  </a:txBody>
                  <a:tcPr>
                    <a:solidFill>
                      <a:srgbClr val="E8F1FA"/>
                    </a:solidFill>
                  </a:tcPr>
                </a:tc>
                <a:tc>
                  <a:txBody>
                    <a:bodyPr/>
                    <a:lstStyle/>
                    <a:p>
                      <a:pPr algn="ctr"/>
                      <a:r>
                        <a:rPr sz="2000" b="1">
                          <a:solidFill>
                            <a:srgbClr val="202B37"/>
                          </a:solidFill>
                          <a:latin typeface="Aptos"/>
                        </a:rPr>
                        <a:t>3</a:t>
                      </a:r>
                    </a:p>
                  </a:txBody>
                  <a:tcPr>
                    <a:solidFill>
                      <a:srgbClr val="E8F1FA"/>
                    </a:solidFill>
                  </a:tcPr>
                </a:tc>
                <a:tc>
                  <a:txBody>
                    <a:bodyPr/>
                    <a:lstStyle/>
                    <a:p>
                      <a:pPr algn="ctr"/>
                      <a:r>
                        <a:rPr sz="2000" b="1">
                          <a:solidFill>
                            <a:srgbClr val="202B37"/>
                          </a:solidFill>
                          <a:latin typeface="Aptos"/>
                        </a:rPr>
                        <a:t>3</a:t>
                      </a:r>
                    </a:p>
                  </a:txBody>
                  <a:tcPr>
                    <a:solidFill>
                      <a:srgbClr val="E8F1FA"/>
                    </a:solidFill>
                  </a:tcPr>
                </a:tc>
                <a:tc>
                  <a:txBody>
                    <a:bodyPr/>
                    <a:lstStyle/>
                    <a:p>
                      <a:pPr algn="ctr"/>
                      <a:r>
                        <a:rPr sz="2000" b="1" dirty="0">
                          <a:solidFill>
                            <a:srgbClr val="368757"/>
                          </a:solidFill>
                          <a:latin typeface="Aptos"/>
                        </a:rPr>
                        <a:t>12</a:t>
                      </a:r>
                    </a:p>
                  </a:txBody>
                  <a:tcPr>
                    <a:solidFill>
                      <a:srgbClr val="E8F7EF"/>
                    </a:solidFill>
                  </a:tcPr>
                </a:tc>
                <a:extLst>
                  <a:ext uri="{0D108BD9-81ED-4DB2-BD59-A6C34878D82A}">
                    <a16:rowId xmlns:a16="http://schemas.microsoft.com/office/drawing/2014/main" val="10007"/>
                  </a:ext>
                </a:extLst>
              </a:tr>
            </a:tbl>
          </a:graphicData>
        </a:graphic>
      </p:graphicFrame>
      <p:graphicFrame>
        <p:nvGraphicFramePr>
          <p:cNvPr id="7" name="Chart 6"/>
          <p:cNvGraphicFramePr>
            <a:graphicFrameLocks noGrp="1"/>
          </p:cNvGraphicFramePr>
          <p:nvPr/>
        </p:nvGraphicFramePr>
        <p:xfrm>
          <a:off x="6446520" y="1371600"/>
          <a:ext cx="51206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6428232" y="4375404"/>
            <a:ext cx="5074920" cy="256032"/>
          </a:xfrm>
          <a:prstGeom prst="rect">
            <a:avLst/>
          </a:prstGeom>
          <a:noFill/>
        </p:spPr>
        <p:txBody>
          <a:bodyPr wrap="square">
            <a:noAutofit/>
          </a:bodyPr>
          <a:lstStyle/>
          <a:p>
            <a:pPr algn="l"/>
            <a:r>
              <a:rPr sz="1600" b="1" dirty="0" err="1">
                <a:solidFill>
                  <a:srgbClr val="143052"/>
                </a:solidFill>
                <a:latin typeface="Aptos"/>
              </a:rPr>
              <a:t>Ключові</a:t>
            </a:r>
            <a:r>
              <a:rPr sz="1600" b="1" dirty="0">
                <a:solidFill>
                  <a:srgbClr val="143052"/>
                </a:solidFill>
                <a:latin typeface="Aptos"/>
              </a:rPr>
              <a:t> </a:t>
            </a:r>
            <a:r>
              <a:rPr sz="1600" b="1" dirty="0" err="1">
                <a:solidFill>
                  <a:srgbClr val="143052"/>
                </a:solidFill>
                <a:latin typeface="Aptos"/>
              </a:rPr>
              <a:t>кількісні</a:t>
            </a:r>
            <a:r>
              <a:rPr sz="1600" b="1" dirty="0">
                <a:solidFill>
                  <a:srgbClr val="143052"/>
                </a:solidFill>
                <a:latin typeface="Aptos"/>
              </a:rPr>
              <a:t> </a:t>
            </a:r>
            <a:r>
              <a:rPr sz="1600" b="1" dirty="0" err="1">
                <a:solidFill>
                  <a:srgbClr val="143052"/>
                </a:solidFill>
                <a:latin typeface="Aptos"/>
              </a:rPr>
              <a:t>результати</a:t>
            </a:r>
            <a:r>
              <a:rPr sz="1600" b="1" dirty="0">
                <a:solidFill>
                  <a:srgbClr val="143052"/>
                </a:solidFill>
                <a:latin typeface="Aptos"/>
              </a:rPr>
              <a:t> </a:t>
            </a:r>
            <a:r>
              <a:rPr sz="1600" b="1" dirty="0" err="1">
                <a:solidFill>
                  <a:srgbClr val="143052"/>
                </a:solidFill>
                <a:latin typeface="Aptos"/>
              </a:rPr>
              <a:t>запропонованої</a:t>
            </a:r>
            <a:r>
              <a:rPr sz="1600" b="1" dirty="0">
                <a:solidFill>
                  <a:srgbClr val="143052"/>
                </a:solidFill>
                <a:latin typeface="Aptos"/>
              </a:rPr>
              <a:t> ІТ</a:t>
            </a:r>
          </a:p>
        </p:txBody>
      </p:sp>
      <p:sp>
        <p:nvSpPr>
          <p:cNvPr id="9" name="Rounded Rectangle 8"/>
          <p:cNvSpPr/>
          <p:nvPr/>
        </p:nvSpPr>
        <p:spPr>
          <a:xfrm>
            <a:off x="6446520" y="4754880"/>
            <a:ext cx="1143000" cy="713232"/>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28816" y="4828032"/>
            <a:ext cx="969264" cy="256032"/>
          </a:xfrm>
          <a:prstGeom prst="rect">
            <a:avLst/>
          </a:prstGeom>
          <a:noFill/>
        </p:spPr>
        <p:txBody>
          <a:bodyPr wrap="square">
            <a:normAutofit fontScale="55000" lnSpcReduction="20000"/>
          </a:bodyPr>
          <a:lstStyle/>
          <a:p>
            <a:pPr algn="ctr"/>
            <a:r>
              <a:rPr sz="2000" b="1">
                <a:solidFill>
                  <a:srgbClr val="143052"/>
                </a:solidFill>
                <a:latin typeface="Aptos"/>
              </a:rPr>
              <a:t>35</a:t>
            </a:r>
          </a:p>
        </p:txBody>
      </p:sp>
      <p:sp>
        <p:nvSpPr>
          <p:cNvPr id="11" name="TextBox 10"/>
          <p:cNvSpPr txBox="1"/>
          <p:nvPr/>
        </p:nvSpPr>
        <p:spPr>
          <a:xfrm>
            <a:off x="6510528" y="5138928"/>
            <a:ext cx="1005840" cy="201168"/>
          </a:xfrm>
          <a:prstGeom prst="rect">
            <a:avLst/>
          </a:prstGeom>
          <a:noFill/>
        </p:spPr>
        <p:txBody>
          <a:bodyPr wrap="square">
            <a:noAutofit/>
          </a:bodyPr>
          <a:lstStyle/>
          <a:p>
            <a:pPr algn="ctr"/>
            <a:r>
              <a:rPr sz="1200" b="0" dirty="0" err="1">
                <a:solidFill>
                  <a:srgbClr val="606C7C"/>
                </a:solidFill>
                <a:latin typeface="Aptos"/>
              </a:rPr>
              <a:t>комбінацій</a:t>
            </a:r>
            <a:endParaRPr sz="1200" b="0" dirty="0">
              <a:solidFill>
                <a:srgbClr val="606C7C"/>
              </a:solidFill>
              <a:latin typeface="Aptos"/>
            </a:endParaRPr>
          </a:p>
        </p:txBody>
      </p:sp>
      <p:sp>
        <p:nvSpPr>
          <p:cNvPr id="12" name="Rounded Rectangle 11"/>
          <p:cNvSpPr/>
          <p:nvPr/>
        </p:nvSpPr>
        <p:spPr>
          <a:xfrm>
            <a:off x="7726679" y="4754880"/>
            <a:ext cx="1143000" cy="713232"/>
          </a:xfrm>
          <a:prstGeom prst="roundRect">
            <a:avLst/>
          </a:prstGeom>
          <a:solidFill>
            <a:srgbClr val="E8F7EF"/>
          </a:solidFill>
          <a:ln>
            <a:solidFill>
              <a:srgbClr val="E8F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08975" y="4828032"/>
            <a:ext cx="969264" cy="256032"/>
          </a:xfrm>
          <a:prstGeom prst="rect">
            <a:avLst/>
          </a:prstGeom>
          <a:noFill/>
        </p:spPr>
        <p:txBody>
          <a:bodyPr wrap="square">
            <a:normAutofit fontScale="62500" lnSpcReduction="20000"/>
          </a:bodyPr>
          <a:lstStyle/>
          <a:p>
            <a:pPr algn="ctr"/>
            <a:r>
              <a:rPr sz="1900" b="1">
                <a:solidFill>
                  <a:srgbClr val="368757"/>
                </a:solidFill>
                <a:latin typeface="Aptos"/>
              </a:rPr>
              <a:t>0,713</a:t>
            </a:r>
          </a:p>
        </p:txBody>
      </p:sp>
      <p:sp>
        <p:nvSpPr>
          <p:cNvPr id="14" name="TextBox 13"/>
          <p:cNvSpPr txBox="1"/>
          <p:nvPr/>
        </p:nvSpPr>
        <p:spPr>
          <a:xfrm>
            <a:off x="7799831" y="5138928"/>
            <a:ext cx="1005840" cy="201168"/>
          </a:xfrm>
          <a:prstGeom prst="rect">
            <a:avLst/>
          </a:prstGeom>
          <a:noFill/>
        </p:spPr>
        <p:txBody>
          <a:bodyPr wrap="square">
            <a:noAutofit/>
          </a:bodyPr>
          <a:lstStyle/>
          <a:p>
            <a:pPr algn="ctr"/>
            <a:r>
              <a:rPr sz="1200" b="0" dirty="0">
                <a:solidFill>
                  <a:srgbClr val="606C7C"/>
                </a:solidFill>
                <a:latin typeface="Aptos"/>
              </a:rPr>
              <a:t>RMSE ↓</a:t>
            </a:r>
          </a:p>
        </p:txBody>
      </p:sp>
      <p:sp>
        <p:nvSpPr>
          <p:cNvPr id="15" name="Rounded Rectangle 14"/>
          <p:cNvSpPr/>
          <p:nvPr/>
        </p:nvSpPr>
        <p:spPr>
          <a:xfrm>
            <a:off x="9006840" y="4754880"/>
            <a:ext cx="1143000" cy="713232"/>
          </a:xfrm>
          <a:prstGeom prst="roundRect">
            <a:avLst/>
          </a:prstGeom>
          <a:solidFill>
            <a:srgbClr val="E8F7EF"/>
          </a:solidFill>
          <a:ln>
            <a:solidFill>
              <a:srgbClr val="E8F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98280" y="4828032"/>
            <a:ext cx="969264" cy="256032"/>
          </a:xfrm>
          <a:prstGeom prst="rect">
            <a:avLst/>
          </a:prstGeom>
          <a:noFill/>
        </p:spPr>
        <p:txBody>
          <a:bodyPr wrap="square">
            <a:normAutofit fontScale="62500" lnSpcReduction="20000"/>
          </a:bodyPr>
          <a:lstStyle/>
          <a:p>
            <a:pPr algn="ctr"/>
            <a:r>
              <a:rPr sz="1800" b="1">
                <a:solidFill>
                  <a:srgbClr val="368757"/>
                </a:solidFill>
                <a:latin typeface="Aptos"/>
              </a:rPr>
              <a:t>51,065</a:t>
            </a:r>
          </a:p>
        </p:txBody>
      </p:sp>
      <p:sp>
        <p:nvSpPr>
          <p:cNvPr id="17" name="TextBox 16"/>
          <p:cNvSpPr txBox="1"/>
          <p:nvPr/>
        </p:nvSpPr>
        <p:spPr>
          <a:xfrm>
            <a:off x="9089136" y="5138928"/>
            <a:ext cx="1005840" cy="201168"/>
          </a:xfrm>
          <a:prstGeom prst="rect">
            <a:avLst/>
          </a:prstGeom>
          <a:noFill/>
        </p:spPr>
        <p:txBody>
          <a:bodyPr wrap="square">
            <a:noAutofit/>
          </a:bodyPr>
          <a:lstStyle/>
          <a:p>
            <a:pPr algn="ctr"/>
            <a:r>
              <a:rPr sz="1200" b="0" dirty="0">
                <a:solidFill>
                  <a:srgbClr val="606C7C"/>
                </a:solidFill>
                <a:latin typeface="Aptos"/>
              </a:rPr>
              <a:t>PSNR ↑</a:t>
            </a:r>
          </a:p>
        </p:txBody>
      </p:sp>
      <p:sp>
        <p:nvSpPr>
          <p:cNvPr id="18" name="Rounded Rectangle 17"/>
          <p:cNvSpPr/>
          <p:nvPr/>
        </p:nvSpPr>
        <p:spPr>
          <a:xfrm>
            <a:off x="10287000" y="4754880"/>
            <a:ext cx="1143000" cy="713232"/>
          </a:xfrm>
          <a:prstGeom prst="roundRect">
            <a:avLst/>
          </a:prstGeom>
          <a:solidFill>
            <a:srgbClr val="E8F7EF"/>
          </a:solidFill>
          <a:ln>
            <a:solidFill>
              <a:srgbClr val="E8F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369296" y="4828032"/>
            <a:ext cx="969264" cy="256032"/>
          </a:xfrm>
          <a:prstGeom prst="rect">
            <a:avLst/>
          </a:prstGeom>
          <a:noFill/>
        </p:spPr>
        <p:txBody>
          <a:bodyPr wrap="square">
            <a:normAutofit fontScale="62500" lnSpcReduction="20000"/>
          </a:bodyPr>
          <a:lstStyle/>
          <a:p>
            <a:pPr algn="ctr"/>
            <a:r>
              <a:rPr sz="1900" b="1">
                <a:solidFill>
                  <a:srgbClr val="368757"/>
                </a:solidFill>
                <a:latin typeface="Aptos"/>
              </a:rPr>
              <a:t>0,996</a:t>
            </a:r>
          </a:p>
        </p:txBody>
      </p:sp>
      <p:sp>
        <p:nvSpPr>
          <p:cNvPr id="20" name="TextBox 19"/>
          <p:cNvSpPr txBox="1"/>
          <p:nvPr/>
        </p:nvSpPr>
        <p:spPr>
          <a:xfrm>
            <a:off x="10360152" y="5138928"/>
            <a:ext cx="1005840" cy="201168"/>
          </a:xfrm>
          <a:prstGeom prst="rect">
            <a:avLst/>
          </a:prstGeom>
          <a:noFill/>
        </p:spPr>
        <p:txBody>
          <a:bodyPr wrap="square">
            <a:noAutofit/>
          </a:bodyPr>
          <a:lstStyle/>
          <a:p>
            <a:pPr algn="ctr"/>
            <a:r>
              <a:rPr sz="1200" b="0" dirty="0" err="1">
                <a:solidFill>
                  <a:srgbClr val="606C7C"/>
                </a:solidFill>
                <a:latin typeface="Aptos"/>
              </a:rPr>
              <a:t>IoU</a:t>
            </a:r>
            <a:r>
              <a:rPr sz="1200" b="0" dirty="0">
                <a:solidFill>
                  <a:srgbClr val="606C7C"/>
                </a:solidFill>
                <a:latin typeface="Aptos"/>
              </a:rPr>
              <a:t> ↑</a:t>
            </a:r>
          </a:p>
        </p:txBody>
      </p:sp>
      <p:sp>
        <p:nvSpPr>
          <p:cNvPr id="21" name="TextBox 20"/>
          <p:cNvSpPr txBox="1"/>
          <p:nvPr/>
        </p:nvSpPr>
        <p:spPr>
          <a:xfrm>
            <a:off x="6446520" y="5669280"/>
            <a:ext cx="5074920" cy="932688"/>
          </a:xfrm>
          <a:prstGeom prst="rect">
            <a:avLst/>
          </a:prstGeom>
          <a:noFill/>
        </p:spPr>
        <p:txBody>
          <a:bodyPr wrap="square">
            <a:noAutofit/>
          </a:bodyPr>
          <a:lstStyle/>
          <a:p>
            <a:pPr algn="l"/>
            <a:r>
              <a:rPr sz="1400" b="0" dirty="0" err="1">
                <a:solidFill>
                  <a:srgbClr val="202B37"/>
                </a:solidFill>
                <a:latin typeface="Aptos"/>
              </a:rPr>
              <a:t>Висновок</a:t>
            </a:r>
            <a:r>
              <a:rPr sz="1400" b="0" dirty="0">
                <a:solidFill>
                  <a:srgbClr val="202B37"/>
                </a:solidFill>
                <a:latin typeface="Aptos"/>
              </a:rPr>
              <a:t>: </a:t>
            </a:r>
            <a:r>
              <a:rPr sz="1400" b="0" dirty="0" err="1">
                <a:solidFill>
                  <a:srgbClr val="202B37"/>
                </a:solidFill>
                <a:latin typeface="Aptos"/>
              </a:rPr>
              <a:t>аналоги</a:t>
            </a:r>
            <a:r>
              <a:rPr sz="1400" b="0" dirty="0">
                <a:solidFill>
                  <a:srgbClr val="202B37"/>
                </a:solidFill>
                <a:latin typeface="Aptos"/>
              </a:rPr>
              <a:t> </a:t>
            </a:r>
            <a:r>
              <a:rPr sz="1400" b="0" dirty="0" err="1">
                <a:solidFill>
                  <a:srgbClr val="202B37"/>
                </a:solidFill>
                <a:latin typeface="Aptos"/>
              </a:rPr>
              <a:t>зазвичай</a:t>
            </a:r>
            <a:r>
              <a:rPr sz="1400" b="0" dirty="0">
                <a:solidFill>
                  <a:srgbClr val="202B37"/>
                </a:solidFill>
                <a:latin typeface="Aptos"/>
              </a:rPr>
              <a:t> </a:t>
            </a:r>
            <a:r>
              <a:rPr sz="1400" b="0" dirty="0" err="1">
                <a:solidFill>
                  <a:srgbClr val="202B37"/>
                </a:solidFill>
                <a:latin typeface="Aptos"/>
              </a:rPr>
              <a:t>розв</a:t>
            </a:r>
            <a:r>
              <a:rPr lang="en-US" sz="1400" b="0" dirty="0" err="1">
                <a:solidFill>
                  <a:srgbClr val="202B37"/>
                </a:solidFill>
                <a:latin typeface="Aptos"/>
              </a:rPr>
              <a:t>'</a:t>
            </a:r>
            <a:r>
              <a:rPr sz="1400" b="0" dirty="0" err="1">
                <a:solidFill>
                  <a:srgbClr val="202B37"/>
                </a:solidFill>
                <a:latin typeface="Aptos"/>
              </a:rPr>
              <a:t>язують</a:t>
            </a:r>
            <a:r>
              <a:rPr sz="1400" b="0" dirty="0">
                <a:solidFill>
                  <a:srgbClr val="202B37"/>
                </a:solidFill>
                <a:latin typeface="Aptos"/>
              </a:rPr>
              <a:t> </a:t>
            </a:r>
            <a:r>
              <a:rPr sz="1400" b="0" dirty="0" err="1">
                <a:solidFill>
                  <a:srgbClr val="202B37"/>
                </a:solidFill>
                <a:latin typeface="Aptos"/>
              </a:rPr>
              <a:t>окремі</a:t>
            </a:r>
            <a:r>
              <a:rPr sz="1400" b="0" dirty="0">
                <a:solidFill>
                  <a:srgbClr val="202B37"/>
                </a:solidFill>
                <a:latin typeface="Aptos"/>
              </a:rPr>
              <a:t> </a:t>
            </a:r>
            <a:r>
              <a:rPr sz="1400" b="0" dirty="0" err="1">
                <a:solidFill>
                  <a:srgbClr val="202B37"/>
                </a:solidFill>
                <a:latin typeface="Aptos"/>
              </a:rPr>
              <a:t>підзадачі</a:t>
            </a:r>
            <a:r>
              <a:rPr sz="1400" b="0" dirty="0">
                <a:solidFill>
                  <a:srgbClr val="202B37"/>
                </a:solidFill>
                <a:latin typeface="Aptos"/>
              </a:rPr>
              <a:t>, </a:t>
            </a:r>
            <a:r>
              <a:rPr sz="1400" b="0" dirty="0" err="1">
                <a:solidFill>
                  <a:srgbClr val="202B37"/>
                </a:solidFill>
                <a:latin typeface="Aptos"/>
              </a:rPr>
              <a:t>тоді</a:t>
            </a:r>
            <a:r>
              <a:rPr sz="1400" b="0" dirty="0">
                <a:solidFill>
                  <a:srgbClr val="202B37"/>
                </a:solidFill>
                <a:latin typeface="Aptos"/>
              </a:rPr>
              <a:t> </a:t>
            </a:r>
            <a:r>
              <a:rPr sz="1400" b="0" dirty="0" err="1">
                <a:solidFill>
                  <a:srgbClr val="202B37"/>
                </a:solidFill>
                <a:latin typeface="Aptos"/>
              </a:rPr>
              <a:t>як</a:t>
            </a:r>
            <a:r>
              <a:rPr sz="1400" b="0" dirty="0">
                <a:solidFill>
                  <a:srgbClr val="202B37"/>
                </a:solidFill>
                <a:latin typeface="Aptos"/>
              </a:rPr>
              <a:t> </a:t>
            </a:r>
            <a:r>
              <a:rPr sz="1400" b="0" dirty="0" err="1">
                <a:solidFill>
                  <a:srgbClr val="202B37"/>
                </a:solidFill>
                <a:latin typeface="Aptos"/>
              </a:rPr>
              <a:t>запропонована</a:t>
            </a:r>
            <a:r>
              <a:rPr sz="1400" b="0" dirty="0">
                <a:solidFill>
                  <a:srgbClr val="202B37"/>
                </a:solidFill>
                <a:latin typeface="Aptos"/>
              </a:rPr>
              <a:t> </a:t>
            </a:r>
            <a:r>
              <a:rPr sz="1400" b="0" dirty="0" err="1">
                <a:solidFill>
                  <a:srgbClr val="202B37"/>
                </a:solidFill>
                <a:latin typeface="Aptos"/>
              </a:rPr>
              <a:t>технологія</a:t>
            </a:r>
            <a:r>
              <a:rPr sz="1400" b="0" dirty="0">
                <a:solidFill>
                  <a:srgbClr val="202B37"/>
                </a:solidFill>
                <a:latin typeface="Aptos"/>
              </a:rPr>
              <a:t> </a:t>
            </a:r>
            <a:r>
              <a:rPr sz="1400" b="0" dirty="0" err="1">
                <a:solidFill>
                  <a:srgbClr val="202B37"/>
                </a:solidFill>
                <a:latin typeface="Aptos"/>
              </a:rPr>
              <a:t>інтегрує</a:t>
            </a:r>
            <a:r>
              <a:rPr sz="1400" b="0" dirty="0">
                <a:solidFill>
                  <a:srgbClr val="202B37"/>
                </a:solidFill>
                <a:latin typeface="Aptos"/>
              </a:rPr>
              <a:t> </a:t>
            </a:r>
            <a:r>
              <a:rPr sz="1400" b="0" dirty="0" err="1">
                <a:solidFill>
                  <a:srgbClr val="202B37"/>
                </a:solidFill>
                <a:latin typeface="Aptos"/>
              </a:rPr>
              <a:t>виявлення</a:t>
            </a:r>
            <a:r>
              <a:rPr sz="1400" b="0" dirty="0">
                <a:solidFill>
                  <a:srgbClr val="202B37"/>
                </a:solidFill>
                <a:latin typeface="Aptos"/>
              </a:rPr>
              <a:t>, </a:t>
            </a:r>
            <a:r>
              <a:rPr sz="1400" b="0" dirty="0" err="1">
                <a:solidFill>
                  <a:srgbClr val="202B37"/>
                </a:solidFill>
                <a:latin typeface="Aptos"/>
              </a:rPr>
              <a:t>рух</a:t>
            </a:r>
            <a:r>
              <a:rPr sz="1400" b="0" dirty="0">
                <a:solidFill>
                  <a:srgbClr val="202B37"/>
                </a:solidFill>
                <a:latin typeface="Aptos"/>
              </a:rPr>
              <a:t>, </a:t>
            </a:r>
            <a:r>
              <a:rPr sz="1400" b="0" dirty="0" err="1">
                <a:solidFill>
                  <a:srgbClr val="202B37"/>
                </a:solidFill>
                <a:latin typeface="Aptos"/>
              </a:rPr>
              <a:t>глибину</a:t>
            </a:r>
            <a:r>
              <a:rPr sz="1400" b="0" dirty="0">
                <a:solidFill>
                  <a:srgbClr val="202B37"/>
                </a:solidFill>
                <a:latin typeface="Aptos"/>
              </a:rPr>
              <a:t>, </a:t>
            </a:r>
            <a:r>
              <a:rPr sz="1400" b="0" dirty="0" err="1">
                <a:solidFill>
                  <a:srgbClr val="202B37"/>
                </a:solidFill>
                <a:latin typeface="Aptos"/>
              </a:rPr>
              <a:t>ансамблеву</a:t>
            </a:r>
            <a:r>
              <a:rPr sz="1400" b="0" dirty="0">
                <a:solidFill>
                  <a:srgbClr val="202B37"/>
                </a:solidFill>
                <a:latin typeface="Aptos"/>
              </a:rPr>
              <a:t> </a:t>
            </a:r>
            <a:r>
              <a:rPr sz="1400" b="0" dirty="0" err="1">
                <a:solidFill>
                  <a:srgbClr val="202B37"/>
                </a:solidFill>
                <a:latin typeface="Aptos"/>
              </a:rPr>
              <a:t>корекцію</a:t>
            </a:r>
            <a:r>
              <a:rPr sz="1400" b="0" dirty="0">
                <a:solidFill>
                  <a:srgbClr val="202B37"/>
                </a:solidFill>
                <a:latin typeface="Aptos"/>
              </a:rPr>
              <a:t> </a:t>
            </a:r>
            <a:r>
              <a:rPr sz="1400" b="0" dirty="0" err="1">
                <a:solidFill>
                  <a:srgbClr val="202B37"/>
                </a:solidFill>
                <a:latin typeface="Aptos"/>
              </a:rPr>
              <a:t>та</a:t>
            </a:r>
            <a:r>
              <a:rPr sz="1400" b="0" dirty="0">
                <a:solidFill>
                  <a:srgbClr val="202B37"/>
                </a:solidFill>
                <a:latin typeface="Aptos"/>
              </a:rPr>
              <a:t> </a:t>
            </a:r>
            <a:r>
              <a:rPr sz="1400" b="0" dirty="0" err="1">
                <a:solidFill>
                  <a:srgbClr val="202B37"/>
                </a:solidFill>
                <a:latin typeface="Aptos"/>
              </a:rPr>
              <a:t>розрахунок</a:t>
            </a:r>
            <a:r>
              <a:rPr sz="1400" b="0" dirty="0">
                <a:solidFill>
                  <a:srgbClr val="202B37"/>
                </a:solidFill>
                <a:latin typeface="Aptos"/>
              </a:rPr>
              <a:t> </a:t>
            </a:r>
            <a:r>
              <a:rPr sz="1400" b="0" dirty="0" err="1">
                <a:solidFill>
                  <a:srgbClr val="202B37"/>
                </a:solidFill>
                <a:latin typeface="Aptos"/>
              </a:rPr>
              <a:t>параметрів</a:t>
            </a:r>
            <a:r>
              <a:rPr sz="1400" b="0" dirty="0">
                <a:solidFill>
                  <a:srgbClr val="202B37"/>
                </a:solidFill>
                <a:latin typeface="Aptos"/>
              </a:rPr>
              <a:t> </a:t>
            </a:r>
            <a:r>
              <a:rPr sz="1400" b="0" dirty="0" err="1">
                <a:solidFill>
                  <a:srgbClr val="202B37"/>
                </a:solidFill>
                <a:latin typeface="Aptos"/>
              </a:rPr>
              <a:t>стану</a:t>
            </a:r>
            <a:r>
              <a:rPr sz="1400" b="0" dirty="0">
                <a:solidFill>
                  <a:srgbClr val="202B37"/>
                </a:solidFill>
                <a:latin typeface="Aptos"/>
              </a:rPr>
              <a:t>.</a:t>
            </a:r>
          </a:p>
        </p:txBody>
      </p:sp>
      <p:sp>
        <p:nvSpPr>
          <p:cNvPr id="23" name="TextBox 22">
            <a:extLst>
              <a:ext uri="{FF2B5EF4-FFF2-40B4-BE49-F238E27FC236}">
                <a16:creationId xmlns:a16="http://schemas.microsoft.com/office/drawing/2014/main" id="{4B765935-177D-300D-3545-EBF99003837E}"/>
              </a:ext>
            </a:extLst>
          </p:cNvPr>
          <p:cNvSpPr txBox="1"/>
          <p:nvPr/>
        </p:nvSpPr>
        <p:spPr>
          <a:xfrm>
            <a:off x="11604684" y="53140"/>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
        <p:nvSpPr>
          <p:cNvPr id="25" name="TextBox 24">
            <a:extLst>
              <a:ext uri="{FF2B5EF4-FFF2-40B4-BE49-F238E27FC236}">
                <a16:creationId xmlns:a16="http://schemas.microsoft.com/office/drawing/2014/main" id="{693DC9D8-9484-6B2A-5161-98AF6F790B2E}"/>
              </a:ext>
            </a:extLst>
          </p:cNvPr>
          <p:cNvSpPr txBox="1"/>
          <p:nvPr/>
        </p:nvSpPr>
        <p:spPr>
          <a:xfrm>
            <a:off x="11760132" y="740852"/>
            <a:ext cx="462011" cy="822305"/>
          </a:xfrm>
          <a:prstGeom prst="flowChartDelay">
            <a:avLst/>
          </a:prstGeom>
          <a:ln>
            <a:solidFill>
              <a:srgbClr val="FFC000"/>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algn="r"/>
            <a:r>
              <a:rPr lang="uk-UA" sz="3200" dirty="0"/>
              <a:t>2 </a:t>
            </a:r>
            <a:endParaRPr lang="en-US" sz="3200" dirty="0"/>
          </a:p>
        </p:txBody>
      </p:sp>
      <p:sp>
        <p:nvSpPr>
          <p:cNvPr id="27" name="Місце для номера слайда 2">
            <a:extLst>
              <a:ext uri="{FF2B5EF4-FFF2-40B4-BE49-F238E27FC236}">
                <a16:creationId xmlns:a16="http://schemas.microsoft.com/office/drawing/2014/main" id="{480019E7-FC4D-8A8F-6C6C-6830F74328FD}"/>
              </a:ext>
            </a:extLst>
          </p:cNvPr>
          <p:cNvSpPr txBox="1">
            <a:spLocks/>
          </p:cNvSpPr>
          <p:nvPr/>
        </p:nvSpPr>
        <p:spPr>
          <a:xfrm>
            <a:off x="11184188" y="6356350"/>
            <a:ext cx="876748" cy="365125"/>
          </a:xfrm>
          <a:prstGeom prst="foldedCorner">
            <a:avLst/>
          </a:prstGeom>
        </p:spPr>
        <p:style>
          <a:lnRef idx="2">
            <a:schemeClr val="dk1"/>
          </a:lnRef>
          <a:fillRef idx="1">
            <a:schemeClr val="lt1"/>
          </a:fillRef>
          <a:effectRef idx="0">
            <a:schemeClr val="dk1"/>
          </a:effectRef>
          <a:fontRef idx="minor">
            <a:schemeClr val="dk1"/>
          </a:fontRef>
        </p:style>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pPr/>
              <a:t>53</a:t>
            </a:fld>
            <a:endParaRPr lang="en-US" dirty="0"/>
          </a:p>
        </p:txBody>
      </p:sp>
    </p:spTree>
    <p:extLst>
      <p:ext uri="{BB962C8B-B14F-4D97-AF65-F5344CB8AC3E}">
        <p14:creationId xmlns:p14="http://schemas.microsoft.com/office/powerpoint/2010/main" val="38521302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117770" y="0"/>
            <a:ext cx="12191695" cy="6858000"/>
          </a:xfrm>
          <a:prstGeom prst="rect">
            <a:avLst/>
          </a:prstGeom>
          <a:solidFill>
            <a:srgbClr val="F6F8FB"/>
          </a:solidFill>
          <a:ln w="12700">
            <a:solidFill>
              <a:srgbClr val="F6F8FB"/>
            </a:solidFill>
            <a:prstDash val="solid"/>
          </a:ln>
        </p:spPr>
        <p:txBody>
          <a:bodyPr/>
          <a:lstStyle/>
          <a:p>
            <a:endParaRPr lang="en-US"/>
          </a:p>
        </p:txBody>
      </p:sp>
      <p:sp>
        <p:nvSpPr>
          <p:cNvPr id="3" name="Shape 1"/>
          <p:cNvSpPr/>
          <p:nvPr/>
        </p:nvSpPr>
        <p:spPr>
          <a:xfrm>
            <a:off x="0" y="0"/>
            <a:ext cx="12191695" cy="1234440"/>
          </a:xfrm>
          <a:prstGeom prst="rect">
            <a:avLst/>
          </a:prstGeom>
          <a:solidFill>
            <a:srgbClr val="1F4E79"/>
          </a:solidFill>
          <a:ln w="12700">
            <a:solidFill>
              <a:srgbClr val="1F4E79"/>
            </a:solidFill>
            <a:prstDash val="solid"/>
          </a:ln>
        </p:spPr>
        <p:txBody>
          <a:bodyPr/>
          <a:lstStyle/>
          <a:p>
            <a:endParaRPr lang="en-US"/>
          </a:p>
        </p:txBody>
      </p:sp>
      <p:sp>
        <p:nvSpPr>
          <p:cNvPr id="4" name="Text 2"/>
          <p:cNvSpPr/>
          <p:nvPr/>
        </p:nvSpPr>
        <p:spPr>
          <a:xfrm>
            <a:off x="594360" y="347472"/>
            <a:ext cx="10972800" cy="502920"/>
          </a:xfrm>
          <a:prstGeom prst="rect">
            <a:avLst/>
          </a:prstGeom>
          <a:noFill/>
          <a:ln/>
        </p:spPr>
        <p:txBody>
          <a:bodyPr wrap="square" lIns="254" tIns="254" rIns="254" bIns="254" rtlCol="0" anchor="ctr">
            <a:normAutofit/>
          </a:bodyPr>
          <a:lstStyle/>
          <a:p>
            <a:pPr marL="0" indent="0">
              <a:buNone/>
            </a:pPr>
            <a:r>
              <a:rPr lang="en-US" sz="2500" b="1" dirty="0">
                <a:solidFill>
                  <a:srgbClr val="FFFFFF"/>
                </a:solidFill>
              </a:rPr>
              <a:t>Понятійний апарат та кількісне підтвердження досягнення мети</a:t>
            </a:r>
            <a:endParaRPr lang="en-US" sz="2500" dirty="0"/>
          </a:p>
        </p:txBody>
      </p:sp>
      <p:sp>
        <p:nvSpPr>
          <p:cNvPr id="5" name="Text 3"/>
          <p:cNvSpPr/>
          <p:nvPr/>
        </p:nvSpPr>
        <p:spPr>
          <a:xfrm>
            <a:off x="612648" y="868680"/>
            <a:ext cx="10698480" cy="228600"/>
          </a:xfrm>
          <a:prstGeom prst="rect">
            <a:avLst/>
          </a:prstGeom>
          <a:noFill/>
          <a:ln/>
        </p:spPr>
        <p:txBody>
          <a:bodyPr wrap="square" lIns="254" tIns="254" rIns="254" bIns="254" rtlCol="0" anchor="ctr"/>
          <a:lstStyle/>
          <a:p>
            <a:pPr marL="0" indent="0">
              <a:buNone/>
            </a:pPr>
            <a:endParaRPr lang="en-US" sz="1300" dirty="0"/>
          </a:p>
        </p:txBody>
      </p:sp>
      <p:sp>
        <p:nvSpPr>
          <p:cNvPr id="6" name="Text 4"/>
          <p:cNvSpPr/>
          <p:nvPr/>
        </p:nvSpPr>
        <p:spPr>
          <a:xfrm>
            <a:off x="685800" y="1600200"/>
            <a:ext cx="2926080" cy="320040"/>
          </a:xfrm>
          <a:prstGeom prst="rect">
            <a:avLst/>
          </a:prstGeom>
          <a:noFill/>
          <a:ln/>
        </p:spPr>
        <p:txBody>
          <a:bodyPr wrap="square" lIns="254" tIns="254" rIns="254" bIns="254" rtlCol="0" anchor="ctr"/>
          <a:lstStyle/>
          <a:p>
            <a:pPr marL="0" indent="0">
              <a:buNone/>
            </a:pPr>
            <a:endParaRPr lang="en-US" sz="2000" dirty="0"/>
          </a:p>
        </p:txBody>
      </p:sp>
      <p:sp>
        <p:nvSpPr>
          <p:cNvPr id="7" name="Shape 5"/>
          <p:cNvSpPr/>
          <p:nvPr/>
        </p:nvSpPr>
        <p:spPr>
          <a:xfrm>
            <a:off x="126461" y="2148840"/>
            <a:ext cx="4105482" cy="3707210"/>
          </a:xfrm>
          <a:prstGeom prst="roundRect">
            <a:avLst>
              <a:gd name="adj" fmla="val 2500"/>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8" name="Shape 6"/>
          <p:cNvSpPr/>
          <p:nvPr/>
        </p:nvSpPr>
        <p:spPr>
          <a:xfrm>
            <a:off x="118075" y="2173644"/>
            <a:ext cx="73152" cy="3682405"/>
          </a:xfrm>
          <a:prstGeom prst="rect">
            <a:avLst/>
          </a:prstGeom>
          <a:solidFill>
            <a:srgbClr val="2F75B5"/>
          </a:solidFill>
          <a:ln w="12700">
            <a:solidFill>
              <a:srgbClr val="2F75B5"/>
            </a:solidFill>
            <a:prstDash val="solid"/>
          </a:ln>
        </p:spPr>
        <p:txBody>
          <a:bodyPr/>
          <a:lstStyle/>
          <a:p>
            <a:endParaRPr lang="en-US"/>
          </a:p>
        </p:txBody>
      </p:sp>
      <p:sp>
        <p:nvSpPr>
          <p:cNvPr id="9" name="Text 7"/>
          <p:cNvSpPr/>
          <p:nvPr/>
        </p:nvSpPr>
        <p:spPr>
          <a:xfrm>
            <a:off x="327590" y="2286000"/>
            <a:ext cx="3631762" cy="182880"/>
          </a:xfrm>
          <a:prstGeom prst="rect">
            <a:avLst/>
          </a:prstGeom>
          <a:noFill/>
          <a:ln/>
        </p:spPr>
        <p:txBody>
          <a:bodyPr wrap="square" lIns="254" tIns="254" rIns="254" bIns="254" rtlCol="0" anchor="ctr">
            <a:noAutofit/>
          </a:bodyPr>
          <a:lstStyle/>
          <a:p>
            <a:pPr marL="0" indent="0">
              <a:buNone/>
            </a:pPr>
            <a:r>
              <a:rPr lang="en-US" b="1" dirty="0">
                <a:solidFill>
                  <a:srgbClr val="2F75B5"/>
                </a:solidFill>
              </a:rPr>
              <a:t>1. Поняття</a:t>
            </a:r>
            <a:endParaRPr lang="en-US" dirty="0"/>
          </a:p>
        </p:txBody>
      </p:sp>
      <p:sp>
        <p:nvSpPr>
          <p:cNvPr id="10" name="Text 8"/>
          <p:cNvSpPr/>
          <p:nvPr/>
        </p:nvSpPr>
        <p:spPr>
          <a:xfrm>
            <a:off x="309302" y="2542031"/>
            <a:ext cx="3631762" cy="3031917"/>
          </a:xfrm>
          <a:prstGeom prst="rect">
            <a:avLst/>
          </a:prstGeom>
          <a:noFill/>
          <a:ln/>
        </p:spPr>
        <p:txBody>
          <a:bodyPr wrap="square" lIns="381" tIns="381" rIns="381" bIns="381" rtlCol="0" anchor="t">
            <a:noAutofit/>
          </a:bodyPr>
          <a:lstStyle/>
          <a:p>
            <a:pPr marL="0" indent="0">
              <a:buNone/>
            </a:pPr>
            <a:r>
              <a:rPr lang="en-US" sz="2400" dirty="0">
                <a:solidFill>
                  <a:srgbClr val="1F2937"/>
                </a:solidFill>
              </a:rPr>
              <a:t>«</a:t>
            </a:r>
            <a:r>
              <a:rPr lang="en-US" sz="2400" dirty="0" err="1">
                <a:solidFill>
                  <a:srgbClr val="1F2937"/>
                </a:solidFill>
              </a:rPr>
              <a:t>динамічний</a:t>
            </a:r>
            <a:r>
              <a:rPr lang="en-US" sz="2400" dirty="0">
                <a:solidFill>
                  <a:srgbClr val="1F2937"/>
                </a:solidFill>
              </a:rPr>
              <a:t> </a:t>
            </a:r>
            <a:r>
              <a:rPr lang="en-US" sz="2400" dirty="0" err="1">
                <a:solidFill>
                  <a:srgbClr val="1F2937"/>
                </a:solidFill>
              </a:rPr>
              <a:t>об'єкт</a:t>
            </a:r>
            <a:r>
              <a:rPr lang="en-US" sz="2400" dirty="0">
                <a:solidFill>
                  <a:srgbClr val="1F2937"/>
                </a:solidFill>
              </a:rPr>
              <a:t>» — це </a:t>
            </a:r>
            <a:r>
              <a:rPr lang="en-US" sz="2400" dirty="0" err="1">
                <a:solidFill>
                  <a:srgbClr val="1F2937"/>
                </a:solidFill>
              </a:rPr>
              <a:t>рухомий</a:t>
            </a:r>
            <a:r>
              <a:rPr lang="en-US" sz="2400" dirty="0">
                <a:solidFill>
                  <a:srgbClr val="1F2937"/>
                </a:solidFill>
              </a:rPr>
              <a:t> </a:t>
            </a:r>
            <a:r>
              <a:rPr lang="en-US" sz="2400" dirty="0" err="1">
                <a:solidFill>
                  <a:srgbClr val="1F2937"/>
                </a:solidFill>
              </a:rPr>
              <a:t>об'єкт</a:t>
            </a:r>
            <a:r>
              <a:rPr lang="en-US" sz="2400" dirty="0">
                <a:solidFill>
                  <a:srgbClr val="1F2937"/>
                </a:solidFill>
              </a:rPr>
              <a:t> у відеопослідовності, стан якого змінюється в часі.</a:t>
            </a:r>
            <a:endParaRPr lang="en-US" sz="2400" dirty="0"/>
          </a:p>
        </p:txBody>
      </p:sp>
      <p:sp>
        <p:nvSpPr>
          <p:cNvPr id="11" name="Shape 9"/>
          <p:cNvSpPr/>
          <p:nvPr/>
        </p:nvSpPr>
        <p:spPr>
          <a:xfrm>
            <a:off x="4407408" y="2148840"/>
            <a:ext cx="3273552" cy="3707210"/>
          </a:xfrm>
          <a:prstGeom prst="roundRect">
            <a:avLst>
              <a:gd name="adj" fmla="val 2500"/>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2" name="Shape 10"/>
          <p:cNvSpPr/>
          <p:nvPr/>
        </p:nvSpPr>
        <p:spPr>
          <a:xfrm>
            <a:off x="4407408" y="2148840"/>
            <a:ext cx="73152" cy="3707210"/>
          </a:xfrm>
          <a:prstGeom prst="rect">
            <a:avLst/>
          </a:prstGeom>
          <a:solidFill>
            <a:srgbClr val="0F766E"/>
          </a:solidFill>
          <a:ln w="12700">
            <a:solidFill>
              <a:srgbClr val="0F766E"/>
            </a:solidFill>
            <a:prstDash val="solid"/>
          </a:ln>
        </p:spPr>
        <p:txBody>
          <a:bodyPr/>
          <a:lstStyle/>
          <a:p>
            <a:endParaRPr lang="en-US"/>
          </a:p>
        </p:txBody>
      </p:sp>
      <p:sp>
        <p:nvSpPr>
          <p:cNvPr id="13" name="Text 11"/>
          <p:cNvSpPr/>
          <p:nvPr/>
        </p:nvSpPr>
        <p:spPr>
          <a:xfrm>
            <a:off x="4572000" y="2267712"/>
            <a:ext cx="3108960" cy="201168"/>
          </a:xfrm>
          <a:prstGeom prst="rect">
            <a:avLst/>
          </a:prstGeom>
          <a:noFill/>
          <a:ln/>
        </p:spPr>
        <p:txBody>
          <a:bodyPr wrap="square" lIns="254" tIns="254" rIns="254" bIns="254" rtlCol="0" anchor="ctr">
            <a:noAutofit/>
          </a:bodyPr>
          <a:lstStyle/>
          <a:p>
            <a:pPr marL="0" indent="0">
              <a:buNone/>
            </a:pPr>
            <a:r>
              <a:rPr lang="en-US" b="1" dirty="0">
                <a:solidFill>
                  <a:srgbClr val="0F766E"/>
                </a:solidFill>
              </a:rPr>
              <a:t>2. Методологія</a:t>
            </a:r>
            <a:endParaRPr lang="en-US" dirty="0"/>
          </a:p>
        </p:txBody>
      </p:sp>
      <p:sp>
        <p:nvSpPr>
          <p:cNvPr id="14" name="Text 12"/>
          <p:cNvSpPr/>
          <p:nvPr/>
        </p:nvSpPr>
        <p:spPr>
          <a:xfrm>
            <a:off x="4572000" y="2542032"/>
            <a:ext cx="3090672" cy="1353312"/>
          </a:xfrm>
          <a:prstGeom prst="rect">
            <a:avLst/>
          </a:prstGeom>
          <a:noFill/>
          <a:ln/>
        </p:spPr>
        <p:txBody>
          <a:bodyPr wrap="square" lIns="381" tIns="381" rIns="381" bIns="381" rtlCol="0" anchor="t">
            <a:noAutofit/>
          </a:bodyPr>
          <a:lstStyle/>
          <a:p>
            <a:pPr marL="0" indent="0">
              <a:buNone/>
            </a:pPr>
            <a:r>
              <a:rPr lang="en-US" sz="2400" dirty="0">
                <a:solidFill>
                  <a:srgbClr val="1F2937"/>
                </a:solidFill>
              </a:rPr>
              <a:t>Розмежувати поняття: модель → метод → алгоритм → програмна реалізація → інформаційна технологія.</a:t>
            </a:r>
            <a:endParaRPr lang="en-US" sz="2400" dirty="0"/>
          </a:p>
        </p:txBody>
      </p:sp>
      <p:sp>
        <p:nvSpPr>
          <p:cNvPr id="15" name="Shape 13"/>
          <p:cNvSpPr/>
          <p:nvPr/>
        </p:nvSpPr>
        <p:spPr>
          <a:xfrm>
            <a:off x="8119872" y="2148840"/>
            <a:ext cx="3447288" cy="3707210"/>
          </a:xfrm>
          <a:prstGeom prst="roundRect">
            <a:avLst>
              <a:gd name="adj" fmla="val 2500"/>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6" name="Shape 14"/>
          <p:cNvSpPr/>
          <p:nvPr/>
        </p:nvSpPr>
        <p:spPr>
          <a:xfrm>
            <a:off x="8119872" y="2148839"/>
            <a:ext cx="73152" cy="3707209"/>
          </a:xfrm>
          <a:prstGeom prst="rect">
            <a:avLst/>
          </a:prstGeom>
          <a:solidFill>
            <a:srgbClr val="2E7D32"/>
          </a:solidFill>
          <a:ln w="12700">
            <a:solidFill>
              <a:srgbClr val="2E7D32"/>
            </a:solidFill>
            <a:prstDash val="solid"/>
          </a:ln>
        </p:spPr>
        <p:txBody>
          <a:bodyPr/>
          <a:lstStyle/>
          <a:p>
            <a:endParaRPr lang="en-US"/>
          </a:p>
        </p:txBody>
      </p:sp>
      <p:sp>
        <p:nvSpPr>
          <p:cNvPr id="17" name="Text 15"/>
          <p:cNvSpPr/>
          <p:nvPr/>
        </p:nvSpPr>
        <p:spPr>
          <a:xfrm>
            <a:off x="8284464" y="2267712"/>
            <a:ext cx="3108960" cy="201168"/>
          </a:xfrm>
          <a:prstGeom prst="rect">
            <a:avLst/>
          </a:prstGeom>
          <a:noFill/>
          <a:ln/>
        </p:spPr>
        <p:txBody>
          <a:bodyPr wrap="square" lIns="254" tIns="254" rIns="254" bIns="254" rtlCol="0" anchor="ctr">
            <a:noAutofit/>
          </a:bodyPr>
          <a:lstStyle/>
          <a:p>
            <a:pPr marL="0" indent="0">
              <a:buNone/>
            </a:pPr>
            <a:r>
              <a:rPr lang="en-US" b="1" dirty="0">
                <a:solidFill>
                  <a:srgbClr val="2E7D32"/>
                </a:solidFill>
              </a:rPr>
              <a:t>3. Досягнення мети</a:t>
            </a:r>
            <a:endParaRPr lang="en-US" dirty="0"/>
          </a:p>
        </p:txBody>
      </p:sp>
      <p:sp>
        <p:nvSpPr>
          <p:cNvPr id="18" name="Text 16"/>
          <p:cNvSpPr/>
          <p:nvPr/>
        </p:nvSpPr>
        <p:spPr>
          <a:xfrm>
            <a:off x="8284464" y="2542032"/>
            <a:ext cx="3090672" cy="2954096"/>
          </a:xfrm>
          <a:prstGeom prst="rect">
            <a:avLst/>
          </a:prstGeom>
          <a:noFill/>
          <a:ln/>
        </p:spPr>
        <p:txBody>
          <a:bodyPr wrap="square" lIns="381" tIns="381" rIns="381" bIns="381" rtlCol="0" anchor="t">
            <a:noAutofit/>
          </a:bodyPr>
          <a:lstStyle/>
          <a:p>
            <a:pPr marL="0" indent="0">
              <a:buNone/>
            </a:pPr>
            <a:r>
              <a:rPr lang="en-US" sz="2400" dirty="0">
                <a:solidFill>
                  <a:srgbClr val="1F2937"/>
                </a:solidFill>
              </a:rPr>
              <a:t>Показати кількісно: точність, надійність, адаптивність та працездатність технології за експериментальними показниками.</a:t>
            </a:r>
            <a:endParaRPr lang="en-US" sz="2400" dirty="0"/>
          </a:p>
        </p:txBody>
      </p:sp>
      <p:sp>
        <p:nvSpPr>
          <p:cNvPr id="20" name="TextBox 19">
            <a:extLst>
              <a:ext uri="{FF2B5EF4-FFF2-40B4-BE49-F238E27FC236}">
                <a16:creationId xmlns:a16="http://schemas.microsoft.com/office/drawing/2014/main" id="{2BF80B35-1BFF-321D-84A7-F7F2DC8A554C}"/>
              </a:ext>
            </a:extLst>
          </p:cNvPr>
          <p:cNvSpPr txBox="1"/>
          <p:nvPr/>
        </p:nvSpPr>
        <p:spPr>
          <a:xfrm>
            <a:off x="11604684" y="53140"/>
            <a:ext cx="439313" cy="822305"/>
          </a:xfrm>
          <a:prstGeom prst="flowChartDelay">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algn="r"/>
            <a:r>
              <a:rPr lang="uk-UA" sz="3200" dirty="0"/>
              <a:t>5 </a:t>
            </a:r>
            <a:endParaRPr lang="en-US" sz="3200" dirty="0"/>
          </a:p>
        </p:txBody>
      </p:sp>
      <p:sp>
        <p:nvSpPr>
          <p:cNvPr id="22" name="Місце для номера слайда 2">
            <a:extLst>
              <a:ext uri="{FF2B5EF4-FFF2-40B4-BE49-F238E27FC236}">
                <a16:creationId xmlns:a16="http://schemas.microsoft.com/office/drawing/2014/main" id="{C9891636-A85C-65E2-E291-477B2F904FA9}"/>
              </a:ext>
            </a:extLst>
          </p:cNvPr>
          <p:cNvSpPr txBox="1">
            <a:spLocks/>
          </p:cNvSpPr>
          <p:nvPr/>
        </p:nvSpPr>
        <p:spPr>
          <a:xfrm>
            <a:off x="11184188" y="6356350"/>
            <a:ext cx="876748" cy="365125"/>
          </a:xfrm>
          <a:prstGeom prst="foldedCorner">
            <a:avLst/>
          </a:prstGeom>
        </p:spPr>
        <p:style>
          <a:lnRef idx="2">
            <a:schemeClr val="dk1"/>
          </a:lnRef>
          <a:fillRef idx="1">
            <a:schemeClr val="lt1"/>
          </a:fillRef>
          <a:effectRef idx="0">
            <a:schemeClr val="dk1"/>
          </a:effectRef>
          <a:fontRef idx="minor">
            <a:schemeClr val="dk1"/>
          </a:fontRef>
        </p:style>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pPr/>
              <a:t>54</a:t>
            </a:fld>
            <a:endParaRPr lang="en-US" dirty="0"/>
          </a:p>
        </p:txBody>
      </p:sp>
    </p:spTree>
    <p:extLst>
      <p:ext uri="{BB962C8B-B14F-4D97-AF65-F5344CB8AC3E}">
        <p14:creationId xmlns:p14="http://schemas.microsoft.com/office/powerpoint/2010/main" val="21916002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02920" y="320040"/>
            <a:ext cx="11155680" cy="347472"/>
          </a:xfrm>
          <a:prstGeom prst="rect">
            <a:avLst/>
          </a:prstGeom>
          <a:noFill/>
          <a:ln/>
        </p:spPr>
        <p:txBody>
          <a:bodyPr wrap="square" lIns="381" tIns="381" rIns="381" bIns="381" rtlCol="0" anchor="ctr">
            <a:normAutofit lnSpcReduction="10000"/>
          </a:bodyPr>
          <a:lstStyle/>
          <a:p>
            <a:pPr marL="0" indent="0">
              <a:buNone/>
            </a:pPr>
            <a:r>
              <a:rPr lang="en-US" sz="2500" b="1" dirty="0">
                <a:solidFill>
                  <a:srgbClr val="1F4E79"/>
                </a:solidFill>
              </a:rPr>
              <a:t>Понятійний апарат: </a:t>
            </a:r>
            <a:r>
              <a:rPr lang="en-US" sz="2500" b="1" dirty="0" err="1">
                <a:solidFill>
                  <a:srgbClr val="1F4E79"/>
                </a:solidFill>
              </a:rPr>
              <a:t>об'єкт</a:t>
            </a:r>
            <a:r>
              <a:rPr lang="en-US" sz="2500" b="1" dirty="0">
                <a:solidFill>
                  <a:srgbClr val="1F4E79"/>
                </a:solidFill>
              </a:rPr>
              <a:t> і параметри</a:t>
            </a:r>
            <a:endParaRPr lang="en-US" sz="2500" dirty="0"/>
          </a:p>
        </p:txBody>
      </p:sp>
      <p:sp>
        <p:nvSpPr>
          <p:cNvPr id="3" name="Text 1"/>
          <p:cNvSpPr/>
          <p:nvPr/>
        </p:nvSpPr>
        <p:spPr>
          <a:xfrm>
            <a:off x="530352" y="713232"/>
            <a:ext cx="10972800" cy="228600"/>
          </a:xfrm>
          <a:prstGeom prst="rect">
            <a:avLst/>
          </a:prstGeom>
          <a:noFill/>
          <a:ln/>
        </p:spPr>
        <p:txBody>
          <a:bodyPr wrap="square" lIns="254" tIns="254" rIns="254" bIns="254" rtlCol="0" anchor="ctr">
            <a:normAutofit/>
          </a:bodyPr>
          <a:lstStyle/>
          <a:p>
            <a:pPr marL="0" indent="0">
              <a:buNone/>
            </a:pPr>
            <a:endParaRPr lang="en-US" sz="1150" dirty="0"/>
          </a:p>
        </p:txBody>
      </p:sp>
      <p:sp>
        <p:nvSpPr>
          <p:cNvPr id="4" name="Shape 2"/>
          <p:cNvSpPr/>
          <p:nvPr/>
        </p:nvSpPr>
        <p:spPr>
          <a:xfrm>
            <a:off x="502920" y="1188720"/>
            <a:ext cx="3560065" cy="1426464"/>
          </a:xfrm>
          <a:prstGeom prst="roundRect">
            <a:avLst>
              <a:gd name="adj" fmla="val 3937"/>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5" name="Shape 3"/>
          <p:cNvSpPr/>
          <p:nvPr/>
        </p:nvSpPr>
        <p:spPr>
          <a:xfrm>
            <a:off x="502920" y="1188720"/>
            <a:ext cx="73152" cy="1426464"/>
          </a:xfrm>
          <a:prstGeom prst="rect">
            <a:avLst/>
          </a:prstGeom>
          <a:solidFill>
            <a:srgbClr val="2F75B5"/>
          </a:solidFill>
          <a:ln w="12700">
            <a:solidFill>
              <a:srgbClr val="2F75B5"/>
            </a:solidFill>
            <a:prstDash val="solid"/>
          </a:ln>
        </p:spPr>
        <p:txBody>
          <a:bodyPr/>
          <a:lstStyle/>
          <a:p>
            <a:endParaRPr lang="en-US"/>
          </a:p>
        </p:txBody>
      </p:sp>
      <p:sp>
        <p:nvSpPr>
          <p:cNvPr id="6" name="Text 4"/>
          <p:cNvSpPr/>
          <p:nvPr/>
        </p:nvSpPr>
        <p:spPr>
          <a:xfrm>
            <a:off x="667512" y="1307592"/>
            <a:ext cx="3337560" cy="201168"/>
          </a:xfrm>
          <a:prstGeom prst="rect">
            <a:avLst/>
          </a:prstGeom>
          <a:noFill/>
          <a:ln/>
        </p:spPr>
        <p:txBody>
          <a:bodyPr wrap="square" lIns="254" tIns="254" rIns="254" bIns="254" rtlCol="0" anchor="ctr">
            <a:noAutofit/>
          </a:bodyPr>
          <a:lstStyle/>
          <a:p>
            <a:pPr marL="0" indent="0">
              <a:buNone/>
            </a:pPr>
            <a:r>
              <a:rPr lang="en-US" b="1" dirty="0" err="1">
                <a:solidFill>
                  <a:srgbClr val="2F75B5"/>
                </a:solidFill>
              </a:rPr>
              <a:t>Рухомий</a:t>
            </a:r>
            <a:r>
              <a:rPr lang="en-US" b="1" dirty="0">
                <a:solidFill>
                  <a:srgbClr val="2F75B5"/>
                </a:solidFill>
              </a:rPr>
              <a:t> </a:t>
            </a:r>
            <a:r>
              <a:rPr lang="en-US" b="1" dirty="0" err="1">
                <a:solidFill>
                  <a:srgbClr val="2F75B5"/>
                </a:solidFill>
              </a:rPr>
              <a:t>об'єкт</a:t>
            </a:r>
            <a:endParaRPr lang="en-US" dirty="0"/>
          </a:p>
        </p:txBody>
      </p:sp>
      <p:sp>
        <p:nvSpPr>
          <p:cNvPr id="7" name="Text 5"/>
          <p:cNvSpPr/>
          <p:nvPr/>
        </p:nvSpPr>
        <p:spPr>
          <a:xfrm>
            <a:off x="667512" y="1581912"/>
            <a:ext cx="3319272" cy="1005840"/>
          </a:xfrm>
          <a:prstGeom prst="rect">
            <a:avLst/>
          </a:prstGeom>
          <a:noFill/>
          <a:ln/>
        </p:spPr>
        <p:txBody>
          <a:bodyPr wrap="square" lIns="381" tIns="381" rIns="381" bIns="381" rtlCol="0" anchor="t">
            <a:noAutofit/>
          </a:bodyPr>
          <a:lstStyle/>
          <a:p>
            <a:pPr marL="0" indent="0">
              <a:buNone/>
            </a:pPr>
            <a:r>
              <a:rPr lang="en-US" sz="1600" dirty="0" err="1">
                <a:solidFill>
                  <a:srgbClr val="1F2937"/>
                </a:solidFill>
              </a:rPr>
              <a:t>Об'єкт</a:t>
            </a:r>
            <a:r>
              <a:rPr lang="en-US" sz="1600" dirty="0">
                <a:solidFill>
                  <a:srgbClr val="1F2937"/>
                </a:solidFill>
              </a:rPr>
              <a:t> відеосцени, положення якого змінюється відносно камери або </a:t>
            </a:r>
            <a:r>
              <a:rPr lang="en-US" sz="1600" dirty="0" err="1">
                <a:solidFill>
                  <a:srgbClr val="1F2937"/>
                </a:solidFill>
              </a:rPr>
              <a:t>інших</a:t>
            </a:r>
            <a:r>
              <a:rPr lang="en-US" sz="1600" dirty="0">
                <a:solidFill>
                  <a:srgbClr val="1F2937"/>
                </a:solidFill>
              </a:rPr>
              <a:t> </a:t>
            </a:r>
            <a:r>
              <a:rPr lang="en-US" sz="1600" dirty="0" err="1">
                <a:solidFill>
                  <a:srgbClr val="1F2937"/>
                </a:solidFill>
              </a:rPr>
              <a:t>об'єктів</a:t>
            </a:r>
            <a:r>
              <a:rPr lang="en-US" sz="1600" dirty="0">
                <a:solidFill>
                  <a:srgbClr val="1F2937"/>
                </a:solidFill>
              </a:rPr>
              <a:t> між послідовними кадрами.</a:t>
            </a:r>
            <a:endParaRPr lang="en-US" sz="1600" dirty="0"/>
          </a:p>
        </p:txBody>
      </p:sp>
      <p:sp>
        <p:nvSpPr>
          <p:cNvPr id="8" name="Shape 6"/>
          <p:cNvSpPr/>
          <p:nvPr/>
        </p:nvSpPr>
        <p:spPr>
          <a:xfrm>
            <a:off x="4315968" y="1188720"/>
            <a:ext cx="3611880" cy="1426464"/>
          </a:xfrm>
          <a:prstGeom prst="roundRect">
            <a:avLst>
              <a:gd name="adj" fmla="val 3937"/>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9" name="Shape 7"/>
          <p:cNvSpPr/>
          <p:nvPr/>
        </p:nvSpPr>
        <p:spPr>
          <a:xfrm>
            <a:off x="4315968" y="1188720"/>
            <a:ext cx="73152" cy="1426464"/>
          </a:xfrm>
          <a:prstGeom prst="rect">
            <a:avLst/>
          </a:prstGeom>
          <a:solidFill>
            <a:srgbClr val="0F766E"/>
          </a:solidFill>
          <a:ln w="12700">
            <a:solidFill>
              <a:srgbClr val="0F766E"/>
            </a:solidFill>
            <a:prstDash val="solid"/>
          </a:ln>
        </p:spPr>
        <p:txBody>
          <a:bodyPr/>
          <a:lstStyle/>
          <a:p>
            <a:endParaRPr lang="en-US"/>
          </a:p>
        </p:txBody>
      </p:sp>
      <p:sp>
        <p:nvSpPr>
          <p:cNvPr id="10" name="Text 8"/>
          <p:cNvSpPr/>
          <p:nvPr/>
        </p:nvSpPr>
        <p:spPr>
          <a:xfrm>
            <a:off x="4480560" y="1307592"/>
            <a:ext cx="3337560" cy="201168"/>
          </a:xfrm>
          <a:prstGeom prst="rect">
            <a:avLst/>
          </a:prstGeom>
          <a:noFill/>
          <a:ln/>
        </p:spPr>
        <p:txBody>
          <a:bodyPr wrap="square" lIns="254" tIns="254" rIns="254" bIns="254" rtlCol="0" anchor="ctr">
            <a:noAutofit/>
          </a:bodyPr>
          <a:lstStyle/>
          <a:p>
            <a:pPr marL="0" indent="0">
              <a:buNone/>
            </a:pPr>
            <a:r>
              <a:rPr lang="en-US" b="1" dirty="0" err="1">
                <a:solidFill>
                  <a:srgbClr val="0F766E"/>
                </a:solidFill>
              </a:rPr>
              <a:t>Динамічний</a:t>
            </a:r>
            <a:r>
              <a:rPr lang="en-US" b="1" dirty="0">
                <a:solidFill>
                  <a:srgbClr val="0F766E"/>
                </a:solidFill>
              </a:rPr>
              <a:t> </a:t>
            </a:r>
            <a:r>
              <a:rPr lang="en-US" b="1" dirty="0" err="1">
                <a:solidFill>
                  <a:srgbClr val="0F766E"/>
                </a:solidFill>
              </a:rPr>
              <a:t>об'єкт</a:t>
            </a:r>
            <a:endParaRPr lang="en-US" dirty="0"/>
          </a:p>
        </p:txBody>
      </p:sp>
      <p:sp>
        <p:nvSpPr>
          <p:cNvPr id="11" name="Text 9"/>
          <p:cNvSpPr/>
          <p:nvPr/>
        </p:nvSpPr>
        <p:spPr>
          <a:xfrm>
            <a:off x="4480560" y="1581912"/>
            <a:ext cx="3319272" cy="996696"/>
          </a:xfrm>
          <a:prstGeom prst="rect">
            <a:avLst/>
          </a:prstGeom>
          <a:noFill/>
          <a:ln/>
        </p:spPr>
        <p:txBody>
          <a:bodyPr wrap="square" lIns="381" tIns="381" rIns="381" bIns="381" rtlCol="0" anchor="t">
            <a:noAutofit/>
          </a:bodyPr>
          <a:lstStyle/>
          <a:p>
            <a:pPr marL="0" indent="0">
              <a:buNone/>
            </a:pPr>
            <a:r>
              <a:rPr lang="en-US" sz="1600" dirty="0" err="1">
                <a:solidFill>
                  <a:srgbClr val="1F2937"/>
                </a:solidFill>
              </a:rPr>
              <a:t>Рухомий</a:t>
            </a:r>
            <a:r>
              <a:rPr lang="en-US" sz="1600" dirty="0">
                <a:solidFill>
                  <a:srgbClr val="1F2937"/>
                </a:solidFill>
              </a:rPr>
              <a:t> </a:t>
            </a:r>
            <a:r>
              <a:rPr lang="en-US" sz="1600" dirty="0" err="1">
                <a:solidFill>
                  <a:srgbClr val="1F2937"/>
                </a:solidFill>
              </a:rPr>
              <a:t>об'єкт</a:t>
            </a:r>
            <a:r>
              <a:rPr lang="en-US" sz="1600" dirty="0">
                <a:solidFill>
                  <a:srgbClr val="1F2937"/>
                </a:solidFill>
              </a:rPr>
              <a:t>, стан якого змінюється в часі та описується просторовими, кінематичними і структурними параметрами.</a:t>
            </a:r>
            <a:endParaRPr lang="en-US" sz="1600" dirty="0"/>
          </a:p>
        </p:txBody>
      </p:sp>
      <p:sp>
        <p:nvSpPr>
          <p:cNvPr id="12" name="Shape 10"/>
          <p:cNvSpPr/>
          <p:nvPr/>
        </p:nvSpPr>
        <p:spPr>
          <a:xfrm>
            <a:off x="8129016" y="1188720"/>
            <a:ext cx="3611880" cy="1508760"/>
          </a:xfrm>
          <a:prstGeom prst="roundRect">
            <a:avLst>
              <a:gd name="adj" fmla="val 3937"/>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3" name="Shape 11"/>
          <p:cNvSpPr/>
          <p:nvPr/>
        </p:nvSpPr>
        <p:spPr>
          <a:xfrm>
            <a:off x="8129016" y="1188720"/>
            <a:ext cx="73152" cy="1463040"/>
          </a:xfrm>
          <a:prstGeom prst="rect">
            <a:avLst/>
          </a:prstGeom>
          <a:solidFill>
            <a:srgbClr val="C65911"/>
          </a:solidFill>
          <a:ln w="12700">
            <a:solidFill>
              <a:srgbClr val="C65911"/>
            </a:solidFill>
            <a:prstDash val="solid"/>
          </a:ln>
        </p:spPr>
        <p:txBody>
          <a:bodyPr/>
          <a:lstStyle/>
          <a:p>
            <a:endParaRPr lang="en-US"/>
          </a:p>
        </p:txBody>
      </p:sp>
      <p:sp>
        <p:nvSpPr>
          <p:cNvPr id="14" name="Text 12"/>
          <p:cNvSpPr/>
          <p:nvPr/>
        </p:nvSpPr>
        <p:spPr>
          <a:xfrm>
            <a:off x="8293608" y="1307592"/>
            <a:ext cx="3337560" cy="201168"/>
          </a:xfrm>
          <a:prstGeom prst="rect">
            <a:avLst/>
          </a:prstGeom>
          <a:noFill/>
          <a:ln/>
        </p:spPr>
        <p:txBody>
          <a:bodyPr wrap="square" lIns="254" tIns="254" rIns="254" bIns="254" rtlCol="0" anchor="ctr">
            <a:noAutofit/>
          </a:bodyPr>
          <a:lstStyle/>
          <a:p>
            <a:pPr marL="0" indent="0">
              <a:buNone/>
            </a:pPr>
            <a:r>
              <a:rPr lang="en-US" b="1" dirty="0" err="1">
                <a:solidFill>
                  <a:srgbClr val="C65911"/>
                </a:solidFill>
              </a:rPr>
              <a:t>Стан</a:t>
            </a:r>
            <a:r>
              <a:rPr lang="en-US" b="1" dirty="0">
                <a:solidFill>
                  <a:srgbClr val="C65911"/>
                </a:solidFill>
              </a:rPr>
              <a:t> </a:t>
            </a:r>
            <a:r>
              <a:rPr lang="en-US" b="1" dirty="0" err="1">
                <a:solidFill>
                  <a:srgbClr val="C65911"/>
                </a:solidFill>
              </a:rPr>
              <a:t>об'єкта</a:t>
            </a:r>
            <a:endParaRPr lang="en-US" dirty="0"/>
          </a:p>
        </p:txBody>
      </p:sp>
      <p:sp>
        <p:nvSpPr>
          <p:cNvPr id="15" name="Text 13"/>
          <p:cNvSpPr/>
          <p:nvPr/>
        </p:nvSpPr>
        <p:spPr>
          <a:xfrm>
            <a:off x="8293608" y="1581912"/>
            <a:ext cx="3319272" cy="1069848"/>
          </a:xfrm>
          <a:prstGeom prst="rect">
            <a:avLst/>
          </a:prstGeom>
          <a:noFill/>
          <a:ln/>
        </p:spPr>
        <p:txBody>
          <a:bodyPr wrap="square" lIns="381" tIns="381" rIns="381" bIns="381" rtlCol="0" anchor="t">
            <a:noAutofit/>
          </a:bodyPr>
          <a:lstStyle/>
          <a:p>
            <a:pPr marL="0" indent="0">
              <a:buNone/>
            </a:pPr>
            <a:r>
              <a:rPr lang="en-US" dirty="0">
                <a:solidFill>
                  <a:srgbClr val="1F2937"/>
                </a:solidFill>
              </a:rPr>
              <a:t>Сукупність параметрів, які в певний момент характеризують положення, рух, геометрію та візуальні </a:t>
            </a:r>
            <a:r>
              <a:rPr lang="en-US" dirty="0" err="1">
                <a:solidFill>
                  <a:srgbClr val="1F2937"/>
                </a:solidFill>
              </a:rPr>
              <a:t>властивості</a:t>
            </a:r>
            <a:r>
              <a:rPr lang="en-US" dirty="0">
                <a:solidFill>
                  <a:srgbClr val="1F2937"/>
                </a:solidFill>
              </a:rPr>
              <a:t> </a:t>
            </a:r>
            <a:r>
              <a:rPr lang="en-US" dirty="0" err="1">
                <a:solidFill>
                  <a:srgbClr val="1F2937"/>
                </a:solidFill>
              </a:rPr>
              <a:t>об'єкта</a:t>
            </a:r>
            <a:r>
              <a:rPr lang="en-US" dirty="0">
                <a:solidFill>
                  <a:srgbClr val="1F2937"/>
                </a:solidFill>
              </a:rPr>
              <a:t>.</a:t>
            </a:r>
            <a:endParaRPr lang="en-US" dirty="0"/>
          </a:p>
        </p:txBody>
      </p:sp>
      <p:sp>
        <p:nvSpPr>
          <p:cNvPr id="16" name="Shape 14"/>
          <p:cNvSpPr/>
          <p:nvPr/>
        </p:nvSpPr>
        <p:spPr>
          <a:xfrm>
            <a:off x="502920" y="2697480"/>
            <a:ext cx="3560065" cy="1353312"/>
          </a:xfrm>
          <a:prstGeom prst="roundRect">
            <a:avLst>
              <a:gd name="adj" fmla="val 3937"/>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7" name="Shape 15"/>
          <p:cNvSpPr/>
          <p:nvPr/>
        </p:nvSpPr>
        <p:spPr>
          <a:xfrm>
            <a:off x="502920" y="2697480"/>
            <a:ext cx="73152" cy="1353312"/>
          </a:xfrm>
          <a:prstGeom prst="rect">
            <a:avLst/>
          </a:prstGeom>
          <a:solidFill>
            <a:srgbClr val="2F75B5"/>
          </a:solidFill>
          <a:ln w="12700">
            <a:solidFill>
              <a:srgbClr val="2F75B5"/>
            </a:solidFill>
            <a:prstDash val="solid"/>
          </a:ln>
        </p:spPr>
        <p:txBody>
          <a:bodyPr/>
          <a:lstStyle/>
          <a:p>
            <a:endParaRPr lang="en-US"/>
          </a:p>
        </p:txBody>
      </p:sp>
      <p:sp>
        <p:nvSpPr>
          <p:cNvPr id="18" name="Text 16"/>
          <p:cNvSpPr/>
          <p:nvPr/>
        </p:nvSpPr>
        <p:spPr>
          <a:xfrm>
            <a:off x="667512" y="2816352"/>
            <a:ext cx="3337560" cy="201168"/>
          </a:xfrm>
          <a:prstGeom prst="rect">
            <a:avLst/>
          </a:prstGeom>
          <a:noFill/>
          <a:ln/>
        </p:spPr>
        <p:txBody>
          <a:bodyPr wrap="square" lIns="254" tIns="254" rIns="254" bIns="254" rtlCol="0" anchor="ctr">
            <a:noAutofit/>
          </a:bodyPr>
          <a:lstStyle/>
          <a:p>
            <a:pPr marL="0" indent="0">
              <a:buNone/>
            </a:pPr>
            <a:r>
              <a:rPr lang="en-US" b="1" dirty="0">
                <a:solidFill>
                  <a:srgbClr val="2F75B5"/>
                </a:solidFill>
              </a:rPr>
              <a:t>Просторові параметри</a:t>
            </a:r>
            <a:endParaRPr lang="en-US" dirty="0"/>
          </a:p>
        </p:txBody>
      </p:sp>
      <p:sp>
        <p:nvSpPr>
          <p:cNvPr id="19" name="Text 17"/>
          <p:cNvSpPr/>
          <p:nvPr/>
        </p:nvSpPr>
        <p:spPr>
          <a:xfrm>
            <a:off x="667512" y="3090672"/>
            <a:ext cx="3319272" cy="960120"/>
          </a:xfrm>
          <a:prstGeom prst="rect">
            <a:avLst/>
          </a:prstGeom>
          <a:noFill/>
          <a:ln/>
        </p:spPr>
        <p:txBody>
          <a:bodyPr wrap="square" lIns="381" tIns="381" rIns="381" bIns="381" rtlCol="0" anchor="t">
            <a:noAutofit/>
          </a:bodyPr>
          <a:lstStyle/>
          <a:p>
            <a:pPr marL="0" indent="0">
              <a:buNone/>
            </a:pPr>
            <a:r>
              <a:rPr lang="en-US" sz="2000" dirty="0">
                <a:solidFill>
                  <a:srgbClr val="1F2937"/>
                </a:solidFill>
              </a:rPr>
              <a:t>Координати x, y, z, глибина, </a:t>
            </a:r>
            <a:r>
              <a:rPr lang="en-US" sz="2000" dirty="0" err="1">
                <a:solidFill>
                  <a:srgbClr val="1F2937"/>
                </a:solidFill>
              </a:rPr>
              <a:t>розміри</a:t>
            </a:r>
            <a:r>
              <a:rPr lang="en-US" sz="2000" dirty="0">
                <a:solidFill>
                  <a:srgbClr val="1F2937"/>
                </a:solidFill>
              </a:rPr>
              <a:t> </a:t>
            </a:r>
            <a:r>
              <a:rPr lang="en-US" sz="2000" dirty="0" err="1">
                <a:solidFill>
                  <a:srgbClr val="1F2937"/>
                </a:solidFill>
              </a:rPr>
              <a:t>об'єкта</a:t>
            </a:r>
            <a:r>
              <a:rPr lang="en-US" sz="2000" dirty="0">
                <a:solidFill>
                  <a:srgbClr val="1F2937"/>
                </a:solidFill>
              </a:rPr>
              <a:t> та орієнтація в просторі.</a:t>
            </a:r>
            <a:endParaRPr lang="en-US" sz="2000" dirty="0"/>
          </a:p>
        </p:txBody>
      </p:sp>
      <p:sp>
        <p:nvSpPr>
          <p:cNvPr id="20" name="Shape 18"/>
          <p:cNvSpPr/>
          <p:nvPr/>
        </p:nvSpPr>
        <p:spPr>
          <a:xfrm>
            <a:off x="4315968" y="2697480"/>
            <a:ext cx="3611880" cy="1353312"/>
          </a:xfrm>
          <a:prstGeom prst="roundRect">
            <a:avLst>
              <a:gd name="adj" fmla="val 3937"/>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21" name="Shape 19"/>
          <p:cNvSpPr/>
          <p:nvPr/>
        </p:nvSpPr>
        <p:spPr>
          <a:xfrm>
            <a:off x="4315968" y="2697480"/>
            <a:ext cx="73152" cy="1353312"/>
          </a:xfrm>
          <a:prstGeom prst="rect">
            <a:avLst/>
          </a:prstGeom>
          <a:solidFill>
            <a:srgbClr val="2E7D32"/>
          </a:solidFill>
          <a:ln w="12700">
            <a:solidFill>
              <a:srgbClr val="2E7D32"/>
            </a:solidFill>
            <a:prstDash val="solid"/>
          </a:ln>
        </p:spPr>
        <p:txBody>
          <a:bodyPr/>
          <a:lstStyle/>
          <a:p>
            <a:endParaRPr lang="en-US"/>
          </a:p>
        </p:txBody>
      </p:sp>
      <p:sp>
        <p:nvSpPr>
          <p:cNvPr id="22" name="Text 20"/>
          <p:cNvSpPr/>
          <p:nvPr/>
        </p:nvSpPr>
        <p:spPr>
          <a:xfrm>
            <a:off x="4480560" y="2816352"/>
            <a:ext cx="3337560" cy="201168"/>
          </a:xfrm>
          <a:prstGeom prst="rect">
            <a:avLst/>
          </a:prstGeom>
          <a:noFill/>
          <a:ln/>
        </p:spPr>
        <p:txBody>
          <a:bodyPr wrap="square" lIns="254" tIns="254" rIns="254" bIns="254" rtlCol="0" anchor="ctr">
            <a:noAutofit/>
          </a:bodyPr>
          <a:lstStyle/>
          <a:p>
            <a:pPr marL="0" indent="0">
              <a:buNone/>
            </a:pPr>
            <a:r>
              <a:rPr lang="en-US" b="1" dirty="0">
                <a:solidFill>
                  <a:srgbClr val="2E7D32"/>
                </a:solidFill>
              </a:rPr>
              <a:t>Кінематичні параметри</a:t>
            </a:r>
            <a:endParaRPr lang="en-US" dirty="0"/>
          </a:p>
        </p:txBody>
      </p:sp>
      <p:sp>
        <p:nvSpPr>
          <p:cNvPr id="23" name="Text 21"/>
          <p:cNvSpPr/>
          <p:nvPr/>
        </p:nvSpPr>
        <p:spPr>
          <a:xfrm>
            <a:off x="4480560" y="3090672"/>
            <a:ext cx="3319272" cy="886968"/>
          </a:xfrm>
          <a:prstGeom prst="rect">
            <a:avLst/>
          </a:prstGeom>
          <a:noFill/>
          <a:ln/>
        </p:spPr>
        <p:txBody>
          <a:bodyPr wrap="square" lIns="381" tIns="381" rIns="381" bIns="381" rtlCol="0" anchor="t">
            <a:noAutofit/>
          </a:bodyPr>
          <a:lstStyle/>
          <a:p>
            <a:pPr marL="0" indent="0">
              <a:buNone/>
            </a:pPr>
            <a:r>
              <a:rPr lang="en-US" dirty="0">
                <a:solidFill>
                  <a:srgbClr val="1F2937"/>
                </a:solidFill>
              </a:rPr>
              <a:t>Швидкість, прискорення, напрямок руху та траєкторія, що описують зміну положення в часі.</a:t>
            </a:r>
            <a:endParaRPr lang="en-US" dirty="0"/>
          </a:p>
        </p:txBody>
      </p:sp>
      <p:sp>
        <p:nvSpPr>
          <p:cNvPr id="24" name="Shape 22"/>
          <p:cNvSpPr/>
          <p:nvPr/>
        </p:nvSpPr>
        <p:spPr>
          <a:xfrm>
            <a:off x="8129016" y="2697480"/>
            <a:ext cx="3611880" cy="1353312"/>
          </a:xfrm>
          <a:prstGeom prst="roundRect">
            <a:avLst>
              <a:gd name="adj" fmla="val 3937"/>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25" name="Shape 23"/>
          <p:cNvSpPr/>
          <p:nvPr/>
        </p:nvSpPr>
        <p:spPr>
          <a:xfrm>
            <a:off x="8129016" y="2697480"/>
            <a:ext cx="73152" cy="1353312"/>
          </a:xfrm>
          <a:prstGeom prst="rect">
            <a:avLst/>
          </a:prstGeom>
          <a:solidFill>
            <a:srgbClr val="A23B3B"/>
          </a:solidFill>
          <a:ln w="12700">
            <a:solidFill>
              <a:srgbClr val="A23B3B"/>
            </a:solidFill>
            <a:prstDash val="solid"/>
          </a:ln>
        </p:spPr>
        <p:txBody>
          <a:bodyPr/>
          <a:lstStyle/>
          <a:p>
            <a:endParaRPr lang="en-US"/>
          </a:p>
        </p:txBody>
      </p:sp>
      <p:sp>
        <p:nvSpPr>
          <p:cNvPr id="26" name="Text 24"/>
          <p:cNvSpPr/>
          <p:nvPr/>
        </p:nvSpPr>
        <p:spPr>
          <a:xfrm>
            <a:off x="8293608" y="2816352"/>
            <a:ext cx="3337560" cy="201168"/>
          </a:xfrm>
          <a:prstGeom prst="rect">
            <a:avLst/>
          </a:prstGeom>
          <a:noFill/>
          <a:ln/>
        </p:spPr>
        <p:txBody>
          <a:bodyPr wrap="square" lIns="254" tIns="254" rIns="254" bIns="254" rtlCol="0" anchor="ctr">
            <a:noAutofit/>
          </a:bodyPr>
          <a:lstStyle/>
          <a:p>
            <a:pPr marL="0" indent="0">
              <a:buNone/>
            </a:pPr>
            <a:r>
              <a:rPr lang="en-US" b="1" dirty="0">
                <a:solidFill>
                  <a:srgbClr val="A23B3B"/>
                </a:solidFill>
              </a:rPr>
              <a:t>Структурні параметри</a:t>
            </a:r>
            <a:endParaRPr lang="en-US" dirty="0"/>
          </a:p>
        </p:txBody>
      </p:sp>
      <p:sp>
        <p:nvSpPr>
          <p:cNvPr id="27" name="Text 25"/>
          <p:cNvSpPr/>
          <p:nvPr/>
        </p:nvSpPr>
        <p:spPr>
          <a:xfrm>
            <a:off x="8293608" y="3090672"/>
            <a:ext cx="3319272" cy="685800"/>
          </a:xfrm>
          <a:prstGeom prst="rect">
            <a:avLst/>
          </a:prstGeom>
          <a:noFill/>
          <a:ln/>
        </p:spPr>
        <p:txBody>
          <a:bodyPr wrap="square" lIns="381" tIns="381" rIns="381" bIns="381" rtlCol="0" anchor="t">
            <a:noAutofit/>
          </a:bodyPr>
          <a:lstStyle/>
          <a:p>
            <a:pPr marL="0" indent="0">
              <a:buNone/>
            </a:pPr>
            <a:r>
              <a:rPr lang="en-US" sz="2000" dirty="0">
                <a:solidFill>
                  <a:srgbClr val="1F2937"/>
                </a:solidFill>
              </a:rPr>
              <a:t>Контур, площа, розміри, </a:t>
            </a:r>
            <a:r>
              <a:rPr lang="en-US" sz="2000" dirty="0" err="1">
                <a:solidFill>
                  <a:srgbClr val="1F2937"/>
                </a:solidFill>
              </a:rPr>
              <a:t>клас</a:t>
            </a:r>
            <a:r>
              <a:rPr lang="en-US" sz="2000" dirty="0">
                <a:solidFill>
                  <a:srgbClr val="1F2937"/>
                </a:solidFill>
              </a:rPr>
              <a:t> </a:t>
            </a:r>
            <a:r>
              <a:rPr lang="en-US" sz="2000" dirty="0" err="1">
                <a:solidFill>
                  <a:srgbClr val="1F2937"/>
                </a:solidFill>
              </a:rPr>
              <a:t>об'єкта</a:t>
            </a:r>
            <a:r>
              <a:rPr lang="en-US" sz="2000" dirty="0">
                <a:solidFill>
                  <a:srgbClr val="1F2937"/>
                </a:solidFill>
              </a:rPr>
              <a:t> та ознаки форми у відеокадрі.</a:t>
            </a:r>
            <a:endParaRPr lang="en-US" sz="2000" dirty="0"/>
          </a:p>
        </p:txBody>
      </p:sp>
      <p:sp>
        <p:nvSpPr>
          <p:cNvPr id="28" name="Shape 26"/>
          <p:cNvSpPr/>
          <p:nvPr/>
        </p:nvSpPr>
        <p:spPr>
          <a:xfrm>
            <a:off x="685800" y="4251960"/>
            <a:ext cx="10835640" cy="1508760"/>
          </a:xfrm>
          <a:prstGeom prst="roundRect">
            <a:avLst>
              <a:gd name="adj" fmla="val 7619"/>
            </a:avLst>
          </a:prstGeom>
          <a:solidFill>
            <a:srgbClr val="EAF2FB"/>
          </a:solidFill>
          <a:ln w="12700">
            <a:solidFill>
              <a:srgbClr val="BFD4EA"/>
            </a:solidFill>
            <a:prstDash val="solid"/>
          </a:ln>
        </p:spPr>
        <p:txBody>
          <a:bodyPr/>
          <a:lstStyle/>
          <a:p>
            <a:endParaRPr lang="en-US"/>
          </a:p>
        </p:txBody>
      </p:sp>
      <p:sp>
        <p:nvSpPr>
          <p:cNvPr id="30" name="Text 28"/>
          <p:cNvSpPr/>
          <p:nvPr/>
        </p:nvSpPr>
        <p:spPr>
          <a:xfrm>
            <a:off x="914400" y="4645152"/>
            <a:ext cx="10241280" cy="256032"/>
          </a:xfrm>
          <a:prstGeom prst="rect">
            <a:avLst/>
          </a:prstGeom>
          <a:noFill/>
          <a:ln/>
        </p:spPr>
        <p:txBody>
          <a:bodyPr wrap="square" lIns="254" tIns="254" rIns="254" bIns="254" rtlCol="0" anchor="ctr">
            <a:noAutofit/>
          </a:bodyPr>
          <a:lstStyle/>
          <a:p>
            <a:pPr marL="0" indent="0">
              <a:buNone/>
            </a:pPr>
            <a:r>
              <a:rPr lang="en-US" sz="1600" b="1" dirty="0" err="1">
                <a:solidFill>
                  <a:srgbClr val="1F2937"/>
                </a:solidFill>
              </a:rPr>
              <a:t>Об'єктом</a:t>
            </a:r>
            <a:r>
              <a:rPr lang="en-US" sz="1600" b="1" dirty="0">
                <a:solidFill>
                  <a:srgbClr val="1F2937"/>
                </a:solidFill>
              </a:rPr>
              <a:t> відеоаналізу є </a:t>
            </a:r>
            <a:r>
              <a:rPr lang="en-US" sz="1600" b="1" dirty="0" err="1">
                <a:solidFill>
                  <a:srgbClr val="1F2937"/>
                </a:solidFill>
              </a:rPr>
              <a:t>рухомий</a:t>
            </a:r>
            <a:r>
              <a:rPr lang="en-US" sz="1600" b="1" dirty="0">
                <a:solidFill>
                  <a:srgbClr val="1F2937"/>
                </a:solidFill>
              </a:rPr>
              <a:t> </a:t>
            </a:r>
            <a:r>
              <a:rPr lang="en-US" sz="1600" b="1" dirty="0" err="1">
                <a:solidFill>
                  <a:srgbClr val="1F2937"/>
                </a:solidFill>
              </a:rPr>
              <a:t>об'єкт</a:t>
            </a:r>
            <a:r>
              <a:rPr lang="en-US" sz="1600" b="1" dirty="0">
                <a:solidFill>
                  <a:srgbClr val="1F2937"/>
                </a:solidFill>
              </a:rPr>
              <a:t>, а предметом дистанційної ідентифікації — параметри його динамічного стану.</a:t>
            </a:r>
            <a:endParaRPr lang="en-US" sz="1600" dirty="0"/>
          </a:p>
        </p:txBody>
      </p:sp>
      <p:sp>
        <p:nvSpPr>
          <p:cNvPr id="31" name="Text 29"/>
          <p:cNvSpPr/>
          <p:nvPr/>
        </p:nvSpPr>
        <p:spPr>
          <a:xfrm>
            <a:off x="914400" y="5129784"/>
            <a:ext cx="10241280" cy="164592"/>
          </a:xfrm>
          <a:prstGeom prst="rect">
            <a:avLst/>
          </a:prstGeom>
          <a:noFill/>
          <a:ln/>
        </p:spPr>
        <p:txBody>
          <a:bodyPr wrap="square" lIns="254" tIns="254" rIns="254" bIns="254" rtlCol="0" anchor="ctr">
            <a:noAutofit/>
          </a:bodyPr>
          <a:lstStyle/>
          <a:p>
            <a:pPr marL="0" indent="0">
              <a:buNone/>
            </a:pPr>
            <a:endParaRPr lang="en-US" sz="1600" dirty="0"/>
          </a:p>
        </p:txBody>
      </p:sp>
      <p:sp>
        <p:nvSpPr>
          <p:cNvPr id="33" name="Місце для номера слайда 2">
            <a:extLst>
              <a:ext uri="{FF2B5EF4-FFF2-40B4-BE49-F238E27FC236}">
                <a16:creationId xmlns:a16="http://schemas.microsoft.com/office/drawing/2014/main" id="{41FF7E3F-C2BA-8C31-8540-3543EA65B139}"/>
              </a:ext>
            </a:extLst>
          </p:cNvPr>
          <p:cNvSpPr txBox="1">
            <a:spLocks/>
          </p:cNvSpPr>
          <p:nvPr/>
        </p:nvSpPr>
        <p:spPr>
          <a:xfrm>
            <a:off x="11184188" y="6356350"/>
            <a:ext cx="876748" cy="365125"/>
          </a:xfrm>
          <a:prstGeom prst="foldedCorner">
            <a:avLst/>
          </a:prstGeom>
        </p:spPr>
        <p:style>
          <a:lnRef idx="2">
            <a:schemeClr val="dk1"/>
          </a:lnRef>
          <a:fillRef idx="1">
            <a:schemeClr val="lt1"/>
          </a:fillRef>
          <a:effectRef idx="0">
            <a:schemeClr val="dk1"/>
          </a:effectRef>
          <a:fontRef idx="minor">
            <a:schemeClr val="dk1"/>
          </a:fontRef>
        </p:style>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pPr/>
              <a:t>55</a:t>
            </a:fld>
            <a:endParaRPr lang="en-US" dirty="0"/>
          </a:p>
        </p:txBody>
      </p:sp>
    </p:spTree>
    <p:extLst>
      <p:ext uri="{BB962C8B-B14F-4D97-AF65-F5344CB8AC3E}">
        <p14:creationId xmlns:p14="http://schemas.microsoft.com/office/powerpoint/2010/main" val="26001544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02920" y="320040"/>
            <a:ext cx="11155680" cy="347472"/>
          </a:xfrm>
          <a:prstGeom prst="rect">
            <a:avLst/>
          </a:prstGeom>
          <a:noFill/>
          <a:ln/>
        </p:spPr>
        <p:txBody>
          <a:bodyPr wrap="square" lIns="381" tIns="381" rIns="381" bIns="381" rtlCol="0" anchor="ctr">
            <a:normAutofit lnSpcReduction="10000"/>
          </a:bodyPr>
          <a:lstStyle/>
          <a:p>
            <a:pPr marL="0" indent="0">
              <a:buNone/>
            </a:pPr>
            <a:r>
              <a:rPr lang="en-US" sz="2500" b="1" dirty="0">
                <a:solidFill>
                  <a:srgbClr val="1F4E79"/>
                </a:solidFill>
              </a:rPr>
              <a:t>Понятійний апарат: модель, метод, алгоритм, технологія</a:t>
            </a:r>
            <a:endParaRPr lang="en-US" sz="2500" dirty="0"/>
          </a:p>
        </p:txBody>
      </p:sp>
      <p:sp>
        <p:nvSpPr>
          <p:cNvPr id="3" name="Text 1"/>
          <p:cNvSpPr/>
          <p:nvPr/>
        </p:nvSpPr>
        <p:spPr>
          <a:xfrm>
            <a:off x="530352" y="713232"/>
            <a:ext cx="10972800" cy="228600"/>
          </a:xfrm>
          <a:prstGeom prst="rect">
            <a:avLst/>
          </a:prstGeom>
          <a:noFill/>
          <a:ln/>
        </p:spPr>
        <p:txBody>
          <a:bodyPr wrap="square" lIns="254" tIns="254" rIns="254" bIns="254" rtlCol="0" anchor="ctr">
            <a:normAutofit/>
          </a:bodyPr>
          <a:lstStyle/>
          <a:p>
            <a:pPr marL="0" indent="0">
              <a:buNone/>
            </a:pPr>
            <a:endParaRPr lang="en-US" sz="1150" dirty="0"/>
          </a:p>
        </p:txBody>
      </p:sp>
      <p:sp>
        <p:nvSpPr>
          <p:cNvPr id="4" name="Shape 2"/>
          <p:cNvSpPr/>
          <p:nvPr/>
        </p:nvSpPr>
        <p:spPr>
          <a:xfrm>
            <a:off x="576072" y="1115567"/>
            <a:ext cx="2097024" cy="1600200"/>
          </a:xfrm>
          <a:prstGeom prst="roundRect">
            <a:avLst>
              <a:gd name="adj" fmla="val 3448"/>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5" name="Shape 3"/>
          <p:cNvSpPr/>
          <p:nvPr/>
        </p:nvSpPr>
        <p:spPr>
          <a:xfrm>
            <a:off x="502920" y="1115568"/>
            <a:ext cx="54864" cy="1600198"/>
          </a:xfrm>
          <a:prstGeom prst="rect">
            <a:avLst/>
          </a:prstGeom>
          <a:solidFill>
            <a:srgbClr val="1F4E79"/>
          </a:solidFill>
          <a:ln w="12700">
            <a:solidFill>
              <a:srgbClr val="1F4E79"/>
            </a:solidFill>
            <a:prstDash val="solid"/>
          </a:ln>
        </p:spPr>
        <p:txBody>
          <a:bodyPr/>
          <a:lstStyle/>
          <a:p>
            <a:endParaRPr lang="en-US"/>
          </a:p>
        </p:txBody>
      </p:sp>
      <p:sp>
        <p:nvSpPr>
          <p:cNvPr id="6" name="Text 4"/>
          <p:cNvSpPr/>
          <p:nvPr/>
        </p:nvSpPr>
        <p:spPr>
          <a:xfrm>
            <a:off x="667512" y="1234440"/>
            <a:ext cx="1874520" cy="201168"/>
          </a:xfrm>
          <a:prstGeom prst="rect">
            <a:avLst/>
          </a:prstGeom>
          <a:noFill/>
          <a:ln/>
        </p:spPr>
        <p:txBody>
          <a:bodyPr wrap="square" lIns="254" tIns="254" rIns="254" bIns="254" rtlCol="0" anchor="ctr">
            <a:noAutofit/>
          </a:bodyPr>
          <a:lstStyle/>
          <a:p>
            <a:pPr marL="0" indent="0">
              <a:buNone/>
            </a:pPr>
            <a:r>
              <a:rPr lang="en-US" sz="1600" b="1" dirty="0">
                <a:solidFill>
                  <a:srgbClr val="1F4E79"/>
                </a:solidFill>
              </a:rPr>
              <a:t>Модель</a:t>
            </a:r>
            <a:endParaRPr lang="en-US" sz="1600" dirty="0"/>
          </a:p>
        </p:txBody>
      </p:sp>
      <p:sp>
        <p:nvSpPr>
          <p:cNvPr id="7" name="Text 5"/>
          <p:cNvSpPr/>
          <p:nvPr/>
        </p:nvSpPr>
        <p:spPr>
          <a:xfrm>
            <a:off x="667512" y="1508759"/>
            <a:ext cx="1856232" cy="1069853"/>
          </a:xfrm>
          <a:prstGeom prst="rect">
            <a:avLst/>
          </a:prstGeom>
          <a:noFill/>
          <a:ln/>
        </p:spPr>
        <p:txBody>
          <a:bodyPr wrap="square" lIns="381" tIns="381" rIns="381" bIns="381" rtlCol="0" anchor="t">
            <a:noAutofit/>
          </a:bodyPr>
          <a:lstStyle/>
          <a:p>
            <a:pPr marL="0" indent="0">
              <a:buNone/>
            </a:pPr>
            <a:r>
              <a:rPr lang="en-US" sz="1400" dirty="0">
                <a:solidFill>
                  <a:srgbClr val="1F2937"/>
                </a:solidFill>
              </a:rPr>
              <a:t>Формалізоване </a:t>
            </a:r>
            <a:r>
              <a:rPr lang="en-US" sz="1400" dirty="0" err="1">
                <a:solidFill>
                  <a:srgbClr val="1F2937"/>
                </a:solidFill>
              </a:rPr>
              <a:t>представлення</a:t>
            </a:r>
            <a:r>
              <a:rPr lang="en-US" sz="1400" dirty="0">
                <a:solidFill>
                  <a:srgbClr val="1F2937"/>
                </a:solidFill>
              </a:rPr>
              <a:t> </a:t>
            </a:r>
            <a:r>
              <a:rPr lang="en-US" sz="1400" dirty="0" err="1">
                <a:solidFill>
                  <a:srgbClr val="1F2937"/>
                </a:solidFill>
              </a:rPr>
              <a:t>об'єкта</a:t>
            </a:r>
            <a:r>
              <a:rPr lang="en-US" sz="1400" dirty="0">
                <a:solidFill>
                  <a:srgbClr val="1F2937"/>
                </a:solidFill>
              </a:rPr>
              <a:t>, процесу або залежностей між параметрами.</a:t>
            </a:r>
            <a:endParaRPr lang="en-US" sz="1400" dirty="0"/>
          </a:p>
        </p:txBody>
      </p:sp>
      <p:sp>
        <p:nvSpPr>
          <p:cNvPr id="8" name="Shape 6"/>
          <p:cNvSpPr/>
          <p:nvPr/>
        </p:nvSpPr>
        <p:spPr>
          <a:xfrm>
            <a:off x="2868166" y="1115567"/>
            <a:ext cx="2136652" cy="1600199"/>
          </a:xfrm>
          <a:prstGeom prst="roundRect">
            <a:avLst>
              <a:gd name="adj" fmla="val 3448"/>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9" name="Shape 7"/>
          <p:cNvSpPr/>
          <p:nvPr/>
        </p:nvSpPr>
        <p:spPr>
          <a:xfrm>
            <a:off x="2834640" y="1115567"/>
            <a:ext cx="54864" cy="1600185"/>
          </a:xfrm>
          <a:prstGeom prst="rect">
            <a:avLst/>
          </a:prstGeom>
          <a:solidFill>
            <a:srgbClr val="2F75B5"/>
          </a:solidFill>
          <a:ln w="12700">
            <a:solidFill>
              <a:srgbClr val="2F75B5"/>
            </a:solidFill>
            <a:prstDash val="solid"/>
          </a:ln>
        </p:spPr>
        <p:txBody>
          <a:bodyPr/>
          <a:lstStyle/>
          <a:p>
            <a:endParaRPr lang="en-US"/>
          </a:p>
        </p:txBody>
      </p:sp>
      <p:sp>
        <p:nvSpPr>
          <p:cNvPr id="10" name="Text 8"/>
          <p:cNvSpPr/>
          <p:nvPr/>
        </p:nvSpPr>
        <p:spPr>
          <a:xfrm>
            <a:off x="2999232" y="1234440"/>
            <a:ext cx="1874520" cy="201168"/>
          </a:xfrm>
          <a:prstGeom prst="rect">
            <a:avLst/>
          </a:prstGeom>
          <a:noFill/>
          <a:ln/>
        </p:spPr>
        <p:txBody>
          <a:bodyPr wrap="square" lIns="254" tIns="254" rIns="254" bIns="254" rtlCol="0" anchor="ctr">
            <a:noAutofit/>
          </a:bodyPr>
          <a:lstStyle/>
          <a:p>
            <a:pPr marL="0" indent="0">
              <a:buNone/>
            </a:pPr>
            <a:r>
              <a:rPr lang="en-US" sz="1600" b="1" dirty="0">
                <a:solidFill>
                  <a:srgbClr val="2F75B5"/>
                </a:solidFill>
              </a:rPr>
              <a:t>Метод</a:t>
            </a:r>
            <a:endParaRPr lang="en-US" sz="1600" dirty="0"/>
          </a:p>
        </p:txBody>
      </p:sp>
      <p:sp>
        <p:nvSpPr>
          <p:cNvPr id="11" name="Text 9"/>
          <p:cNvSpPr/>
          <p:nvPr/>
        </p:nvSpPr>
        <p:spPr>
          <a:xfrm>
            <a:off x="2999232" y="1435609"/>
            <a:ext cx="1856232" cy="1014982"/>
          </a:xfrm>
          <a:prstGeom prst="rect">
            <a:avLst/>
          </a:prstGeom>
          <a:noFill/>
          <a:ln/>
        </p:spPr>
        <p:txBody>
          <a:bodyPr wrap="square" lIns="381" tIns="381" rIns="381" bIns="381" rtlCol="0" anchor="t">
            <a:noAutofit/>
          </a:bodyPr>
          <a:lstStyle/>
          <a:p>
            <a:pPr marL="0" indent="0">
              <a:buNone/>
            </a:pPr>
            <a:r>
              <a:rPr lang="en-US" sz="1600" dirty="0">
                <a:solidFill>
                  <a:srgbClr val="1F2937"/>
                </a:solidFill>
              </a:rPr>
              <a:t>Теоретично обґрунтований </a:t>
            </a:r>
            <a:r>
              <a:rPr lang="en-US" sz="1600" dirty="0" err="1">
                <a:solidFill>
                  <a:srgbClr val="1F2937"/>
                </a:solidFill>
              </a:rPr>
              <a:t>спосіб</a:t>
            </a:r>
            <a:r>
              <a:rPr lang="en-US" sz="1600" dirty="0">
                <a:solidFill>
                  <a:srgbClr val="1F2937"/>
                </a:solidFill>
              </a:rPr>
              <a:t> </a:t>
            </a:r>
            <a:r>
              <a:rPr lang="en-US" sz="1600" dirty="0" err="1">
                <a:solidFill>
                  <a:srgbClr val="1F2937"/>
                </a:solidFill>
              </a:rPr>
              <a:t>розв'язання</a:t>
            </a:r>
            <a:r>
              <a:rPr lang="en-US" sz="1600" dirty="0">
                <a:solidFill>
                  <a:srgbClr val="1F2937"/>
                </a:solidFill>
              </a:rPr>
              <a:t> певного класу задач.</a:t>
            </a:r>
            <a:endParaRPr lang="en-US" sz="1600" dirty="0"/>
          </a:p>
        </p:txBody>
      </p:sp>
      <p:sp>
        <p:nvSpPr>
          <p:cNvPr id="12" name="Shape 10"/>
          <p:cNvSpPr/>
          <p:nvPr/>
        </p:nvSpPr>
        <p:spPr>
          <a:xfrm>
            <a:off x="5199886" y="1115567"/>
            <a:ext cx="2136652" cy="1600200"/>
          </a:xfrm>
          <a:prstGeom prst="roundRect">
            <a:avLst>
              <a:gd name="adj" fmla="val 3448"/>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3" name="Shape 11"/>
          <p:cNvSpPr/>
          <p:nvPr/>
        </p:nvSpPr>
        <p:spPr>
          <a:xfrm>
            <a:off x="5166360" y="1115568"/>
            <a:ext cx="45719" cy="1600184"/>
          </a:xfrm>
          <a:prstGeom prst="rect">
            <a:avLst/>
          </a:prstGeom>
          <a:solidFill>
            <a:srgbClr val="0F766E"/>
          </a:solidFill>
          <a:ln w="12700">
            <a:solidFill>
              <a:srgbClr val="0F766E"/>
            </a:solidFill>
            <a:prstDash val="solid"/>
          </a:ln>
        </p:spPr>
        <p:txBody>
          <a:bodyPr/>
          <a:lstStyle/>
          <a:p>
            <a:endParaRPr lang="en-US"/>
          </a:p>
        </p:txBody>
      </p:sp>
      <p:sp>
        <p:nvSpPr>
          <p:cNvPr id="14" name="Text 12"/>
          <p:cNvSpPr/>
          <p:nvPr/>
        </p:nvSpPr>
        <p:spPr>
          <a:xfrm>
            <a:off x="5330952" y="1234440"/>
            <a:ext cx="1874520" cy="201168"/>
          </a:xfrm>
          <a:prstGeom prst="rect">
            <a:avLst/>
          </a:prstGeom>
          <a:noFill/>
          <a:ln/>
        </p:spPr>
        <p:txBody>
          <a:bodyPr wrap="square" lIns="254" tIns="254" rIns="254" bIns="254" rtlCol="0" anchor="ctr">
            <a:noAutofit/>
          </a:bodyPr>
          <a:lstStyle/>
          <a:p>
            <a:pPr marL="0" indent="0">
              <a:buNone/>
            </a:pPr>
            <a:r>
              <a:rPr lang="en-US" sz="1600" b="1" dirty="0">
                <a:solidFill>
                  <a:srgbClr val="0F766E"/>
                </a:solidFill>
              </a:rPr>
              <a:t>Алгоритм</a:t>
            </a:r>
            <a:endParaRPr lang="en-US" sz="1600" dirty="0"/>
          </a:p>
        </p:txBody>
      </p:sp>
      <p:sp>
        <p:nvSpPr>
          <p:cNvPr id="15" name="Text 13"/>
          <p:cNvSpPr/>
          <p:nvPr/>
        </p:nvSpPr>
        <p:spPr>
          <a:xfrm>
            <a:off x="5330952" y="1508760"/>
            <a:ext cx="2017776" cy="1005840"/>
          </a:xfrm>
          <a:prstGeom prst="rect">
            <a:avLst/>
          </a:prstGeom>
          <a:noFill/>
          <a:ln/>
        </p:spPr>
        <p:txBody>
          <a:bodyPr wrap="square" lIns="381" tIns="381" rIns="381" bIns="381" rtlCol="0" anchor="t">
            <a:noAutofit/>
          </a:bodyPr>
          <a:lstStyle/>
          <a:p>
            <a:pPr marL="0" indent="0">
              <a:buNone/>
            </a:pPr>
            <a:r>
              <a:rPr lang="en-US" sz="1600" dirty="0">
                <a:solidFill>
                  <a:srgbClr val="1F2937"/>
                </a:solidFill>
              </a:rPr>
              <a:t>Скінченна впорядкована послідовність операцій для отримання результату.</a:t>
            </a:r>
            <a:endParaRPr lang="en-US" sz="1600" dirty="0"/>
          </a:p>
        </p:txBody>
      </p:sp>
      <p:sp>
        <p:nvSpPr>
          <p:cNvPr id="16" name="Shape 14"/>
          <p:cNvSpPr/>
          <p:nvPr/>
        </p:nvSpPr>
        <p:spPr>
          <a:xfrm>
            <a:off x="7498080" y="1115567"/>
            <a:ext cx="2148840" cy="1581911"/>
          </a:xfrm>
          <a:prstGeom prst="roundRect">
            <a:avLst>
              <a:gd name="adj" fmla="val 3448"/>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7" name="Shape 15"/>
          <p:cNvSpPr/>
          <p:nvPr/>
        </p:nvSpPr>
        <p:spPr>
          <a:xfrm>
            <a:off x="7498080" y="1115567"/>
            <a:ext cx="73152" cy="1581909"/>
          </a:xfrm>
          <a:prstGeom prst="rect">
            <a:avLst/>
          </a:prstGeom>
          <a:solidFill>
            <a:srgbClr val="2E7D32"/>
          </a:solidFill>
          <a:ln w="12700">
            <a:solidFill>
              <a:srgbClr val="2E7D32"/>
            </a:solidFill>
            <a:prstDash val="solid"/>
          </a:ln>
        </p:spPr>
        <p:txBody>
          <a:bodyPr/>
          <a:lstStyle/>
          <a:p>
            <a:endParaRPr lang="en-US"/>
          </a:p>
        </p:txBody>
      </p:sp>
      <p:sp>
        <p:nvSpPr>
          <p:cNvPr id="18" name="Text 16"/>
          <p:cNvSpPr/>
          <p:nvPr/>
        </p:nvSpPr>
        <p:spPr>
          <a:xfrm>
            <a:off x="7662672" y="1234440"/>
            <a:ext cx="1874520" cy="201168"/>
          </a:xfrm>
          <a:prstGeom prst="rect">
            <a:avLst/>
          </a:prstGeom>
          <a:noFill/>
          <a:ln/>
        </p:spPr>
        <p:txBody>
          <a:bodyPr wrap="square" lIns="254" tIns="254" rIns="254" bIns="254" rtlCol="0" anchor="ctr">
            <a:noAutofit/>
          </a:bodyPr>
          <a:lstStyle/>
          <a:p>
            <a:pPr marL="0" indent="0">
              <a:buNone/>
            </a:pPr>
            <a:r>
              <a:rPr lang="en-US" sz="1600" b="1" dirty="0">
                <a:solidFill>
                  <a:srgbClr val="2E7D32"/>
                </a:solidFill>
              </a:rPr>
              <a:t>Програмна реалізація</a:t>
            </a:r>
            <a:endParaRPr lang="en-US" sz="1600" dirty="0"/>
          </a:p>
        </p:txBody>
      </p:sp>
      <p:sp>
        <p:nvSpPr>
          <p:cNvPr id="19" name="Text 17"/>
          <p:cNvSpPr/>
          <p:nvPr/>
        </p:nvSpPr>
        <p:spPr>
          <a:xfrm>
            <a:off x="7662672" y="1618486"/>
            <a:ext cx="1856232" cy="740665"/>
          </a:xfrm>
          <a:prstGeom prst="rect">
            <a:avLst/>
          </a:prstGeom>
          <a:noFill/>
          <a:ln/>
        </p:spPr>
        <p:txBody>
          <a:bodyPr wrap="square" lIns="381" tIns="381" rIns="381" bIns="381" rtlCol="0" anchor="t">
            <a:normAutofit/>
          </a:bodyPr>
          <a:lstStyle/>
          <a:p>
            <a:pPr marL="0" indent="0">
              <a:buNone/>
            </a:pPr>
            <a:r>
              <a:rPr lang="en-US" sz="1400" dirty="0">
                <a:solidFill>
                  <a:srgbClr val="1F2937"/>
                </a:solidFill>
              </a:rPr>
              <a:t>Виконання алгоритмів засобами програмних модулів.</a:t>
            </a:r>
            <a:endParaRPr lang="en-US" sz="1400" dirty="0"/>
          </a:p>
        </p:txBody>
      </p:sp>
      <p:sp>
        <p:nvSpPr>
          <p:cNvPr id="20" name="Shape 18"/>
          <p:cNvSpPr/>
          <p:nvPr/>
        </p:nvSpPr>
        <p:spPr>
          <a:xfrm>
            <a:off x="9829800" y="1115568"/>
            <a:ext cx="1874520" cy="1463046"/>
          </a:xfrm>
          <a:prstGeom prst="roundRect">
            <a:avLst>
              <a:gd name="adj" fmla="val 3448"/>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21" name="Shape 19"/>
          <p:cNvSpPr/>
          <p:nvPr/>
        </p:nvSpPr>
        <p:spPr>
          <a:xfrm>
            <a:off x="9829799" y="1115567"/>
            <a:ext cx="73153" cy="1499623"/>
          </a:xfrm>
          <a:prstGeom prst="rect">
            <a:avLst/>
          </a:prstGeom>
          <a:solidFill>
            <a:srgbClr val="C65911"/>
          </a:solidFill>
          <a:ln w="12700">
            <a:solidFill>
              <a:srgbClr val="C65911"/>
            </a:solidFill>
            <a:prstDash val="solid"/>
          </a:ln>
        </p:spPr>
        <p:txBody>
          <a:bodyPr/>
          <a:lstStyle/>
          <a:p>
            <a:endParaRPr lang="en-US"/>
          </a:p>
        </p:txBody>
      </p:sp>
      <p:sp>
        <p:nvSpPr>
          <p:cNvPr id="22" name="Text 20"/>
          <p:cNvSpPr/>
          <p:nvPr/>
        </p:nvSpPr>
        <p:spPr>
          <a:xfrm>
            <a:off x="9994392" y="1234440"/>
            <a:ext cx="1600200" cy="201168"/>
          </a:xfrm>
          <a:prstGeom prst="rect">
            <a:avLst/>
          </a:prstGeom>
          <a:noFill/>
          <a:ln/>
        </p:spPr>
        <p:txBody>
          <a:bodyPr wrap="square" lIns="254" tIns="254" rIns="254" bIns="254" rtlCol="0" anchor="ctr">
            <a:noAutofit/>
          </a:bodyPr>
          <a:lstStyle/>
          <a:p>
            <a:pPr marL="0" indent="0">
              <a:buNone/>
            </a:pPr>
            <a:r>
              <a:rPr lang="en-US" sz="1400" b="1" dirty="0">
                <a:solidFill>
                  <a:srgbClr val="C65911"/>
                </a:solidFill>
              </a:rPr>
              <a:t>ІТ</a:t>
            </a:r>
            <a:endParaRPr lang="en-US" sz="1400" dirty="0"/>
          </a:p>
        </p:txBody>
      </p:sp>
      <p:sp>
        <p:nvSpPr>
          <p:cNvPr id="23" name="Text 21"/>
          <p:cNvSpPr/>
          <p:nvPr/>
        </p:nvSpPr>
        <p:spPr>
          <a:xfrm>
            <a:off x="9994392" y="1508760"/>
            <a:ext cx="1581912" cy="850392"/>
          </a:xfrm>
          <a:prstGeom prst="rect">
            <a:avLst/>
          </a:prstGeom>
          <a:noFill/>
          <a:ln/>
        </p:spPr>
        <p:txBody>
          <a:bodyPr wrap="square" lIns="381" tIns="381" rIns="381" bIns="381" rtlCol="0" anchor="t">
            <a:noAutofit/>
          </a:bodyPr>
          <a:lstStyle/>
          <a:p>
            <a:pPr marL="0" indent="0">
              <a:buNone/>
            </a:pPr>
            <a:r>
              <a:rPr lang="en-US" sz="1400" dirty="0">
                <a:solidFill>
                  <a:srgbClr val="1F2937"/>
                </a:solidFill>
              </a:rPr>
              <a:t>Сукупність моделей, методів, алгоритмів і модулів обробки даних.</a:t>
            </a:r>
            <a:endParaRPr lang="en-US" sz="1400" dirty="0"/>
          </a:p>
        </p:txBody>
      </p:sp>
      <p:sp>
        <p:nvSpPr>
          <p:cNvPr id="24" name="Shape 22"/>
          <p:cNvSpPr/>
          <p:nvPr/>
        </p:nvSpPr>
        <p:spPr>
          <a:xfrm>
            <a:off x="708660" y="3959251"/>
            <a:ext cx="1444752" cy="777235"/>
          </a:xfrm>
          <a:prstGeom prst="roundRect">
            <a:avLst>
              <a:gd name="adj" fmla="val 18462"/>
            </a:avLst>
          </a:prstGeom>
          <a:solidFill>
            <a:srgbClr val="1F4E79"/>
          </a:solidFill>
          <a:ln w="12700">
            <a:solidFill>
              <a:srgbClr val="1F4E79"/>
            </a:solidFill>
            <a:prstDash val="solid"/>
          </a:ln>
        </p:spPr>
        <p:txBody>
          <a:bodyPr/>
          <a:lstStyle/>
          <a:p>
            <a:endParaRPr lang="en-US"/>
          </a:p>
        </p:txBody>
      </p:sp>
      <p:sp>
        <p:nvSpPr>
          <p:cNvPr id="25" name="Text 23"/>
          <p:cNvSpPr/>
          <p:nvPr/>
        </p:nvSpPr>
        <p:spPr>
          <a:xfrm>
            <a:off x="781812" y="4068980"/>
            <a:ext cx="1271016" cy="347472"/>
          </a:xfrm>
          <a:prstGeom prst="rect">
            <a:avLst/>
          </a:prstGeom>
          <a:noFill/>
          <a:ln/>
        </p:spPr>
        <p:txBody>
          <a:bodyPr wrap="square" lIns="127" tIns="127" rIns="127" bIns="127" rtlCol="0" anchor="ctr">
            <a:normAutofit/>
          </a:bodyPr>
          <a:lstStyle/>
          <a:p>
            <a:pPr marL="0" indent="0" algn="ctr">
              <a:buNone/>
            </a:pPr>
            <a:r>
              <a:rPr lang="en-US" b="1" dirty="0">
                <a:solidFill>
                  <a:srgbClr val="FFFFFF"/>
                </a:solidFill>
              </a:rPr>
              <a:t>Модель</a:t>
            </a:r>
            <a:endParaRPr lang="en-US" dirty="0"/>
          </a:p>
        </p:txBody>
      </p:sp>
      <p:sp>
        <p:nvSpPr>
          <p:cNvPr id="26" name="Shape 24"/>
          <p:cNvSpPr/>
          <p:nvPr/>
        </p:nvSpPr>
        <p:spPr>
          <a:xfrm>
            <a:off x="2171700" y="4261004"/>
            <a:ext cx="777240" cy="0"/>
          </a:xfrm>
          <a:prstGeom prst="line">
            <a:avLst/>
          </a:prstGeom>
          <a:noFill/>
          <a:ln w="22860">
            <a:solidFill>
              <a:srgbClr val="8AA5C0"/>
            </a:solidFill>
            <a:prstDash val="solid"/>
            <a:headEnd type="none"/>
            <a:tailEnd type="triangle"/>
          </a:ln>
        </p:spPr>
        <p:txBody>
          <a:bodyPr/>
          <a:lstStyle/>
          <a:p>
            <a:endParaRPr lang="en-US"/>
          </a:p>
        </p:txBody>
      </p:sp>
      <p:sp>
        <p:nvSpPr>
          <p:cNvPr id="27" name="Shape 25"/>
          <p:cNvSpPr/>
          <p:nvPr/>
        </p:nvSpPr>
        <p:spPr>
          <a:xfrm>
            <a:off x="2994660" y="3959252"/>
            <a:ext cx="1472184" cy="777234"/>
          </a:xfrm>
          <a:prstGeom prst="roundRect">
            <a:avLst>
              <a:gd name="adj" fmla="val 18462"/>
            </a:avLst>
          </a:prstGeom>
          <a:solidFill>
            <a:srgbClr val="2F75B5"/>
          </a:solidFill>
          <a:ln w="12700">
            <a:solidFill>
              <a:srgbClr val="2F75B5"/>
            </a:solidFill>
            <a:prstDash val="solid"/>
          </a:ln>
        </p:spPr>
        <p:txBody>
          <a:bodyPr/>
          <a:lstStyle/>
          <a:p>
            <a:endParaRPr lang="en-US"/>
          </a:p>
        </p:txBody>
      </p:sp>
      <p:sp>
        <p:nvSpPr>
          <p:cNvPr id="28" name="Text 26"/>
          <p:cNvSpPr/>
          <p:nvPr/>
        </p:nvSpPr>
        <p:spPr>
          <a:xfrm>
            <a:off x="3067812" y="4068980"/>
            <a:ext cx="1271016" cy="347472"/>
          </a:xfrm>
          <a:prstGeom prst="rect">
            <a:avLst/>
          </a:prstGeom>
          <a:noFill/>
          <a:ln/>
        </p:spPr>
        <p:txBody>
          <a:bodyPr wrap="square" lIns="127" tIns="127" rIns="127" bIns="127" rtlCol="0" anchor="ctr">
            <a:normAutofit/>
          </a:bodyPr>
          <a:lstStyle/>
          <a:p>
            <a:pPr marL="0" indent="0" algn="ctr">
              <a:buNone/>
            </a:pPr>
            <a:r>
              <a:rPr lang="en-US" b="1" dirty="0">
                <a:solidFill>
                  <a:srgbClr val="FFFFFF"/>
                </a:solidFill>
              </a:rPr>
              <a:t>Метод</a:t>
            </a:r>
            <a:endParaRPr lang="en-US" dirty="0"/>
          </a:p>
        </p:txBody>
      </p:sp>
      <p:sp>
        <p:nvSpPr>
          <p:cNvPr id="29" name="Shape 27"/>
          <p:cNvSpPr/>
          <p:nvPr/>
        </p:nvSpPr>
        <p:spPr>
          <a:xfrm>
            <a:off x="4457700" y="4261004"/>
            <a:ext cx="758952" cy="0"/>
          </a:xfrm>
          <a:prstGeom prst="line">
            <a:avLst/>
          </a:prstGeom>
          <a:noFill/>
          <a:ln w="22860">
            <a:solidFill>
              <a:srgbClr val="8AA5C0"/>
            </a:solidFill>
            <a:prstDash val="solid"/>
            <a:headEnd type="none"/>
            <a:tailEnd type="triangle"/>
          </a:ln>
        </p:spPr>
        <p:txBody>
          <a:bodyPr/>
          <a:lstStyle/>
          <a:p>
            <a:endParaRPr lang="en-US"/>
          </a:p>
        </p:txBody>
      </p:sp>
      <p:sp>
        <p:nvSpPr>
          <p:cNvPr id="30" name="Shape 28"/>
          <p:cNvSpPr/>
          <p:nvPr/>
        </p:nvSpPr>
        <p:spPr>
          <a:xfrm>
            <a:off x="5262372" y="3959251"/>
            <a:ext cx="1463040" cy="777233"/>
          </a:xfrm>
          <a:prstGeom prst="roundRect">
            <a:avLst>
              <a:gd name="adj" fmla="val 18462"/>
            </a:avLst>
          </a:prstGeom>
          <a:solidFill>
            <a:srgbClr val="0F766E"/>
          </a:solidFill>
          <a:ln w="12700">
            <a:solidFill>
              <a:srgbClr val="0F766E"/>
            </a:solidFill>
            <a:prstDash val="solid"/>
          </a:ln>
        </p:spPr>
        <p:txBody>
          <a:bodyPr/>
          <a:lstStyle/>
          <a:p>
            <a:endParaRPr lang="en-US"/>
          </a:p>
        </p:txBody>
      </p:sp>
      <p:sp>
        <p:nvSpPr>
          <p:cNvPr id="31" name="Text 29"/>
          <p:cNvSpPr/>
          <p:nvPr/>
        </p:nvSpPr>
        <p:spPr>
          <a:xfrm>
            <a:off x="5335524" y="4068980"/>
            <a:ext cx="1271016" cy="347472"/>
          </a:xfrm>
          <a:prstGeom prst="rect">
            <a:avLst/>
          </a:prstGeom>
          <a:noFill/>
          <a:ln/>
        </p:spPr>
        <p:txBody>
          <a:bodyPr wrap="square" lIns="127" tIns="127" rIns="127" bIns="127" rtlCol="0" anchor="ctr">
            <a:normAutofit/>
          </a:bodyPr>
          <a:lstStyle/>
          <a:p>
            <a:pPr marL="0" indent="0" algn="ctr">
              <a:buNone/>
            </a:pPr>
            <a:r>
              <a:rPr lang="en-US" b="1" dirty="0">
                <a:solidFill>
                  <a:srgbClr val="FFFFFF"/>
                </a:solidFill>
              </a:rPr>
              <a:t>Алгоритм</a:t>
            </a:r>
            <a:endParaRPr lang="en-US" dirty="0"/>
          </a:p>
        </p:txBody>
      </p:sp>
      <p:sp>
        <p:nvSpPr>
          <p:cNvPr id="32" name="Shape 30"/>
          <p:cNvSpPr/>
          <p:nvPr/>
        </p:nvSpPr>
        <p:spPr>
          <a:xfrm>
            <a:off x="6725412" y="4261004"/>
            <a:ext cx="749808" cy="0"/>
          </a:xfrm>
          <a:prstGeom prst="line">
            <a:avLst/>
          </a:prstGeom>
          <a:noFill/>
          <a:ln w="22860">
            <a:solidFill>
              <a:srgbClr val="8AA5C0"/>
            </a:solidFill>
            <a:prstDash val="solid"/>
            <a:headEnd type="none"/>
            <a:tailEnd type="triangle"/>
          </a:ln>
        </p:spPr>
        <p:txBody>
          <a:bodyPr/>
          <a:lstStyle/>
          <a:p>
            <a:endParaRPr lang="en-US"/>
          </a:p>
        </p:txBody>
      </p:sp>
      <p:sp>
        <p:nvSpPr>
          <p:cNvPr id="33" name="Shape 31"/>
          <p:cNvSpPr/>
          <p:nvPr/>
        </p:nvSpPr>
        <p:spPr>
          <a:xfrm>
            <a:off x="7520940" y="3913531"/>
            <a:ext cx="1417320" cy="822955"/>
          </a:xfrm>
          <a:prstGeom prst="roundRect">
            <a:avLst>
              <a:gd name="adj" fmla="val 18462"/>
            </a:avLst>
          </a:prstGeom>
          <a:solidFill>
            <a:srgbClr val="2E7D32"/>
          </a:solidFill>
          <a:ln w="12700">
            <a:solidFill>
              <a:srgbClr val="2E7D32"/>
            </a:solidFill>
            <a:prstDash val="solid"/>
          </a:ln>
        </p:spPr>
        <p:txBody>
          <a:bodyPr/>
          <a:lstStyle/>
          <a:p>
            <a:endParaRPr lang="en-US"/>
          </a:p>
        </p:txBody>
      </p:sp>
      <p:sp>
        <p:nvSpPr>
          <p:cNvPr id="34" name="Text 32"/>
          <p:cNvSpPr/>
          <p:nvPr/>
        </p:nvSpPr>
        <p:spPr>
          <a:xfrm>
            <a:off x="7594092" y="4068980"/>
            <a:ext cx="1271016" cy="530352"/>
          </a:xfrm>
          <a:prstGeom prst="rect">
            <a:avLst/>
          </a:prstGeom>
          <a:noFill/>
          <a:ln/>
        </p:spPr>
        <p:txBody>
          <a:bodyPr wrap="square" lIns="127" tIns="127" rIns="127" bIns="127" rtlCol="0" anchor="ctr">
            <a:noAutofit/>
          </a:bodyPr>
          <a:lstStyle/>
          <a:p>
            <a:pPr marL="0" indent="0" algn="ctr">
              <a:buNone/>
            </a:pPr>
            <a:r>
              <a:rPr lang="en-US" b="1" dirty="0">
                <a:solidFill>
                  <a:srgbClr val="FFFFFF"/>
                </a:solidFill>
              </a:rPr>
              <a:t>Програмна</a:t>
            </a:r>
            <a:endParaRPr lang="en-US" dirty="0"/>
          </a:p>
          <a:p>
            <a:pPr marL="0" indent="0" algn="ctr">
              <a:buNone/>
            </a:pPr>
            <a:r>
              <a:rPr lang="en-US" b="1" dirty="0">
                <a:solidFill>
                  <a:srgbClr val="FFFFFF"/>
                </a:solidFill>
              </a:rPr>
              <a:t>реалізація</a:t>
            </a:r>
            <a:endParaRPr lang="en-US" dirty="0"/>
          </a:p>
        </p:txBody>
      </p:sp>
      <p:sp>
        <p:nvSpPr>
          <p:cNvPr id="35" name="Shape 33"/>
          <p:cNvSpPr/>
          <p:nvPr/>
        </p:nvSpPr>
        <p:spPr>
          <a:xfrm>
            <a:off x="8983980" y="4261004"/>
            <a:ext cx="713232" cy="0"/>
          </a:xfrm>
          <a:prstGeom prst="line">
            <a:avLst/>
          </a:prstGeom>
          <a:noFill/>
          <a:ln w="22860">
            <a:solidFill>
              <a:srgbClr val="8AA5C0"/>
            </a:solidFill>
            <a:prstDash val="solid"/>
            <a:headEnd type="none"/>
            <a:tailEnd type="triangle"/>
          </a:ln>
        </p:spPr>
        <p:txBody>
          <a:bodyPr/>
          <a:lstStyle/>
          <a:p>
            <a:endParaRPr lang="en-US"/>
          </a:p>
        </p:txBody>
      </p:sp>
      <p:sp>
        <p:nvSpPr>
          <p:cNvPr id="36" name="Shape 34"/>
          <p:cNvSpPr/>
          <p:nvPr/>
        </p:nvSpPr>
        <p:spPr>
          <a:xfrm>
            <a:off x="9697213" y="3913531"/>
            <a:ext cx="1906426" cy="822955"/>
          </a:xfrm>
          <a:prstGeom prst="roundRect">
            <a:avLst>
              <a:gd name="adj" fmla="val 18462"/>
            </a:avLst>
          </a:prstGeom>
          <a:solidFill>
            <a:srgbClr val="C65911"/>
          </a:solidFill>
          <a:ln w="12700">
            <a:solidFill>
              <a:srgbClr val="C65911"/>
            </a:solidFill>
            <a:prstDash val="solid"/>
          </a:ln>
        </p:spPr>
        <p:txBody>
          <a:bodyPr/>
          <a:lstStyle/>
          <a:p>
            <a:endParaRPr lang="en-US"/>
          </a:p>
        </p:txBody>
      </p:sp>
      <p:sp>
        <p:nvSpPr>
          <p:cNvPr id="37" name="Text 35"/>
          <p:cNvSpPr/>
          <p:nvPr/>
        </p:nvSpPr>
        <p:spPr>
          <a:xfrm>
            <a:off x="9925812" y="3913531"/>
            <a:ext cx="1463040" cy="795539"/>
          </a:xfrm>
          <a:prstGeom prst="rect">
            <a:avLst/>
          </a:prstGeom>
          <a:noFill/>
          <a:ln/>
        </p:spPr>
        <p:txBody>
          <a:bodyPr wrap="square" lIns="127" tIns="127" rIns="127" bIns="127" rtlCol="0" anchor="ctr">
            <a:noAutofit/>
          </a:bodyPr>
          <a:lstStyle/>
          <a:p>
            <a:pPr marL="0" indent="0" algn="ctr">
              <a:buNone/>
            </a:pPr>
            <a:r>
              <a:rPr lang="en-US" b="1" dirty="0">
                <a:solidFill>
                  <a:srgbClr val="FFFFFF"/>
                </a:solidFill>
              </a:rPr>
              <a:t>Інформаційна</a:t>
            </a:r>
            <a:endParaRPr lang="en-US" dirty="0"/>
          </a:p>
          <a:p>
            <a:pPr marL="0" indent="0" algn="ctr">
              <a:buNone/>
            </a:pPr>
            <a:r>
              <a:rPr lang="en-US" b="1" dirty="0">
                <a:solidFill>
                  <a:srgbClr val="FFFFFF"/>
                </a:solidFill>
              </a:rPr>
              <a:t>технологія</a:t>
            </a:r>
            <a:endParaRPr lang="en-US" dirty="0"/>
          </a:p>
        </p:txBody>
      </p:sp>
      <p:sp>
        <p:nvSpPr>
          <p:cNvPr id="38" name="Shape 36"/>
          <p:cNvSpPr/>
          <p:nvPr/>
        </p:nvSpPr>
        <p:spPr>
          <a:xfrm>
            <a:off x="708660" y="4924035"/>
            <a:ext cx="5349240" cy="1581913"/>
          </a:xfrm>
          <a:prstGeom prst="roundRect">
            <a:avLst>
              <a:gd name="adj" fmla="val 6400"/>
            </a:avLst>
          </a:prstGeom>
          <a:solidFill>
            <a:srgbClr val="FFFFFF"/>
          </a:solidFill>
          <a:ln w="12700">
            <a:solidFill>
              <a:srgbClr val="D8E0EA"/>
            </a:solidFill>
            <a:prstDash val="solid"/>
          </a:ln>
        </p:spPr>
        <p:txBody>
          <a:bodyPr/>
          <a:lstStyle/>
          <a:p>
            <a:endParaRPr lang="en-US"/>
          </a:p>
        </p:txBody>
      </p:sp>
      <p:sp>
        <p:nvSpPr>
          <p:cNvPr id="39" name="Text 37"/>
          <p:cNvSpPr/>
          <p:nvPr/>
        </p:nvSpPr>
        <p:spPr>
          <a:xfrm>
            <a:off x="868680" y="5043687"/>
            <a:ext cx="5029200" cy="256032"/>
          </a:xfrm>
          <a:prstGeom prst="rect">
            <a:avLst/>
          </a:prstGeom>
          <a:noFill/>
          <a:ln/>
        </p:spPr>
        <p:txBody>
          <a:bodyPr wrap="square" lIns="254" tIns="254" rIns="254" bIns="254" rtlCol="0" anchor="ctr"/>
          <a:lstStyle/>
          <a:p>
            <a:pPr marL="0" indent="0">
              <a:buNone/>
            </a:pPr>
            <a:r>
              <a:rPr lang="en-US" sz="1500" b="1" dirty="0">
                <a:solidFill>
                  <a:srgbClr val="1F4E79"/>
                </a:solidFill>
              </a:rPr>
              <a:t>Інформаційна технологія ДІПДО</a:t>
            </a:r>
            <a:endParaRPr lang="en-US" sz="1500" dirty="0"/>
          </a:p>
        </p:txBody>
      </p:sp>
      <p:sp>
        <p:nvSpPr>
          <p:cNvPr id="40" name="Text 38"/>
          <p:cNvSpPr/>
          <p:nvPr/>
        </p:nvSpPr>
        <p:spPr>
          <a:xfrm>
            <a:off x="868680" y="5774420"/>
            <a:ext cx="4937760" cy="45719"/>
          </a:xfrm>
          <a:prstGeom prst="rect">
            <a:avLst/>
          </a:prstGeom>
          <a:noFill/>
          <a:ln/>
        </p:spPr>
        <p:txBody>
          <a:bodyPr wrap="square" lIns="254" tIns="254" rIns="254" bIns="254" rtlCol="0" anchor="ctr">
            <a:noAutofit/>
          </a:bodyPr>
          <a:lstStyle/>
          <a:p>
            <a:pPr marL="0" indent="0">
              <a:buNone/>
            </a:pPr>
            <a:r>
              <a:rPr lang="en-US" sz="1600" dirty="0">
                <a:solidFill>
                  <a:srgbClr val="1F2937"/>
                </a:solidFill>
              </a:rPr>
              <a:t>Організована сукупність моделей, методів, алгоритмів і програмних модулів, яка перетворює відеодані на оцінки просторових, кінематичних і структурних параметрів </a:t>
            </a:r>
            <a:r>
              <a:rPr lang="en-US" sz="1600" dirty="0" err="1">
                <a:solidFill>
                  <a:srgbClr val="1F2937"/>
                </a:solidFill>
              </a:rPr>
              <a:t>рухомих</a:t>
            </a:r>
            <a:r>
              <a:rPr lang="en-US" sz="1600" dirty="0">
                <a:solidFill>
                  <a:srgbClr val="1F2937"/>
                </a:solidFill>
              </a:rPr>
              <a:t> </a:t>
            </a:r>
            <a:r>
              <a:rPr lang="en-US" sz="1600" dirty="0" err="1">
                <a:solidFill>
                  <a:srgbClr val="1F2937"/>
                </a:solidFill>
              </a:rPr>
              <a:t>об'єктів</a:t>
            </a:r>
            <a:r>
              <a:rPr lang="en-US" sz="1600" dirty="0">
                <a:solidFill>
                  <a:srgbClr val="1F2937"/>
                </a:solidFill>
              </a:rPr>
              <a:t>.</a:t>
            </a:r>
            <a:endParaRPr lang="en-US" sz="1600" dirty="0"/>
          </a:p>
        </p:txBody>
      </p:sp>
      <p:sp>
        <p:nvSpPr>
          <p:cNvPr id="41" name="Shape 39"/>
          <p:cNvSpPr/>
          <p:nvPr/>
        </p:nvSpPr>
        <p:spPr>
          <a:xfrm>
            <a:off x="6240780" y="4924036"/>
            <a:ext cx="5257800" cy="1581912"/>
          </a:xfrm>
          <a:prstGeom prst="roundRect">
            <a:avLst>
              <a:gd name="adj" fmla="val 6400"/>
            </a:avLst>
          </a:prstGeom>
          <a:solidFill>
            <a:srgbClr val="EAF5EC"/>
          </a:solidFill>
          <a:ln w="12700">
            <a:solidFill>
              <a:srgbClr val="B7D7BF"/>
            </a:solidFill>
            <a:prstDash val="solid"/>
          </a:ln>
        </p:spPr>
        <p:txBody>
          <a:bodyPr/>
          <a:lstStyle/>
          <a:p>
            <a:endParaRPr lang="en-US"/>
          </a:p>
        </p:txBody>
      </p:sp>
      <p:sp>
        <p:nvSpPr>
          <p:cNvPr id="42" name="Text 40"/>
          <p:cNvSpPr/>
          <p:nvPr/>
        </p:nvSpPr>
        <p:spPr>
          <a:xfrm>
            <a:off x="6382804" y="4982014"/>
            <a:ext cx="4937760" cy="256032"/>
          </a:xfrm>
          <a:prstGeom prst="rect">
            <a:avLst/>
          </a:prstGeom>
          <a:noFill/>
          <a:ln/>
        </p:spPr>
        <p:txBody>
          <a:bodyPr wrap="square" lIns="254" tIns="254" rIns="254" bIns="254" rtlCol="0" anchor="ctr"/>
          <a:lstStyle/>
          <a:p>
            <a:pPr marL="0" indent="0">
              <a:buNone/>
            </a:pPr>
            <a:r>
              <a:rPr lang="en-US" sz="1600" b="1" dirty="0">
                <a:solidFill>
                  <a:srgbClr val="2E7D32"/>
                </a:solidFill>
              </a:rPr>
              <a:t>Програмна система</a:t>
            </a:r>
            <a:endParaRPr lang="en-US" sz="1600" dirty="0"/>
          </a:p>
        </p:txBody>
      </p:sp>
      <p:sp>
        <p:nvSpPr>
          <p:cNvPr id="43" name="Text 41"/>
          <p:cNvSpPr/>
          <p:nvPr/>
        </p:nvSpPr>
        <p:spPr>
          <a:xfrm>
            <a:off x="6428524" y="5714991"/>
            <a:ext cx="4846320" cy="118872"/>
          </a:xfrm>
          <a:prstGeom prst="rect">
            <a:avLst/>
          </a:prstGeom>
          <a:noFill/>
          <a:ln/>
        </p:spPr>
        <p:txBody>
          <a:bodyPr wrap="square" lIns="254" tIns="254" rIns="254" bIns="254" rtlCol="0" anchor="ctr">
            <a:noAutofit/>
          </a:bodyPr>
          <a:lstStyle/>
          <a:p>
            <a:pPr marL="0" indent="0">
              <a:buNone/>
            </a:pPr>
            <a:r>
              <a:rPr lang="en-US" sz="1600" dirty="0">
                <a:solidFill>
                  <a:srgbClr val="1F2937"/>
                </a:solidFill>
              </a:rPr>
              <a:t>Сукупність програмних компонентів, що реалізують інформаційну технологію: введення даних, попередня обробка, DETR, оптичний потік, глибина, </a:t>
            </a:r>
            <a:r>
              <a:rPr lang="en-US" sz="1600" dirty="0" err="1">
                <a:solidFill>
                  <a:srgbClr val="1F2937"/>
                </a:solidFill>
              </a:rPr>
              <a:t>об'єднання</a:t>
            </a:r>
            <a:r>
              <a:rPr lang="en-US" sz="1600" dirty="0">
                <a:solidFill>
                  <a:srgbClr val="1F2937"/>
                </a:solidFill>
              </a:rPr>
              <a:t> та візуалізація.</a:t>
            </a:r>
            <a:endParaRPr lang="en-US" sz="1600" dirty="0"/>
          </a:p>
        </p:txBody>
      </p:sp>
      <p:sp>
        <p:nvSpPr>
          <p:cNvPr id="45" name="Місце для номера слайда 2">
            <a:extLst>
              <a:ext uri="{FF2B5EF4-FFF2-40B4-BE49-F238E27FC236}">
                <a16:creationId xmlns:a16="http://schemas.microsoft.com/office/drawing/2014/main" id="{670E9F2D-79C0-5827-9E13-7E2272BE9243}"/>
              </a:ext>
            </a:extLst>
          </p:cNvPr>
          <p:cNvSpPr txBox="1">
            <a:spLocks/>
          </p:cNvSpPr>
          <p:nvPr/>
        </p:nvSpPr>
        <p:spPr>
          <a:xfrm>
            <a:off x="11184188" y="6356350"/>
            <a:ext cx="876748" cy="365125"/>
          </a:xfrm>
          <a:prstGeom prst="foldedCorner">
            <a:avLst/>
          </a:prstGeom>
        </p:spPr>
        <p:style>
          <a:lnRef idx="2">
            <a:schemeClr val="dk1"/>
          </a:lnRef>
          <a:fillRef idx="1">
            <a:schemeClr val="lt1"/>
          </a:fillRef>
          <a:effectRef idx="0">
            <a:schemeClr val="dk1"/>
          </a:effectRef>
          <a:fontRef idx="minor">
            <a:schemeClr val="dk1"/>
          </a:fontRef>
        </p:style>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pPr/>
              <a:t>56</a:t>
            </a:fld>
            <a:endParaRPr lang="en-US" dirty="0"/>
          </a:p>
        </p:txBody>
      </p:sp>
    </p:spTree>
    <p:extLst>
      <p:ext uri="{BB962C8B-B14F-4D97-AF65-F5344CB8AC3E}">
        <p14:creationId xmlns:p14="http://schemas.microsoft.com/office/powerpoint/2010/main" val="33804951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02920" y="320040"/>
            <a:ext cx="11155680" cy="347472"/>
          </a:xfrm>
          <a:prstGeom prst="rect">
            <a:avLst/>
          </a:prstGeom>
          <a:noFill/>
          <a:ln/>
        </p:spPr>
        <p:txBody>
          <a:bodyPr wrap="square" lIns="381" tIns="381" rIns="381" bIns="381" rtlCol="0" anchor="ctr">
            <a:normAutofit lnSpcReduction="10000"/>
          </a:bodyPr>
          <a:lstStyle/>
          <a:p>
            <a:pPr marL="0" indent="0">
              <a:buNone/>
            </a:pPr>
            <a:r>
              <a:rPr lang="uk-UA" sz="2500" b="1" dirty="0">
                <a:solidFill>
                  <a:srgbClr val="1F4E79"/>
                </a:solidFill>
              </a:rPr>
              <a:t>С</a:t>
            </a:r>
            <a:r>
              <a:rPr lang="en-US" sz="2500" b="1" dirty="0" err="1">
                <a:solidFill>
                  <a:srgbClr val="1F4E79"/>
                </a:solidFill>
              </a:rPr>
              <a:t>ловник</a:t>
            </a:r>
            <a:r>
              <a:rPr lang="en-US" sz="2500" b="1" dirty="0">
                <a:solidFill>
                  <a:srgbClr val="1F4E79"/>
                </a:solidFill>
              </a:rPr>
              <a:t> </a:t>
            </a:r>
            <a:r>
              <a:rPr lang="en-US" sz="2500" b="1" dirty="0" err="1">
                <a:solidFill>
                  <a:srgbClr val="1F4E79"/>
                </a:solidFill>
              </a:rPr>
              <a:t>термінів</a:t>
            </a:r>
            <a:endParaRPr lang="en-US" sz="2500" dirty="0"/>
          </a:p>
        </p:txBody>
      </p:sp>
      <p:sp>
        <p:nvSpPr>
          <p:cNvPr id="3" name="Text 1"/>
          <p:cNvSpPr/>
          <p:nvPr/>
        </p:nvSpPr>
        <p:spPr>
          <a:xfrm>
            <a:off x="530352" y="713232"/>
            <a:ext cx="10972800" cy="228600"/>
          </a:xfrm>
          <a:prstGeom prst="rect">
            <a:avLst/>
          </a:prstGeom>
          <a:noFill/>
          <a:ln/>
        </p:spPr>
        <p:txBody>
          <a:bodyPr wrap="square" lIns="254" tIns="254" rIns="254" bIns="254" rtlCol="0" anchor="ctr">
            <a:normAutofit/>
          </a:bodyPr>
          <a:lstStyle/>
          <a:p>
            <a:pPr marL="0" indent="0">
              <a:buNone/>
            </a:pPr>
            <a:endParaRPr lang="en-US" sz="1150" dirty="0"/>
          </a:p>
        </p:txBody>
      </p:sp>
      <p:sp>
        <p:nvSpPr>
          <p:cNvPr id="4" name="Shape 2"/>
          <p:cNvSpPr/>
          <p:nvPr/>
        </p:nvSpPr>
        <p:spPr>
          <a:xfrm>
            <a:off x="87549" y="786384"/>
            <a:ext cx="5883483" cy="1124712"/>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5" name="Shape 3"/>
          <p:cNvSpPr/>
          <p:nvPr/>
        </p:nvSpPr>
        <p:spPr>
          <a:xfrm>
            <a:off x="87549" y="786384"/>
            <a:ext cx="73152" cy="1124712"/>
          </a:xfrm>
          <a:prstGeom prst="rect">
            <a:avLst/>
          </a:prstGeom>
          <a:solidFill>
            <a:srgbClr val="2F75B5"/>
          </a:solidFill>
          <a:ln w="12700">
            <a:solidFill>
              <a:srgbClr val="2F75B5"/>
            </a:solidFill>
            <a:prstDash val="solid"/>
          </a:ln>
        </p:spPr>
        <p:txBody>
          <a:bodyPr/>
          <a:lstStyle/>
          <a:p>
            <a:endParaRPr lang="en-US"/>
          </a:p>
        </p:txBody>
      </p:sp>
      <p:sp>
        <p:nvSpPr>
          <p:cNvPr id="6" name="Text 4"/>
          <p:cNvSpPr/>
          <p:nvPr/>
        </p:nvSpPr>
        <p:spPr>
          <a:xfrm>
            <a:off x="343581" y="835120"/>
            <a:ext cx="5166360" cy="201168"/>
          </a:xfrm>
          <a:prstGeom prst="rect">
            <a:avLst/>
          </a:prstGeom>
          <a:noFill/>
          <a:ln/>
        </p:spPr>
        <p:txBody>
          <a:bodyPr wrap="square" lIns="254" tIns="254" rIns="254" bIns="254" rtlCol="0" anchor="ctr">
            <a:noAutofit/>
          </a:bodyPr>
          <a:lstStyle/>
          <a:p>
            <a:pPr marL="0" indent="0">
              <a:buNone/>
            </a:pPr>
            <a:r>
              <a:rPr lang="en-US" sz="2400" b="1" dirty="0">
                <a:solidFill>
                  <a:srgbClr val="2F75B5"/>
                </a:solidFill>
              </a:rPr>
              <a:t>Ідентифікація</a:t>
            </a:r>
            <a:endParaRPr lang="en-US" sz="2400" dirty="0"/>
          </a:p>
        </p:txBody>
      </p:sp>
      <p:sp>
        <p:nvSpPr>
          <p:cNvPr id="7" name="Text 5"/>
          <p:cNvSpPr/>
          <p:nvPr/>
        </p:nvSpPr>
        <p:spPr>
          <a:xfrm>
            <a:off x="352725" y="1136094"/>
            <a:ext cx="5148072" cy="393192"/>
          </a:xfrm>
          <a:prstGeom prst="rect">
            <a:avLst/>
          </a:prstGeom>
          <a:noFill/>
          <a:ln/>
        </p:spPr>
        <p:txBody>
          <a:bodyPr wrap="square" lIns="381" tIns="381" rIns="381" bIns="381" rtlCol="0" anchor="t">
            <a:noAutofit/>
          </a:bodyPr>
          <a:lstStyle/>
          <a:p>
            <a:pPr marL="0" indent="0">
              <a:buNone/>
            </a:pPr>
            <a:r>
              <a:rPr lang="en-US" sz="1600" dirty="0">
                <a:solidFill>
                  <a:srgbClr val="1F2937"/>
                </a:solidFill>
              </a:rPr>
              <a:t>Визначення характеристик, параметрів або </a:t>
            </a:r>
            <a:r>
              <a:rPr lang="en-US" sz="1600" dirty="0" err="1">
                <a:solidFill>
                  <a:srgbClr val="1F2937"/>
                </a:solidFill>
              </a:rPr>
              <a:t>стану</a:t>
            </a:r>
            <a:r>
              <a:rPr lang="en-US" sz="1600" dirty="0">
                <a:solidFill>
                  <a:srgbClr val="1F2937"/>
                </a:solidFill>
              </a:rPr>
              <a:t> </a:t>
            </a:r>
            <a:r>
              <a:rPr lang="en-US" sz="1600" dirty="0" err="1">
                <a:solidFill>
                  <a:srgbClr val="1F2937"/>
                </a:solidFill>
              </a:rPr>
              <a:t>об'єкта</a:t>
            </a:r>
            <a:r>
              <a:rPr lang="en-US" sz="1600" dirty="0">
                <a:solidFill>
                  <a:srgbClr val="1F2937"/>
                </a:solidFill>
              </a:rPr>
              <a:t> за результатами спостереження та обробки даних.</a:t>
            </a:r>
            <a:endParaRPr lang="en-US" sz="1600" dirty="0"/>
          </a:p>
        </p:txBody>
      </p:sp>
      <p:sp>
        <p:nvSpPr>
          <p:cNvPr id="8" name="Shape 6"/>
          <p:cNvSpPr/>
          <p:nvPr/>
        </p:nvSpPr>
        <p:spPr>
          <a:xfrm>
            <a:off x="6272784" y="1124712"/>
            <a:ext cx="5440680" cy="786384"/>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9" name="Shape 7"/>
          <p:cNvSpPr/>
          <p:nvPr/>
        </p:nvSpPr>
        <p:spPr>
          <a:xfrm>
            <a:off x="6272784" y="1124712"/>
            <a:ext cx="73152" cy="786384"/>
          </a:xfrm>
          <a:prstGeom prst="rect">
            <a:avLst/>
          </a:prstGeom>
          <a:solidFill>
            <a:srgbClr val="0F766E"/>
          </a:solidFill>
          <a:ln w="12700">
            <a:solidFill>
              <a:srgbClr val="0F766E"/>
            </a:solidFill>
            <a:prstDash val="solid"/>
          </a:ln>
        </p:spPr>
        <p:txBody>
          <a:bodyPr/>
          <a:lstStyle/>
          <a:p>
            <a:endParaRPr lang="en-US"/>
          </a:p>
        </p:txBody>
      </p:sp>
      <p:sp>
        <p:nvSpPr>
          <p:cNvPr id="10" name="Text 8"/>
          <p:cNvSpPr/>
          <p:nvPr/>
        </p:nvSpPr>
        <p:spPr>
          <a:xfrm>
            <a:off x="6437376" y="1243584"/>
            <a:ext cx="5166360" cy="201168"/>
          </a:xfrm>
          <a:prstGeom prst="rect">
            <a:avLst/>
          </a:prstGeom>
          <a:noFill/>
          <a:ln/>
        </p:spPr>
        <p:txBody>
          <a:bodyPr wrap="square" lIns="254" tIns="254" rIns="254" bIns="254" rtlCol="0" anchor="ctr">
            <a:noAutofit/>
          </a:bodyPr>
          <a:lstStyle/>
          <a:p>
            <a:pPr marL="0" indent="0">
              <a:buNone/>
            </a:pPr>
            <a:r>
              <a:rPr lang="en-US" sz="1400" b="1" dirty="0">
                <a:solidFill>
                  <a:srgbClr val="0F766E"/>
                </a:solidFill>
              </a:rPr>
              <a:t>Дистанційна ідентифікація</a:t>
            </a:r>
            <a:endParaRPr lang="en-US" sz="1400" dirty="0"/>
          </a:p>
        </p:txBody>
      </p:sp>
      <p:sp>
        <p:nvSpPr>
          <p:cNvPr id="11" name="Text 9"/>
          <p:cNvSpPr/>
          <p:nvPr/>
        </p:nvSpPr>
        <p:spPr>
          <a:xfrm>
            <a:off x="6437376" y="1517904"/>
            <a:ext cx="5148072" cy="310896"/>
          </a:xfrm>
          <a:prstGeom prst="rect">
            <a:avLst/>
          </a:prstGeom>
          <a:noFill/>
          <a:ln/>
        </p:spPr>
        <p:txBody>
          <a:bodyPr wrap="square" lIns="381" tIns="381" rIns="381" bIns="381" rtlCol="0" anchor="t">
            <a:noAutofit/>
          </a:bodyPr>
          <a:lstStyle/>
          <a:p>
            <a:pPr marL="0" indent="0">
              <a:buNone/>
            </a:pPr>
            <a:r>
              <a:rPr lang="en-US" sz="1200" dirty="0">
                <a:solidFill>
                  <a:srgbClr val="1F2937"/>
                </a:solidFill>
              </a:rPr>
              <a:t>Визначення </a:t>
            </a:r>
            <a:r>
              <a:rPr lang="en-US" sz="1200" dirty="0" err="1">
                <a:solidFill>
                  <a:srgbClr val="1F2937"/>
                </a:solidFill>
              </a:rPr>
              <a:t>параметрів</a:t>
            </a:r>
            <a:r>
              <a:rPr lang="en-US" sz="1200" dirty="0">
                <a:solidFill>
                  <a:srgbClr val="1F2937"/>
                </a:solidFill>
              </a:rPr>
              <a:t> </a:t>
            </a:r>
            <a:r>
              <a:rPr lang="en-US" sz="1200" dirty="0" err="1">
                <a:solidFill>
                  <a:srgbClr val="1F2937"/>
                </a:solidFill>
              </a:rPr>
              <a:t>об'єкта</a:t>
            </a:r>
            <a:r>
              <a:rPr lang="en-US" sz="1200" dirty="0">
                <a:solidFill>
                  <a:srgbClr val="1F2937"/>
                </a:solidFill>
              </a:rPr>
              <a:t> без безпосереднього контакту з ним, зокрема за відеоданими.</a:t>
            </a:r>
            <a:endParaRPr lang="en-US" sz="1200" dirty="0"/>
          </a:p>
        </p:txBody>
      </p:sp>
      <p:sp>
        <p:nvSpPr>
          <p:cNvPr id="12" name="Shape 10"/>
          <p:cNvSpPr/>
          <p:nvPr/>
        </p:nvSpPr>
        <p:spPr>
          <a:xfrm>
            <a:off x="87549" y="2068782"/>
            <a:ext cx="5883483" cy="884730"/>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3" name="Shape 11"/>
          <p:cNvSpPr/>
          <p:nvPr/>
        </p:nvSpPr>
        <p:spPr>
          <a:xfrm>
            <a:off x="87549" y="2068782"/>
            <a:ext cx="73152" cy="884730"/>
          </a:xfrm>
          <a:prstGeom prst="rect">
            <a:avLst/>
          </a:prstGeom>
          <a:solidFill>
            <a:srgbClr val="C65911"/>
          </a:solidFill>
          <a:ln w="12700">
            <a:solidFill>
              <a:srgbClr val="C65911"/>
            </a:solidFill>
            <a:prstDash val="solid"/>
          </a:ln>
        </p:spPr>
        <p:txBody>
          <a:bodyPr/>
          <a:lstStyle/>
          <a:p>
            <a:endParaRPr lang="en-US"/>
          </a:p>
        </p:txBody>
      </p:sp>
      <p:sp>
        <p:nvSpPr>
          <p:cNvPr id="14" name="Text 12"/>
          <p:cNvSpPr/>
          <p:nvPr/>
        </p:nvSpPr>
        <p:spPr>
          <a:xfrm>
            <a:off x="352725" y="2130552"/>
            <a:ext cx="5166360" cy="201168"/>
          </a:xfrm>
          <a:prstGeom prst="rect">
            <a:avLst/>
          </a:prstGeom>
          <a:noFill/>
          <a:ln/>
        </p:spPr>
        <p:txBody>
          <a:bodyPr wrap="square" lIns="254" tIns="254" rIns="254" bIns="254" rtlCol="0" anchor="ctr">
            <a:noAutofit/>
          </a:bodyPr>
          <a:lstStyle/>
          <a:p>
            <a:pPr marL="0" indent="0">
              <a:buNone/>
            </a:pPr>
            <a:r>
              <a:rPr lang="en-US" sz="2400" b="1" dirty="0" err="1">
                <a:solidFill>
                  <a:srgbClr val="C65911"/>
                </a:solidFill>
              </a:rPr>
              <a:t>Параметр</a:t>
            </a:r>
            <a:r>
              <a:rPr lang="en-US" sz="2400" b="1" dirty="0">
                <a:solidFill>
                  <a:srgbClr val="C65911"/>
                </a:solidFill>
              </a:rPr>
              <a:t> </a:t>
            </a:r>
            <a:r>
              <a:rPr lang="en-US" sz="2400" b="1" dirty="0" err="1">
                <a:solidFill>
                  <a:srgbClr val="C65911"/>
                </a:solidFill>
              </a:rPr>
              <a:t>об'єкта</a:t>
            </a:r>
            <a:endParaRPr lang="en-US" sz="2400" dirty="0"/>
          </a:p>
        </p:txBody>
      </p:sp>
      <p:sp>
        <p:nvSpPr>
          <p:cNvPr id="15" name="Text 13"/>
          <p:cNvSpPr/>
          <p:nvPr/>
        </p:nvSpPr>
        <p:spPr>
          <a:xfrm>
            <a:off x="343581" y="2416545"/>
            <a:ext cx="5148072" cy="310896"/>
          </a:xfrm>
          <a:prstGeom prst="rect">
            <a:avLst/>
          </a:prstGeom>
          <a:noFill/>
          <a:ln/>
        </p:spPr>
        <p:txBody>
          <a:bodyPr wrap="square" lIns="381" tIns="381" rIns="381" bIns="381" rtlCol="0" anchor="t">
            <a:noAutofit/>
          </a:bodyPr>
          <a:lstStyle/>
          <a:p>
            <a:pPr marL="0" indent="0">
              <a:buNone/>
            </a:pPr>
            <a:r>
              <a:rPr lang="en-US" sz="1600" dirty="0">
                <a:solidFill>
                  <a:srgbClr val="1F2937"/>
                </a:solidFill>
              </a:rPr>
              <a:t>Кількісна або якісна характеристика </a:t>
            </a:r>
            <a:r>
              <a:rPr lang="en-US" sz="1600" dirty="0" err="1">
                <a:solidFill>
                  <a:srgbClr val="1F2937"/>
                </a:solidFill>
              </a:rPr>
              <a:t>стану</a:t>
            </a:r>
            <a:r>
              <a:rPr lang="en-US" sz="1600" dirty="0">
                <a:solidFill>
                  <a:srgbClr val="1F2937"/>
                </a:solidFill>
              </a:rPr>
              <a:t> </a:t>
            </a:r>
            <a:r>
              <a:rPr lang="en-US" sz="1600" dirty="0" err="1">
                <a:solidFill>
                  <a:srgbClr val="1F2937"/>
                </a:solidFill>
              </a:rPr>
              <a:t>об'єкта</a:t>
            </a:r>
            <a:r>
              <a:rPr lang="en-US" sz="1600" dirty="0">
                <a:solidFill>
                  <a:srgbClr val="1F2937"/>
                </a:solidFill>
              </a:rPr>
              <a:t>: координати, швидкість, напрямок, глибина, контур, клас.</a:t>
            </a:r>
            <a:endParaRPr lang="en-US" sz="1600" dirty="0"/>
          </a:p>
        </p:txBody>
      </p:sp>
      <p:sp>
        <p:nvSpPr>
          <p:cNvPr id="16" name="Shape 14"/>
          <p:cNvSpPr/>
          <p:nvPr/>
        </p:nvSpPr>
        <p:spPr>
          <a:xfrm>
            <a:off x="6272784" y="2167128"/>
            <a:ext cx="5440680" cy="786384"/>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17" name="Shape 15"/>
          <p:cNvSpPr/>
          <p:nvPr/>
        </p:nvSpPr>
        <p:spPr>
          <a:xfrm>
            <a:off x="6272784" y="2167128"/>
            <a:ext cx="73152" cy="786384"/>
          </a:xfrm>
          <a:prstGeom prst="rect">
            <a:avLst/>
          </a:prstGeom>
          <a:solidFill>
            <a:srgbClr val="2F75B5"/>
          </a:solidFill>
          <a:ln w="12700">
            <a:solidFill>
              <a:srgbClr val="2F75B5"/>
            </a:solidFill>
            <a:prstDash val="solid"/>
          </a:ln>
        </p:spPr>
        <p:txBody>
          <a:bodyPr/>
          <a:lstStyle/>
          <a:p>
            <a:endParaRPr lang="en-US"/>
          </a:p>
        </p:txBody>
      </p:sp>
      <p:sp>
        <p:nvSpPr>
          <p:cNvPr id="18" name="Text 16"/>
          <p:cNvSpPr/>
          <p:nvPr/>
        </p:nvSpPr>
        <p:spPr>
          <a:xfrm>
            <a:off x="6437376" y="2286000"/>
            <a:ext cx="5166360" cy="201168"/>
          </a:xfrm>
          <a:prstGeom prst="rect">
            <a:avLst/>
          </a:prstGeom>
          <a:noFill/>
          <a:ln/>
        </p:spPr>
        <p:txBody>
          <a:bodyPr wrap="square" lIns="254" tIns="254" rIns="254" bIns="254" rtlCol="0" anchor="ctr">
            <a:noAutofit/>
          </a:bodyPr>
          <a:lstStyle/>
          <a:p>
            <a:pPr marL="0" indent="0">
              <a:buNone/>
            </a:pPr>
            <a:r>
              <a:rPr lang="en-US" sz="1400" b="1" dirty="0">
                <a:solidFill>
                  <a:srgbClr val="2F75B5"/>
                </a:solidFill>
              </a:rPr>
              <a:t>Оптичний потік</a:t>
            </a:r>
            <a:endParaRPr lang="en-US" sz="1400" dirty="0"/>
          </a:p>
        </p:txBody>
      </p:sp>
      <p:sp>
        <p:nvSpPr>
          <p:cNvPr id="19" name="Text 17"/>
          <p:cNvSpPr/>
          <p:nvPr/>
        </p:nvSpPr>
        <p:spPr>
          <a:xfrm>
            <a:off x="6437376" y="2560320"/>
            <a:ext cx="5148072" cy="310896"/>
          </a:xfrm>
          <a:prstGeom prst="rect">
            <a:avLst/>
          </a:prstGeom>
          <a:noFill/>
          <a:ln/>
        </p:spPr>
        <p:txBody>
          <a:bodyPr wrap="square" lIns="381" tIns="381" rIns="381" bIns="381" rtlCol="0" anchor="t">
            <a:normAutofit/>
          </a:bodyPr>
          <a:lstStyle/>
          <a:p>
            <a:pPr marL="0" indent="0">
              <a:buNone/>
            </a:pPr>
            <a:r>
              <a:rPr lang="en-US" sz="1200" dirty="0">
                <a:solidFill>
                  <a:srgbClr val="1F2937"/>
                </a:solidFill>
              </a:rPr>
              <a:t>Векторне поле видимого переміщення пікселів між послідовними кадрами.</a:t>
            </a:r>
            <a:endParaRPr lang="en-US" sz="1200" dirty="0"/>
          </a:p>
        </p:txBody>
      </p:sp>
      <p:sp>
        <p:nvSpPr>
          <p:cNvPr id="20" name="Shape 18"/>
          <p:cNvSpPr/>
          <p:nvPr/>
        </p:nvSpPr>
        <p:spPr>
          <a:xfrm>
            <a:off x="87549" y="3111198"/>
            <a:ext cx="5883483" cy="884730"/>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21" name="Shape 19"/>
          <p:cNvSpPr/>
          <p:nvPr/>
        </p:nvSpPr>
        <p:spPr>
          <a:xfrm>
            <a:off x="87549" y="3127248"/>
            <a:ext cx="73152" cy="868680"/>
          </a:xfrm>
          <a:prstGeom prst="rect">
            <a:avLst/>
          </a:prstGeom>
          <a:solidFill>
            <a:srgbClr val="0F766E"/>
          </a:solidFill>
          <a:ln w="12700">
            <a:solidFill>
              <a:srgbClr val="0F766E"/>
            </a:solidFill>
            <a:prstDash val="solid"/>
          </a:ln>
        </p:spPr>
        <p:txBody>
          <a:bodyPr/>
          <a:lstStyle/>
          <a:p>
            <a:endParaRPr lang="en-US"/>
          </a:p>
        </p:txBody>
      </p:sp>
      <p:sp>
        <p:nvSpPr>
          <p:cNvPr id="22" name="Text 20"/>
          <p:cNvSpPr/>
          <p:nvPr/>
        </p:nvSpPr>
        <p:spPr>
          <a:xfrm>
            <a:off x="343581" y="3191256"/>
            <a:ext cx="5166360" cy="201168"/>
          </a:xfrm>
          <a:prstGeom prst="rect">
            <a:avLst/>
          </a:prstGeom>
          <a:noFill/>
          <a:ln/>
        </p:spPr>
        <p:txBody>
          <a:bodyPr wrap="square" lIns="254" tIns="254" rIns="254" bIns="254" rtlCol="0" anchor="ctr">
            <a:noAutofit/>
          </a:bodyPr>
          <a:lstStyle/>
          <a:p>
            <a:pPr marL="0" indent="0">
              <a:buNone/>
            </a:pPr>
            <a:r>
              <a:rPr lang="en-US" sz="2400" b="1" dirty="0">
                <a:solidFill>
                  <a:srgbClr val="0F766E"/>
                </a:solidFill>
              </a:rPr>
              <a:t>Карта глибини</a:t>
            </a:r>
            <a:endParaRPr lang="en-US" sz="2400" dirty="0"/>
          </a:p>
        </p:txBody>
      </p:sp>
      <p:sp>
        <p:nvSpPr>
          <p:cNvPr id="23" name="Text 21"/>
          <p:cNvSpPr/>
          <p:nvPr/>
        </p:nvSpPr>
        <p:spPr>
          <a:xfrm>
            <a:off x="343581" y="3493008"/>
            <a:ext cx="5148072" cy="310896"/>
          </a:xfrm>
          <a:prstGeom prst="rect">
            <a:avLst/>
          </a:prstGeom>
          <a:noFill/>
          <a:ln/>
        </p:spPr>
        <p:txBody>
          <a:bodyPr wrap="square" lIns="381" tIns="381" rIns="381" bIns="381" rtlCol="0" anchor="t">
            <a:noAutofit/>
          </a:bodyPr>
          <a:lstStyle/>
          <a:p>
            <a:pPr marL="0" indent="0">
              <a:buNone/>
            </a:pPr>
            <a:r>
              <a:rPr lang="en-US" sz="1600" dirty="0">
                <a:solidFill>
                  <a:srgbClr val="1F2937"/>
                </a:solidFill>
              </a:rPr>
              <a:t>Зображення, у якому значення пікселя відповідає оціненій відстані до точки сцени.</a:t>
            </a:r>
            <a:endParaRPr lang="en-US" sz="1600" dirty="0"/>
          </a:p>
        </p:txBody>
      </p:sp>
      <p:sp>
        <p:nvSpPr>
          <p:cNvPr id="24" name="Shape 22"/>
          <p:cNvSpPr/>
          <p:nvPr/>
        </p:nvSpPr>
        <p:spPr>
          <a:xfrm>
            <a:off x="6272784" y="3209544"/>
            <a:ext cx="5440680" cy="786384"/>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25" name="Shape 23"/>
          <p:cNvSpPr/>
          <p:nvPr/>
        </p:nvSpPr>
        <p:spPr>
          <a:xfrm>
            <a:off x="6272784" y="3209544"/>
            <a:ext cx="73152" cy="786384"/>
          </a:xfrm>
          <a:prstGeom prst="rect">
            <a:avLst/>
          </a:prstGeom>
          <a:solidFill>
            <a:srgbClr val="C65911"/>
          </a:solidFill>
          <a:ln w="12700">
            <a:solidFill>
              <a:srgbClr val="C65911"/>
            </a:solidFill>
            <a:prstDash val="solid"/>
          </a:ln>
        </p:spPr>
        <p:txBody>
          <a:bodyPr/>
          <a:lstStyle/>
          <a:p>
            <a:endParaRPr lang="en-US"/>
          </a:p>
        </p:txBody>
      </p:sp>
      <p:sp>
        <p:nvSpPr>
          <p:cNvPr id="26" name="Text 24"/>
          <p:cNvSpPr/>
          <p:nvPr/>
        </p:nvSpPr>
        <p:spPr>
          <a:xfrm>
            <a:off x="6437376" y="3328416"/>
            <a:ext cx="5166360" cy="201168"/>
          </a:xfrm>
          <a:prstGeom prst="rect">
            <a:avLst/>
          </a:prstGeom>
          <a:noFill/>
          <a:ln/>
        </p:spPr>
        <p:txBody>
          <a:bodyPr wrap="square" lIns="254" tIns="254" rIns="254" bIns="254" rtlCol="0" anchor="ctr">
            <a:noAutofit/>
          </a:bodyPr>
          <a:lstStyle/>
          <a:p>
            <a:pPr marL="0" indent="0">
              <a:buNone/>
            </a:pPr>
            <a:r>
              <a:rPr lang="en-US" sz="1400" b="1" dirty="0">
                <a:solidFill>
                  <a:srgbClr val="C65911"/>
                </a:solidFill>
              </a:rPr>
              <a:t>Структура технології</a:t>
            </a:r>
            <a:endParaRPr lang="en-US" sz="1400" dirty="0"/>
          </a:p>
        </p:txBody>
      </p:sp>
      <p:sp>
        <p:nvSpPr>
          <p:cNvPr id="27" name="Text 25"/>
          <p:cNvSpPr/>
          <p:nvPr/>
        </p:nvSpPr>
        <p:spPr>
          <a:xfrm>
            <a:off x="6437376" y="3602736"/>
            <a:ext cx="5148072" cy="310896"/>
          </a:xfrm>
          <a:prstGeom prst="rect">
            <a:avLst/>
          </a:prstGeom>
          <a:noFill/>
          <a:ln/>
        </p:spPr>
        <p:txBody>
          <a:bodyPr wrap="square" lIns="381" tIns="381" rIns="381" bIns="381" rtlCol="0" anchor="t">
            <a:noAutofit/>
          </a:bodyPr>
          <a:lstStyle/>
          <a:p>
            <a:pPr marL="0" indent="0">
              <a:buNone/>
            </a:pPr>
            <a:r>
              <a:rPr lang="en-US" sz="1200" dirty="0">
                <a:solidFill>
                  <a:srgbClr val="1F2937"/>
                </a:solidFill>
              </a:rPr>
              <a:t>Склад етапів, модулів та інформаційних потоків, що перетворюють вхідні дані на результат.</a:t>
            </a:r>
            <a:endParaRPr lang="en-US" sz="1200" dirty="0"/>
          </a:p>
        </p:txBody>
      </p:sp>
      <p:sp>
        <p:nvSpPr>
          <p:cNvPr id="28" name="Shape 26"/>
          <p:cNvSpPr/>
          <p:nvPr/>
        </p:nvSpPr>
        <p:spPr>
          <a:xfrm>
            <a:off x="87549" y="4169664"/>
            <a:ext cx="5883483" cy="868680"/>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29" name="Shape 27"/>
          <p:cNvSpPr/>
          <p:nvPr/>
        </p:nvSpPr>
        <p:spPr>
          <a:xfrm>
            <a:off x="82879" y="4178808"/>
            <a:ext cx="77821" cy="868680"/>
          </a:xfrm>
          <a:prstGeom prst="rect">
            <a:avLst/>
          </a:prstGeom>
          <a:solidFill>
            <a:srgbClr val="2F75B5"/>
          </a:solidFill>
          <a:ln w="12700">
            <a:solidFill>
              <a:srgbClr val="2F75B5"/>
            </a:solidFill>
            <a:prstDash val="solid"/>
          </a:ln>
        </p:spPr>
        <p:txBody>
          <a:bodyPr/>
          <a:lstStyle/>
          <a:p>
            <a:endParaRPr lang="en-US"/>
          </a:p>
        </p:txBody>
      </p:sp>
      <p:sp>
        <p:nvSpPr>
          <p:cNvPr id="30" name="Text 28"/>
          <p:cNvSpPr/>
          <p:nvPr/>
        </p:nvSpPr>
        <p:spPr>
          <a:xfrm>
            <a:off x="352725" y="4264801"/>
            <a:ext cx="5166360" cy="201168"/>
          </a:xfrm>
          <a:prstGeom prst="rect">
            <a:avLst/>
          </a:prstGeom>
          <a:noFill/>
          <a:ln/>
        </p:spPr>
        <p:txBody>
          <a:bodyPr wrap="square" lIns="254" tIns="254" rIns="254" bIns="254" rtlCol="0" anchor="ctr">
            <a:noAutofit/>
          </a:bodyPr>
          <a:lstStyle/>
          <a:p>
            <a:pPr marL="0" indent="0">
              <a:buNone/>
            </a:pPr>
            <a:r>
              <a:rPr lang="en-US" sz="2400" b="1" dirty="0">
                <a:solidFill>
                  <a:srgbClr val="2F75B5"/>
                </a:solidFill>
              </a:rPr>
              <a:t>Архітектура системи</a:t>
            </a:r>
            <a:endParaRPr lang="en-US" sz="2400" dirty="0"/>
          </a:p>
        </p:txBody>
      </p:sp>
      <p:sp>
        <p:nvSpPr>
          <p:cNvPr id="31" name="Text 29"/>
          <p:cNvSpPr/>
          <p:nvPr/>
        </p:nvSpPr>
        <p:spPr>
          <a:xfrm>
            <a:off x="371013" y="4556144"/>
            <a:ext cx="5148072" cy="310896"/>
          </a:xfrm>
          <a:prstGeom prst="rect">
            <a:avLst/>
          </a:prstGeom>
          <a:noFill/>
          <a:ln/>
        </p:spPr>
        <p:txBody>
          <a:bodyPr wrap="square" lIns="381" tIns="381" rIns="381" bIns="381" rtlCol="0" anchor="t">
            <a:noAutofit/>
          </a:bodyPr>
          <a:lstStyle/>
          <a:p>
            <a:pPr marL="0" indent="0">
              <a:buNone/>
            </a:pPr>
            <a:r>
              <a:rPr lang="en-US" sz="1600" dirty="0">
                <a:solidFill>
                  <a:srgbClr val="1F2937"/>
                </a:solidFill>
              </a:rPr>
              <a:t>Склад програмних компонентів, їхні інтерфейси та способи взаємодії.</a:t>
            </a:r>
            <a:endParaRPr lang="en-US" sz="1600" dirty="0"/>
          </a:p>
        </p:txBody>
      </p:sp>
      <p:sp>
        <p:nvSpPr>
          <p:cNvPr id="32" name="Shape 30"/>
          <p:cNvSpPr/>
          <p:nvPr/>
        </p:nvSpPr>
        <p:spPr>
          <a:xfrm>
            <a:off x="6272784" y="4251960"/>
            <a:ext cx="5440680" cy="786384"/>
          </a:xfrm>
          <a:prstGeom prst="roundRect">
            <a:avLst>
              <a:gd name="adj" fmla="val 5814"/>
            </a:avLst>
          </a:prstGeom>
          <a:solidFill>
            <a:srgbClr val="FFFFFF"/>
          </a:solidFill>
          <a:ln w="8890">
            <a:solidFill>
              <a:srgbClr val="D8E0EA"/>
            </a:solidFill>
            <a:prstDash val="solid"/>
          </a:ln>
          <a:effectLst>
            <a:outerShdw blurRad="12700" dist="50800" dir="2700000" algn="bl" rotWithShape="0">
              <a:srgbClr val="000000">
                <a:alpha val="10000"/>
              </a:srgbClr>
            </a:outerShdw>
          </a:effectLst>
        </p:spPr>
        <p:txBody>
          <a:bodyPr/>
          <a:lstStyle/>
          <a:p>
            <a:endParaRPr lang="en-US"/>
          </a:p>
        </p:txBody>
      </p:sp>
      <p:sp>
        <p:nvSpPr>
          <p:cNvPr id="33" name="Shape 31"/>
          <p:cNvSpPr/>
          <p:nvPr/>
        </p:nvSpPr>
        <p:spPr>
          <a:xfrm>
            <a:off x="6272784" y="4251960"/>
            <a:ext cx="73152" cy="786384"/>
          </a:xfrm>
          <a:prstGeom prst="rect">
            <a:avLst/>
          </a:prstGeom>
          <a:solidFill>
            <a:srgbClr val="0F766E"/>
          </a:solidFill>
          <a:ln w="12700">
            <a:solidFill>
              <a:srgbClr val="0F766E"/>
            </a:solidFill>
            <a:prstDash val="solid"/>
          </a:ln>
        </p:spPr>
        <p:txBody>
          <a:bodyPr/>
          <a:lstStyle/>
          <a:p>
            <a:endParaRPr lang="en-US"/>
          </a:p>
        </p:txBody>
      </p:sp>
      <p:sp>
        <p:nvSpPr>
          <p:cNvPr id="34" name="Text 32"/>
          <p:cNvSpPr/>
          <p:nvPr/>
        </p:nvSpPr>
        <p:spPr>
          <a:xfrm>
            <a:off x="6437376" y="4370832"/>
            <a:ext cx="5166360" cy="201168"/>
          </a:xfrm>
          <a:prstGeom prst="rect">
            <a:avLst/>
          </a:prstGeom>
          <a:noFill/>
          <a:ln/>
        </p:spPr>
        <p:txBody>
          <a:bodyPr wrap="square" lIns="254" tIns="254" rIns="254" bIns="254" rtlCol="0" anchor="ctr">
            <a:noAutofit/>
          </a:bodyPr>
          <a:lstStyle/>
          <a:p>
            <a:pPr marL="0" indent="0">
              <a:buNone/>
            </a:pPr>
            <a:r>
              <a:rPr lang="en-US" sz="1400" b="1" dirty="0">
                <a:solidFill>
                  <a:srgbClr val="0F766E"/>
                </a:solidFill>
              </a:rPr>
              <a:t>Адаптивне комбінування</a:t>
            </a:r>
            <a:endParaRPr lang="en-US" sz="1400" dirty="0"/>
          </a:p>
        </p:txBody>
      </p:sp>
      <p:sp>
        <p:nvSpPr>
          <p:cNvPr id="35" name="Text 33"/>
          <p:cNvSpPr/>
          <p:nvPr/>
        </p:nvSpPr>
        <p:spPr>
          <a:xfrm>
            <a:off x="6437376" y="4645152"/>
            <a:ext cx="5148072" cy="310896"/>
          </a:xfrm>
          <a:prstGeom prst="rect">
            <a:avLst/>
          </a:prstGeom>
          <a:noFill/>
          <a:ln/>
        </p:spPr>
        <p:txBody>
          <a:bodyPr wrap="square" lIns="381" tIns="381" rIns="381" bIns="381" rtlCol="0" anchor="t">
            <a:noAutofit/>
          </a:bodyPr>
          <a:lstStyle/>
          <a:p>
            <a:pPr marL="0" indent="0">
              <a:buNone/>
            </a:pPr>
            <a:r>
              <a:rPr lang="en-US" sz="1200" dirty="0" err="1">
                <a:solidFill>
                  <a:srgbClr val="1F2937"/>
                </a:solidFill>
              </a:rPr>
              <a:t>Об'єднання</a:t>
            </a:r>
            <a:r>
              <a:rPr lang="en-US" sz="1200" dirty="0">
                <a:solidFill>
                  <a:srgbClr val="1F2937"/>
                </a:solidFill>
              </a:rPr>
              <a:t> результатів моделей із вибором або зміною ваг залежно від умов сцени чи похибки.</a:t>
            </a:r>
            <a:endParaRPr lang="en-US" sz="1200" dirty="0"/>
          </a:p>
        </p:txBody>
      </p:sp>
      <p:sp>
        <p:nvSpPr>
          <p:cNvPr id="37" name="Text 35"/>
          <p:cNvSpPr/>
          <p:nvPr/>
        </p:nvSpPr>
        <p:spPr>
          <a:xfrm>
            <a:off x="914400" y="5687568"/>
            <a:ext cx="10378440" cy="164592"/>
          </a:xfrm>
          <a:prstGeom prst="rect">
            <a:avLst/>
          </a:prstGeom>
          <a:noFill/>
          <a:ln/>
        </p:spPr>
        <p:txBody>
          <a:bodyPr wrap="square" lIns="254" tIns="254" rIns="254" bIns="254" rtlCol="0" anchor="ctr">
            <a:normAutofit/>
          </a:bodyPr>
          <a:lstStyle/>
          <a:p>
            <a:pPr marL="0" indent="0" algn="ctr">
              <a:buNone/>
            </a:pPr>
            <a:endParaRPr lang="en-US" sz="1050" dirty="0"/>
          </a:p>
        </p:txBody>
      </p:sp>
      <p:sp>
        <p:nvSpPr>
          <p:cNvPr id="40" name="Місце для номера слайда 2">
            <a:extLst>
              <a:ext uri="{FF2B5EF4-FFF2-40B4-BE49-F238E27FC236}">
                <a16:creationId xmlns:a16="http://schemas.microsoft.com/office/drawing/2014/main" id="{8F3105DF-C37A-378E-D7C7-1BD2DD81E3A6}"/>
              </a:ext>
            </a:extLst>
          </p:cNvPr>
          <p:cNvSpPr txBox="1">
            <a:spLocks/>
          </p:cNvSpPr>
          <p:nvPr/>
        </p:nvSpPr>
        <p:spPr>
          <a:xfrm>
            <a:off x="11184188" y="6356350"/>
            <a:ext cx="876748" cy="365125"/>
          </a:xfrm>
          <a:prstGeom prst="foldedCorner">
            <a:avLst/>
          </a:prstGeom>
        </p:spPr>
        <p:style>
          <a:lnRef idx="2">
            <a:schemeClr val="dk1"/>
          </a:lnRef>
          <a:fillRef idx="1">
            <a:schemeClr val="lt1"/>
          </a:fillRef>
          <a:effectRef idx="0">
            <a:schemeClr val="dk1"/>
          </a:effectRef>
          <a:fontRef idx="minor">
            <a:schemeClr val="dk1"/>
          </a:fontRef>
        </p:style>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pPr/>
              <a:t>57</a:t>
            </a:fld>
            <a:endParaRPr lang="en-US" dirty="0"/>
          </a:p>
        </p:txBody>
      </p:sp>
    </p:spTree>
    <p:extLst>
      <p:ext uri="{BB962C8B-B14F-4D97-AF65-F5344CB8AC3E}">
        <p14:creationId xmlns:p14="http://schemas.microsoft.com/office/powerpoint/2010/main" val="3650361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CFBC7D-6B7B-94D6-3273-0D345BC4EC1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AD151FD-E939-4850-FE28-BB49EA45A0AE}"/>
              </a:ext>
            </a:extLst>
          </p:cNvPr>
          <p:cNvPicPr>
            <a:picLocks noChangeAspect="1"/>
          </p:cNvPicPr>
          <p:nvPr/>
        </p:nvPicPr>
        <p:blipFill>
          <a:blip r:embed="rId3">
            <a:duotone>
              <a:prstClr val="black"/>
              <a:schemeClr val="tx2">
                <a:tint val="45000"/>
                <a:satMod val="400000"/>
              </a:schemeClr>
            </a:duotone>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2584A88-8A7C-3129-0D57-95068EB27CEC}"/>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endParaRPr dirty="0"/>
          </a:p>
        </p:txBody>
      </p:sp>
      <p:graphicFrame>
        <p:nvGraphicFramePr>
          <p:cNvPr id="5" name="Content Placeholder 2">
            <a:extLst>
              <a:ext uri="{FF2B5EF4-FFF2-40B4-BE49-F238E27FC236}">
                <a16:creationId xmlns:a16="http://schemas.microsoft.com/office/drawing/2014/main" id="{8D81C02E-4B09-5FBF-383A-33BA15B36A71}"/>
              </a:ext>
            </a:extLst>
          </p:cNvPr>
          <p:cNvGraphicFramePr>
            <a:graphicFrameLocks noGrp="1"/>
          </p:cNvGraphicFramePr>
          <p:nvPr>
            <p:ph idx="1"/>
            <p:extLst>
              <p:ext uri="{D42A27DB-BD31-4B8C-83A1-F6EECF244321}">
                <p14:modId xmlns:p14="http://schemas.microsoft.com/office/powerpoint/2010/main" val="4061776443"/>
              </p:ext>
            </p:extLst>
          </p:nvPr>
        </p:nvGraphicFramePr>
        <p:xfrm>
          <a:off x="20" y="785308"/>
          <a:ext cx="12191960" cy="55710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2081BF65-0746-C7E0-0CB0-43FA90A2AE0A}"/>
              </a:ext>
            </a:extLst>
          </p:cNvPr>
          <p:cNvSpPr>
            <a:spLocks noGrp="1"/>
          </p:cNvSpPr>
          <p:nvPr>
            <p:ph type="sldNum" sz="quarter" idx="12"/>
          </p:nvPr>
        </p:nvSpPr>
        <p:spPr/>
        <p:txBody>
          <a:bodyPr/>
          <a:lstStyle/>
          <a:p>
            <a:fld id="{C1FF6DA9-008F-8B48-92A6-B652298478BF}" type="slidenum">
              <a:rPr lang="en-US" smtClean="0"/>
              <a:t>58</a:t>
            </a:fld>
            <a:endParaRPr lang="en-US" dirty="0"/>
          </a:p>
        </p:txBody>
      </p:sp>
    </p:spTree>
    <p:extLst>
      <p:ext uri="{BB962C8B-B14F-4D97-AF65-F5344CB8AC3E}">
        <p14:creationId xmlns:p14="http://schemas.microsoft.com/office/powerpoint/2010/main" val="20454110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402E0A-BDB6-6B8E-5FE2-43D753584992}"/>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C2CDBF7D-7103-3265-FCFE-8D70772B8E5C}"/>
              </a:ext>
            </a:extLst>
          </p:cNvPr>
          <p:cNvPicPr>
            <a:picLocks noChangeAspect="1"/>
          </p:cNvPicPr>
          <p:nvPr/>
        </p:nvPicPr>
        <p:blipFill>
          <a:blip r:embed="rId3">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561377F-53CB-9E7C-0343-C046A5853D7A}"/>
              </a:ext>
            </a:extLst>
          </p:cNvPr>
          <p:cNvSpPr>
            <a:spLocks noGrp="1"/>
          </p:cNvSpPr>
          <p:nvPr>
            <p:ph type="title"/>
          </p:nvPr>
        </p:nvSpPr>
        <p:spPr>
          <a:xfrm>
            <a:off x="77228" y="122238"/>
            <a:ext cx="2612184" cy="1162050"/>
          </a:xfrm>
        </p:spPr>
        <p:txBody>
          <a:bodyPr>
            <a:normAutofit/>
          </a:bodyPr>
          <a:lstStyle/>
          <a:p>
            <a:r>
              <a:rPr lang="uk-UA" sz="3200"/>
              <a:t>З</a:t>
            </a:r>
            <a:r>
              <a:rPr lang="ru-RU" sz="3200"/>
              <a:t>адачі </a:t>
            </a:r>
            <a:r>
              <a:rPr lang="uk-UA" sz="3200"/>
              <a:t>дослідження</a:t>
            </a:r>
            <a:endParaRPr lang="ru-RU" sz="3200" dirty="0"/>
          </a:p>
        </p:txBody>
      </p:sp>
      <p:graphicFrame>
        <p:nvGraphicFramePr>
          <p:cNvPr id="24" name="Місце для вмісту 11">
            <a:extLst>
              <a:ext uri="{FF2B5EF4-FFF2-40B4-BE49-F238E27FC236}">
                <a16:creationId xmlns:a16="http://schemas.microsoft.com/office/drawing/2014/main" id="{B7EECF90-6C66-FA4C-FB2C-C42C3B0177AB}"/>
              </a:ext>
            </a:extLst>
          </p:cNvPr>
          <p:cNvGraphicFramePr>
            <a:graphicFrameLocks noGrp="1"/>
          </p:cNvGraphicFramePr>
          <p:nvPr>
            <p:ph idx="1"/>
            <p:extLst>
              <p:ext uri="{D42A27DB-BD31-4B8C-83A1-F6EECF244321}">
                <p14:modId xmlns:p14="http://schemas.microsoft.com/office/powerpoint/2010/main" val="2201516227"/>
              </p:ext>
            </p:extLst>
          </p:nvPr>
        </p:nvGraphicFramePr>
        <p:xfrm>
          <a:off x="2495774" y="136524"/>
          <a:ext cx="9696226" cy="67214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Місце для тексту 3">
            <a:extLst>
              <a:ext uri="{FF2B5EF4-FFF2-40B4-BE49-F238E27FC236}">
                <a16:creationId xmlns:a16="http://schemas.microsoft.com/office/drawing/2014/main" id="{5C2B4C24-4A6E-E144-A8BF-E81DC295FC60}"/>
              </a:ext>
            </a:extLst>
          </p:cNvPr>
          <p:cNvSpPr>
            <a:spLocks noGrp="1"/>
          </p:cNvSpPr>
          <p:nvPr>
            <p:ph type="body" sz="half" idx="2"/>
          </p:nvPr>
        </p:nvSpPr>
        <p:spPr>
          <a:xfrm>
            <a:off x="77227" y="1406516"/>
            <a:ext cx="2504607" cy="4691063"/>
          </a:xfrm>
        </p:spPr>
        <p:txBody>
          <a:bodyPr/>
          <a:lstStyle/>
          <a:p>
            <a:r>
              <a:rPr lang="ru-RU">
                <a:solidFill>
                  <a:schemeClr val="bg1"/>
                </a:solidFill>
              </a:rPr>
              <a:t>Для досягнення поставленої мети вирішуються наступні задачі:</a:t>
            </a:r>
            <a:endParaRPr lang="en-US">
              <a:solidFill>
                <a:schemeClr val="bg1"/>
              </a:solidFill>
            </a:endParaRPr>
          </a:p>
          <a:p>
            <a:endParaRPr lang="en-US" dirty="0"/>
          </a:p>
        </p:txBody>
      </p:sp>
      <p:sp>
        <p:nvSpPr>
          <p:cNvPr id="13" name="Місце для номера слайда 12">
            <a:extLst>
              <a:ext uri="{FF2B5EF4-FFF2-40B4-BE49-F238E27FC236}">
                <a16:creationId xmlns:a16="http://schemas.microsoft.com/office/drawing/2014/main" id="{B2592107-F43C-1428-E466-5107A387F617}"/>
              </a:ext>
            </a:extLst>
          </p:cNvPr>
          <p:cNvSpPr>
            <a:spLocks noGrp="1"/>
          </p:cNvSpPr>
          <p:nvPr>
            <p:ph type="sldNum" sz="quarter" idx="12"/>
          </p:nvPr>
        </p:nvSpPr>
        <p:spPr/>
        <p:txBody>
          <a:bodyPr/>
          <a:lstStyle/>
          <a:p>
            <a:fld id="{C1FF6DA9-008F-8B48-92A6-B652298478BF}" type="slidenum">
              <a:rPr lang="en-US" sz="3200" smtClean="0">
                <a:solidFill>
                  <a:schemeClr val="bg1"/>
                </a:solidFill>
              </a:rPr>
              <a:t>59</a:t>
            </a:fld>
            <a:endParaRPr lang="en-US" sz="3200" dirty="0">
              <a:solidFill>
                <a:schemeClr val="bg1"/>
              </a:solidFill>
            </a:endParaRPr>
          </a:p>
        </p:txBody>
      </p:sp>
    </p:spTree>
    <p:extLst>
      <p:ext uri="{BB962C8B-B14F-4D97-AF65-F5344CB8AC3E}">
        <p14:creationId xmlns:p14="http://schemas.microsoft.com/office/powerpoint/2010/main" val="32386980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7E0673C-1ABC-45FA-24B2-D1D439AC5C0D}"/>
              </a:ext>
            </a:extLst>
          </p:cNvPr>
          <p:cNvPicPr>
            <a:picLocks noGrp="1" noChangeAspect="1"/>
          </p:cNvPicPr>
          <p:nvPr>
            <p:ph idx="1"/>
          </p:nvPr>
        </p:nvPicPr>
        <p:blipFill>
          <a:blip r:embed="rId3"/>
          <a:srcRect/>
          <a:stretch/>
        </p:blipFill>
        <p:spPr>
          <a:xfrm>
            <a:off x="33130" y="75831"/>
            <a:ext cx="12158869" cy="6079435"/>
          </a:xfrm>
          <a:prstGeom prst="rect">
            <a:avLst/>
          </a:prstGeom>
        </p:spPr>
      </p:pic>
      <p:sp>
        <p:nvSpPr>
          <p:cNvPr id="2" name="Місце для номера слайда 2">
            <a:extLst>
              <a:ext uri="{FF2B5EF4-FFF2-40B4-BE49-F238E27FC236}">
                <a16:creationId xmlns:a16="http://schemas.microsoft.com/office/drawing/2014/main" id="{C7F5B179-0269-3E69-C791-179FBA68DD1F}"/>
              </a:ext>
            </a:extLst>
          </p:cNvPr>
          <p:cNvSpPr>
            <a:spLocks noGrp="1"/>
          </p:cNvSpPr>
          <p:nvPr>
            <p:ph type="sldNum" sz="quarter" idx="12"/>
          </p:nvPr>
        </p:nvSpPr>
        <p:spPr>
          <a:xfrm>
            <a:off x="11184188" y="6356350"/>
            <a:ext cx="876748" cy="365125"/>
          </a:xfrm>
        </p:spPr>
        <p:txBody>
          <a:bodyPr/>
          <a:lstStyle/>
          <a:p>
            <a:fld id="{C1FF6DA9-008F-8B48-92A6-B652298478BF}" type="slidenum">
              <a:rPr lang="en-US" smtClean="0"/>
              <a:t>60</a:t>
            </a:fld>
            <a:endParaRPr lang="en-US" dirty="0"/>
          </a:p>
        </p:txBody>
      </p:sp>
    </p:spTree>
    <p:extLst>
      <p:ext uri="{BB962C8B-B14F-4D97-AF65-F5344CB8AC3E}">
        <p14:creationId xmlns:p14="http://schemas.microsoft.com/office/powerpoint/2010/main" val="20214569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C507485-7609-9144-4D54-4ECEDEA7EAD5}"/>
              </a:ext>
            </a:extLst>
          </p:cNvPr>
          <p:cNvPicPr>
            <a:picLocks noGrp="1" noChangeAspect="1"/>
          </p:cNvPicPr>
          <p:nvPr>
            <p:ph idx="1"/>
          </p:nvPr>
        </p:nvPicPr>
        <p:blipFill>
          <a:blip r:embed="rId3"/>
          <a:srcRect/>
          <a:stretch/>
        </p:blipFill>
        <p:spPr>
          <a:xfrm>
            <a:off x="0" y="404571"/>
            <a:ext cx="12192000" cy="5516881"/>
          </a:xfrm>
          <a:prstGeom prst="rect">
            <a:avLst/>
          </a:prstGeom>
        </p:spPr>
      </p:pic>
      <p:sp>
        <p:nvSpPr>
          <p:cNvPr id="2" name="Місце для номера слайда 2">
            <a:extLst>
              <a:ext uri="{FF2B5EF4-FFF2-40B4-BE49-F238E27FC236}">
                <a16:creationId xmlns:a16="http://schemas.microsoft.com/office/drawing/2014/main" id="{E87D428C-B7D9-0C20-BD78-E81897A99E63}"/>
              </a:ext>
            </a:extLst>
          </p:cNvPr>
          <p:cNvSpPr>
            <a:spLocks noGrp="1"/>
          </p:cNvSpPr>
          <p:nvPr>
            <p:ph type="sldNum" sz="quarter" idx="12"/>
          </p:nvPr>
        </p:nvSpPr>
        <p:spPr>
          <a:xfrm>
            <a:off x="11184188" y="6356350"/>
            <a:ext cx="876748" cy="365125"/>
          </a:xfrm>
        </p:spPr>
        <p:txBody>
          <a:bodyPr/>
          <a:lstStyle/>
          <a:p>
            <a:fld id="{C1FF6DA9-008F-8B48-92A6-B652298478BF}" type="slidenum">
              <a:rPr lang="en-US" smtClean="0"/>
              <a:t>61</a:t>
            </a:fld>
            <a:endParaRPr lang="en-US" dirty="0"/>
          </a:p>
        </p:txBody>
      </p:sp>
    </p:spTree>
    <p:extLst>
      <p:ext uri="{BB962C8B-B14F-4D97-AF65-F5344CB8AC3E}">
        <p14:creationId xmlns:p14="http://schemas.microsoft.com/office/powerpoint/2010/main" val="3649692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6321</TotalTime>
  <Words>34205</Words>
  <Application>Microsoft Office PowerPoint</Application>
  <PresentationFormat>Widescreen</PresentationFormat>
  <Paragraphs>1978</Paragraphs>
  <Slides>61</Slides>
  <Notes>61</Notes>
  <HiddenSlides>22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Cambria Math</vt:lpstr>
      <vt:lpstr>Georgia</vt:lpstr>
      <vt:lpstr>Office Theme</vt:lpstr>
      <vt:lpstr>МОДЕЛІ, МЕТОДИ ТА ІНФОРМАЦІЙНА ТЕХНОЛОГІЯ ДИСТАНЦІЙНОЇ ІДЕНТИФІКАЦІЇ ПАРАМЕТРІВ ДИНАМІЧНИХ ОБ'ЄКТІВ</vt:lpstr>
      <vt:lpstr>Актуальність теми</vt:lpstr>
      <vt:lpstr>Мета, об'єкт, предмет та методи</vt:lpstr>
      <vt:lpstr>PowerPoint Presentation</vt:lpstr>
      <vt:lpstr>Задачі дослідження 1</vt:lpstr>
      <vt:lpstr>Задачі дослідження 2</vt:lpstr>
      <vt:lpstr>Задачі дослідження 3</vt:lpstr>
      <vt:lpstr>Задачі дослідження 4</vt:lpstr>
      <vt:lpstr>Аналіз задач та методів ДІПДО</vt:lpstr>
      <vt:lpstr>Класифікація параметрів динамічних об'єктів</vt:lpstr>
      <vt:lpstr>PowerPoint Presentation</vt:lpstr>
      <vt:lpstr>Моделі рухомих об'єктів</vt:lpstr>
      <vt:lpstr>Методи оптичного потоку</vt:lpstr>
      <vt:lpstr>Просторово-часова модель</vt:lpstr>
      <vt:lpstr>Структура моделей ДІПДО</vt:lpstr>
      <vt:lpstr>Аналітична модель – DETR + Optical Flow</vt:lpstr>
      <vt:lpstr>Об'єднання моделей – інтегральна схема</vt:lpstr>
      <vt:lpstr>PowerPoint Presentation</vt:lpstr>
      <vt:lpstr>PowerPoint Presentation</vt:lpstr>
      <vt:lpstr>Виявлення об'єктів DETR – параметри</vt:lpstr>
      <vt:lpstr>Візуалізація ідентифікованих параметрів</vt:lpstr>
      <vt:lpstr>Приклади комбінацій методів</vt:lpstr>
      <vt:lpstr>Порівняння методів оптичного потоку</vt:lpstr>
      <vt:lpstr>Порівняння методів оцінювання глибини</vt:lpstr>
      <vt:lpstr>Аналіз отриманих результатів</vt:lpstr>
      <vt:lpstr>PowerPoint Presentation</vt:lpstr>
      <vt:lpstr>Наукова новизна отриманих результатів 1</vt:lpstr>
      <vt:lpstr>Наукова новизна отриманих результатів 2</vt:lpstr>
      <vt:lpstr>Наукова новизна отриманих результатів 3</vt:lpstr>
      <vt:lpstr>Наукова новизна отриманих результатів 4</vt:lpstr>
      <vt:lpstr>Наукова новизна отриманих результатів 5</vt:lpstr>
      <vt:lpstr>Наукова новизна отриманих результатів 6</vt:lpstr>
      <vt:lpstr>Практичне значення</vt:lpstr>
      <vt:lpstr>Апробація та публікації</vt:lpstr>
      <vt:lpstr>Висновки 1</vt:lpstr>
      <vt:lpstr>Висновки 2</vt:lpstr>
      <vt:lpstr>Висновки 3</vt:lpstr>
      <vt:lpstr>Висновки 4</vt:lpstr>
      <vt:lpstr>Дякую за увагу!</vt:lpstr>
      <vt:lpstr>Висновки</vt:lpstr>
      <vt:lpstr>Еволюція класичних методів виявлення об`єктів</vt:lpstr>
      <vt:lpstr>Одноетапні CNN-детектори</vt:lpstr>
      <vt:lpstr>Двоетапні архітектури R-CNN</vt:lpstr>
      <vt:lpstr>Методи обчислювального інтелекту</vt:lpstr>
      <vt:lpstr>Нейромережеві моделі аналізу руху</vt:lpstr>
      <vt:lpstr>Ансамблеві методи (Bagging, Boosting)</vt:lpstr>
      <vt:lpstr>Модель DETR (Detection Transformer)</vt:lpstr>
      <vt:lpstr>Модель GeoNet (сумісна оцінка глибини та потоку)</vt:lpstr>
      <vt:lpstr>Визначення параметрів методами оптичного потоку</vt:lpstr>
      <vt:lpstr>PowerPoint Presentation</vt:lpstr>
      <vt:lpstr>Ансамблеві модулі</vt:lpstr>
      <vt:lpstr>PowerPoint Presentation</vt:lpstr>
      <vt:lpstr>PowerPoint Presentation</vt:lpstr>
      <vt:lpstr>PowerPoint Presentation</vt:lpstr>
      <vt:lpstr>PowerPoint Presentation</vt:lpstr>
      <vt:lpstr>PowerPoint Presentation</vt:lpstr>
      <vt:lpstr>PowerPoint Presentation</vt:lpstr>
      <vt:lpstr>Наукова новизна отриманих результатів</vt:lpstr>
      <vt:lpstr>Задачі дослідження</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МОДЕЛІ, МЕТОДИ ТА ІНФОРМАЦІЙНА ТЕХНОЛОГІЯ ДИСТАНЦІЙНОЇ ІДЕНТИФІКАЦІЇ ПАРАМЕТРІВ ДИНАМІЧНИХ ОБ'ЄКТІВ</dc:title>
  <dc:subject/>
  <dc:creator>L</dc:creator>
  <cp:keywords/>
  <dc:description>generated using python-pptx</dc:description>
  <cp:lastModifiedBy>Кондратов Олексій Михайлович</cp:lastModifiedBy>
  <cp:revision>199</cp:revision>
  <cp:lastPrinted>2026-07-21T08:07:00Z</cp:lastPrinted>
  <dcterms:created xsi:type="dcterms:W3CDTF">2013-01-27T09:14:16Z</dcterms:created>
  <dcterms:modified xsi:type="dcterms:W3CDTF">2026-07-24T13:24:02Z</dcterms:modified>
  <cp:category/>
</cp:coreProperties>
</file>